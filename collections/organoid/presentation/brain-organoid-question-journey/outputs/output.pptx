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2660817776b4dd5" /><Relationship Type="http://schemas.openxmlformats.org/officeDocument/2006/relationships/extended-properties" Target="/docProps/app.xml" Id="R9b8d40cc96d446f1" /><Relationship Type="http://schemas.openxmlformats.org/officeDocument/2006/relationships/officeDocument" Target="/ppt/presentation.xml" Id="Rfeeeb20a77ea49ed" /></Relationships>
</file>

<file path=ppt/presentation.xml><?xml version="1.0" encoding="utf-8"?>
<p:presentation xmlns:p="http://schemas.openxmlformats.org/presentationml/2006/main">
  <p:sldMasterIdLst>
    <p:sldMasterId xmlns:r="http://schemas.openxmlformats.org/officeDocument/2006/relationships" id="2147483648" r:id="R847d3bcdd1614e66"/>
  </p:sldMasterIdLst>
  <p:notesMasterIdLst>
    <p:notesMasterId xmlns:r="http://schemas.openxmlformats.org/officeDocument/2006/relationships" r:id="Rda5afccd0fca4d0f"/>
  </p:notesMasterIdLst>
  <p:sldIdLst>
    <p:sldId xmlns:r="http://schemas.openxmlformats.org/officeDocument/2006/relationships" id="256" r:id="R3f4954ee3aa04c7d"/>
    <p:sldId xmlns:r="http://schemas.openxmlformats.org/officeDocument/2006/relationships" id="257" r:id="Rd6871358db4c4813"/>
    <p:sldId xmlns:r="http://schemas.openxmlformats.org/officeDocument/2006/relationships" id="258" r:id="Rd7717332ed294255"/>
    <p:sldId xmlns:r="http://schemas.openxmlformats.org/officeDocument/2006/relationships" id="259" r:id="Rc6d31ae0612c4837"/>
    <p:sldId xmlns:r="http://schemas.openxmlformats.org/officeDocument/2006/relationships" id="260" r:id="Ref446fc2b3614ce0"/>
    <p:sldId xmlns:r="http://schemas.openxmlformats.org/officeDocument/2006/relationships" id="261" r:id="R589186b350a8403e"/>
    <p:sldId xmlns:r="http://schemas.openxmlformats.org/officeDocument/2006/relationships" id="262" r:id="Rd1de63512095426c"/>
    <p:sldId xmlns:r="http://schemas.openxmlformats.org/officeDocument/2006/relationships" id="263" r:id="R38a14acfe0124ec6"/>
    <p:sldId xmlns:r="http://schemas.openxmlformats.org/officeDocument/2006/relationships" id="264" r:id="R4f2a0c4cc5a44940"/>
    <p:sldId xmlns:r="http://schemas.openxmlformats.org/officeDocument/2006/relationships" id="265" r:id="R7f2318b395944c75"/>
    <p:sldId xmlns:r="http://schemas.openxmlformats.org/officeDocument/2006/relationships" id="266" r:id="Rfee722d2439c4a28"/>
    <p:sldId xmlns:r="http://schemas.openxmlformats.org/officeDocument/2006/relationships" id="267" r:id="R8cf7a4b8b4014f73"/>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847d3bcdd1614e66" /><Relationship Type="http://schemas.openxmlformats.org/officeDocument/2006/relationships/theme" Target="/ppt/theme/theme1.xml" Id="Rfee7fee5624045eb" /><Relationship Type="http://schemas.openxmlformats.org/officeDocument/2006/relationships/notesMaster" Target="/ppt/notesMasters/notesMaster1.xml" Id="Rda5afccd0fca4d0f" /><Relationship Type="http://schemas.openxmlformats.org/officeDocument/2006/relationships/presProps" Target="/ppt/presProps.xml" Id="R6240be3c1b24429a" /><Relationship Type="http://schemas.openxmlformats.org/officeDocument/2006/relationships/viewProps" Target="/ppt/viewProps.xml" Id="R266706ca733d4fd8" /><Relationship Type="http://schemas.openxmlformats.org/officeDocument/2006/relationships/tableStyles" Target="/ppt/tableStyles.xml" Id="R9d84e64a9354405c" /><Relationship Type="http://schemas.openxmlformats.org/officeDocument/2006/relationships/slide" Target="/ppt/slides/slide1.xml" Id="R3f4954ee3aa04c7d" /><Relationship Type="http://schemas.openxmlformats.org/officeDocument/2006/relationships/slide" Target="/ppt/slides/slide2.xml" Id="Rd6871358db4c4813" /><Relationship Type="http://schemas.openxmlformats.org/officeDocument/2006/relationships/slide" Target="/ppt/slides/slide3.xml" Id="Rd7717332ed294255" /><Relationship Type="http://schemas.openxmlformats.org/officeDocument/2006/relationships/slide" Target="/ppt/slides/slide4.xml" Id="Rc6d31ae0612c4837" /><Relationship Type="http://schemas.openxmlformats.org/officeDocument/2006/relationships/slide" Target="/ppt/slides/slide5.xml" Id="Ref446fc2b3614ce0" /><Relationship Type="http://schemas.openxmlformats.org/officeDocument/2006/relationships/slide" Target="/ppt/slides/slide6.xml" Id="R589186b350a8403e" /><Relationship Type="http://schemas.openxmlformats.org/officeDocument/2006/relationships/slide" Target="/ppt/slides/slide7.xml" Id="Rd1de63512095426c" /><Relationship Type="http://schemas.openxmlformats.org/officeDocument/2006/relationships/slide" Target="/ppt/slides/slide8.xml" Id="R38a14acfe0124ec6" /><Relationship Type="http://schemas.openxmlformats.org/officeDocument/2006/relationships/slide" Target="/ppt/slides/slide9.xml" Id="R4f2a0c4cc5a44940" /><Relationship Type="http://schemas.openxmlformats.org/officeDocument/2006/relationships/slide" Target="/ppt/slides/slide10.xml" Id="R7f2318b395944c75" /><Relationship Type="http://schemas.openxmlformats.org/officeDocument/2006/relationships/slide" Target="/ppt/slides/slide11.xml" Id="Rfee722d2439c4a28" /><Relationship Type="http://schemas.openxmlformats.org/officeDocument/2006/relationships/slide" Target="/ppt/slides/slide12.xml" Id="R8cf7a4b8b4014f7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aba4dd4a794d48d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7997278a2c54402" /><Relationship Type="http://schemas.openxmlformats.org/officeDocument/2006/relationships/notesMaster" Target="/ppt/notesMasters/notesMaster1.xml" Id="R8a3733fdd4fc47b5" /></Relationships>
</file>

<file path=ppt/notesSlides/_rels/notesSlide2.xml.rels>&#65279;<?xml version="1.0" encoding="utf-8"?><Relationships xmlns="http://schemas.openxmlformats.org/package/2006/relationships"><Relationship Type="http://schemas.openxmlformats.org/officeDocument/2006/relationships/slide" Target="/ppt/slides/slide2.xml" Id="Ra208c51e257844e9" /><Relationship Type="http://schemas.openxmlformats.org/officeDocument/2006/relationships/notesMaster" Target="/ppt/notesMasters/notesMaster1.xml" Id="R9673afccca814860" /></Relationships>
</file>

<file path=ppt/notesSlides/_rels/notesSlide3.xml.rels>&#65279;<?xml version="1.0" encoding="utf-8"?><Relationships xmlns="http://schemas.openxmlformats.org/package/2006/relationships"><Relationship Type="http://schemas.openxmlformats.org/officeDocument/2006/relationships/slide" Target="/ppt/slides/slide3.xml" Id="Reea8f2a25a1f4e35" /><Relationship Type="http://schemas.openxmlformats.org/officeDocument/2006/relationships/notesMaster" Target="/ppt/notesMasters/notesMaster1.xml" Id="Ra52d24a0d992409b" /></Relationships>
</file>

<file path=ppt/notesSlides/_rels/notesSlide4.xml.rels>&#65279;<?xml version="1.0" encoding="utf-8"?><Relationships xmlns="http://schemas.openxmlformats.org/package/2006/relationships"><Relationship Type="http://schemas.openxmlformats.org/officeDocument/2006/relationships/slide" Target="/ppt/slides/slide4.xml" Id="Rddebf6bf26e54f49" /><Relationship Type="http://schemas.openxmlformats.org/officeDocument/2006/relationships/notesMaster" Target="/ppt/notesMasters/notesMaster1.xml" Id="R360745af2dac4ed3" /></Relationships>
</file>

<file path=ppt/notesSlides/_rels/notesSlide5.xml.rels>&#65279;<?xml version="1.0" encoding="utf-8"?><Relationships xmlns="http://schemas.openxmlformats.org/package/2006/relationships"><Relationship Type="http://schemas.openxmlformats.org/officeDocument/2006/relationships/slide" Target="/ppt/slides/slide5.xml" Id="R274d9c60b1554610" /><Relationship Type="http://schemas.openxmlformats.org/officeDocument/2006/relationships/notesMaster" Target="/ppt/notesMasters/notesMaster1.xml" Id="Rf7d1cbc9a3ea43cd" /></Relationships>
</file>

<file path=ppt/notesSlides/_rels/notesSlide6.xml.rels>&#65279;<?xml version="1.0" encoding="utf-8"?><Relationships xmlns="http://schemas.openxmlformats.org/package/2006/relationships"><Relationship Type="http://schemas.openxmlformats.org/officeDocument/2006/relationships/slide" Target="/ppt/slides/slide6.xml" Id="R4fc742fd70d84b98" /><Relationship Type="http://schemas.openxmlformats.org/officeDocument/2006/relationships/notesMaster" Target="/ppt/notesMasters/notesMaster1.xml" Id="R59a4abeaa1df4ec3" /></Relationships>
</file>

<file path=ppt/notesSlides/_rels/notesSlide7.xml.rels>&#65279;<?xml version="1.0" encoding="utf-8"?><Relationships xmlns="http://schemas.openxmlformats.org/package/2006/relationships"><Relationship Type="http://schemas.openxmlformats.org/officeDocument/2006/relationships/slide" Target="/ppt/slides/slide7.xml" Id="R77a7d40b83284a7b" /><Relationship Type="http://schemas.openxmlformats.org/officeDocument/2006/relationships/notesMaster" Target="/ppt/notesMasters/notesMaster1.xml" Id="R1ac15332c4ed4e9b" /></Relationships>
</file>

<file path=ppt/notesSlides/_rels/notesSlide8.xml.rels>&#65279;<?xml version="1.0" encoding="utf-8"?><Relationships xmlns="http://schemas.openxmlformats.org/package/2006/relationships"><Relationship Type="http://schemas.openxmlformats.org/officeDocument/2006/relationships/slide" Target="/ppt/slides/slide8.xml" Id="R26f8ba14564c41af" /><Relationship Type="http://schemas.openxmlformats.org/officeDocument/2006/relationships/notesMaster" Target="/ppt/notesMasters/notesMaster1.xml" Id="R8d4fd18c0c084247" /></Relationships>
</file>

<file path=ppt/notesSlides/_rels/notesSlide9.xml.rels>&#65279;<?xml version="1.0" encoding="utf-8"?><Relationships xmlns="http://schemas.openxmlformats.org/package/2006/relationships"><Relationship Type="http://schemas.openxmlformats.org/officeDocument/2006/relationships/slide" Target="/ppt/slides/slide9.xml" Id="R596793f3fa5e4574" /><Relationship Type="http://schemas.openxmlformats.org/officeDocument/2006/relationships/notesMaster" Target="/ppt/notesMasters/notesMaster1.xml" Id="Rfc9c21390008481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a62ae1434c246ab" /><Relationship Type="http://schemas.openxmlformats.org/officeDocument/2006/relationships/notesMaster" Target="/ppt/notesMasters/notesMaster1.xml" Id="R39648b45c76e4b4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0fca660e78f45c9" /><Relationship Type="http://schemas.openxmlformats.org/officeDocument/2006/relationships/notesMaster" Target="/ppt/notesMasters/notesMaster1.xml" Id="R69f923d87aea4ef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487a9e068b241fd" /><Relationship Type="http://schemas.openxmlformats.org/officeDocument/2006/relationships/notesMaster" Target="/ppt/notesMasters/notesMaster1.xml" Id="Rcc8f42042f2b401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발표는 결론만 요약하는 발표가 아니라, 질문이 위키 안에서 어떻게 정교해졌는지를 보여주는 발표다.</a:t>
            </a:r>
          </a:p>
          <a:p xmlns:a="http://schemas.openxmlformats.org/drawingml/2006/main">
            <a:r>
              <a:t>처음에는 brain subregion별 프로토콜 차이를 비교하고 싶었지만, 정리할수록 reproducibility, fidelity, timing, readout 문제가 분리되기 시작했다.</a:t>
            </a:r>
          </a:p>
          <a:p xmlns:a="http://schemas.openxmlformats.org/drawingml/2006/main">
            <a:r>
              <a:t>오늘의 핵심 문장은 '질문이 바뀌면 비교 기준도 바뀐다'이다.</a:t>
            </a:r>
          </a:p>
          <a:p xmlns:a="http://schemas.openxmlformats.org/drawingml/2006/main">
            <a:r>
              <a:t/>
            </a:r>
          </a:p>
          <a:p xmlns:a="http://schemas.openxmlformats.org/drawingml/2006/main">
            <a:r>
              <a:t>[Sources]</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발표의 목적은 brain organoid 리뷰를 완성형 결론으로 제시하는 것이 아니라, paper_collect 위키에서 질문이 확장되는 과정을 보여주는 것이다.</a:t>
            </a:r>
          </a:p>
          <a:p xmlns:a="http://schemas.openxmlformats.org/drawingml/2006/main">
            <a:r>
              <a:t>이 컬렉션은 active source page 96개, 그중 brain cluster 17개를 갖고 있고, 오늘 발표는 그중 3개의 질문 노트를 핵심 체인으로 삼는다.</a:t>
            </a:r>
          </a:p>
          <a:p xmlns:a="http://schemas.openxmlformats.org/drawingml/2006/main">
            <a:r>
              <a:t>즉 corpus -&gt; 첫 질문 -&gt; 질문 재정의의 흐름 자체가 발표 내용이다.</a:t>
            </a:r>
          </a:p>
          <a:p xmlns:a="http://schemas.openxmlformats.org/drawingml/2006/main">
            <a:r>
              <a:t/>
            </a:r>
          </a:p>
          <a:p xmlns:a="http://schemas.openxmlformats.org/drawingml/2006/main">
            <a:r>
              <a:t>[Sources]</a:t>
            </a:r>
          </a:p>
          <a:p xmlns:a="http://schemas.openxmlformats.org/drawingml/2006/main">
            <a:r>
              <a:t>- collections/organoid/wiki/overview.md</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초반에 이 슬라이드를 넣으면 왜 하필 brain organoid를 사례로 잡았는지 설명하기 좋다.</a:t>
            </a:r>
          </a:p>
          <a:p xmlns:a="http://schemas.openxmlformats.org/drawingml/2006/main">
            <a:r>
              <a:t>brain cluster는 이 corpus에서 source 수가 가장 크고, broad cerebral에서 niche subregion까지 연속체가 있으며, benchmark 논문과 functional readout 논문도 함께 연결된다.</a:t>
            </a:r>
          </a:p>
          <a:p xmlns:a="http://schemas.openxmlformats.org/drawingml/2006/main">
            <a:r>
              <a:t>즉 질문이 자라나는 과정을 보여주기에 가장 적합한 branch였다.</a:t>
            </a:r>
          </a:p>
          <a:p xmlns:a="http://schemas.openxmlformats.org/drawingml/2006/main">
            <a:r>
              <a:t/>
            </a:r>
          </a:p>
          <a:p xmlns:a="http://schemas.openxmlformats.org/drawingml/2006/main">
            <a:r>
              <a:t>[Sources]</a:t>
            </a:r>
          </a:p>
          <a:p xmlns:a="http://schemas.openxmlformats.org/drawingml/2006/main">
            <a:r>
              <a:t>- collections/organoid/wiki/overview.md</a:t>
            </a:r>
          </a:p>
          <a:p xmlns:a="http://schemas.openxmlformats.org/drawingml/2006/main">
            <a:r>
              <a:t>- collections/organoid/wiki/index.md</a:t>
            </a:r>
          </a:p>
          <a:p xmlns:a="http://schemas.openxmlformats.org/drawingml/2006/main">
            <a:r>
              <a:t>- collections/organoid/wiki/concepts/brain-subregion-specific-organoid-protocols.md</a:t>
            </a:r>
          </a:p>
          <a:p xmlns:a="http://schemas.openxmlformats.org/drawingml/2006/main">
            <a:r>
              <a:t>- collections/organoid/wiki/concepts/brain-organoid-fidelity-reproducibility-and-atlases.md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번째 질문 노트는 subregion 중심 비교다.</a:t>
            </a:r>
          </a:p>
          <a:p xmlns:a="http://schemas.openxmlformats.org/drawingml/2006/main">
            <a:r>
              <a:t>Lancaster는 broad cerebral baseline, Sloan과 Fitzgerald는 forebrain or cortical control, Zagare와 Eura와 Valiulahi는 posterior branch, Pomeshchik과 Atamian은 niche specialization으로 묶였다.</a:t>
            </a:r>
          </a:p>
          <a:p xmlns:a="http://schemas.openxmlformats.org/drawingml/2006/main">
            <a:r>
              <a:t>이 단계에서는 brain organoid 설계 문제가 주로 subregion selection 문제처럼 보였다.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collections/organoid/wiki/concepts/brain-subregion-specific-organoid-protocols.md</a:t>
            </a:r>
          </a:p>
          <a:p xmlns:a="http://schemas.openxmlformats.org/drawingml/2006/main">
            <a:r>
              <a:t>- Lancaster 2014 | Generation of cerebral organoids from human pluripotent stem cells</a:t>
            </a:r>
          </a:p>
          <a:p xmlns:a="http://schemas.openxmlformats.org/drawingml/2006/main">
            <a:r>
              <a:t>- Sloan 2018 | Generation and assembly of human brain region-specific three-dimensional cultures</a:t>
            </a:r>
          </a:p>
          <a:p xmlns:a="http://schemas.openxmlformats.org/drawingml/2006/main">
            <a:r>
              <a:t>- Fitzgerald 2024 | Generation of semi-guided cortical organoids with complex neural oscillations</a:t>
            </a:r>
          </a:p>
          <a:p xmlns:a="http://schemas.openxmlformats.org/drawingml/2006/main">
            <a:r>
              <a:t>- Zagare 2021 | A robust protocol for the generation of human midbrain organoids</a:t>
            </a:r>
          </a:p>
          <a:p xmlns:a="http://schemas.openxmlformats.org/drawingml/2006/main">
            <a:r>
              <a:t>- Eura 2020 | Brainstem organoids from human pluripotent stem cells</a:t>
            </a:r>
          </a:p>
          <a:p xmlns:a="http://schemas.openxmlformats.org/drawingml/2006/main">
            <a:r>
              <a:t>- Valiulahi 2021 | Generation of caudal-type serotonin neurons and hindbrain-fate organoids</a:t>
            </a:r>
          </a:p>
          <a:p xmlns:a="http://schemas.openxmlformats.org/drawingml/2006/main">
            <a:r>
              <a:t>- Pomeshchik 2020 | Human iPSC-derived hippocampal spheroids</a:t>
            </a:r>
          </a:p>
          <a:p xmlns:a="http://schemas.openxmlformats.org/drawingml/2006/main">
            <a:r>
              <a:t>- Atamian 2024 | Generation and long-term culture of human cerebellar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번째 정리에서 얻은 핵심은 세 갈래였다.</a:t>
            </a:r>
          </a:p>
          <a:p xmlns:a="http://schemas.openxmlformats.org/drawingml/2006/main">
            <a:r>
              <a:t>첫째, broad cerebral baseline은 diversity가 크지만 variability도 크다.</a:t>
            </a:r>
          </a:p>
          <a:p xmlns:a="http://schemas.openxmlformats.org/drawingml/2006/main">
            <a:r>
              <a:t>둘째, forebrain or cortical routes는 더 clean한 regional control을 준다.</a:t>
            </a:r>
          </a:p>
          <a:p xmlns:a="http://schemas.openxmlformats.org/drawingml/2006/main">
            <a:r>
              <a:t>셋째, posterior or niche routes는 특정 biological question에 더 직접적이다.</a:t>
            </a:r>
          </a:p>
          <a:p xmlns:a="http://schemas.openxmlformats.org/drawingml/2006/main">
            <a:r>
              <a:t>이 단계의 잠정 결론은 '많은 brain design 문제는 subregion selection 문제다'였다.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collections/organoid/wiki/concepts/brain-organoid-patterning-and-assembloids.md</a:t>
            </a:r>
          </a:p>
          <a:p xmlns:a="http://schemas.openxmlformats.org/drawingml/2006/main">
            <a:r>
              <a:t>- collections/organoid/wiki/syntheses/20260424_organoid-developmental-baseline-and-regionalization-playbook.md</a:t>
            </a:r>
          </a:p>
          <a:p xmlns:a="http://schemas.openxmlformats.org/drawingml/2006/main">
            <a:r>
              <a:t>- Lancaster 2014 | Generation of cerebral organoids from human pluripotent stem cells</a:t>
            </a:r>
          </a:p>
          <a:p xmlns:a="http://schemas.openxmlformats.org/drawingml/2006/main">
            <a:r>
              <a:t>- Sloan 2018 | Generation and assembly of human brain region-specific three-dimensional cultures</a:t>
            </a:r>
          </a:p>
          <a:p xmlns:a="http://schemas.openxmlformats.org/drawingml/2006/main">
            <a:r>
              <a:t>- Zagare 2021 | A robust protocol for the generation of human midbrain organoids</a:t>
            </a:r>
          </a:p>
          <a:p xmlns:a="http://schemas.openxmlformats.org/drawingml/2006/main">
            <a:r>
              <a:t>- Atamian 2024 | Generation and long-term culture of human cerebellar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subregion 비교는 useful한 출발점이었지만, 그것만으로는 모델의 quality를 설명하지 못했다.</a:t>
            </a:r>
          </a:p>
          <a:p xmlns:a="http://schemas.openxmlformats.org/drawingml/2006/main">
            <a:r>
              <a:t>같은 cortical branch 안에서도 어떤 프로토콜은 더 reproducible하고, 어떤 것은 primary tissue와 더 닮고, 어떤 것은 timing mapping이 더 분명했다.</a:t>
            </a:r>
          </a:p>
          <a:p xmlns:a="http://schemas.openxmlformats.org/drawingml/2006/main">
            <a:r>
              <a:t>그래서 질문이 '어떤 region인가'에서 '어떤 benchmark로 믿을 수 있는가'로 이동했다.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번째 질문 노트는 benchmark question이다.</a:t>
            </a:r>
          </a:p>
          <a:p xmlns:a="http://schemas.openxmlformats.org/drawingml/2006/main">
            <a:r>
              <a:t>Velasco와 Yoon은 reproducibility, Bhaduri는 fidelity, Kanton은 timing, He는 cross-protocol atlas alignment를 제공했다.</a:t>
            </a:r>
          </a:p>
          <a:p xmlns:a="http://schemas.openxmlformats.org/drawingml/2006/main">
            <a:r>
              <a:t>즉 새 논문이 추가되면서 더 많은 근거가 생긴 것이 아니라, 어떤 질문을 던져야 하는지 자체가 바뀌었다.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슬라이드는 benchmark slide와 framework slide 사이의 다리 역할을 한다.</a:t>
            </a:r>
          </a:p>
          <a:p xmlns:a="http://schemas.openxmlformats.org/drawingml/2006/main">
            <a:r>
              <a:t>Velasco와 Yoon은 잘 반복되는 cortical branch를 보여주지만, Bhaduri는 그 branch가 primary fetal cortex와 얼마나 다른지를 보여준다.</a:t>
            </a:r>
          </a:p>
          <a:p xmlns:a="http://schemas.openxmlformats.org/drawingml/2006/main">
            <a:r>
              <a:t>즉 '잘 반복된다'와 '더 진짜 같다'는 다른 질문이며, 이 구분이 이후 5축 프레임워크의 핵심이 된다.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결국 이 컬렉션에서 brain organoid 비교는 다섯 축으로 정리됐다.</a:t>
            </a:r>
          </a:p>
          <a:p xmlns:a="http://schemas.openxmlformats.org/drawingml/2006/main">
            <a:r>
              <a:t>region identity, reproducibility, fidelity, temporal mapping, atlas alignment는 서로 다른 measurement question이다.</a:t>
            </a:r>
          </a:p>
          <a:p xmlns:a="http://schemas.openxmlformats.org/drawingml/2006/main">
            <a:r>
              <a:t>여기서 가장 중요한 메시지는 reproducibility와 fidelity가 같은 말이 아니라는 점이다.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번째 질문 노트에서는 protocol choice가 readout-first rule로 재정리된다.</a:t>
            </a:r>
          </a:p>
          <a:p xmlns:a="http://schemas.openxmlformats.org/drawingml/2006/main">
            <a:r>
              <a:t>composition reproducibility를 원하면 Velasco or Yoon 계열, fidelity를 원하면 Bhaduri or He, timing을 원하면 Kanton, dish function을 원하면 Fitzgerald, host relevance를 원하면 Kelley, screening을 원하면 Chen or Meng이 우선 anchor가 된다.</a:t>
            </a:r>
          </a:p>
          <a:p xmlns:a="http://schemas.openxmlformats.org/drawingml/2006/main">
            <a:r>
              <a:t>즉 최종 질문은 '어느 region을 만들까'보다 '무슨 readout을 먼저 믿고 싶은가'가 됐다.</a:t>
            </a:r>
          </a:p>
          <a:p xmlns:a="http://schemas.openxmlformats.org/drawingml/2006/main">
            <a:r>
              <a:t/>
            </a:r>
          </a:p>
          <a:p xmlns:a="http://schemas.openxmlformats.org/drawingml/2006/main">
            <a:r>
              <a:t>[Sources]</a:t>
            </a:r>
          </a:p>
          <a:p xmlns:a="http://schemas.openxmlformats.org/drawingml/2006/main">
            <a:r>
              <a:t>- collections/organoid/wiki/queries/20260420_172825_brain-functional-readout-selection.md</a:t>
            </a:r>
          </a:p>
          <a:p xmlns:a="http://schemas.openxmlformats.org/drawingml/2006/main">
            <a:r>
              <a:t>- collections/organoid/wiki/concepts/brain-organoid-patterning-and-assembloids.md</a:t>
            </a:r>
          </a:p>
          <a:p xmlns:a="http://schemas.openxmlformats.org/drawingml/2006/main">
            <a:r>
              <a:t>- collections/organoid/wiki/concepts/brain-organoid-fidelity-reproducibility-and-atlases.md</a:t>
            </a:r>
          </a:p>
          <a:p xmlns:a="http://schemas.openxmlformats.org/drawingml/2006/main">
            <a:r>
              <a:t>- Fitzgerald 2024 | Generation of semi-guided cortical organoids with complex neural oscillations</a:t>
            </a:r>
          </a:p>
          <a:p xmlns:a="http://schemas.openxmlformats.org/drawingml/2006/main">
            <a:r>
              <a:t>- Kelley 2024 | Host circuit engagement of human cortical organoids transplanted in rodents</a:t>
            </a:r>
          </a:p>
          <a:p xmlns:a="http://schemas.openxmlformats.org/drawingml/2006/main">
            <a:r>
              <a:t>- Chen 2023 | Protocol for generating reproducible miniaturized controlled midbrain organoids</a:t>
            </a:r>
          </a:p>
          <a:p xmlns:a="http://schemas.openxmlformats.org/drawingml/2006/main">
            <a:r>
              <a:t>- Meng 2025 | CRISPR screens in human neural organoids and assembloids</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기말 과제가 리뷰 논문이므로, 발표가 글쓰기와 어떻게 연결되는지도 짚어주면 좋다.</a:t>
            </a:r>
          </a:p>
          <a:p xmlns:a="http://schemas.openxmlformats.org/drawingml/2006/main">
            <a:r>
              <a:t>이 위키 체인을 따라가면 리뷰 글의 구조도 자연스럽게 나온다.</a:t>
            </a:r>
          </a:p>
          <a:p xmlns:a="http://schemas.openxmlformats.org/drawingml/2006/main">
            <a:r>
              <a:t>예를 들어 첫 장은 subregion baseline, 다음은 benchmark axes, 마지막은 readout-first design rule처럼 배치할 수 있다.</a:t>
            </a:r>
          </a:p>
          <a:p xmlns:a="http://schemas.openxmlformats.org/drawingml/2006/main">
            <a:r>
              <a:t>즉 발표는 process를, 리뷰는 그 process가 남긴 organizing principle을 보여준다.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a:p xmlns:a="http://schemas.openxmlformats.org/drawingml/2006/main">
            <a:r>
              <a:t>- collections/organoid/wiki/syntheses/20260424_organoid-developmental-baseline-and-regionalization-playbook.md</a:t>
            </a:r>
          </a:p>
          <a:p xmlns:a="http://schemas.openxmlformats.org/drawingml/2006/main">
            <a:r>
              <a:t>- collections/organoid/wiki/concepts/brain-organoid-fidelity-reproducibility-and-atlases.md</a:t>
            </a:r>
          </a:p>
          <a:p xmlns:a="http://schemas.openxmlformats.org/drawingml/2006/main">
            <a:r>
              <a:t>- collections/organoid/wiki/concepts/brain-organoid-patterning-and-assembloids.md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마무리에서는 세 가지 takeaway를 다시 강조한다.</a:t>
            </a:r>
          </a:p>
          <a:p xmlns:a="http://schemas.openxmlformats.org/drawingml/2006/main">
            <a:r>
              <a:t>첫째, subregion comparison은 출발점으로 유효했다.</a:t>
            </a:r>
          </a:p>
          <a:p xmlns:a="http://schemas.openxmlformats.org/drawingml/2006/main">
            <a:r>
              <a:t>둘째, benchmark 축이 들어오면서 질문이 바뀌었다.</a:t>
            </a:r>
          </a:p>
          <a:p xmlns:a="http://schemas.openxmlformats.org/drawingml/2006/main">
            <a:r>
              <a:t>셋째, 최종 rule은 readout-first protocol selection이다.</a:t>
            </a:r>
          </a:p>
          <a:p xmlns:a="http://schemas.openxmlformats.org/drawingml/2006/main">
            <a:r>
              <a:t>Q and A에서는 reproducibility와 fidelity를 왜 분리해야 하는지, 어느 축을 먼저 볼지, host validation이 언제 필요한지를 중심으로 받으면 된다.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a:p xmlns:a="http://schemas.openxmlformats.org/drawingml/2006/main">
            <a:r>
              <a:t>- collections/organoid/wiki/concepts/brain-organoid-fidelity-reproducibility-and-atlases.md</a:t>
            </a:r>
          </a:p>
          <a:p xmlns:a="http://schemas.openxmlformats.org/drawingml/2006/main">
            <a:r>
              <a:t>- collections/organoid/wiki/concepts/brain-organoid-patterning-and-assembloids.md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ea1062fe420455c"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1" name="Title 1">
            <a:extLst xmlns:a="http://schemas.openxmlformats.org/drawingml/2006/main">
              <a:ext uri="{FF2B5EF4-FFF2-40B4-BE49-F238E27FC236}">
                <a16:creationId xmlns:a16="http://schemas.microsoft.com/office/drawing/2014/main" id="{8FC4AEA5-B41F-42B9-B500-0EED2D48D740}"/>
              </a:ext>
            </a:extLst>
          </p:cNvPr>
          <p:cNvSpPr/>
          <p:nvPr>
            <p:ph type="ctrTitle" idx="0"/>
          </p:nvPr>
        </p:nvSpPr>
        <p:spPr>
          <a:xfrm xmlns:a="http://schemas.openxmlformats.org/drawingml/2006/main">
            <a:off x="1524000" y="1122363"/>
            <a:ext cx="9144000" cy="2387600"/>
          </a:xfrm>
        </p:spPr>
        <p:txBody>
          <a:bodyPr xmlns:a="http://schemas.openxmlformats.org/drawingml/2006/main" anchor="b"/>
          <a:lstStyle xmlns:a="http://schemas.openxmlformats.org/drawingml/2006/main">
            <a:lvl1pPr algn="ctr">
              <a:buNone/>
              <a:defRPr sz="6000"/>
            </a:lvl1pPr>
          </a:lstStyle>
          <a:p xmlns:a="http://schemas.openxmlformats.org/drawingml/2006/main"/>
        </p:txBody>
      </p:sp>
      <p:sp>
        <p:nvSpPr>
          <p:cNvPr id="2" name="Subtitle 2">
            <a:extLst xmlns:a="http://schemas.openxmlformats.org/drawingml/2006/main">
              <a:ext uri="{FF2B5EF4-FFF2-40B4-BE49-F238E27FC236}">
                <a16:creationId xmlns:a16="http://schemas.microsoft.com/office/drawing/2014/main" id="{8E51C56C-03C2-40B2-BF8D-A06F4BDBE6C6}"/>
              </a:ext>
            </a:extLst>
          </p:cNvPr>
          <p:cNvSpPr/>
          <p:nvPr>
            <p:ph type="subTitle" idx="1"/>
          </p:nvPr>
        </p:nvSpPr>
        <p:spPr>
          <a:xfrm xmlns:a="http://schemas.openxmlformats.org/drawingml/2006/main">
            <a:off x="1524000" y="3602038"/>
            <a:ext cx="9144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p:txBody>
      </p:sp>
      <p:sp>
        <p:nvSpPr>
          <p:cNvPr id="3" name="Date Placeholder 3">
            <a:extLst xmlns:a="http://schemas.openxmlformats.org/drawingml/2006/main">
              <a:ext uri="{FF2B5EF4-FFF2-40B4-BE49-F238E27FC236}">
                <a16:creationId xmlns:a16="http://schemas.microsoft.com/office/drawing/2014/main" id="{C6CC3A52-91BA-40E5-8D1B-EEBE7F7565E2}"/>
              </a:ext>
            </a:extLst>
          </p:cNvPr>
          <p:cNvSpPr/>
          <p:nvPr>
            <p:ph type="dt" idx="10"/>
          </p:nvPr>
        </p:nvSpPr>
        <p:spPr/>
        <p:txBody>
          <a:bodyPr xmlns:a="http://schemas.openxmlformats.org/drawingml/2006/main"/>
          <a:lstStyle xmlns:a="http://schemas.openxmlformats.org/drawingml/2006/main"/>
          <a:p xmlns:a="http://schemas.openxmlformats.org/drawingml/2006/main"/>
        </p:txBody>
      </p:sp>
      <p:sp>
        <p:nvSpPr>
          <p:cNvPr id="4" name="Footer Placeholder 4">
            <a:extLst xmlns:a="http://schemas.openxmlformats.org/drawingml/2006/main">
              <a:ext uri="{FF2B5EF4-FFF2-40B4-BE49-F238E27FC236}">
                <a16:creationId xmlns:a16="http://schemas.microsoft.com/office/drawing/2014/main" id="{86316F20-4004-4DA3-AEB9-4325640F0499}"/>
              </a:ext>
            </a:extLst>
          </p:cNvPr>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5">
            <a:extLst xmlns:a="http://schemas.openxmlformats.org/drawingml/2006/main">
              <a:ext uri="{FF2B5EF4-FFF2-40B4-BE49-F238E27FC236}">
                <a16:creationId xmlns:a16="http://schemas.microsoft.com/office/drawing/2014/main" id="{960B6032-F217-4E1A-A5DD-55BD6786A62D}"/>
              </a:ext>
            </a:extLst>
          </p:cNvPr>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bb6d633367b649aa" /><Relationship Type="http://schemas.openxmlformats.org/officeDocument/2006/relationships/slideLayout" Target="/ppt/slideLayouts/slideLayout2.xml" Id="R29fb2ca2a053456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73DB2CFF-7DE9-4FC0-AD72-6ACFF3EC343D}"/>
              </a:ext>
            </a:extLst>
          </p:cNvPr>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82000"/>
                  </a:schemeClr>
                </a:solidFill>
              </a:defRPr>
            </a:lvl1pPr>
          </a:lstStyle>
          <a:p xmlns:a="http://schemas.openxmlformats.org/drawingml/2006/main"/>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9fb2ca2a053456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73632ea139f042dc" /><Relationship Type="http://schemas.openxmlformats.org/officeDocument/2006/relationships/image" Target="/ppt/media/image.png" Id="R49b208c5f124437c" /><Relationship Type="http://schemas.openxmlformats.org/officeDocument/2006/relationships/notesSlide" Target="/ppt/notesSlides/notesSlide1.xml" Id="R1bce2fb78e8a4f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5728e96de306454c" /><Relationship Type="http://schemas.openxmlformats.org/officeDocument/2006/relationships/image" Target="/ppt/media/image2.png" Id="R63754e9a39ce484f" /><Relationship Type="http://schemas.openxmlformats.org/officeDocument/2006/relationships/notesSlide" Target="/ppt/notesSlides/notesSlide2.xml" Id="Rdd31adbeffd34dde"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5e789ef78fc44f2d" /><Relationship Type="http://schemas.openxmlformats.org/officeDocument/2006/relationships/image" Target="/ppt/media/image3.png" Id="R6186c426edf94ef0" /><Relationship Type="http://schemas.openxmlformats.org/officeDocument/2006/relationships/notesSlide" Target="/ppt/notesSlides/notesSlide3.xml" Id="R005e12f00c8f49c2"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99d9f19fea2b4852" /><Relationship Type="http://schemas.openxmlformats.org/officeDocument/2006/relationships/image" Target="/ppt/media/image4.png" Id="Rf79f4cfefa964cb8" /><Relationship Type="http://schemas.openxmlformats.org/officeDocument/2006/relationships/notesSlide" Target="/ppt/notesSlides/notesSlide4.xml" Id="Rf47bb844211f4ac5"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9636b99b9f5b499f" /><Relationship Type="http://schemas.openxmlformats.org/officeDocument/2006/relationships/image" Target="/ppt/media/image5.png" Id="R00898658f32c42b0" /><Relationship Type="http://schemas.openxmlformats.org/officeDocument/2006/relationships/notesSlide" Target="/ppt/notesSlides/notesSlide5.xml" Id="Rc59a0843fc42406d"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f8256cdc33894b60" /><Relationship Type="http://schemas.openxmlformats.org/officeDocument/2006/relationships/image" Target="/ppt/media/image6.png" Id="R92a295a7cf1e4004" /><Relationship Type="http://schemas.openxmlformats.org/officeDocument/2006/relationships/notesSlide" Target="/ppt/notesSlides/notesSlide6.xml" Id="R75219319ce134a80"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98dcb0ba59fe41d6" /><Relationship Type="http://schemas.openxmlformats.org/officeDocument/2006/relationships/image" Target="/ppt/media/image7.png" Id="Rf87c8d21b2574782" /><Relationship Type="http://schemas.openxmlformats.org/officeDocument/2006/relationships/notesSlide" Target="/ppt/notesSlides/notesSlide7.xml" Id="R9642f391cf0d4939"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f8ef41ce5bd64749" /><Relationship Type="http://schemas.openxmlformats.org/officeDocument/2006/relationships/image" Target="/ppt/media/image8.png" Id="R3ff038c27401436f" /><Relationship Type="http://schemas.openxmlformats.org/officeDocument/2006/relationships/notesSlide" Target="/ppt/notesSlides/notesSlide8.xml" Id="R319260119a8c4d25"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7720ff6ce7634f70" /><Relationship Type="http://schemas.openxmlformats.org/officeDocument/2006/relationships/image" Target="/ppt/media/image9.png" Id="Rbf053fbd68824788" /><Relationship Type="http://schemas.openxmlformats.org/officeDocument/2006/relationships/notesSlide" Target="/ppt/notesSlides/notesSlide9.xml" Id="Rdb9d83905cf9485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15ee713c68ba4024" /><Relationship Type="http://schemas.openxmlformats.org/officeDocument/2006/relationships/image" Target="/ppt/media/image10.png" Id="R24c5b4d5b9464b99" /><Relationship Type="http://schemas.openxmlformats.org/officeDocument/2006/relationships/notesSlide" Target="/ppt/notesSlides/notesSlide10.xml" Id="R233874b5bd6949c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9ea608c079b24c9f" /><Relationship Type="http://schemas.openxmlformats.org/officeDocument/2006/relationships/image" Target="/ppt/media/image11.png" Id="Rbba9e852e65c4b15" /><Relationship Type="http://schemas.openxmlformats.org/officeDocument/2006/relationships/notesSlide" Target="/ppt/notesSlides/notesSlide11.xml" Id="R5083757bd5a643e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babda985401140e0" /><Relationship Type="http://schemas.openxmlformats.org/officeDocument/2006/relationships/image" Target="/ppt/media/image12.png" Id="R3cfa3a8900a841c8" /><Relationship Type="http://schemas.openxmlformats.org/officeDocument/2006/relationships/notesSlide" Target="/ppt/notesSlides/notesSlide12.xml" Id="R08844c93fa9345bf" /></Relationships>
</file>

<file path=ppt/slides/slide1.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960B6032-F217-4E1A-A5DD-55BD6786A62D}"/>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9b208c5f124437c"/>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9909BEA2-8E39-4FA3-8E67-36A46ABEA9B3}"/>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C03DACC1-CC47-4A42-B6AD-B61EAC7B25B6}"/>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9C174583-5BE4-46FE-8472-2797E9682499}"/>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956E8B7C-5FEA-4425-AB0B-4125DAB527EF}"/>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19D093F4-3099-4E78-85DF-C891759F3539}"/>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5BD035D1-3D52-4817-A334-F5CF415A338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11CC69E2-7557-4976-9FAF-8A1F6D853C03}"/>
              </a:ext>
            </a:extLst>
          </p:cNvPr>
          <p:cNvSpPr>
            <a:spLocks xmlns:a="http://schemas.openxmlformats.org/drawingml/2006/main" noGrp="1"/>
          </p:cNvSpPr>
          <p:nvPr/>
        </p:nvSpPr>
        <p:spPr>
          <a:xfrm xmlns:a="http://schemas.openxmlformats.org/drawingml/2006/main">
            <a:off x="609600" y="819150"/>
            <a:ext cx="76200" cy="43624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35EE29E2-A78D-49E4-BC8B-EEE2201932DC}"/>
              </a:ext>
            </a:extLst>
          </p:cNvPr>
          <p:cNvSpPr>
            <a:spLocks xmlns:a="http://schemas.openxmlformats.org/drawingml/2006/main" noGrp="1"/>
          </p:cNvSpPr>
          <p:nvPr/>
        </p:nvSpPr>
        <p:spPr>
          <a:xfrm xmlns:a="http://schemas.openxmlformats.org/drawingml/2006/main">
            <a:off x="819150" y="838200"/>
            <a:ext cx="495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BRAIN ORGANOID QUESTION CHAIN</a:t>
            </a:r>
          </a:p>
        </p:txBody>
      </p:sp>
      <p:sp>
        <p:nvSpPr>
          <p:cNvPr id="11" name="">
            <a:extLst xmlns:a="http://schemas.openxmlformats.org/drawingml/2006/main">
              <a:ext uri="{FF2B5EF4-FFF2-40B4-BE49-F238E27FC236}">
                <a16:creationId xmlns:a16="http://schemas.microsoft.com/office/drawing/2014/main" id="{6C854A85-5DCD-452A-8DA9-5309E1464A2A}"/>
              </a:ext>
            </a:extLst>
          </p:cNvPr>
          <p:cNvSpPr>
            <a:spLocks xmlns:a="http://schemas.openxmlformats.org/drawingml/2006/main" noGrp="1"/>
          </p:cNvSpPr>
          <p:nvPr/>
        </p:nvSpPr>
        <p:spPr>
          <a:xfrm xmlns:a="http://schemas.openxmlformats.org/drawingml/2006/main">
            <a:off x="781050" y="1238250"/>
            <a:ext cx="6572250" cy="1447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375" b="1">
                <a:solidFill>
                  <a:srgbClr val="132024"/>
                </a:solidFill>
              </a:defRPr>
            </a:pPr>
            <a:r>
              <a:rPr sz="3375" b="1">
                <a:solidFill>
                  <a:srgbClr val="132024"/>
                </a:solidFill>
              </a:rPr>
              <a:t>Brain organoid protocol 비교는</a:t>
            </a:r>
          </a:p>
          <a:p xmlns:a="http://schemas.openxmlformats.org/drawingml/2006/main">
            <a:pPr algn="l">
              <a:defRPr sz="3375" b="1">
                <a:solidFill>
                  <a:srgbClr val="132024"/>
                </a:solidFill>
              </a:defRPr>
            </a:pPr>
            <a:r>
              <a:rPr sz="3375" b="1">
                <a:solidFill>
                  <a:srgbClr val="132024"/>
                </a:solidFill>
              </a:rPr>
              <a:t>왜 subregion 비교만으로 끝나지 않는가</a:t>
            </a:r>
          </a:p>
        </p:txBody>
      </p:sp>
      <p:sp>
        <p:nvSpPr>
          <p:cNvPr id="12" name="">
            <a:extLst xmlns:a="http://schemas.openxmlformats.org/drawingml/2006/main">
              <a:ext uri="{FF2B5EF4-FFF2-40B4-BE49-F238E27FC236}">
                <a16:creationId xmlns:a16="http://schemas.microsoft.com/office/drawing/2014/main" id="{B3E64873-65FC-4728-AD84-EACF5AE79473}"/>
              </a:ext>
            </a:extLst>
          </p:cNvPr>
          <p:cNvSpPr>
            <a:spLocks xmlns:a="http://schemas.openxmlformats.org/drawingml/2006/main" noGrp="1"/>
          </p:cNvSpPr>
          <p:nvPr/>
        </p:nvSpPr>
        <p:spPr>
          <a:xfrm xmlns:a="http://schemas.openxmlformats.org/drawingml/2006/main">
            <a:off x="819150" y="2933700"/>
            <a:ext cx="5905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344146"/>
                </a:solidFill>
              </a:defRPr>
            </a:pPr>
            <a:r>
              <a:rPr sz="1500" b="0">
                <a:solidFill>
                  <a:srgbClr val="344146"/>
                </a:solidFill>
              </a:rPr>
              <a:t>organoid 위키를 정리하면서, 단순한 region 비교 질문이</a:t>
            </a:r>
          </a:p>
          <a:p xmlns:a="http://schemas.openxmlformats.org/drawingml/2006/main">
            <a:pPr algn="l">
              <a:defRPr sz="1500" b="0">
                <a:solidFill>
                  <a:srgbClr val="344146"/>
                </a:solidFill>
              </a:defRPr>
            </a:pPr>
            <a:r>
              <a:rPr sz="1500" b="0">
                <a:solidFill>
                  <a:srgbClr val="344146"/>
                </a:solidFill>
              </a:rPr>
              <a:t>benchmark와 readout 중심 질문으로 어떻게 확장됐는지를 보여준다.</a:t>
            </a:r>
          </a:p>
        </p:txBody>
      </p:sp>
      <p:sp>
        <p:nvSpPr>
          <p:cNvPr id="13" name="">
            <a:extLst xmlns:a="http://schemas.openxmlformats.org/drawingml/2006/main">
              <a:ext uri="{FF2B5EF4-FFF2-40B4-BE49-F238E27FC236}">
                <a16:creationId xmlns:a16="http://schemas.microsoft.com/office/drawing/2014/main" id="{9F83193E-A811-4D66-981D-82937BF89F0C}"/>
              </a:ext>
            </a:extLst>
          </p:cNvPr>
          <p:cNvSpPr>
            <a:spLocks xmlns:a="http://schemas.openxmlformats.org/drawingml/2006/main" noGrp="1"/>
          </p:cNvSpPr>
          <p:nvPr/>
        </p:nvSpPr>
        <p:spPr>
          <a:xfrm xmlns:a="http://schemas.openxmlformats.org/drawingml/2006/main">
            <a:off x="819150" y="4210050"/>
            <a:ext cx="4114800" cy="876300"/>
          </a:xfrm>
          <a:prstGeom xmlns:a="http://schemas.openxmlformats.org/drawingml/2006/main" prst="roundRect">
            <a:avLst>
              <a:gd name="adj" fmla="val 8696"/>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4" name="">
            <a:extLst xmlns:a="http://schemas.openxmlformats.org/drawingml/2006/main">
              <a:ext uri="{FF2B5EF4-FFF2-40B4-BE49-F238E27FC236}">
                <a16:creationId xmlns:a16="http://schemas.microsoft.com/office/drawing/2014/main" id="{CDF59371-5E08-489C-9EDA-383AF7624C44}"/>
              </a:ext>
            </a:extLst>
          </p:cNvPr>
          <p:cNvSpPr>
            <a:spLocks xmlns:a="http://schemas.openxmlformats.org/drawingml/2006/main" noGrp="1"/>
          </p:cNvSpPr>
          <p:nvPr/>
        </p:nvSpPr>
        <p:spPr>
          <a:xfrm xmlns:a="http://schemas.openxmlformats.org/drawingml/2006/main">
            <a:off x="1066800" y="4457700"/>
            <a:ext cx="36957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32024"/>
                </a:solidFill>
              </a:defRPr>
            </a:pPr>
            <a:r>
              <a:rPr sz="1650" b="1">
                <a:solidFill>
                  <a:srgbClr val="132024"/>
                </a:solidFill>
              </a:rPr>
              <a:t>질문이 바뀌면 비교 기준도 바뀐다</a:t>
            </a:r>
          </a:p>
        </p:txBody>
      </p:sp>
      <p:sp>
        <p:nvSpPr>
          <p:cNvPr id="15" name="">
            <a:extLst xmlns:a="http://schemas.openxmlformats.org/drawingml/2006/main">
              <a:ext uri="{FF2B5EF4-FFF2-40B4-BE49-F238E27FC236}">
                <a16:creationId xmlns:a16="http://schemas.microsoft.com/office/drawing/2014/main" id="{FC8B7456-3A6B-4E4F-A8E8-4CED96CD176F}"/>
              </a:ext>
            </a:extLst>
          </p:cNvPr>
          <p:cNvSpPr>
            <a:spLocks xmlns:a="http://schemas.openxmlformats.org/drawingml/2006/main" noGrp="1"/>
          </p:cNvSpPr>
          <p:nvPr/>
        </p:nvSpPr>
        <p:spPr>
          <a:xfrm xmlns:a="http://schemas.openxmlformats.org/drawingml/2006/main">
            <a:off x="8020050" y="1200150"/>
            <a:ext cx="203835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16" name="">
            <a:extLst xmlns:a="http://schemas.openxmlformats.org/drawingml/2006/main">
              <a:ext uri="{FF2B5EF4-FFF2-40B4-BE49-F238E27FC236}">
                <a16:creationId xmlns:a16="http://schemas.microsoft.com/office/drawing/2014/main" id="{F7925053-28BE-4B52-A288-6477F6D3604D}"/>
              </a:ext>
            </a:extLst>
          </p:cNvPr>
          <p:cNvSpPr>
            <a:spLocks xmlns:a="http://schemas.openxmlformats.org/drawingml/2006/main" noGrp="1"/>
          </p:cNvSpPr>
          <p:nvPr/>
        </p:nvSpPr>
        <p:spPr>
          <a:xfrm xmlns:a="http://schemas.openxmlformats.org/drawingml/2006/main">
            <a:off x="8020050" y="1200150"/>
            <a:ext cx="66675" cy="11049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EF7CD295-6E84-409E-B446-A2A152CFA43A}"/>
              </a:ext>
            </a:extLst>
          </p:cNvPr>
          <p:cNvSpPr>
            <a:spLocks xmlns:a="http://schemas.openxmlformats.org/drawingml/2006/main" noGrp="1"/>
          </p:cNvSpPr>
          <p:nvPr/>
        </p:nvSpPr>
        <p:spPr>
          <a:xfrm xmlns:a="http://schemas.openxmlformats.org/drawingml/2006/main">
            <a:off x="8191500" y="135255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18" name="">
            <a:extLst xmlns:a="http://schemas.openxmlformats.org/drawingml/2006/main">
              <a:ext uri="{FF2B5EF4-FFF2-40B4-BE49-F238E27FC236}">
                <a16:creationId xmlns:a16="http://schemas.microsoft.com/office/drawing/2014/main" id="{2AE6C30A-6286-4F47-A26F-67C0DA9C2CB8}"/>
              </a:ext>
            </a:extLst>
          </p:cNvPr>
          <p:cNvSpPr>
            <a:spLocks xmlns:a="http://schemas.openxmlformats.org/drawingml/2006/main" noGrp="1"/>
          </p:cNvSpPr>
          <p:nvPr/>
        </p:nvSpPr>
        <p:spPr>
          <a:xfrm xmlns:a="http://schemas.openxmlformats.org/drawingml/2006/main">
            <a:off x="8191500" y="1638300"/>
            <a:ext cx="171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subregion</a:t>
            </a:r>
          </a:p>
        </p:txBody>
      </p:sp>
      <p:sp>
        <p:nvSpPr>
          <p:cNvPr id="19" name="">
            <a:extLst xmlns:a="http://schemas.openxmlformats.org/drawingml/2006/main">
              <a:ext uri="{FF2B5EF4-FFF2-40B4-BE49-F238E27FC236}">
                <a16:creationId xmlns:a16="http://schemas.microsoft.com/office/drawing/2014/main" id="{5A4E3C6B-A710-4859-8ECB-4B0C6E4ECA35}"/>
              </a:ext>
            </a:extLst>
          </p:cNvPr>
          <p:cNvSpPr>
            <a:spLocks xmlns:a="http://schemas.openxmlformats.org/drawingml/2006/main" noGrp="1"/>
          </p:cNvSpPr>
          <p:nvPr/>
        </p:nvSpPr>
        <p:spPr>
          <a:xfrm xmlns:a="http://schemas.openxmlformats.org/drawingml/2006/main">
            <a:off x="8191500" y="1885950"/>
            <a:ext cx="17145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whole cerebral,</a:t>
            </a:r>
          </a:p>
          <a:p xmlns:a="http://schemas.openxmlformats.org/drawingml/2006/main">
            <a:pPr algn="l">
              <a:defRPr sz="825" b="0">
                <a:solidFill>
                  <a:srgbClr val="344146"/>
                </a:solidFill>
              </a:defRPr>
            </a:pPr>
            <a:r>
              <a:rPr sz="825" b="0">
                <a:solidFill>
                  <a:srgbClr val="344146"/>
                </a:solidFill>
              </a:rPr>
              <a:t>forebrain, midbrain</a:t>
            </a:r>
          </a:p>
        </p:txBody>
      </p:sp>
      <p:sp>
        <p:nvSpPr>
          <p:cNvPr id="20" name="">
            <a:extLst xmlns:a="http://schemas.openxmlformats.org/drawingml/2006/main">
              <a:ext uri="{FF2B5EF4-FFF2-40B4-BE49-F238E27FC236}">
                <a16:creationId xmlns:a16="http://schemas.microsoft.com/office/drawing/2014/main" id="{7C40DB72-1F92-442D-B739-96A2EF56D1BB}"/>
              </a:ext>
            </a:extLst>
          </p:cNvPr>
          <p:cNvSpPr>
            <a:spLocks xmlns:a="http://schemas.openxmlformats.org/drawingml/2006/main" noGrp="1"/>
          </p:cNvSpPr>
          <p:nvPr/>
        </p:nvSpPr>
        <p:spPr>
          <a:xfrm xmlns:a="http://schemas.openxmlformats.org/drawingml/2006/main">
            <a:off x="9296400" y="2667000"/>
            <a:ext cx="198120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21" name="">
            <a:extLst xmlns:a="http://schemas.openxmlformats.org/drawingml/2006/main">
              <a:ext uri="{FF2B5EF4-FFF2-40B4-BE49-F238E27FC236}">
                <a16:creationId xmlns:a16="http://schemas.microsoft.com/office/drawing/2014/main" id="{756D53BA-A318-4B4B-AC90-186D5266F059}"/>
              </a:ext>
            </a:extLst>
          </p:cNvPr>
          <p:cNvSpPr>
            <a:spLocks xmlns:a="http://schemas.openxmlformats.org/drawingml/2006/main" noGrp="1"/>
          </p:cNvSpPr>
          <p:nvPr/>
        </p:nvSpPr>
        <p:spPr>
          <a:xfrm xmlns:a="http://schemas.openxmlformats.org/drawingml/2006/main">
            <a:off x="9296400" y="2667000"/>
            <a:ext cx="66675" cy="11049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0F0E8F94-A82B-45A3-AB1B-710E5F0F1DF0}"/>
              </a:ext>
            </a:extLst>
          </p:cNvPr>
          <p:cNvSpPr>
            <a:spLocks xmlns:a="http://schemas.openxmlformats.org/drawingml/2006/main" noGrp="1"/>
          </p:cNvSpPr>
          <p:nvPr/>
        </p:nvSpPr>
        <p:spPr>
          <a:xfrm xmlns:a="http://schemas.openxmlformats.org/drawingml/2006/main">
            <a:off x="9467850" y="281940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23" name="">
            <a:extLst xmlns:a="http://schemas.openxmlformats.org/drawingml/2006/main">
              <a:ext uri="{FF2B5EF4-FFF2-40B4-BE49-F238E27FC236}">
                <a16:creationId xmlns:a16="http://schemas.microsoft.com/office/drawing/2014/main" id="{E425D37B-D1BB-4E8C-9816-E5E4614E3CAF}"/>
              </a:ext>
            </a:extLst>
          </p:cNvPr>
          <p:cNvSpPr>
            <a:spLocks xmlns:a="http://schemas.openxmlformats.org/drawingml/2006/main" noGrp="1"/>
          </p:cNvSpPr>
          <p:nvPr/>
        </p:nvSpPr>
        <p:spPr>
          <a:xfrm xmlns:a="http://schemas.openxmlformats.org/drawingml/2006/main">
            <a:off x="9467850" y="3105150"/>
            <a:ext cx="16573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benchmark</a:t>
            </a:r>
          </a:p>
        </p:txBody>
      </p:sp>
      <p:sp>
        <p:nvSpPr>
          <p:cNvPr id="24" name="">
            <a:extLst xmlns:a="http://schemas.openxmlformats.org/drawingml/2006/main">
              <a:ext uri="{FF2B5EF4-FFF2-40B4-BE49-F238E27FC236}">
                <a16:creationId xmlns:a16="http://schemas.microsoft.com/office/drawing/2014/main" id="{114ED0B1-FE71-423E-A61E-A07435B733FC}"/>
              </a:ext>
            </a:extLst>
          </p:cNvPr>
          <p:cNvSpPr>
            <a:spLocks xmlns:a="http://schemas.openxmlformats.org/drawingml/2006/main" noGrp="1"/>
          </p:cNvSpPr>
          <p:nvPr/>
        </p:nvSpPr>
        <p:spPr>
          <a:xfrm xmlns:a="http://schemas.openxmlformats.org/drawingml/2006/main">
            <a:off x="9467850" y="3352800"/>
            <a:ext cx="16573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reproducibility,</a:t>
            </a:r>
          </a:p>
          <a:p xmlns:a="http://schemas.openxmlformats.org/drawingml/2006/main">
            <a:pPr algn="l">
              <a:defRPr sz="825" b="0">
                <a:solidFill>
                  <a:srgbClr val="344146"/>
                </a:solidFill>
              </a:defRPr>
            </a:pPr>
            <a:r>
              <a:rPr sz="825" b="0">
                <a:solidFill>
                  <a:srgbClr val="344146"/>
                </a:solidFill>
              </a:rPr>
              <a:t>fidelity, timing</a:t>
            </a:r>
          </a:p>
        </p:txBody>
      </p:sp>
      <p:sp>
        <p:nvSpPr>
          <p:cNvPr id="25" name="">
            <a:extLst xmlns:a="http://schemas.openxmlformats.org/drawingml/2006/main">
              <a:ext uri="{FF2B5EF4-FFF2-40B4-BE49-F238E27FC236}">
                <a16:creationId xmlns:a16="http://schemas.microsoft.com/office/drawing/2014/main" id="{977156B3-15AE-499E-BF21-D22B66EF0CA0}"/>
              </a:ext>
            </a:extLst>
          </p:cNvPr>
          <p:cNvSpPr>
            <a:spLocks xmlns:a="http://schemas.openxmlformats.org/drawingml/2006/main" noGrp="1"/>
          </p:cNvSpPr>
          <p:nvPr/>
        </p:nvSpPr>
        <p:spPr>
          <a:xfrm xmlns:a="http://schemas.openxmlformats.org/drawingml/2006/main">
            <a:off x="8001000" y="4191000"/>
            <a:ext cx="211455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26" name="">
            <a:extLst xmlns:a="http://schemas.openxmlformats.org/drawingml/2006/main">
              <a:ext uri="{FF2B5EF4-FFF2-40B4-BE49-F238E27FC236}">
                <a16:creationId xmlns:a16="http://schemas.microsoft.com/office/drawing/2014/main" id="{E2D5F9AB-8E81-4FCD-85A1-1083C60834E1}"/>
              </a:ext>
            </a:extLst>
          </p:cNvPr>
          <p:cNvSpPr>
            <a:spLocks xmlns:a="http://schemas.openxmlformats.org/drawingml/2006/main" noGrp="1"/>
          </p:cNvSpPr>
          <p:nvPr/>
        </p:nvSpPr>
        <p:spPr>
          <a:xfrm xmlns:a="http://schemas.openxmlformats.org/drawingml/2006/main">
            <a:off x="8001000" y="4191000"/>
            <a:ext cx="66675" cy="11049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57A020F1-0693-469D-894E-A6D33941EB4F}"/>
              </a:ext>
            </a:extLst>
          </p:cNvPr>
          <p:cNvSpPr>
            <a:spLocks xmlns:a="http://schemas.openxmlformats.org/drawingml/2006/main" noGrp="1"/>
          </p:cNvSpPr>
          <p:nvPr/>
        </p:nvSpPr>
        <p:spPr>
          <a:xfrm xmlns:a="http://schemas.openxmlformats.org/drawingml/2006/main">
            <a:off x="8172450" y="434340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28" name="">
            <a:extLst xmlns:a="http://schemas.openxmlformats.org/drawingml/2006/main">
              <a:ext uri="{FF2B5EF4-FFF2-40B4-BE49-F238E27FC236}">
                <a16:creationId xmlns:a16="http://schemas.microsoft.com/office/drawing/2014/main" id="{9CB4DD8C-3056-42C6-807A-0C68E680045B}"/>
              </a:ext>
            </a:extLst>
          </p:cNvPr>
          <p:cNvSpPr>
            <a:spLocks xmlns:a="http://schemas.openxmlformats.org/drawingml/2006/main" noGrp="1"/>
          </p:cNvSpPr>
          <p:nvPr/>
        </p:nvSpPr>
        <p:spPr>
          <a:xfrm xmlns:a="http://schemas.openxmlformats.org/drawingml/2006/main">
            <a:off x="8172450" y="4629150"/>
            <a:ext cx="1790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readout</a:t>
            </a:r>
          </a:p>
        </p:txBody>
      </p:sp>
      <p:sp>
        <p:nvSpPr>
          <p:cNvPr id="29" name="">
            <a:extLst xmlns:a="http://schemas.openxmlformats.org/drawingml/2006/main">
              <a:ext uri="{FF2B5EF4-FFF2-40B4-BE49-F238E27FC236}">
                <a16:creationId xmlns:a16="http://schemas.microsoft.com/office/drawing/2014/main" id="{D2455DB4-B51B-4C8A-9003-29DFD25740A2}"/>
              </a:ext>
            </a:extLst>
          </p:cNvPr>
          <p:cNvSpPr>
            <a:spLocks xmlns:a="http://schemas.openxmlformats.org/drawingml/2006/main" noGrp="1"/>
          </p:cNvSpPr>
          <p:nvPr/>
        </p:nvSpPr>
        <p:spPr>
          <a:xfrm xmlns:a="http://schemas.openxmlformats.org/drawingml/2006/main">
            <a:off x="8172450" y="4876800"/>
            <a:ext cx="17907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MEA, atlas, host,</a:t>
            </a:r>
          </a:p>
          <a:p xmlns:a="http://schemas.openxmlformats.org/drawingml/2006/main">
            <a:pPr algn="l">
              <a:defRPr sz="825" b="0">
                <a:solidFill>
                  <a:srgbClr val="344146"/>
                </a:solidFill>
              </a:defRPr>
            </a:pPr>
            <a:r>
              <a:rPr sz="825" b="0">
                <a:solidFill>
                  <a:srgbClr val="344146"/>
                </a:solidFill>
              </a:rPr>
              <a:t>screening</a:t>
            </a:r>
          </a:p>
        </p:txBody>
      </p:sp>
      <p:sp>
        <p:nvSpPr>
          <p:cNvPr id="30" name="">
            <a:extLst xmlns:a="http://schemas.openxmlformats.org/drawingml/2006/main">
              <a:ext uri="{FF2B5EF4-FFF2-40B4-BE49-F238E27FC236}">
                <a16:creationId xmlns:a16="http://schemas.microsoft.com/office/drawing/2014/main" id="{B7523DA6-3BDB-46ED-AECA-B27F91B6BEDD}"/>
              </a:ext>
            </a:extLst>
          </p:cNvPr>
          <p:cNvSpPr>
            <a:spLocks xmlns:a="http://schemas.openxmlformats.org/drawingml/2006/main" noGrp="1"/>
          </p:cNvSpPr>
          <p:nvPr/>
        </p:nvSpPr>
        <p:spPr>
          <a:xfrm xmlns:a="http://schemas.openxmlformats.org/drawingml/2006/main">
            <a:off x="7391400" y="2609850"/>
            <a:ext cx="2095500" cy="990600"/>
          </a:xfrm>
          <a:prstGeom xmlns:a="http://schemas.openxmlformats.org/drawingml/2006/main" prst="roundRect">
            <a:avLst>
              <a:gd name="adj" fmla="val 7692"/>
            </a:avLst>
          </a:prstGeom>
          <a:solidFill xmlns:a="http://schemas.openxmlformats.org/drawingml/2006/main">
            <a:srgbClr val="DDF4E8"/>
          </a:solidFill>
          <a:ln xmlns:a="http://schemas.openxmlformats.org/drawingml/2006/main" w="10478">
            <a:solidFill>
              <a:srgbClr val="132024"/>
            </a:solidFill>
            <a:prstDash val="solid"/>
          </a:ln>
        </p:spPr>
      </p:sp>
      <p:sp>
        <p:nvSpPr>
          <p:cNvPr id="31" name="">
            <a:extLst xmlns:a="http://schemas.openxmlformats.org/drawingml/2006/main">
              <a:ext uri="{FF2B5EF4-FFF2-40B4-BE49-F238E27FC236}">
                <a16:creationId xmlns:a16="http://schemas.microsoft.com/office/drawing/2014/main" id="{03B98442-DC14-4ACE-8B93-40D94CD1D60D}"/>
              </a:ext>
            </a:extLst>
          </p:cNvPr>
          <p:cNvSpPr>
            <a:spLocks xmlns:a="http://schemas.openxmlformats.org/drawingml/2006/main" noGrp="1"/>
          </p:cNvSpPr>
          <p:nvPr/>
        </p:nvSpPr>
        <p:spPr>
          <a:xfrm xmlns:a="http://schemas.openxmlformats.org/drawingml/2006/main">
            <a:off x="7391400" y="2609850"/>
            <a:ext cx="66675" cy="99060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03D04A94-90F2-4C5D-81DC-6662D02F9EF8}"/>
              </a:ext>
            </a:extLst>
          </p:cNvPr>
          <p:cNvSpPr>
            <a:spLocks xmlns:a="http://schemas.openxmlformats.org/drawingml/2006/main" noGrp="1"/>
          </p:cNvSpPr>
          <p:nvPr/>
        </p:nvSpPr>
        <p:spPr>
          <a:xfrm xmlns:a="http://schemas.openxmlformats.org/drawingml/2006/main">
            <a:off x="7562850" y="2762250"/>
            <a:ext cx="609600" cy="2286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query</a:t>
            </a:r>
          </a:p>
        </p:txBody>
      </p:sp>
      <p:sp>
        <p:nvSpPr>
          <p:cNvPr id="33" name="">
            <a:extLst xmlns:a="http://schemas.openxmlformats.org/drawingml/2006/main">
              <a:ext uri="{FF2B5EF4-FFF2-40B4-BE49-F238E27FC236}">
                <a16:creationId xmlns:a16="http://schemas.microsoft.com/office/drawing/2014/main" id="{0437AFD6-8FCC-41E6-9E02-9CCA73C323DA}"/>
              </a:ext>
            </a:extLst>
          </p:cNvPr>
          <p:cNvSpPr>
            <a:spLocks xmlns:a="http://schemas.openxmlformats.org/drawingml/2006/main" noGrp="1"/>
          </p:cNvSpPr>
          <p:nvPr/>
        </p:nvSpPr>
        <p:spPr>
          <a:xfrm xmlns:a="http://schemas.openxmlformats.org/drawingml/2006/main">
            <a:off x="7562850" y="3048000"/>
            <a:ext cx="17716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질문의 이동</a:t>
            </a:r>
          </a:p>
        </p:txBody>
      </p:sp>
      <p:sp>
        <p:nvSpPr>
          <p:cNvPr id="34" name="">
            <a:extLst xmlns:a="http://schemas.openxmlformats.org/drawingml/2006/main">
              <a:ext uri="{FF2B5EF4-FFF2-40B4-BE49-F238E27FC236}">
                <a16:creationId xmlns:a16="http://schemas.microsoft.com/office/drawing/2014/main" id="{F8D62C4F-93D0-47A5-BF2F-02060E9420F1}"/>
              </a:ext>
            </a:extLst>
          </p:cNvPr>
          <p:cNvSpPr>
            <a:spLocks xmlns:a="http://schemas.openxmlformats.org/drawingml/2006/main" noGrp="1"/>
          </p:cNvSpPr>
          <p:nvPr/>
        </p:nvSpPr>
        <p:spPr>
          <a:xfrm xmlns:a="http://schemas.openxmlformats.org/drawingml/2006/main">
            <a:off x="7562850" y="3295650"/>
            <a:ext cx="1771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what should I compare first?</a:t>
            </a:r>
          </a:p>
        </p:txBody>
      </p:sp>
      <p:sp>
        <p:nvSpPr>
          <p:cNvPr id="35" name="">
            <a:extLst xmlns:a="http://schemas.openxmlformats.org/drawingml/2006/main">
              <a:ext uri="{FF2B5EF4-FFF2-40B4-BE49-F238E27FC236}">
                <a16:creationId xmlns:a16="http://schemas.microsoft.com/office/drawing/2014/main" id="{6A26E50A-D6FC-4A48-9B8D-C86B9102D163}"/>
              </a:ext>
            </a:extLst>
          </p:cNvPr>
          <p:cNvSpPr>
            <a:spLocks xmlns:a="http://schemas.openxmlformats.org/drawingml/2006/main" noGrp="1"/>
          </p:cNvSpPr>
          <p:nvPr/>
        </p:nvSpPr>
        <p:spPr>
          <a:xfrm xmlns:a="http://schemas.openxmlformats.org/drawingml/2006/main" rot="-3964498">
            <a:off x="7999343" y="2414588"/>
            <a:ext cx="1479690" cy="28575"/>
          </a:xfrm>
          <a:prstGeom xmlns:a="http://schemas.openxmlformats.org/drawingml/2006/main" prst="rect">
            <a:avLst/>
          </a:prstGeom>
          <a:solidFill xmlns:a="http://schemas.openxmlformats.org/drawingml/2006/main">
            <a:srgbClr val="97B7AA"/>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FC6079C7-3B79-4CA5-8B11-2108DA9A31C7}"/>
              </a:ext>
            </a:extLst>
          </p:cNvPr>
          <p:cNvSpPr>
            <a:spLocks xmlns:a="http://schemas.openxmlformats.org/drawingml/2006/main" noGrp="1"/>
          </p:cNvSpPr>
          <p:nvPr/>
        </p:nvSpPr>
        <p:spPr>
          <a:xfrm xmlns:a="http://schemas.openxmlformats.org/drawingml/2006/main" rot="212374">
            <a:off x="8437384" y="3148013"/>
            <a:ext cx="1851382" cy="28575"/>
          </a:xfrm>
          <a:prstGeom xmlns:a="http://schemas.openxmlformats.org/drawingml/2006/main" prst="rect">
            <a:avLst/>
          </a:prstGeom>
          <a:solidFill xmlns:a="http://schemas.openxmlformats.org/drawingml/2006/main">
            <a:srgbClr val="B7B0A1"/>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01A1C408-E299-442F-96AA-EB41C1529EEC}"/>
              </a:ext>
            </a:extLst>
          </p:cNvPr>
          <p:cNvSpPr>
            <a:spLocks xmlns:a="http://schemas.openxmlformats.org/drawingml/2006/main" noGrp="1"/>
          </p:cNvSpPr>
          <p:nvPr/>
        </p:nvSpPr>
        <p:spPr>
          <a:xfrm xmlns:a="http://schemas.openxmlformats.org/drawingml/2006/main" rot="4157884">
            <a:off x="7873021" y="3910013"/>
            <a:ext cx="1751383" cy="28575"/>
          </a:xfrm>
          <a:prstGeom xmlns:a="http://schemas.openxmlformats.org/drawingml/2006/main" prst="rect">
            <a:avLst/>
          </a:prstGeom>
          <a:solidFill xmlns:a="http://schemas.openxmlformats.org/drawingml/2006/main">
            <a:srgbClr val="CDA69F"/>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71FB5E0B-F860-4C46-A950-3FAABEA656EA}"/>
              </a:ext>
            </a:extLst>
          </p:cNvPr>
          <p:cNvSpPr>
            <a:spLocks xmlns:a="http://schemas.openxmlformats.org/drawingml/2006/main" noGrp="1"/>
          </p:cNvSpPr>
          <p:nvPr/>
        </p:nvSpPr>
        <p:spPr>
          <a:xfrm xmlns:a="http://schemas.openxmlformats.org/drawingml/2006/main">
            <a:off x="819150" y="5448300"/>
            <a:ext cx="1104900" cy="2667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15 min talk</a:t>
            </a:r>
          </a:p>
        </p:txBody>
      </p:sp>
      <p:sp>
        <p:nvSpPr>
          <p:cNvPr id="39" name="">
            <a:extLst xmlns:a="http://schemas.openxmlformats.org/drawingml/2006/main">
              <a:ext uri="{FF2B5EF4-FFF2-40B4-BE49-F238E27FC236}">
                <a16:creationId xmlns:a16="http://schemas.microsoft.com/office/drawing/2014/main" id="{D4BE354C-5D30-44B7-B53C-03045EECFD2A}"/>
              </a:ext>
            </a:extLst>
          </p:cNvPr>
          <p:cNvSpPr>
            <a:spLocks xmlns:a="http://schemas.openxmlformats.org/drawingml/2006/main" noGrp="1"/>
          </p:cNvSpPr>
          <p:nvPr/>
        </p:nvSpPr>
        <p:spPr>
          <a:xfrm xmlns:a="http://schemas.openxmlformats.org/drawingml/2006/main">
            <a:off x="2038350" y="5448300"/>
            <a:ext cx="156210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question journey</a:t>
            </a:r>
          </a:p>
        </p:txBody>
      </p:sp>
      <p:sp>
        <p:nvSpPr>
          <p:cNvPr id="40" name="">
            <a:extLst xmlns:a="http://schemas.openxmlformats.org/drawingml/2006/main">
              <a:ext uri="{FF2B5EF4-FFF2-40B4-BE49-F238E27FC236}">
                <a16:creationId xmlns:a16="http://schemas.microsoft.com/office/drawing/2014/main" id="{CD2356DD-5828-4F21-8B00-06B7BD889679}"/>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발표 구조: 출발 질문 -&gt; 한계 발견 -&gt; 질문 재정의 -&gt; 최종 선택 규칙</a:t>
            </a:r>
          </a:p>
        </p:txBody>
      </p:sp>
    </p:spTree>
    <p:extLst>
      <p:ext uri="{BB962C8B-B14F-4D97-AF65-F5344CB8AC3E}">
        <p14:creationId xmlns:p14="http://schemas.microsoft.com/office/powerpoint/2010/main" val="1650614639"/>
      </p:ext>
    </p:extLst>
  </p:cSld>
</p:sld>
</file>

<file path=ppt/slides/slide2.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960B6032-F217-4E1A-A5DD-55BD6786A62D}"/>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3754e9a39ce484f"/>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66CE7EEE-F4F6-47A1-A6CA-9C4773A5C97C}"/>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F45A954C-03B2-4AC4-B777-79FE466FE9C7}"/>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2E448196-CEAF-415C-AAFE-CF3DCCDF9266}"/>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022DBB12-858A-47C8-9E72-A19AF4680364}"/>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68D5C93B-5B3E-46EC-9C0F-D6E37A9D5E77}"/>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83B9587C-F6A6-4C9E-BC31-E3C685C7D94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78431"/>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2111658D-765B-47E7-8A90-B65C76395B14}"/>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WHY THIS TALK</a:t>
            </a:r>
          </a:p>
        </p:txBody>
      </p:sp>
      <p:sp>
        <p:nvSpPr>
          <p:cNvPr id="10" name="">
            <a:extLst xmlns:a="http://schemas.openxmlformats.org/drawingml/2006/main">
              <a:ext uri="{FF2B5EF4-FFF2-40B4-BE49-F238E27FC236}">
                <a16:creationId xmlns:a16="http://schemas.microsoft.com/office/drawing/2014/main" id="{E22B001E-7A0B-44D0-824E-C4CE71D9A525}"/>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02 / 12</a:t>
            </a:r>
          </a:p>
        </p:txBody>
      </p:sp>
      <p:sp>
        <p:nvSpPr>
          <p:cNvPr id="11" name="">
            <a:extLst xmlns:a="http://schemas.openxmlformats.org/drawingml/2006/main">
              <a:ext uri="{FF2B5EF4-FFF2-40B4-BE49-F238E27FC236}">
                <a16:creationId xmlns:a16="http://schemas.microsoft.com/office/drawing/2014/main" id="{7B70BE86-0C12-4097-A420-5B58F02758AE}"/>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1B867FCE-C685-40F7-B136-D7914F00BBE5}"/>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B964319A-E8FD-468F-95F0-461A18AA2810}"/>
              </a:ext>
            </a:extLst>
          </p:cNvPr>
          <p:cNvSpPr>
            <a:spLocks xmlns:a="http://schemas.openxmlformats.org/drawingml/2006/main" noGrp="1"/>
          </p:cNvSpPr>
          <p:nvPr/>
        </p:nvSpPr>
        <p:spPr>
          <a:xfrm xmlns:a="http://schemas.openxmlformats.org/drawingml/2006/main">
            <a:off x="609600" y="838200"/>
            <a:ext cx="6858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교수님 가이드에 맞춘</a:t>
            </a:r>
          </a:p>
          <a:p xmlns:a="http://schemas.openxmlformats.org/drawingml/2006/main">
            <a:pPr algn="l">
              <a:defRPr sz="2850" b="1">
                <a:solidFill>
                  <a:srgbClr val="132024"/>
                </a:solidFill>
              </a:defRPr>
            </a:pPr>
            <a:r>
              <a:rPr sz="2850" b="1">
                <a:solidFill>
                  <a:srgbClr val="132024"/>
                </a:solidFill>
              </a:rPr>
              <a:t>발표 프레임</a:t>
            </a:r>
          </a:p>
        </p:txBody>
      </p:sp>
      <p:sp>
        <p:nvSpPr>
          <p:cNvPr id="14" name="">
            <a:extLst xmlns:a="http://schemas.openxmlformats.org/drawingml/2006/main">
              <a:ext uri="{FF2B5EF4-FFF2-40B4-BE49-F238E27FC236}">
                <a16:creationId xmlns:a16="http://schemas.microsoft.com/office/drawing/2014/main" id="{9AF1D996-610E-4AA7-A121-C295E45C35A5}"/>
              </a:ext>
            </a:extLst>
          </p:cNvPr>
          <p:cNvSpPr>
            <a:spLocks xmlns:a="http://schemas.openxmlformats.org/drawingml/2006/main" noGrp="1"/>
          </p:cNvSpPr>
          <p:nvPr/>
        </p:nvSpPr>
        <p:spPr>
          <a:xfrm xmlns:a="http://schemas.openxmlformats.org/drawingml/2006/main">
            <a:off x="7772400" y="990600"/>
            <a:ext cx="3714750" cy="876300"/>
          </a:xfrm>
          <a:prstGeom xmlns:a="http://schemas.openxmlformats.org/drawingml/2006/main" prst="roundRect">
            <a:avLst>
              <a:gd name="adj" fmla="val 8696"/>
            </a:avLst>
          </a:prstGeom>
          <a:solidFill xmlns:a="http://schemas.openxmlformats.org/drawingml/2006/main">
            <a:srgbClr val="F4E8C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882F32A6-8939-4C98-BACC-014629DEA278}"/>
              </a:ext>
            </a:extLst>
          </p:cNvPr>
          <p:cNvSpPr>
            <a:spLocks xmlns:a="http://schemas.openxmlformats.org/drawingml/2006/main" noGrp="1"/>
          </p:cNvSpPr>
          <p:nvPr/>
        </p:nvSpPr>
        <p:spPr>
          <a:xfrm xmlns:a="http://schemas.openxmlformats.org/drawingml/2006/main">
            <a:off x="7772400" y="990600"/>
            <a:ext cx="76200" cy="8763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32C47D1D-BA99-460F-8B0B-0D0A20E8BE8F}"/>
              </a:ext>
            </a:extLst>
          </p:cNvPr>
          <p:cNvSpPr>
            <a:spLocks xmlns:a="http://schemas.openxmlformats.org/drawingml/2006/main" noGrp="1"/>
          </p:cNvSpPr>
          <p:nvPr/>
        </p:nvSpPr>
        <p:spPr>
          <a:xfrm xmlns:a="http://schemas.openxmlformats.org/drawingml/2006/main">
            <a:off x="7981950" y="1143000"/>
            <a:ext cx="333375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교수님 포인트: 결론보다 '지식-위키 체인'이 어떻게 만들어졌는지를 보여주는 발표</a:t>
            </a:r>
          </a:p>
        </p:txBody>
      </p:sp>
      <p:sp>
        <p:nvSpPr>
          <p:cNvPr id="17" name="">
            <a:extLst xmlns:a="http://schemas.openxmlformats.org/drawingml/2006/main">
              <a:ext uri="{FF2B5EF4-FFF2-40B4-BE49-F238E27FC236}">
                <a16:creationId xmlns:a16="http://schemas.microsoft.com/office/drawing/2014/main" id="{B3C91D6B-FAD2-4F04-94F2-12C1AE0E5F18}"/>
              </a:ext>
            </a:extLst>
          </p:cNvPr>
          <p:cNvSpPr>
            <a:spLocks xmlns:a="http://schemas.openxmlformats.org/drawingml/2006/main" noGrp="1"/>
          </p:cNvSpPr>
          <p:nvPr/>
        </p:nvSpPr>
        <p:spPr>
          <a:xfrm xmlns:a="http://schemas.openxmlformats.org/drawingml/2006/main">
            <a:off x="609600" y="22098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10A514A2-2AC2-4912-A720-9423E09D6290}"/>
              </a:ext>
            </a:extLst>
          </p:cNvPr>
          <p:cNvSpPr>
            <a:spLocks xmlns:a="http://schemas.openxmlformats.org/drawingml/2006/main" noGrp="1"/>
          </p:cNvSpPr>
          <p:nvPr/>
        </p:nvSpPr>
        <p:spPr>
          <a:xfrm xmlns:a="http://schemas.openxmlformats.org/drawingml/2006/main">
            <a:off x="609600" y="2209800"/>
            <a:ext cx="327660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8B46A040-DF38-4713-ACA7-7DBD3AA7AA78}"/>
              </a:ext>
            </a:extLst>
          </p:cNvPr>
          <p:cNvSpPr>
            <a:spLocks xmlns:a="http://schemas.openxmlformats.org/drawingml/2006/main" noGrp="1"/>
          </p:cNvSpPr>
          <p:nvPr/>
        </p:nvSpPr>
        <p:spPr>
          <a:xfrm xmlns:a="http://schemas.openxmlformats.org/drawingml/2006/main">
            <a:off x="800100" y="23812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96</a:t>
            </a:r>
          </a:p>
        </p:txBody>
      </p:sp>
      <p:sp>
        <p:nvSpPr>
          <p:cNvPr id="20" name="">
            <a:extLst xmlns:a="http://schemas.openxmlformats.org/drawingml/2006/main">
              <a:ext uri="{FF2B5EF4-FFF2-40B4-BE49-F238E27FC236}">
                <a16:creationId xmlns:a16="http://schemas.microsoft.com/office/drawing/2014/main" id="{504C72DD-7ED2-4326-AF70-A230516FA712}"/>
              </a:ext>
            </a:extLst>
          </p:cNvPr>
          <p:cNvSpPr>
            <a:spLocks xmlns:a="http://schemas.openxmlformats.org/drawingml/2006/main" noGrp="1"/>
          </p:cNvSpPr>
          <p:nvPr/>
        </p:nvSpPr>
        <p:spPr>
          <a:xfrm xmlns:a="http://schemas.openxmlformats.org/drawingml/2006/main">
            <a:off x="800100" y="28384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active source pages</a:t>
            </a:r>
          </a:p>
        </p:txBody>
      </p:sp>
      <p:sp>
        <p:nvSpPr>
          <p:cNvPr id="21" name="">
            <a:extLst xmlns:a="http://schemas.openxmlformats.org/drawingml/2006/main">
              <a:ext uri="{FF2B5EF4-FFF2-40B4-BE49-F238E27FC236}">
                <a16:creationId xmlns:a16="http://schemas.microsoft.com/office/drawing/2014/main" id="{C2D15B55-DBF9-4426-9871-C320555C1648}"/>
              </a:ext>
            </a:extLst>
          </p:cNvPr>
          <p:cNvSpPr>
            <a:spLocks xmlns:a="http://schemas.openxmlformats.org/drawingml/2006/main" noGrp="1"/>
          </p:cNvSpPr>
          <p:nvPr/>
        </p:nvSpPr>
        <p:spPr>
          <a:xfrm xmlns:a="http://schemas.openxmlformats.org/drawingml/2006/main">
            <a:off x="800100" y="30480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overview.md</a:t>
            </a:r>
          </a:p>
        </p:txBody>
      </p:sp>
      <p:sp>
        <p:nvSpPr>
          <p:cNvPr id="22" name="">
            <a:extLst xmlns:a="http://schemas.openxmlformats.org/drawingml/2006/main">
              <a:ext uri="{FF2B5EF4-FFF2-40B4-BE49-F238E27FC236}">
                <a16:creationId xmlns:a16="http://schemas.microsoft.com/office/drawing/2014/main" id="{2822D3DB-E3B9-4811-ABF4-7AA0BA9A276C}"/>
              </a:ext>
            </a:extLst>
          </p:cNvPr>
          <p:cNvSpPr>
            <a:spLocks xmlns:a="http://schemas.openxmlformats.org/drawingml/2006/main" noGrp="1"/>
          </p:cNvSpPr>
          <p:nvPr/>
        </p:nvSpPr>
        <p:spPr>
          <a:xfrm xmlns:a="http://schemas.openxmlformats.org/drawingml/2006/main">
            <a:off x="4114800" y="22098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2A4CB105-5525-44E6-9151-B4FE28DDEB59}"/>
              </a:ext>
            </a:extLst>
          </p:cNvPr>
          <p:cNvSpPr>
            <a:spLocks xmlns:a="http://schemas.openxmlformats.org/drawingml/2006/main" noGrp="1"/>
          </p:cNvSpPr>
          <p:nvPr/>
        </p:nvSpPr>
        <p:spPr>
          <a:xfrm xmlns:a="http://schemas.openxmlformats.org/drawingml/2006/main">
            <a:off x="4114800" y="2209800"/>
            <a:ext cx="327660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A202D921-A730-4C63-8FF7-9DCE4A8082D5}"/>
              </a:ext>
            </a:extLst>
          </p:cNvPr>
          <p:cNvSpPr>
            <a:spLocks xmlns:a="http://schemas.openxmlformats.org/drawingml/2006/main" noGrp="1"/>
          </p:cNvSpPr>
          <p:nvPr/>
        </p:nvSpPr>
        <p:spPr>
          <a:xfrm xmlns:a="http://schemas.openxmlformats.org/drawingml/2006/main">
            <a:off x="4305300" y="23812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17</a:t>
            </a:r>
          </a:p>
        </p:txBody>
      </p:sp>
      <p:sp>
        <p:nvSpPr>
          <p:cNvPr id="25" name="">
            <a:extLst xmlns:a="http://schemas.openxmlformats.org/drawingml/2006/main">
              <a:ext uri="{FF2B5EF4-FFF2-40B4-BE49-F238E27FC236}">
                <a16:creationId xmlns:a16="http://schemas.microsoft.com/office/drawing/2014/main" id="{5B23EEC7-9BF6-4D9D-84AF-EC869A0FA949}"/>
              </a:ext>
            </a:extLst>
          </p:cNvPr>
          <p:cNvSpPr>
            <a:spLocks xmlns:a="http://schemas.openxmlformats.org/drawingml/2006/main" noGrp="1"/>
          </p:cNvSpPr>
          <p:nvPr/>
        </p:nvSpPr>
        <p:spPr>
          <a:xfrm xmlns:a="http://schemas.openxmlformats.org/drawingml/2006/main">
            <a:off x="4305300" y="28384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brain cluster sources</a:t>
            </a:r>
          </a:p>
        </p:txBody>
      </p:sp>
      <p:sp>
        <p:nvSpPr>
          <p:cNvPr id="26" name="">
            <a:extLst xmlns:a="http://schemas.openxmlformats.org/drawingml/2006/main">
              <a:ext uri="{FF2B5EF4-FFF2-40B4-BE49-F238E27FC236}">
                <a16:creationId xmlns:a16="http://schemas.microsoft.com/office/drawing/2014/main" id="{E5ED2C78-5812-4ED2-93ED-4B713506E5CD}"/>
              </a:ext>
            </a:extLst>
          </p:cNvPr>
          <p:cNvSpPr>
            <a:spLocks xmlns:a="http://schemas.openxmlformats.org/drawingml/2006/main" noGrp="1"/>
          </p:cNvSpPr>
          <p:nvPr/>
        </p:nvSpPr>
        <p:spPr>
          <a:xfrm xmlns:a="http://schemas.openxmlformats.org/drawingml/2006/main">
            <a:off x="4305300" y="30480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overview.md</a:t>
            </a:r>
          </a:p>
        </p:txBody>
      </p:sp>
      <p:sp>
        <p:nvSpPr>
          <p:cNvPr id="27" name="">
            <a:extLst xmlns:a="http://schemas.openxmlformats.org/drawingml/2006/main">
              <a:ext uri="{FF2B5EF4-FFF2-40B4-BE49-F238E27FC236}">
                <a16:creationId xmlns:a16="http://schemas.microsoft.com/office/drawing/2014/main" id="{3A9907DF-7690-4518-BE89-C1FF6D9D9264}"/>
              </a:ext>
            </a:extLst>
          </p:cNvPr>
          <p:cNvSpPr>
            <a:spLocks xmlns:a="http://schemas.openxmlformats.org/drawingml/2006/main" noGrp="1"/>
          </p:cNvSpPr>
          <p:nvPr/>
        </p:nvSpPr>
        <p:spPr>
          <a:xfrm xmlns:a="http://schemas.openxmlformats.org/drawingml/2006/main">
            <a:off x="7620000" y="22098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8" name="">
            <a:extLst xmlns:a="http://schemas.openxmlformats.org/drawingml/2006/main">
              <a:ext uri="{FF2B5EF4-FFF2-40B4-BE49-F238E27FC236}">
                <a16:creationId xmlns:a16="http://schemas.microsoft.com/office/drawing/2014/main" id="{EE64B56C-FAAE-4450-A6BB-E98286AD6CC8}"/>
              </a:ext>
            </a:extLst>
          </p:cNvPr>
          <p:cNvSpPr>
            <a:spLocks xmlns:a="http://schemas.openxmlformats.org/drawingml/2006/main" noGrp="1"/>
          </p:cNvSpPr>
          <p:nvPr/>
        </p:nvSpPr>
        <p:spPr>
          <a:xfrm xmlns:a="http://schemas.openxmlformats.org/drawingml/2006/main">
            <a:off x="7620000" y="2209800"/>
            <a:ext cx="3276600" cy="76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4EAE4334-60D4-4AEF-A088-49FAA7423144}"/>
              </a:ext>
            </a:extLst>
          </p:cNvPr>
          <p:cNvSpPr>
            <a:spLocks xmlns:a="http://schemas.openxmlformats.org/drawingml/2006/main" noGrp="1"/>
          </p:cNvSpPr>
          <p:nvPr/>
        </p:nvSpPr>
        <p:spPr>
          <a:xfrm xmlns:a="http://schemas.openxmlformats.org/drawingml/2006/main">
            <a:off x="7810500" y="23812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3</a:t>
            </a:r>
          </a:p>
        </p:txBody>
      </p:sp>
      <p:sp>
        <p:nvSpPr>
          <p:cNvPr id="30" name="">
            <a:extLst xmlns:a="http://schemas.openxmlformats.org/drawingml/2006/main">
              <a:ext uri="{FF2B5EF4-FFF2-40B4-BE49-F238E27FC236}">
                <a16:creationId xmlns:a16="http://schemas.microsoft.com/office/drawing/2014/main" id="{0767D156-44CE-4BD7-9682-C08BFEF65A87}"/>
              </a:ext>
            </a:extLst>
          </p:cNvPr>
          <p:cNvSpPr>
            <a:spLocks xmlns:a="http://schemas.openxmlformats.org/drawingml/2006/main" noGrp="1"/>
          </p:cNvSpPr>
          <p:nvPr/>
        </p:nvSpPr>
        <p:spPr>
          <a:xfrm xmlns:a="http://schemas.openxmlformats.org/drawingml/2006/main">
            <a:off x="7810500" y="28384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core question notes in this talk</a:t>
            </a:r>
          </a:p>
        </p:txBody>
      </p:sp>
      <p:sp>
        <p:nvSpPr>
          <p:cNvPr id="31" name="">
            <a:extLst xmlns:a="http://schemas.openxmlformats.org/drawingml/2006/main">
              <a:ext uri="{FF2B5EF4-FFF2-40B4-BE49-F238E27FC236}">
                <a16:creationId xmlns:a16="http://schemas.microsoft.com/office/drawing/2014/main" id="{A1C9EF4C-05D2-4D7A-B46A-12D38627CC7C}"/>
              </a:ext>
            </a:extLst>
          </p:cNvPr>
          <p:cNvSpPr>
            <a:spLocks xmlns:a="http://schemas.openxmlformats.org/drawingml/2006/main" noGrp="1"/>
          </p:cNvSpPr>
          <p:nvPr/>
        </p:nvSpPr>
        <p:spPr>
          <a:xfrm xmlns:a="http://schemas.openxmlformats.org/drawingml/2006/main">
            <a:off x="7810500" y="30480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q1 -&gt; q2 -&gt; q3</a:t>
            </a:r>
          </a:p>
        </p:txBody>
      </p:sp>
      <p:sp>
        <p:nvSpPr>
          <p:cNvPr id="32" name="">
            <a:extLst xmlns:a="http://schemas.openxmlformats.org/drawingml/2006/main">
              <a:ext uri="{FF2B5EF4-FFF2-40B4-BE49-F238E27FC236}">
                <a16:creationId xmlns:a16="http://schemas.microsoft.com/office/drawing/2014/main" id="{5A15FB48-F857-4E41-A13C-A68F7A556578}"/>
              </a:ext>
            </a:extLst>
          </p:cNvPr>
          <p:cNvSpPr>
            <a:spLocks xmlns:a="http://schemas.openxmlformats.org/drawingml/2006/main" noGrp="1"/>
          </p:cNvSpPr>
          <p:nvPr/>
        </p:nvSpPr>
        <p:spPr>
          <a:xfrm xmlns:a="http://schemas.openxmlformats.org/drawingml/2006/main">
            <a:off x="781050" y="3867150"/>
            <a:ext cx="299085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3" name="">
            <a:extLst xmlns:a="http://schemas.openxmlformats.org/drawingml/2006/main">
              <a:ext uri="{FF2B5EF4-FFF2-40B4-BE49-F238E27FC236}">
                <a16:creationId xmlns:a16="http://schemas.microsoft.com/office/drawing/2014/main" id="{10A081C0-590F-4EC8-8694-2F97A8D13D02}"/>
              </a:ext>
            </a:extLst>
          </p:cNvPr>
          <p:cNvSpPr>
            <a:spLocks xmlns:a="http://schemas.openxmlformats.org/drawingml/2006/main" noGrp="1"/>
          </p:cNvSpPr>
          <p:nvPr/>
        </p:nvSpPr>
        <p:spPr>
          <a:xfrm xmlns:a="http://schemas.openxmlformats.org/drawingml/2006/main">
            <a:off x="781050" y="3867150"/>
            <a:ext cx="299085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34" name="">
            <a:extLst xmlns:a="http://schemas.openxmlformats.org/drawingml/2006/main">
              <a:ext uri="{FF2B5EF4-FFF2-40B4-BE49-F238E27FC236}">
                <a16:creationId xmlns:a16="http://schemas.microsoft.com/office/drawing/2014/main" id="{6E41C2A5-2B8D-4066-A996-C9CB5E497AC8}"/>
              </a:ext>
            </a:extLst>
          </p:cNvPr>
          <p:cNvSpPr>
            <a:spLocks xmlns:a="http://schemas.openxmlformats.org/drawingml/2006/main" noGrp="1"/>
          </p:cNvSpPr>
          <p:nvPr/>
        </p:nvSpPr>
        <p:spPr>
          <a:xfrm xmlns:a="http://schemas.openxmlformats.org/drawingml/2006/main">
            <a:off x="990600" y="4057650"/>
            <a:ext cx="25717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1. corpus browse</a:t>
            </a:r>
          </a:p>
        </p:txBody>
      </p:sp>
      <p:sp>
        <p:nvSpPr>
          <p:cNvPr id="35" name="">
            <a:extLst xmlns:a="http://schemas.openxmlformats.org/drawingml/2006/main">
              <a:ext uri="{FF2B5EF4-FFF2-40B4-BE49-F238E27FC236}">
                <a16:creationId xmlns:a16="http://schemas.microsoft.com/office/drawing/2014/main" id="{634774AB-0B67-4F0F-B718-F2662339B54C}"/>
              </a:ext>
            </a:extLst>
          </p:cNvPr>
          <p:cNvSpPr>
            <a:spLocks xmlns:a="http://schemas.openxmlformats.org/drawingml/2006/main" noGrp="1"/>
          </p:cNvSpPr>
          <p:nvPr/>
        </p:nvSpPr>
        <p:spPr>
          <a:xfrm xmlns:a="http://schemas.openxmlformats.org/drawingml/2006/main">
            <a:off x="990600" y="4476750"/>
            <a:ext cx="257175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index와 overview에서 organoid</a:t>
            </a:r>
          </a:p>
          <a:p xmlns:a="http://schemas.openxmlformats.org/drawingml/2006/main">
            <a:pPr algn="l">
              <a:defRPr sz="1200" b="0">
                <a:solidFill>
                  <a:srgbClr val="132024"/>
                </a:solidFill>
              </a:defRPr>
            </a:pPr>
            <a:r>
              <a:rPr sz="1200" b="0">
                <a:solidFill>
                  <a:srgbClr val="132024"/>
                </a:solidFill>
              </a:rPr>
              <a:t>corpus 전체 구조를 잡고, brain 관련</a:t>
            </a:r>
          </a:p>
          <a:p xmlns:a="http://schemas.openxmlformats.org/drawingml/2006/main">
            <a:pPr algn="l">
              <a:defRPr sz="1200" b="0">
                <a:solidFill>
                  <a:srgbClr val="132024"/>
                </a:solidFill>
              </a:defRPr>
            </a:pPr>
            <a:r>
              <a:rPr sz="1200" b="0">
                <a:solidFill>
                  <a:srgbClr val="132024"/>
                </a:solidFill>
              </a:rPr>
              <a:t>source와 concept page를 먼저</a:t>
            </a:r>
          </a:p>
          <a:p xmlns:a="http://schemas.openxmlformats.org/drawingml/2006/main">
            <a:pPr algn="l">
              <a:defRPr sz="1200" b="0">
                <a:solidFill>
                  <a:srgbClr val="132024"/>
                </a:solidFill>
              </a:defRPr>
            </a:pPr>
            <a:r>
              <a:rPr sz="1200" b="0">
                <a:solidFill>
                  <a:srgbClr val="132024"/>
                </a:solidFill>
              </a:rPr>
              <a:t>추렸다.</a:t>
            </a:r>
          </a:p>
        </p:txBody>
      </p:sp>
      <p:sp>
        <p:nvSpPr>
          <p:cNvPr id="36" name="">
            <a:extLst xmlns:a="http://schemas.openxmlformats.org/drawingml/2006/main">
              <a:ext uri="{FF2B5EF4-FFF2-40B4-BE49-F238E27FC236}">
                <a16:creationId xmlns:a16="http://schemas.microsoft.com/office/drawing/2014/main" id="{0B6FE4DE-3CCA-462C-9BED-E432548602E0}"/>
              </a:ext>
            </a:extLst>
          </p:cNvPr>
          <p:cNvSpPr>
            <a:spLocks xmlns:a="http://schemas.openxmlformats.org/drawingml/2006/main" noGrp="1"/>
          </p:cNvSpPr>
          <p:nvPr/>
        </p:nvSpPr>
        <p:spPr>
          <a:xfrm xmlns:a="http://schemas.openxmlformats.org/drawingml/2006/main">
            <a:off x="3981450" y="4629150"/>
            <a:ext cx="7239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7" name="">
            <a:extLst xmlns:a="http://schemas.openxmlformats.org/drawingml/2006/main">
              <a:ext uri="{FF2B5EF4-FFF2-40B4-BE49-F238E27FC236}">
                <a16:creationId xmlns:a16="http://schemas.microsoft.com/office/drawing/2014/main" id="{DD291F99-B66D-4D6C-85F1-43B6E7A9017B}"/>
              </a:ext>
            </a:extLst>
          </p:cNvPr>
          <p:cNvSpPr>
            <a:spLocks xmlns:a="http://schemas.openxmlformats.org/drawingml/2006/main" noGrp="1"/>
          </p:cNvSpPr>
          <p:nvPr/>
        </p:nvSpPr>
        <p:spPr>
          <a:xfrm xmlns:a="http://schemas.openxmlformats.org/drawingml/2006/main">
            <a:off x="4819650" y="3867150"/>
            <a:ext cx="299085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8" name="">
            <a:extLst xmlns:a="http://schemas.openxmlformats.org/drawingml/2006/main">
              <a:ext uri="{FF2B5EF4-FFF2-40B4-BE49-F238E27FC236}">
                <a16:creationId xmlns:a16="http://schemas.microsoft.com/office/drawing/2014/main" id="{2CE07656-2C69-4EE8-B3FA-BA49AC16AA88}"/>
              </a:ext>
            </a:extLst>
          </p:cNvPr>
          <p:cNvSpPr>
            <a:spLocks xmlns:a="http://schemas.openxmlformats.org/drawingml/2006/main" noGrp="1"/>
          </p:cNvSpPr>
          <p:nvPr/>
        </p:nvSpPr>
        <p:spPr>
          <a:xfrm xmlns:a="http://schemas.openxmlformats.org/drawingml/2006/main">
            <a:off x="4819650" y="3867150"/>
            <a:ext cx="299085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9" name="">
            <a:extLst xmlns:a="http://schemas.openxmlformats.org/drawingml/2006/main">
              <a:ext uri="{FF2B5EF4-FFF2-40B4-BE49-F238E27FC236}">
                <a16:creationId xmlns:a16="http://schemas.microsoft.com/office/drawing/2014/main" id="{66A45591-B444-4C5A-B67B-E6194C88B6CE}"/>
              </a:ext>
            </a:extLst>
          </p:cNvPr>
          <p:cNvSpPr>
            <a:spLocks xmlns:a="http://schemas.openxmlformats.org/drawingml/2006/main" noGrp="1"/>
          </p:cNvSpPr>
          <p:nvPr/>
        </p:nvSpPr>
        <p:spPr>
          <a:xfrm xmlns:a="http://schemas.openxmlformats.org/drawingml/2006/main">
            <a:off x="5029200" y="4057650"/>
            <a:ext cx="25717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2. first query</a:t>
            </a:r>
          </a:p>
        </p:txBody>
      </p:sp>
      <p:sp>
        <p:nvSpPr>
          <p:cNvPr id="40" name="">
            <a:extLst xmlns:a="http://schemas.openxmlformats.org/drawingml/2006/main">
              <a:ext uri="{FF2B5EF4-FFF2-40B4-BE49-F238E27FC236}">
                <a16:creationId xmlns:a16="http://schemas.microsoft.com/office/drawing/2014/main" id="{BAB4684C-A620-4C9C-997F-9FF18A917E2E}"/>
              </a:ext>
            </a:extLst>
          </p:cNvPr>
          <p:cNvSpPr>
            <a:spLocks xmlns:a="http://schemas.openxmlformats.org/drawingml/2006/main" noGrp="1"/>
          </p:cNvSpPr>
          <p:nvPr/>
        </p:nvSpPr>
        <p:spPr>
          <a:xfrm xmlns:a="http://schemas.openxmlformats.org/drawingml/2006/main">
            <a:off x="5029200" y="4476750"/>
            <a:ext cx="257175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subregion별 프로토콜 차이를 정리하면서</a:t>
            </a:r>
          </a:p>
          <a:p xmlns:a="http://schemas.openxmlformats.org/drawingml/2006/main">
            <a:pPr algn="l">
              <a:defRPr sz="1200" b="0">
                <a:solidFill>
                  <a:srgbClr val="132024"/>
                </a:solidFill>
              </a:defRPr>
            </a:pPr>
            <a:r>
              <a:rPr sz="1200" b="0">
                <a:solidFill>
                  <a:srgbClr val="132024"/>
                </a:solidFill>
              </a:rPr>
              <a:t>region choice를 중심 질문으로</a:t>
            </a:r>
          </a:p>
          <a:p xmlns:a="http://schemas.openxmlformats.org/drawingml/2006/main">
            <a:pPr algn="l">
              <a:defRPr sz="1200" b="0">
                <a:solidFill>
                  <a:srgbClr val="132024"/>
                </a:solidFill>
              </a:defRPr>
            </a:pPr>
            <a:r>
              <a:rPr sz="1200" b="0">
                <a:solidFill>
                  <a:srgbClr val="132024"/>
                </a:solidFill>
              </a:rPr>
              <a:t>세웠다.</a:t>
            </a:r>
          </a:p>
        </p:txBody>
      </p:sp>
      <p:sp>
        <p:nvSpPr>
          <p:cNvPr id="41" name="">
            <a:extLst xmlns:a="http://schemas.openxmlformats.org/drawingml/2006/main">
              <a:ext uri="{FF2B5EF4-FFF2-40B4-BE49-F238E27FC236}">
                <a16:creationId xmlns:a16="http://schemas.microsoft.com/office/drawing/2014/main" id="{8A31A46B-CC41-4232-8293-36479FDCE664}"/>
              </a:ext>
            </a:extLst>
          </p:cNvPr>
          <p:cNvSpPr>
            <a:spLocks xmlns:a="http://schemas.openxmlformats.org/drawingml/2006/main" noGrp="1"/>
          </p:cNvSpPr>
          <p:nvPr/>
        </p:nvSpPr>
        <p:spPr>
          <a:xfrm xmlns:a="http://schemas.openxmlformats.org/drawingml/2006/main">
            <a:off x="8020050" y="4629150"/>
            <a:ext cx="7239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42" name="">
            <a:extLst xmlns:a="http://schemas.openxmlformats.org/drawingml/2006/main">
              <a:ext uri="{FF2B5EF4-FFF2-40B4-BE49-F238E27FC236}">
                <a16:creationId xmlns:a16="http://schemas.microsoft.com/office/drawing/2014/main" id="{60174BDE-0F89-430E-B0C9-798208D56EE0}"/>
              </a:ext>
            </a:extLst>
          </p:cNvPr>
          <p:cNvSpPr>
            <a:spLocks xmlns:a="http://schemas.openxmlformats.org/drawingml/2006/main" noGrp="1"/>
          </p:cNvSpPr>
          <p:nvPr/>
        </p:nvSpPr>
        <p:spPr>
          <a:xfrm xmlns:a="http://schemas.openxmlformats.org/drawingml/2006/main">
            <a:off x="8858250" y="3867150"/>
            <a:ext cx="243840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43" name="">
            <a:extLst xmlns:a="http://schemas.openxmlformats.org/drawingml/2006/main">
              <a:ext uri="{FF2B5EF4-FFF2-40B4-BE49-F238E27FC236}">
                <a16:creationId xmlns:a16="http://schemas.microsoft.com/office/drawing/2014/main" id="{2BF45242-B531-4CD0-AFD8-91CFBE7A9FD7}"/>
              </a:ext>
            </a:extLst>
          </p:cNvPr>
          <p:cNvSpPr>
            <a:spLocks xmlns:a="http://schemas.openxmlformats.org/drawingml/2006/main" noGrp="1"/>
          </p:cNvSpPr>
          <p:nvPr/>
        </p:nvSpPr>
        <p:spPr>
          <a:xfrm xmlns:a="http://schemas.openxmlformats.org/drawingml/2006/main">
            <a:off x="8858250" y="3867150"/>
            <a:ext cx="2438400" cy="76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44" name="">
            <a:extLst xmlns:a="http://schemas.openxmlformats.org/drawingml/2006/main">
              <a:ext uri="{FF2B5EF4-FFF2-40B4-BE49-F238E27FC236}">
                <a16:creationId xmlns:a16="http://schemas.microsoft.com/office/drawing/2014/main" id="{4D6DD7A0-584B-402E-BF92-FE553689158D}"/>
              </a:ext>
            </a:extLst>
          </p:cNvPr>
          <p:cNvSpPr>
            <a:spLocks xmlns:a="http://schemas.openxmlformats.org/drawingml/2006/main" noGrp="1"/>
          </p:cNvSpPr>
          <p:nvPr/>
        </p:nvSpPr>
        <p:spPr>
          <a:xfrm xmlns:a="http://schemas.openxmlformats.org/drawingml/2006/main">
            <a:off x="9067800" y="4057650"/>
            <a:ext cx="2019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3. refined query</a:t>
            </a:r>
          </a:p>
        </p:txBody>
      </p:sp>
      <p:sp>
        <p:nvSpPr>
          <p:cNvPr id="45" name="">
            <a:extLst xmlns:a="http://schemas.openxmlformats.org/drawingml/2006/main">
              <a:ext uri="{FF2B5EF4-FFF2-40B4-BE49-F238E27FC236}">
                <a16:creationId xmlns:a16="http://schemas.microsoft.com/office/drawing/2014/main" id="{7B6E5A41-A113-410F-B793-0F0EA868B897}"/>
              </a:ext>
            </a:extLst>
          </p:cNvPr>
          <p:cNvSpPr>
            <a:spLocks xmlns:a="http://schemas.openxmlformats.org/drawingml/2006/main" noGrp="1"/>
          </p:cNvSpPr>
          <p:nvPr/>
        </p:nvSpPr>
        <p:spPr>
          <a:xfrm xmlns:a="http://schemas.openxmlformats.org/drawingml/2006/main">
            <a:off x="9067800" y="4476750"/>
            <a:ext cx="201930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그 질문만으로는 부족하다는 걸 발견하고</a:t>
            </a:r>
          </a:p>
          <a:p xmlns:a="http://schemas.openxmlformats.org/drawingml/2006/main">
            <a:pPr algn="l">
              <a:defRPr sz="1200" b="0">
                <a:solidFill>
                  <a:srgbClr val="132024"/>
                </a:solidFill>
              </a:defRPr>
            </a:pPr>
            <a:r>
              <a:rPr sz="1200" b="0">
                <a:solidFill>
                  <a:srgbClr val="132024"/>
                </a:solidFill>
              </a:rPr>
              <a:t>benchmark와 readout</a:t>
            </a:r>
          </a:p>
          <a:p xmlns:a="http://schemas.openxmlformats.org/drawingml/2006/main">
            <a:pPr algn="l">
              <a:defRPr sz="1200" b="0">
                <a:solidFill>
                  <a:srgbClr val="132024"/>
                </a:solidFill>
              </a:defRPr>
            </a:pPr>
            <a:r>
              <a:rPr sz="1200" b="0">
                <a:solidFill>
                  <a:srgbClr val="132024"/>
                </a:solidFill>
              </a:rPr>
              <a:t>질문으로 확장했다.</a:t>
            </a:r>
          </a:p>
        </p:txBody>
      </p:sp>
      <p:sp>
        <p:nvSpPr>
          <p:cNvPr id="46" name="">
            <a:extLst xmlns:a="http://schemas.openxmlformats.org/drawingml/2006/main">
              <a:ext uri="{FF2B5EF4-FFF2-40B4-BE49-F238E27FC236}">
                <a16:creationId xmlns:a16="http://schemas.microsoft.com/office/drawing/2014/main" id="{07445EF4-0664-49EF-904E-AD522435C8FF}"/>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오늘 발표는 이 세 단계 자체를 보여주는 발표다.</a:t>
            </a:r>
          </a:p>
        </p:txBody>
      </p:sp>
    </p:spTree>
    <p:extLst>
      <p:ext uri="{BB962C8B-B14F-4D97-AF65-F5344CB8AC3E}">
        <p14:creationId xmlns:p14="http://schemas.microsoft.com/office/powerpoint/2010/main" val="554991216"/>
      </p:ext>
    </p:extLst>
  </p:cSld>
</p:sld>
</file>

<file path=ppt/slides/slide3.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960B6032-F217-4E1A-A5DD-55BD6786A62D}"/>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186c426edf94ef0"/>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BADDA07-805C-4628-A04F-D6D611D1C51C}"/>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CAAA951B-F612-478A-BBAA-106B567912A0}"/>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6BCB8C2B-F5B6-4CBB-A313-619342040A09}"/>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DE98389E-1359-443E-AF56-A0D0316147E8}"/>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3FAA1D11-F9B0-4B1E-B726-C36BCC0E63F4}"/>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927A2780-F12A-46D5-9690-364EE05B8C8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EDC0B428-3CC3-48AE-BD42-EC26EED45068}"/>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SCOPE</a:t>
            </a:r>
          </a:p>
        </p:txBody>
      </p:sp>
      <p:sp>
        <p:nvSpPr>
          <p:cNvPr id="10" name="">
            <a:extLst xmlns:a="http://schemas.openxmlformats.org/drawingml/2006/main">
              <a:ext uri="{FF2B5EF4-FFF2-40B4-BE49-F238E27FC236}">
                <a16:creationId xmlns:a16="http://schemas.microsoft.com/office/drawing/2014/main" id="{3CDEC644-87DA-44D2-8F3A-1849C7D42FE9}"/>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03 / 12</a:t>
            </a:r>
          </a:p>
        </p:txBody>
      </p:sp>
      <p:sp>
        <p:nvSpPr>
          <p:cNvPr id="11" name="">
            <a:extLst xmlns:a="http://schemas.openxmlformats.org/drawingml/2006/main">
              <a:ext uri="{FF2B5EF4-FFF2-40B4-BE49-F238E27FC236}">
                <a16:creationId xmlns:a16="http://schemas.microsoft.com/office/drawing/2014/main" id="{BA946781-BFCE-489B-A792-D2AB371E890E}"/>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84BBD1E4-278F-43F3-9131-1FDFC81B1290}"/>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E47974B2-85D7-47A4-A0F9-4F24E496B629}"/>
              </a:ext>
            </a:extLst>
          </p:cNvPr>
          <p:cNvSpPr>
            <a:spLocks xmlns:a="http://schemas.openxmlformats.org/drawingml/2006/main" noGrp="1"/>
          </p:cNvSpPr>
          <p:nvPr/>
        </p:nvSpPr>
        <p:spPr>
          <a:xfrm xmlns:a="http://schemas.openxmlformats.org/drawingml/2006/main">
            <a:off x="609600" y="838200"/>
            <a:ext cx="70485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왜 이 corpus에서</a:t>
            </a:r>
          </a:p>
          <a:p xmlns:a="http://schemas.openxmlformats.org/drawingml/2006/main">
            <a:pPr algn="l">
              <a:defRPr sz="2850" b="1">
                <a:solidFill>
                  <a:srgbClr val="132024"/>
                </a:solidFill>
              </a:defRPr>
            </a:pPr>
            <a:r>
              <a:rPr sz="2850" b="1">
                <a:solidFill>
                  <a:srgbClr val="132024"/>
                </a:solidFill>
              </a:rPr>
              <a:t>brain branch를 먼저 잡았나</a:t>
            </a:r>
          </a:p>
        </p:txBody>
      </p:sp>
      <p:sp>
        <p:nvSpPr>
          <p:cNvPr id="14" name="">
            <a:extLst xmlns:a="http://schemas.openxmlformats.org/drawingml/2006/main">
              <a:ext uri="{FF2B5EF4-FFF2-40B4-BE49-F238E27FC236}">
                <a16:creationId xmlns:a16="http://schemas.microsoft.com/office/drawing/2014/main" id="{67A4C78A-EB2C-4941-85AB-9817A1E76BAF}"/>
              </a:ext>
            </a:extLst>
          </p:cNvPr>
          <p:cNvSpPr>
            <a:spLocks xmlns:a="http://schemas.openxmlformats.org/drawingml/2006/main" noGrp="1"/>
          </p:cNvSpPr>
          <p:nvPr/>
        </p:nvSpPr>
        <p:spPr>
          <a:xfrm xmlns:a="http://schemas.openxmlformats.org/drawingml/2006/main">
            <a:off x="685800" y="21717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C100F514-BFDB-4ABE-8D43-58D003EBA558}"/>
              </a:ext>
            </a:extLst>
          </p:cNvPr>
          <p:cNvSpPr>
            <a:spLocks xmlns:a="http://schemas.openxmlformats.org/drawingml/2006/main" noGrp="1"/>
          </p:cNvSpPr>
          <p:nvPr/>
        </p:nvSpPr>
        <p:spPr>
          <a:xfrm xmlns:a="http://schemas.openxmlformats.org/drawingml/2006/main">
            <a:off x="685800" y="2171700"/>
            <a:ext cx="327660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EA50583C-D9CD-4989-8646-5D98063B94E8}"/>
              </a:ext>
            </a:extLst>
          </p:cNvPr>
          <p:cNvSpPr>
            <a:spLocks xmlns:a="http://schemas.openxmlformats.org/drawingml/2006/main" noGrp="1"/>
          </p:cNvSpPr>
          <p:nvPr/>
        </p:nvSpPr>
        <p:spPr>
          <a:xfrm xmlns:a="http://schemas.openxmlformats.org/drawingml/2006/main">
            <a:off x="876300" y="23431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17</a:t>
            </a:r>
          </a:p>
        </p:txBody>
      </p:sp>
      <p:sp>
        <p:nvSpPr>
          <p:cNvPr id="17" name="">
            <a:extLst xmlns:a="http://schemas.openxmlformats.org/drawingml/2006/main">
              <a:ext uri="{FF2B5EF4-FFF2-40B4-BE49-F238E27FC236}">
                <a16:creationId xmlns:a16="http://schemas.microsoft.com/office/drawing/2014/main" id="{6D15A9D7-A8EA-4A57-BF1B-05B5FA7620CD}"/>
              </a:ext>
            </a:extLst>
          </p:cNvPr>
          <p:cNvSpPr>
            <a:spLocks xmlns:a="http://schemas.openxmlformats.org/drawingml/2006/main" noGrp="1"/>
          </p:cNvSpPr>
          <p:nvPr/>
        </p:nvSpPr>
        <p:spPr>
          <a:xfrm xmlns:a="http://schemas.openxmlformats.org/drawingml/2006/main">
            <a:off x="876300" y="28003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brain-related active sources</a:t>
            </a:r>
          </a:p>
        </p:txBody>
      </p:sp>
      <p:sp>
        <p:nvSpPr>
          <p:cNvPr id="18" name="">
            <a:extLst xmlns:a="http://schemas.openxmlformats.org/drawingml/2006/main">
              <a:ext uri="{FF2B5EF4-FFF2-40B4-BE49-F238E27FC236}">
                <a16:creationId xmlns:a16="http://schemas.microsoft.com/office/drawing/2014/main" id="{CF500B4E-061A-43E1-A30E-6A32F6E54EAA}"/>
              </a:ext>
            </a:extLst>
          </p:cNvPr>
          <p:cNvSpPr>
            <a:spLocks xmlns:a="http://schemas.openxmlformats.org/drawingml/2006/main" noGrp="1"/>
          </p:cNvSpPr>
          <p:nvPr/>
        </p:nvSpPr>
        <p:spPr>
          <a:xfrm xmlns:a="http://schemas.openxmlformats.org/drawingml/2006/main">
            <a:off x="876300" y="30099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overview.md cluster count</a:t>
            </a:r>
          </a:p>
        </p:txBody>
      </p:sp>
      <p:sp>
        <p:nvSpPr>
          <p:cNvPr id="19" name="">
            <a:extLst xmlns:a="http://schemas.openxmlformats.org/drawingml/2006/main">
              <a:ext uri="{FF2B5EF4-FFF2-40B4-BE49-F238E27FC236}">
                <a16:creationId xmlns:a16="http://schemas.microsoft.com/office/drawing/2014/main" id="{34B31D07-8A76-4D2F-9138-68E2DEF314F3}"/>
              </a:ext>
            </a:extLst>
          </p:cNvPr>
          <p:cNvSpPr>
            <a:spLocks xmlns:a="http://schemas.openxmlformats.org/drawingml/2006/main" noGrp="1"/>
          </p:cNvSpPr>
          <p:nvPr/>
        </p:nvSpPr>
        <p:spPr>
          <a:xfrm xmlns:a="http://schemas.openxmlformats.org/drawingml/2006/main">
            <a:off x="4191000" y="21717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0" name="">
            <a:extLst xmlns:a="http://schemas.openxmlformats.org/drawingml/2006/main">
              <a:ext uri="{FF2B5EF4-FFF2-40B4-BE49-F238E27FC236}">
                <a16:creationId xmlns:a16="http://schemas.microsoft.com/office/drawing/2014/main" id="{1069CA20-0D73-498F-901C-FAA456335E9F}"/>
              </a:ext>
            </a:extLst>
          </p:cNvPr>
          <p:cNvSpPr>
            <a:spLocks xmlns:a="http://schemas.openxmlformats.org/drawingml/2006/main" noGrp="1"/>
          </p:cNvSpPr>
          <p:nvPr/>
        </p:nvSpPr>
        <p:spPr>
          <a:xfrm xmlns:a="http://schemas.openxmlformats.org/drawingml/2006/main">
            <a:off x="4191000" y="2171700"/>
            <a:ext cx="327660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29C442FF-0E4E-451B-BD45-C5B230EC6C31}"/>
              </a:ext>
            </a:extLst>
          </p:cNvPr>
          <p:cNvSpPr>
            <a:spLocks xmlns:a="http://schemas.openxmlformats.org/drawingml/2006/main" noGrp="1"/>
          </p:cNvSpPr>
          <p:nvPr/>
        </p:nvSpPr>
        <p:spPr>
          <a:xfrm xmlns:a="http://schemas.openxmlformats.org/drawingml/2006/main">
            <a:off x="4381500" y="23431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3</a:t>
            </a:r>
          </a:p>
        </p:txBody>
      </p:sp>
      <p:sp>
        <p:nvSpPr>
          <p:cNvPr id="22" name="">
            <a:extLst xmlns:a="http://schemas.openxmlformats.org/drawingml/2006/main">
              <a:ext uri="{FF2B5EF4-FFF2-40B4-BE49-F238E27FC236}">
                <a16:creationId xmlns:a16="http://schemas.microsoft.com/office/drawing/2014/main" id="{1D157564-A395-4CDE-BA07-EA7AAFCCBF6C}"/>
              </a:ext>
            </a:extLst>
          </p:cNvPr>
          <p:cNvSpPr>
            <a:spLocks xmlns:a="http://schemas.openxmlformats.org/drawingml/2006/main" noGrp="1"/>
          </p:cNvSpPr>
          <p:nvPr/>
        </p:nvSpPr>
        <p:spPr>
          <a:xfrm xmlns:a="http://schemas.openxmlformats.org/drawingml/2006/main">
            <a:off x="4381500" y="28003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core question notes</a:t>
            </a:r>
          </a:p>
        </p:txBody>
      </p:sp>
      <p:sp>
        <p:nvSpPr>
          <p:cNvPr id="23" name="">
            <a:extLst xmlns:a="http://schemas.openxmlformats.org/drawingml/2006/main">
              <a:ext uri="{FF2B5EF4-FFF2-40B4-BE49-F238E27FC236}">
                <a16:creationId xmlns:a16="http://schemas.microsoft.com/office/drawing/2014/main" id="{BDE1570A-0094-4A55-B55D-31868D5D1B82}"/>
              </a:ext>
            </a:extLst>
          </p:cNvPr>
          <p:cNvSpPr>
            <a:spLocks xmlns:a="http://schemas.openxmlformats.org/drawingml/2006/main" noGrp="1"/>
          </p:cNvSpPr>
          <p:nvPr/>
        </p:nvSpPr>
        <p:spPr>
          <a:xfrm xmlns:a="http://schemas.openxmlformats.org/drawingml/2006/main">
            <a:off x="4381500" y="30099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q1 -&gt; q2 -&gt; q3</a:t>
            </a:r>
          </a:p>
        </p:txBody>
      </p:sp>
      <p:sp>
        <p:nvSpPr>
          <p:cNvPr id="24" name="">
            <a:extLst xmlns:a="http://schemas.openxmlformats.org/drawingml/2006/main">
              <a:ext uri="{FF2B5EF4-FFF2-40B4-BE49-F238E27FC236}">
                <a16:creationId xmlns:a16="http://schemas.microsoft.com/office/drawing/2014/main" id="{510CEF63-BE4C-4AD6-8EB9-3AA8DF8CBDB9}"/>
              </a:ext>
            </a:extLst>
          </p:cNvPr>
          <p:cNvSpPr>
            <a:spLocks xmlns:a="http://schemas.openxmlformats.org/drawingml/2006/main" noGrp="1"/>
          </p:cNvSpPr>
          <p:nvPr/>
        </p:nvSpPr>
        <p:spPr>
          <a:xfrm xmlns:a="http://schemas.openxmlformats.org/drawingml/2006/main">
            <a:off x="7696200" y="21717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5" name="">
            <a:extLst xmlns:a="http://schemas.openxmlformats.org/drawingml/2006/main">
              <a:ext uri="{FF2B5EF4-FFF2-40B4-BE49-F238E27FC236}">
                <a16:creationId xmlns:a16="http://schemas.microsoft.com/office/drawing/2014/main" id="{F4BEB666-0370-4AB6-B063-0DD796E71F20}"/>
              </a:ext>
            </a:extLst>
          </p:cNvPr>
          <p:cNvSpPr>
            <a:spLocks xmlns:a="http://schemas.openxmlformats.org/drawingml/2006/main" noGrp="1"/>
          </p:cNvSpPr>
          <p:nvPr/>
        </p:nvSpPr>
        <p:spPr>
          <a:xfrm xmlns:a="http://schemas.openxmlformats.org/drawingml/2006/main">
            <a:off x="7696200" y="2171700"/>
            <a:ext cx="3276600" cy="76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BAC83238-CC65-4F83-BD15-234330276745}"/>
              </a:ext>
            </a:extLst>
          </p:cNvPr>
          <p:cNvSpPr>
            <a:spLocks xmlns:a="http://schemas.openxmlformats.org/drawingml/2006/main" noGrp="1"/>
          </p:cNvSpPr>
          <p:nvPr/>
        </p:nvSpPr>
        <p:spPr>
          <a:xfrm xmlns:a="http://schemas.openxmlformats.org/drawingml/2006/main">
            <a:off x="7886700" y="23431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5</a:t>
            </a:r>
          </a:p>
        </p:txBody>
      </p:sp>
      <p:sp>
        <p:nvSpPr>
          <p:cNvPr id="27" name="">
            <a:extLst xmlns:a="http://schemas.openxmlformats.org/drawingml/2006/main">
              <a:ext uri="{FF2B5EF4-FFF2-40B4-BE49-F238E27FC236}">
                <a16:creationId xmlns:a16="http://schemas.microsoft.com/office/drawing/2014/main" id="{DAE78191-C963-48A3-B079-9655F73FCC77}"/>
              </a:ext>
            </a:extLst>
          </p:cNvPr>
          <p:cNvSpPr>
            <a:spLocks xmlns:a="http://schemas.openxmlformats.org/drawingml/2006/main" noGrp="1"/>
          </p:cNvSpPr>
          <p:nvPr/>
        </p:nvSpPr>
        <p:spPr>
          <a:xfrm xmlns:a="http://schemas.openxmlformats.org/drawingml/2006/main">
            <a:off x="7886700" y="28003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benchmark axes in final frame</a:t>
            </a:r>
          </a:p>
        </p:txBody>
      </p:sp>
      <p:sp>
        <p:nvSpPr>
          <p:cNvPr id="28" name="">
            <a:extLst xmlns:a="http://schemas.openxmlformats.org/drawingml/2006/main">
              <a:ext uri="{FF2B5EF4-FFF2-40B4-BE49-F238E27FC236}">
                <a16:creationId xmlns:a16="http://schemas.microsoft.com/office/drawing/2014/main" id="{8E7F6C1B-D872-4DB1-9C29-00FD9CF14290}"/>
              </a:ext>
            </a:extLst>
          </p:cNvPr>
          <p:cNvSpPr>
            <a:spLocks xmlns:a="http://schemas.openxmlformats.org/drawingml/2006/main" noGrp="1"/>
          </p:cNvSpPr>
          <p:nvPr/>
        </p:nvSpPr>
        <p:spPr>
          <a:xfrm xmlns:a="http://schemas.openxmlformats.org/drawingml/2006/main">
            <a:off x="7886700" y="30099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region / reproducibility / fidelity / timing / atlas</a:t>
            </a:r>
          </a:p>
        </p:txBody>
      </p:sp>
      <p:sp>
        <p:nvSpPr>
          <p:cNvPr id="29" name="">
            <a:extLst xmlns:a="http://schemas.openxmlformats.org/drawingml/2006/main">
              <a:ext uri="{FF2B5EF4-FFF2-40B4-BE49-F238E27FC236}">
                <a16:creationId xmlns:a16="http://schemas.microsoft.com/office/drawing/2014/main" id="{61A3AD93-1DDE-42A4-9654-8FD1B96227E3}"/>
              </a:ext>
            </a:extLst>
          </p:cNvPr>
          <p:cNvSpPr>
            <a:spLocks xmlns:a="http://schemas.openxmlformats.org/drawingml/2006/main" noGrp="1"/>
          </p:cNvSpPr>
          <p:nvPr/>
        </p:nvSpPr>
        <p:spPr>
          <a:xfrm xmlns:a="http://schemas.openxmlformats.org/drawingml/2006/main">
            <a:off x="781050" y="3771900"/>
            <a:ext cx="314325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0" name="">
            <a:extLst xmlns:a="http://schemas.openxmlformats.org/drawingml/2006/main">
              <a:ext uri="{FF2B5EF4-FFF2-40B4-BE49-F238E27FC236}">
                <a16:creationId xmlns:a16="http://schemas.microsoft.com/office/drawing/2014/main" id="{F7751F21-412C-4211-9271-A4D4720269D6}"/>
              </a:ext>
            </a:extLst>
          </p:cNvPr>
          <p:cNvSpPr>
            <a:spLocks xmlns:a="http://schemas.openxmlformats.org/drawingml/2006/main" noGrp="1"/>
          </p:cNvSpPr>
          <p:nvPr/>
        </p:nvSpPr>
        <p:spPr>
          <a:xfrm xmlns:a="http://schemas.openxmlformats.org/drawingml/2006/main">
            <a:off x="781050" y="3771900"/>
            <a:ext cx="314325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4D011E76-39A8-499F-B7EE-9B9FE67FCD08}"/>
              </a:ext>
            </a:extLst>
          </p:cNvPr>
          <p:cNvSpPr>
            <a:spLocks xmlns:a="http://schemas.openxmlformats.org/drawingml/2006/main" noGrp="1"/>
          </p:cNvSpPr>
          <p:nvPr/>
        </p:nvSpPr>
        <p:spPr>
          <a:xfrm xmlns:a="http://schemas.openxmlformats.org/drawingml/2006/main">
            <a:off x="990600" y="39624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왜 brain인가</a:t>
            </a:r>
          </a:p>
        </p:txBody>
      </p:sp>
      <p:sp>
        <p:nvSpPr>
          <p:cNvPr id="32" name="">
            <a:extLst xmlns:a="http://schemas.openxmlformats.org/drawingml/2006/main">
              <a:ext uri="{FF2B5EF4-FFF2-40B4-BE49-F238E27FC236}">
                <a16:creationId xmlns:a16="http://schemas.microsoft.com/office/drawing/2014/main" id="{7BB912A1-C9A2-4CE8-9831-69EE48A3EE80}"/>
              </a:ext>
            </a:extLst>
          </p:cNvPr>
          <p:cNvSpPr>
            <a:spLocks xmlns:a="http://schemas.openxmlformats.org/drawingml/2006/main" noGrp="1"/>
          </p:cNvSpPr>
          <p:nvPr/>
        </p:nvSpPr>
        <p:spPr>
          <a:xfrm xmlns:a="http://schemas.openxmlformats.org/drawingml/2006/main">
            <a:off x="990600" y="4381500"/>
            <a:ext cx="272415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이 corpus에서 brain branch는</a:t>
            </a:r>
          </a:p>
          <a:p xmlns:a="http://schemas.openxmlformats.org/drawingml/2006/main">
            <a:pPr algn="l">
              <a:defRPr sz="1200" b="0">
                <a:solidFill>
                  <a:srgbClr val="132024"/>
                </a:solidFill>
              </a:defRPr>
            </a:pPr>
            <a:r>
              <a:rPr sz="1200" b="0">
                <a:solidFill>
                  <a:srgbClr val="132024"/>
                </a:solidFill>
              </a:rPr>
              <a:t>source 수가 크고, subregion</a:t>
            </a:r>
          </a:p>
          <a:p xmlns:a="http://schemas.openxmlformats.org/drawingml/2006/main">
            <a:pPr algn="l">
              <a:defRPr sz="1200" b="0">
                <a:solidFill>
                  <a:srgbClr val="132024"/>
                </a:solidFill>
              </a:defRPr>
            </a:pPr>
            <a:r>
              <a:rPr sz="1200" b="0">
                <a:solidFill>
                  <a:srgbClr val="132024"/>
                </a:solidFill>
              </a:rPr>
              <a:t>protocol과 benchmark 논문,</a:t>
            </a:r>
          </a:p>
          <a:p xmlns:a="http://schemas.openxmlformats.org/drawingml/2006/main">
            <a:pPr algn="l">
              <a:defRPr sz="1200" b="0">
                <a:solidFill>
                  <a:srgbClr val="132024"/>
                </a:solidFill>
              </a:defRPr>
            </a:pPr>
            <a:r>
              <a:rPr sz="1200" b="0">
                <a:solidFill>
                  <a:srgbClr val="132024"/>
                </a:solidFill>
              </a:rPr>
              <a:t>functional readout 논문이 동시에</a:t>
            </a:r>
          </a:p>
          <a:p xmlns:a="http://schemas.openxmlformats.org/drawingml/2006/main">
            <a:pPr algn="l">
              <a:defRPr sz="1200" b="0">
                <a:solidFill>
                  <a:srgbClr val="132024"/>
                </a:solidFill>
              </a:defRPr>
            </a:pPr>
            <a:r>
              <a:rPr sz="1200" b="0">
                <a:solidFill>
                  <a:srgbClr val="132024"/>
                </a:solidFill>
              </a:rPr>
              <a:t>연결돼 있다.</a:t>
            </a:r>
          </a:p>
        </p:txBody>
      </p:sp>
      <p:sp>
        <p:nvSpPr>
          <p:cNvPr id="33" name="">
            <a:extLst xmlns:a="http://schemas.openxmlformats.org/drawingml/2006/main">
              <a:ext uri="{FF2B5EF4-FFF2-40B4-BE49-F238E27FC236}">
                <a16:creationId xmlns:a16="http://schemas.microsoft.com/office/drawing/2014/main" id="{663EEF13-7B78-4FD9-8984-717160601AE6}"/>
              </a:ext>
            </a:extLst>
          </p:cNvPr>
          <p:cNvSpPr>
            <a:spLocks xmlns:a="http://schemas.openxmlformats.org/drawingml/2006/main" noGrp="1"/>
          </p:cNvSpPr>
          <p:nvPr/>
        </p:nvSpPr>
        <p:spPr>
          <a:xfrm xmlns:a="http://schemas.openxmlformats.org/drawingml/2006/main">
            <a:off x="4514850" y="3771900"/>
            <a:ext cx="314325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4" name="">
            <a:extLst xmlns:a="http://schemas.openxmlformats.org/drawingml/2006/main">
              <a:ext uri="{FF2B5EF4-FFF2-40B4-BE49-F238E27FC236}">
                <a16:creationId xmlns:a16="http://schemas.microsoft.com/office/drawing/2014/main" id="{F0A5201D-AAD7-4E36-AC0F-6F8D90DDD5FE}"/>
              </a:ext>
            </a:extLst>
          </p:cNvPr>
          <p:cNvSpPr>
            <a:spLocks xmlns:a="http://schemas.openxmlformats.org/drawingml/2006/main" noGrp="1"/>
          </p:cNvSpPr>
          <p:nvPr/>
        </p:nvSpPr>
        <p:spPr>
          <a:xfrm xmlns:a="http://schemas.openxmlformats.org/drawingml/2006/main">
            <a:off x="4514850" y="3771900"/>
            <a:ext cx="314325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957D200E-5664-487B-84ED-096424E36D7D}"/>
              </a:ext>
            </a:extLst>
          </p:cNvPr>
          <p:cNvSpPr>
            <a:spLocks xmlns:a="http://schemas.openxmlformats.org/drawingml/2006/main" noGrp="1"/>
          </p:cNvSpPr>
          <p:nvPr/>
        </p:nvSpPr>
        <p:spPr>
          <a:xfrm xmlns:a="http://schemas.openxmlformats.org/drawingml/2006/main">
            <a:off x="4724400" y="39624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왜 좋은 발표 소재인가</a:t>
            </a:r>
          </a:p>
        </p:txBody>
      </p:sp>
      <p:sp>
        <p:nvSpPr>
          <p:cNvPr id="36" name="">
            <a:extLst xmlns:a="http://schemas.openxmlformats.org/drawingml/2006/main">
              <a:ext uri="{FF2B5EF4-FFF2-40B4-BE49-F238E27FC236}">
                <a16:creationId xmlns:a16="http://schemas.microsoft.com/office/drawing/2014/main" id="{99F90D8F-903D-401B-944D-E4EB99FC3BC3}"/>
              </a:ext>
            </a:extLst>
          </p:cNvPr>
          <p:cNvSpPr>
            <a:spLocks xmlns:a="http://schemas.openxmlformats.org/drawingml/2006/main" noGrp="1"/>
          </p:cNvSpPr>
          <p:nvPr/>
        </p:nvSpPr>
        <p:spPr>
          <a:xfrm xmlns:a="http://schemas.openxmlformats.org/drawingml/2006/main">
            <a:off x="4724400" y="4381500"/>
            <a:ext cx="272415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질문이 subregion selection에서</a:t>
            </a:r>
          </a:p>
          <a:p xmlns:a="http://schemas.openxmlformats.org/drawingml/2006/main">
            <a:pPr algn="l">
              <a:defRPr sz="1200" b="0">
                <a:solidFill>
                  <a:srgbClr val="132024"/>
                </a:solidFill>
              </a:defRPr>
            </a:pPr>
            <a:r>
              <a:rPr sz="1200" b="0">
                <a:solidFill>
                  <a:srgbClr val="132024"/>
                </a:solidFill>
              </a:rPr>
              <a:t>benchmark question, 그리고</a:t>
            </a:r>
          </a:p>
          <a:p xmlns:a="http://schemas.openxmlformats.org/drawingml/2006/main">
            <a:pPr algn="l">
              <a:defRPr sz="1200" b="0">
                <a:solidFill>
                  <a:srgbClr val="132024"/>
                </a:solidFill>
              </a:defRPr>
            </a:pPr>
            <a:r>
              <a:rPr sz="1200" b="0">
                <a:solidFill>
                  <a:srgbClr val="132024"/>
                </a:solidFill>
              </a:rPr>
              <a:t>readout-first rule로 자라나는</a:t>
            </a:r>
          </a:p>
          <a:p xmlns:a="http://schemas.openxmlformats.org/drawingml/2006/main">
            <a:pPr algn="l">
              <a:defRPr sz="1200" b="0">
                <a:solidFill>
                  <a:srgbClr val="132024"/>
                </a:solidFill>
              </a:defRPr>
            </a:pPr>
            <a:r>
              <a:rPr sz="1200" b="0">
                <a:solidFill>
                  <a:srgbClr val="132024"/>
                </a:solidFill>
              </a:rPr>
              <a:t>과정이 가장 뚜렷하게 보인다.</a:t>
            </a:r>
          </a:p>
        </p:txBody>
      </p:sp>
      <p:sp>
        <p:nvSpPr>
          <p:cNvPr id="37" name="">
            <a:extLst xmlns:a="http://schemas.openxmlformats.org/drawingml/2006/main">
              <a:ext uri="{FF2B5EF4-FFF2-40B4-BE49-F238E27FC236}">
                <a16:creationId xmlns:a16="http://schemas.microsoft.com/office/drawing/2014/main" id="{413E4071-3456-44FA-BDC2-3990314E732A}"/>
              </a:ext>
            </a:extLst>
          </p:cNvPr>
          <p:cNvSpPr>
            <a:spLocks xmlns:a="http://schemas.openxmlformats.org/drawingml/2006/main" noGrp="1"/>
          </p:cNvSpPr>
          <p:nvPr/>
        </p:nvSpPr>
        <p:spPr>
          <a:xfrm xmlns:a="http://schemas.openxmlformats.org/drawingml/2006/main">
            <a:off x="8248650" y="3771900"/>
            <a:ext cx="314325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8" name="">
            <a:extLst xmlns:a="http://schemas.openxmlformats.org/drawingml/2006/main">
              <a:ext uri="{FF2B5EF4-FFF2-40B4-BE49-F238E27FC236}">
                <a16:creationId xmlns:a16="http://schemas.microsoft.com/office/drawing/2014/main" id="{3FBF780F-9F83-44D8-ACD2-F2290A43E7A7}"/>
              </a:ext>
            </a:extLst>
          </p:cNvPr>
          <p:cNvSpPr>
            <a:spLocks xmlns:a="http://schemas.openxmlformats.org/drawingml/2006/main" noGrp="1"/>
          </p:cNvSpPr>
          <p:nvPr/>
        </p:nvSpPr>
        <p:spPr>
          <a:xfrm xmlns:a="http://schemas.openxmlformats.org/drawingml/2006/main">
            <a:off x="8248650" y="3771900"/>
            <a:ext cx="3143250" cy="76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9" name="">
            <a:extLst xmlns:a="http://schemas.openxmlformats.org/drawingml/2006/main">
              <a:ext uri="{FF2B5EF4-FFF2-40B4-BE49-F238E27FC236}">
                <a16:creationId xmlns:a16="http://schemas.microsoft.com/office/drawing/2014/main" id="{3CB63DCF-2D4A-4C84-9BB3-72C063B6D54B}"/>
              </a:ext>
            </a:extLst>
          </p:cNvPr>
          <p:cNvSpPr>
            <a:spLocks xmlns:a="http://schemas.openxmlformats.org/drawingml/2006/main" noGrp="1"/>
          </p:cNvSpPr>
          <p:nvPr/>
        </p:nvSpPr>
        <p:spPr>
          <a:xfrm xmlns:a="http://schemas.openxmlformats.org/drawingml/2006/main">
            <a:off x="8458200" y="39624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왜 리뷰 글과도 맞나</a:t>
            </a:r>
          </a:p>
        </p:txBody>
      </p:sp>
      <p:sp>
        <p:nvSpPr>
          <p:cNvPr id="40" name="">
            <a:extLst xmlns:a="http://schemas.openxmlformats.org/drawingml/2006/main">
              <a:ext uri="{FF2B5EF4-FFF2-40B4-BE49-F238E27FC236}">
                <a16:creationId xmlns:a16="http://schemas.microsoft.com/office/drawing/2014/main" id="{FE9F2178-C56C-4AEF-BBEE-6A2DE7F840E6}"/>
              </a:ext>
            </a:extLst>
          </p:cNvPr>
          <p:cNvSpPr>
            <a:spLocks xmlns:a="http://schemas.openxmlformats.org/drawingml/2006/main" noGrp="1"/>
          </p:cNvSpPr>
          <p:nvPr/>
        </p:nvSpPr>
        <p:spPr>
          <a:xfrm xmlns:a="http://schemas.openxmlformats.org/drawingml/2006/main">
            <a:off x="8458200" y="4381500"/>
            <a:ext cx="272415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결론만 요약하는 대신, protocol</a:t>
            </a:r>
          </a:p>
          <a:p xmlns:a="http://schemas.openxmlformats.org/drawingml/2006/main">
            <a:pPr algn="l">
              <a:defRPr sz="1200" b="0">
                <a:solidFill>
                  <a:srgbClr val="132024"/>
                </a:solidFill>
              </a:defRPr>
            </a:pPr>
            <a:r>
              <a:rPr sz="1200" b="0">
                <a:solidFill>
                  <a:srgbClr val="132024"/>
                </a:solidFill>
              </a:rPr>
              <a:t>family와 평가 기준이 분기되는 구조를</a:t>
            </a:r>
          </a:p>
          <a:p xmlns:a="http://schemas.openxmlformats.org/drawingml/2006/main">
            <a:pPr algn="l">
              <a:defRPr sz="1200" b="0">
                <a:solidFill>
                  <a:srgbClr val="132024"/>
                </a:solidFill>
              </a:defRPr>
            </a:pPr>
            <a:r>
              <a:rPr sz="1200" b="0">
                <a:solidFill>
                  <a:srgbClr val="132024"/>
                </a:solidFill>
              </a:rPr>
              <a:t>review article의 장 구조로 바꾸기</a:t>
            </a:r>
          </a:p>
          <a:p xmlns:a="http://schemas.openxmlformats.org/drawingml/2006/main">
            <a:pPr algn="l">
              <a:defRPr sz="1200" b="0">
                <a:solidFill>
                  <a:srgbClr val="132024"/>
                </a:solidFill>
              </a:defRPr>
            </a:pPr>
            <a:r>
              <a:rPr sz="1200" b="0">
                <a:solidFill>
                  <a:srgbClr val="132024"/>
                </a:solidFill>
              </a:rPr>
              <a:t>좋다.</a:t>
            </a:r>
          </a:p>
        </p:txBody>
      </p:sp>
      <p:sp>
        <p:nvSpPr>
          <p:cNvPr id="41" name="">
            <a:extLst xmlns:a="http://schemas.openxmlformats.org/drawingml/2006/main">
              <a:ext uri="{FF2B5EF4-FFF2-40B4-BE49-F238E27FC236}">
                <a16:creationId xmlns:a16="http://schemas.microsoft.com/office/drawing/2014/main" id="{C9D5D454-AF62-4561-9C25-01950D873522}"/>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brain branch는 scope, benchmark, readout이 모두 살아 있어서 question journey를 보여주기 좋았다.</a:t>
            </a:r>
          </a:p>
        </p:txBody>
      </p:sp>
    </p:spTree>
    <p:extLst>
      <p:ext uri="{BB962C8B-B14F-4D97-AF65-F5344CB8AC3E}">
        <p14:creationId xmlns:p14="http://schemas.microsoft.com/office/powerpoint/2010/main" val="1418075695"/>
      </p:ext>
    </p:extLst>
  </p:cSld>
</p:sld>
</file>

<file path=ppt/slides/slide4.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960B6032-F217-4E1A-A5DD-55BD6786A62D}"/>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79f4cfefa964cb8"/>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37C828D8-4C9A-40C2-9148-EB1F36B9C5FD}"/>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3C823A6D-4F16-4BD3-8B6C-E099624FB101}"/>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75CB78A2-9938-4D58-9017-F2EABB4795F3}"/>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EAAE4EDD-9FCD-4FC3-8B5B-8E6E7C25A0F3}"/>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0C8EE016-D2F8-42FB-8310-1D1E45AC13E1}"/>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48372DDF-0918-45D7-9739-8524A79577E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DFFB46BC-0F5C-42AE-9D23-38D56027CC65}"/>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1</a:t>
            </a:r>
          </a:p>
        </p:txBody>
      </p:sp>
      <p:sp>
        <p:nvSpPr>
          <p:cNvPr id="10" name="">
            <a:extLst xmlns:a="http://schemas.openxmlformats.org/drawingml/2006/main">
              <a:ext uri="{FF2B5EF4-FFF2-40B4-BE49-F238E27FC236}">
                <a16:creationId xmlns:a16="http://schemas.microsoft.com/office/drawing/2014/main" id="{38418286-85F6-49F4-92B2-3BE5ED698B51}"/>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04 / 12</a:t>
            </a:r>
          </a:p>
        </p:txBody>
      </p:sp>
      <p:sp>
        <p:nvSpPr>
          <p:cNvPr id="11" name="">
            <a:extLst xmlns:a="http://schemas.openxmlformats.org/drawingml/2006/main">
              <a:ext uri="{FF2B5EF4-FFF2-40B4-BE49-F238E27FC236}">
                <a16:creationId xmlns:a16="http://schemas.microsoft.com/office/drawing/2014/main" id="{9C75DCF2-286F-4ACD-8188-8A85E09CCCAD}"/>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0AA1558C-8712-42AC-B02F-B0D95C4E1191}"/>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32F6AC6A-814D-48F6-BB7D-8199424A84A8}"/>
              </a:ext>
            </a:extLst>
          </p:cNvPr>
          <p:cNvSpPr>
            <a:spLocks xmlns:a="http://schemas.openxmlformats.org/drawingml/2006/main" noGrp="1"/>
          </p:cNvSpPr>
          <p:nvPr/>
        </p:nvSpPr>
        <p:spPr>
          <a:xfrm xmlns:a="http://schemas.openxmlformats.org/drawingml/2006/main">
            <a:off x="609600" y="838200"/>
            <a:ext cx="6858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1차 질문: brain subregion별</a:t>
            </a:r>
          </a:p>
          <a:p xmlns:a="http://schemas.openxmlformats.org/drawingml/2006/main">
            <a:pPr algn="l">
              <a:defRPr sz="2850" b="1">
                <a:solidFill>
                  <a:srgbClr val="132024"/>
                </a:solidFill>
              </a:defRPr>
            </a:pPr>
            <a:r>
              <a:rPr sz="2850" b="1">
                <a:solidFill>
                  <a:srgbClr val="132024"/>
                </a:solidFill>
              </a:rPr>
              <a:t>프로토콜 비교</a:t>
            </a:r>
          </a:p>
        </p:txBody>
      </p:sp>
      <p:sp>
        <p:nvSpPr>
          <p:cNvPr id="14" name="">
            <a:extLst xmlns:a="http://schemas.openxmlformats.org/drawingml/2006/main">
              <a:ext uri="{FF2B5EF4-FFF2-40B4-BE49-F238E27FC236}">
                <a16:creationId xmlns:a16="http://schemas.microsoft.com/office/drawing/2014/main" id="{9968924B-30C2-4C0B-A4F4-DB85D543F1D3}"/>
              </a:ext>
            </a:extLst>
          </p:cNvPr>
          <p:cNvSpPr>
            <a:spLocks xmlns:a="http://schemas.openxmlformats.org/drawingml/2006/main" noGrp="1"/>
          </p:cNvSpPr>
          <p:nvPr/>
        </p:nvSpPr>
        <p:spPr>
          <a:xfrm xmlns:a="http://schemas.openxmlformats.org/drawingml/2006/main">
            <a:off x="4495800" y="2971800"/>
            <a:ext cx="2667000" cy="1104900"/>
          </a:xfrm>
          <a:prstGeom xmlns:a="http://schemas.openxmlformats.org/drawingml/2006/main" prst="roundRect">
            <a:avLst>
              <a:gd name="adj" fmla="val 6897"/>
            </a:avLst>
          </a:prstGeom>
          <a:solidFill xmlns:a="http://schemas.openxmlformats.org/drawingml/2006/main">
            <a:srgbClr val="DDF4E8"/>
          </a:solidFill>
          <a:ln xmlns:a="http://schemas.openxmlformats.org/drawingml/2006/main" w="10478">
            <a:solidFill>
              <a:srgbClr val="132024"/>
            </a:solidFill>
            <a:prstDash val="solid"/>
          </a:ln>
        </p:spPr>
      </p:sp>
      <p:sp>
        <p:nvSpPr>
          <p:cNvPr id="15" name="">
            <a:extLst xmlns:a="http://schemas.openxmlformats.org/drawingml/2006/main">
              <a:ext uri="{FF2B5EF4-FFF2-40B4-BE49-F238E27FC236}">
                <a16:creationId xmlns:a16="http://schemas.microsoft.com/office/drawing/2014/main" id="{218A22DB-85F1-4FD7-A4BA-DF9DDB47CFD9}"/>
              </a:ext>
            </a:extLst>
          </p:cNvPr>
          <p:cNvSpPr>
            <a:spLocks xmlns:a="http://schemas.openxmlformats.org/drawingml/2006/main" noGrp="1"/>
          </p:cNvSpPr>
          <p:nvPr/>
        </p:nvSpPr>
        <p:spPr>
          <a:xfrm xmlns:a="http://schemas.openxmlformats.org/drawingml/2006/main">
            <a:off x="4495800" y="2971800"/>
            <a:ext cx="66675" cy="110490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0742B5BB-55A9-4121-AC51-830EB6D8892D}"/>
              </a:ext>
            </a:extLst>
          </p:cNvPr>
          <p:cNvSpPr>
            <a:spLocks xmlns:a="http://schemas.openxmlformats.org/drawingml/2006/main" noGrp="1"/>
          </p:cNvSpPr>
          <p:nvPr/>
        </p:nvSpPr>
        <p:spPr>
          <a:xfrm xmlns:a="http://schemas.openxmlformats.org/drawingml/2006/main">
            <a:off x="4667250" y="3124200"/>
            <a:ext cx="609600" cy="2286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query</a:t>
            </a:r>
          </a:p>
        </p:txBody>
      </p:sp>
      <p:sp>
        <p:nvSpPr>
          <p:cNvPr id="17" name="">
            <a:extLst xmlns:a="http://schemas.openxmlformats.org/drawingml/2006/main">
              <a:ext uri="{FF2B5EF4-FFF2-40B4-BE49-F238E27FC236}">
                <a16:creationId xmlns:a16="http://schemas.microsoft.com/office/drawing/2014/main" id="{99AC48DE-235D-463A-B411-A22B53068785}"/>
              </a:ext>
            </a:extLst>
          </p:cNvPr>
          <p:cNvSpPr>
            <a:spLocks xmlns:a="http://schemas.openxmlformats.org/drawingml/2006/main" noGrp="1"/>
          </p:cNvSpPr>
          <p:nvPr/>
        </p:nvSpPr>
        <p:spPr>
          <a:xfrm xmlns:a="http://schemas.openxmlformats.org/drawingml/2006/main">
            <a:off x="4667250" y="3409950"/>
            <a:ext cx="2343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Q1 | brain subregion별 프로토콜 비교</a:t>
            </a:r>
          </a:p>
        </p:txBody>
      </p:sp>
      <p:sp>
        <p:nvSpPr>
          <p:cNvPr id="18" name="">
            <a:extLst xmlns:a="http://schemas.openxmlformats.org/drawingml/2006/main">
              <a:ext uri="{FF2B5EF4-FFF2-40B4-BE49-F238E27FC236}">
                <a16:creationId xmlns:a16="http://schemas.microsoft.com/office/drawing/2014/main" id="{7D3832B5-F923-47E6-8CEF-C9D44C8630B3}"/>
              </a:ext>
            </a:extLst>
          </p:cNvPr>
          <p:cNvSpPr>
            <a:spLocks xmlns:a="http://schemas.openxmlformats.org/drawingml/2006/main" noGrp="1"/>
          </p:cNvSpPr>
          <p:nvPr/>
        </p:nvSpPr>
        <p:spPr>
          <a:xfrm xmlns:a="http://schemas.openxmlformats.org/drawingml/2006/main">
            <a:off x="4667250" y="3657600"/>
            <a:ext cx="23431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어느 region을 만들 것인가?</a:t>
            </a:r>
          </a:p>
        </p:txBody>
      </p:sp>
      <p:sp>
        <p:nvSpPr>
          <p:cNvPr id="19" name="">
            <a:extLst xmlns:a="http://schemas.openxmlformats.org/drawingml/2006/main">
              <a:ext uri="{FF2B5EF4-FFF2-40B4-BE49-F238E27FC236}">
                <a16:creationId xmlns:a16="http://schemas.microsoft.com/office/drawing/2014/main" id="{1B926333-83D2-4142-9898-A38F41E37198}"/>
              </a:ext>
            </a:extLst>
          </p:cNvPr>
          <p:cNvSpPr>
            <a:spLocks xmlns:a="http://schemas.openxmlformats.org/drawingml/2006/main" noGrp="1"/>
          </p:cNvSpPr>
          <p:nvPr/>
        </p:nvSpPr>
        <p:spPr>
          <a:xfrm xmlns:a="http://schemas.openxmlformats.org/drawingml/2006/main">
            <a:off x="933450" y="2247900"/>
            <a:ext cx="16954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20" name="">
            <a:extLst xmlns:a="http://schemas.openxmlformats.org/drawingml/2006/main">
              <a:ext uri="{FF2B5EF4-FFF2-40B4-BE49-F238E27FC236}">
                <a16:creationId xmlns:a16="http://schemas.microsoft.com/office/drawing/2014/main" id="{31175FAC-5F41-44B4-BC8A-257E8AA63427}"/>
              </a:ext>
            </a:extLst>
          </p:cNvPr>
          <p:cNvSpPr>
            <a:spLocks xmlns:a="http://schemas.openxmlformats.org/drawingml/2006/main" noGrp="1"/>
          </p:cNvSpPr>
          <p:nvPr/>
        </p:nvSpPr>
        <p:spPr>
          <a:xfrm xmlns:a="http://schemas.openxmlformats.org/drawingml/2006/main">
            <a:off x="933450" y="224790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5D5527DC-DC94-4A92-86F5-C09E436AA16F}"/>
              </a:ext>
            </a:extLst>
          </p:cNvPr>
          <p:cNvSpPr>
            <a:spLocks xmlns:a="http://schemas.openxmlformats.org/drawingml/2006/main" noGrp="1"/>
          </p:cNvSpPr>
          <p:nvPr/>
        </p:nvSpPr>
        <p:spPr>
          <a:xfrm xmlns:a="http://schemas.openxmlformats.org/drawingml/2006/main">
            <a:off x="1104900" y="24003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2" name="">
            <a:extLst xmlns:a="http://schemas.openxmlformats.org/drawingml/2006/main">
              <a:ext uri="{FF2B5EF4-FFF2-40B4-BE49-F238E27FC236}">
                <a16:creationId xmlns:a16="http://schemas.microsoft.com/office/drawing/2014/main" id="{0CE190B0-4812-4B0F-989B-186A354CEC25}"/>
              </a:ext>
            </a:extLst>
          </p:cNvPr>
          <p:cNvSpPr>
            <a:spLocks xmlns:a="http://schemas.openxmlformats.org/drawingml/2006/main" noGrp="1"/>
          </p:cNvSpPr>
          <p:nvPr/>
        </p:nvSpPr>
        <p:spPr>
          <a:xfrm xmlns:a="http://schemas.openxmlformats.org/drawingml/2006/main">
            <a:off x="1104900" y="2686050"/>
            <a:ext cx="1371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Lancaster 2014</a:t>
            </a:r>
          </a:p>
        </p:txBody>
      </p:sp>
      <p:sp>
        <p:nvSpPr>
          <p:cNvPr id="23" name="">
            <a:extLst xmlns:a="http://schemas.openxmlformats.org/drawingml/2006/main">
              <a:ext uri="{FF2B5EF4-FFF2-40B4-BE49-F238E27FC236}">
                <a16:creationId xmlns:a16="http://schemas.microsoft.com/office/drawing/2014/main" id="{B75765F6-5302-4376-B772-3C1629B5E5C4}"/>
              </a:ext>
            </a:extLst>
          </p:cNvPr>
          <p:cNvSpPr>
            <a:spLocks xmlns:a="http://schemas.openxmlformats.org/drawingml/2006/main" noGrp="1"/>
          </p:cNvSpPr>
          <p:nvPr/>
        </p:nvSpPr>
        <p:spPr>
          <a:xfrm xmlns:a="http://schemas.openxmlformats.org/drawingml/2006/main">
            <a:off x="1104900" y="2933700"/>
            <a:ext cx="13716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whole cerebral</a:t>
            </a:r>
          </a:p>
        </p:txBody>
      </p:sp>
      <p:sp>
        <p:nvSpPr>
          <p:cNvPr id="24" name="">
            <a:extLst xmlns:a="http://schemas.openxmlformats.org/drawingml/2006/main">
              <a:ext uri="{FF2B5EF4-FFF2-40B4-BE49-F238E27FC236}">
                <a16:creationId xmlns:a16="http://schemas.microsoft.com/office/drawing/2014/main" id="{90ED235D-D0F6-4D39-A757-D54E179F9B1F}"/>
              </a:ext>
            </a:extLst>
          </p:cNvPr>
          <p:cNvSpPr>
            <a:spLocks xmlns:a="http://schemas.openxmlformats.org/drawingml/2006/main" noGrp="1"/>
          </p:cNvSpPr>
          <p:nvPr/>
        </p:nvSpPr>
        <p:spPr>
          <a:xfrm xmlns:a="http://schemas.openxmlformats.org/drawingml/2006/main">
            <a:off x="2933700" y="1866900"/>
            <a:ext cx="16954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25" name="">
            <a:extLst xmlns:a="http://schemas.openxmlformats.org/drawingml/2006/main">
              <a:ext uri="{FF2B5EF4-FFF2-40B4-BE49-F238E27FC236}">
                <a16:creationId xmlns:a16="http://schemas.microsoft.com/office/drawing/2014/main" id="{38CCA31A-0223-42BB-A296-BBF7E453DED5}"/>
              </a:ext>
            </a:extLst>
          </p:cNvPr>
          <p:cNvSpPr>
            <a:spLocks xmlns:a="http://schemas.openxmlformats.org/drawingml/2006/main" noGrp="1"/>
          </p:cNvSpPr>
          <p:nvPr/>
        </p:nvSpPr>
        <p:spPr>
          <a:xfrm xmlns:a="http://schemas.openxmlformats.org/drawingml/2006/main">
            <a:off x="2933700" y="186690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86E044A1-7AFB-4FF9-9D31-F561D54AC357}"/>
              </a:ext>
            </a:extLst>
          </p:cNvPr>
          <p:cNvSpPr>
            <a:spLocks xmlns:a="http://schemas.openxmlformats.org/drawingml/2006/main" noGrp="1"/>
          </p:cNvSpPr>
          <p:nvPr/>
        </p:nvSpPr>
        <p:spPr>
          <a:xfrm xmlns:a="http://schemas.openxmlformats.org/drawingml/2006/main">
            <a:off x="3105150" y="20193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7" name="">
            <a:extLst xmlns:a="http://schemas.openxmlformats.org/drawingml/2006/main">
              <a:ext uri="{FF2B5EF4-FFF2-40B4-BE49-F238E27FC236}">
                <a16:creationId xmlns:a16="http://schemas.microsoft.com/office/drawing/2014/main" id="{030CCF7F-64E6-4058-B819-AABD6CB583B3}"/>
              </a:ext>
            </a:extLst>
          </p:cNvPr>
          <p:cNvSpPr>
            <a:spLocks xmlns:a="http://schemas.openxmlformats.org/drawingml/2006/main" noGrp="1"/>
          </p:cNvSpPr>
          <p:nvPr/>
        </p:nvSpPr>
        <p:spPr>
          <a:xfrm xmlns:a="http://schemas.openxmlformats.org/drawingml/2006/main">
            <a:off x="3105150" y="2305050"/>
            <a:ext cx="1371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Sloan 2018</a:t>
            </a:r>
          </a:p>
        </p:txBody>
      </p:sp>
      <p:sp>
        <p:nvSpPr>
          <p:cNvPr id="28" name="">
            <a:extLst xmlns:a="http://schemas.openxmlformats.org/drawingml/2006/main">
              <a:ext uri="{FF2B5EF4-FFF2-40B4-BE49-F238E27FC236}">
                <a16:creationId xmlns:a16="http://schemas.microsoft.com/office/drawing/2014/main" id="{C4B72CAB-6F1E-4B7F-A231-CE4F0860D337}"/>
              </a:ext>
            </a:extLst>
          </p:cNvPr>
          <p:cNvSpPr>
            <a:spLocks xmlns:a="http://schemas.openxmlformats.org/drawingml/2006/main" noGrp="1"/>
          </p:cNvSpPr>
          <p:nvPr/>
        </p:nvSpPr>
        <p:spPr>
          <a:xfrm xmlns:a="http://schemas.openxmlformats.org/drawingml/2006/main">
            <a:off x="3105150" y="2552700"/>
            <a:ext cx="13716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dorsal / ventral</a:t>
            </a:r>
          </a:p>
          <a:p xmlns:a="http://schemas.openxmlformats.org/drawingml/2006/main">
            <a:pPr algn="l">
              <a:defRPr sz="825" b="0">
                <a:solidFill>
                  <a:srgbClr val="344146"/>
                </a:solidFill>
              </a:defRPr>
            </a:pPr>
            <a:r>
              <a:rPr sz="825" b="0">
                <a:solidFill>
                  <a:srgbClr val="344146"/>
                </a:solidFill>
              </a:rPr>
              <a:t>forebrain</a:t>
            </a:r>
          </a:p>
        </p:txBody>
      </p:sp>
      <p:sp>
        <p:nvSpPr>
          <p:cNvPr id="29" name="">
            <a:extLst xmlns:a="http://schemas.openxmlformats.org/drawingml/2006/main">
              <a:ext uri="{FF2B5EF4-FFF2-40B4-BE49-F238E27FC236}">
                <a16:creationId xmlns:a16="http://schemas.microsoft.com/office/drawing/2014/main" id="{2F37C11F-F575-4499-AA10-C2FF3D7E9A2B}"/>
              </a:ext>
            </a:extLst>
          </p:cNvPr>
          <p:cNvSpPr>
            <a:spLocks xmlns:a="http://schemas.openxmlformats.org/drawingml/2006/main" noGrp="1"/>
          </p:cNvSpPr>
          <p:nvPr/>
        </p:nvSpPr>
        <p:spPr>
          <a:xfrm xmlns:a="http://schemas.openxmlformats.org/drawingml/2006/main">
            <a:off x="7600950" y="1943100"/>
            <a:ext cx="17335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30" name="">
            <a:extLst xmlns:a="http://schemas.openxmlformats.org/drawingml/2006/main">
              <a:ext uri="{FF2B5EF4-FFF2-40B4-BE49-F238E27FC236}">
                <a16:creationId xmlns:a16="http://schemas.microsoft.com/office/drawing/2014/main" id="{9A5DFABC-637D-4FC4-88F6-688BB1C623B2}"/>
              </a:ext>
            </a:extLst>
          </p:cNvPr>
          <p:cNvSpPr>
            <a:spLocks xmlns:a="http://schemas.openxmlformats.org/drawingml/2006/main" noGrp="1"/>
          </p:cNvSpPr>
          <p:nvPr/>
        </p:nvSpPr>
        <p:spPr>
          <a:xfrm xmlns:a="http://schemas.openxmlformats.org/drawingml/2006/main">
            <a:off x="7600950" y="194310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773BC545-7F4F-4251-A45B-FD094705A040}"/>
              </a:ext>
            </a:extLst>
          </p:cNvPr>
          <p:cNvSpPr>
            <a:spLocks xmlns:a="http://schemas.openxmlformats.org/drawingml/2006/main" noGrp="1"/>
          </p:cNvSpPr>
          <p:nvPr/>
        </p:nvSpPr>
        <p:spPr>
          <a:xfrm xmlns:a="http://schemas.openxmlformats.org/drawingml/2006/main">
            <a:off x="7772400" y="20955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2" name="">
            <a:extLst xmlns:a="http://schemas.openxmlformats.org/drawingml/2006/main">
              <a:ext uri="{FF2B5EF4-FFF2-40B4-BE49-F238E27FC236}">
                <a16:creationId xmlns:a16="http://schemas.microsoft.com/office/drawing/2014/main" id="{6FB681CE-9804-4CA0-A02F-A269878682CC}"/>
              </a:ext>
            </a:extLst>
          </p:cNvPr>
          <p:cNvSpPr>
            <a:spLocks xmlns:a="http://schemas.openxmlformats.org/drawingml/2006/main" noGrp="1"/>
          </p:cNvSpPr>
          <p:nvPr/>
        </p:nvSpPr>
        <p:spPr>
          <a:xfrm xmlns:a="http://schemas.openxmlformats.org/drawingml/2006/main">
            <a:off x="7772400" y="2381250"/>
            <a:ext cx="1409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Fitzgerald 2024</a:t>
            </a:r>
          </a:p>
        </p:txBody>
      </p:sp>
      <p:sp>
        <p:nvSpPr>
          <p:cNvPr id="33" name="">
            <a:extLst xmlns:a="http://schemas.openxmlformats.org/drawingml/2006/main">
              <a:ext uri="{FF2B5EF4-FFF2-40B4-BE49-F238E27FC236}">
                <a16:creationId xmlns:a16="http://schemas.microsoft.com/office/drawing/2014/main" id="{8E826880-2248-4F01-A05F-3CDA2B05AB86}"/>
              </a:ext>
            </a:extLst>
          </p:cNvPr>
          <p:cNvSpPr>
            <a:spLocks xmlns:a="http://schemas.openxmlformats.org/drawingml/2006/main" noGrp="1"/>
          </p:cNvSpPr>
          <p:nvPr/>
        </p:nvSpPr>
        <p:spPr>
          <a:xfrm xmlns:a="http://schemas.openxmlformats.org/drawingml/2006/main">
            <a:off x="7772400" y="262890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semi-guided</a:t>
            </a:r>
          </a:p>
          <a:p xmlns:a="http://schemas.openxmlformats.org/drawingml/2006/main">
            <a:pPr algn="l">
              <a:defRPr sz="825" b="0">
                <a:solidFill>
                  <a:srgbClr val="344146"/>
                </a:solidFill>
              </a:defRPr>
            </a:pPr>
            <a:r>
              <a:rPr sz="825" b="0">
                <a:solidFill>
                  <a:srgbClr val="344146"/>
                </a:solidFill>
              </a:rPr>
              <a:t>cortical</a:t>
            </a:r>
          </a:p>
        </p:txBody>
      </p:sp>
      <p:sp>
        <p:nvSpPr>
          <p:cNvPr id="34" name="">
            <a:extLst xmlns:a="http://schemas.openxmlformats.org/drawingml/2006/main">
              <a:ext uri="{FF2B5EF4-FFF2-40B4-BE49-F238E27FC236}">
                <a16:creationId xmlns:a16="http://schemas.microsoft.com/office/drawing/2014/main" id="{5677B733-B38A-42EE-8AEC-5351BF6DBA8A}"/>
              </a:ext>
            </a:extLst>
          </p:cNvPr>
          <p:cNvSpPr>
            <a:spLocks xmlns:a="http://schemas.openxmlformats.org/drawingml/2006/main" noGrp="1"/>
          </p:cNvSpPr>
          <p:nvPr/>
        </p:nvSpPr>
        <p:spPr>
          <a:xfrm xmlns:a="http://schemas.openxmlformats.org/drawingml/2006/main">
            <a:off x="9563100" y="2724150"/>
            <a:ext cx="16573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35" name="">
            <a:extLst xmlns:a="http://schemas.openxmlformats.org/drawingml/2006/main">
              <a:ext uri="{FF2B5EF4-FFF2-40B4-BE49-F238E27FC236}">
                <a16:creationId xmlns:a16="http://schemas.microsoft.com/office/drawing/2014/main" id="{D0391B85-55DE-4CC9-8713-5B338018097A}"/>
              </a:ext>
            </a:extLst>
          </p:cNvPr>
          <p:cNvSpPr>
            <a:spLocks xmlns:a="http://schemas.openxmlformats.org/drawingml/2006/main" noGrp="1"/>
          </p:cNvSpPr>
          <p:nvPr/>
        </p:nvSpPr>
        <p:spPr>
          <a:xfrm xmlns:a="http://schemas.openxmlformats.org/drawingml/2006/main">
            <a:off x="9563100" y="272415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99B2331E-CEFE-4796-9A3F-F438771D2E7A}"/>
              </a:ext>
            </a:extLst>
          </p:cNvPr>
          <p:cNvSpPr>
            <a:spLocks xmlns:a="http://schemas.openxmlformats.org/drawingml/2006/main" noGrp="1"/>
          </p:cNvSpPr>
          <p:nvPr/>
        </p:nvSpPr>
        <p:spPr>
          <a:xfrm xmlns:a="http://schemas.openxmlformats.org/drawingml/2006/main">
            <a:off x="9734550" y="28765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7" name="">
            <a:extLst xmlns:a="http://schemas.openxmlformats.org/drawingml/2006/main">
              <a:ext uri="{FF2B5EF4-FFF2-40B4-BE49-F238E27FC236}">
                <a16:creationId xmlns:a16="http://schemas.microsoft.com/office/drawing/2014/main" id="{45CB587F-A1FF-4439-885E-E2B9DDF72382}"/>
              </a:ext>
            </a:extLst>
          </p:cNvPr>
          <p:cNvSpPr>
            <a:spLocks xmlns:a="http://schemas.openxmlformats.org/drawingml/2006/main" noGrp="1"/>
          </p:cNvSpPr>
          <p:nvPr/>
        </p:nvSpPr>
        <p:spPr>
          <a:xfrm xmlns:a="http://schemas.openxmlformats.org/drawingml/2006/main">
            <a:off x="9734550" y="3162300"/>
            <a:ext cx="1333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Zagare 2021</a:t>
            </a:r>
          </a:p>
        </p:txBody>
      </p:sp>
      <p:sp>
        <p:nvSpPr>
          <p:cNvPr id="38" name="">
            <a:extLst xmlns:a="http://schemas.openxmlformats.org/drawingml/2006/main">
              <a:ext uri="{FF2B5EF4-FFF2-40B4-BE49-F238E27FC236}">
                <a16:creationId xmlns:a16="http://schemas.microsoft.com/office/drawing/2014/main" id="{182EC11D-5065-481B-B128-75EF6556211D}"/>
              </a:ext>
            </a:extLst>
          </p:cNvPr>
          <p:cNvSpPr>
            <a:spLocks xmlns:a="http://schemas.openxmlformats.org/drawingml/2006/main" noGrp="1"/>
          </p:cNvSpPr>
          <p:nvPr/>
        </p:nvSpPr>
        <p:spPr>
          <a:xfrm xmlns:a="http://schemas.openxmlformats.org/drawingml/2006/main">
            <a:off x="9734550" y="3409950"/>
            <a:ext cx="1333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midbrain</a:t>
            </a:r>
          </a:p>
        </p:txBody>
      </p:sp>
      <p:sp>
        <p:nvSpPr>
          <p:cNvPr id="39" name="">
            <a:extLst xmlns:a="http://schemas.openxmlformats.org/drawingml/2006/main">
              <a:ext uri="{FF2B5EF4-FFF2-40B4-BE49-F238E27FC236}">
                <a16:creationId xmlns:a16="http://schemas.microsoft.com/office/drawing/2014/main" id="{DB230D65-EE16-4B5B-8AB4-FC7436D9D2D6}"/>
              </a:ext>
            </a:extLst>
          </p:cNvPr>
          <p:cNvSpPr>
            <a:spLocks xmlns:a="http://schemas.openxmlformats.org/drawingml/2006/main" noGrp="1"/>
          </p:cNvSpPr>
          <p:nvPr/>
        </p:nvSpPr>
        <p:spPr>
          <a:xfrm xmlns:a="http://schemas.openxmlformats.org/drawingml/2006/main">
            <a:off x="9467850" y="4476750"/>
            <a:ext cx="17335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40" name="">
            <a:extLst xmlns:a="http://schemas.openxmlformats.org/drawingml/2006/main">
              <a:ext uri="{FF2B5EF4-FFF2-40B4-BE49-F238E27FC236}">
                <a16:creationId xmlns:a16="http://schemas.microsoft.com/office/drawing/2014/main" id="{47496CB2-DD86-4A91-9AFC-233FF2B73948}"/>
              </a:ext>
            </a:extLst>
          </p:cNvPr>
          <p:cNvSpPr>
            <a:spLocks xmlns:a="http://schemas.openxmlformats.org/drawingml/2006/main" noGrp="1"/>
          </p:cNvSpPr>
          <p:nvPr/>
        </p:nvSpPr>
        <p:spPr>
          <a:xfrm xmlns:a="http://schemas.openxmlformats.org/drawingml/2006/main">
            <a:off x="9467850" y="447675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D93CC876-AE7E-4C65-9431-8E309E9950FB}"/>
              </a:ext>
            </a:extLst>
          </p:cNvPr>
          <p:cNvSpPr>
            <a:spLocks xmlns:a="http://schemas.openxmlformats.org/drawingml/2006/main" noGrp="1"/>
          </p:cNvSpPr>
          <p:nvPr/>
        </p:nvSpPr>
        <p:spPr>
          <a:xfrm xmlns:a="http://schemas.openxmlformats.org/drawingml/2006/main">
            <a:off x="9639300" y="46291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2" name="">
            <a:extLst xmlns:a="http://schemas.openxmlformats.org/drawingml/2006/main">
              <a:ext uri="{FF2B5EF4-FFF2-40B4-BE49-F238E27FC236}">
                <a16:creationId xmlns:a16="http://schemas.microsoft.com/office/drawing/2014/main" id="{DC83CFD6-F44C-4F31-905C-D4382B7F6255}"/>
              </a:ext>
            </a:extLst>
          </p:cNvPr>
          <p:cNvSpPr>
            <a:spLocks xmlns:a="http://schemas.openxmlformats.org/drawingml/2006/main" noGrp="1"/>
          </p:cNvSpPr>
          <p:nvPr/>
        </p:nvSpPr>
        <p:spPr>
          <a:xfrm xmlns:a="http://schemas.openxmlformats.org/drawingml/2006/main">
            <a:off x="9639300" y="4914900"/>
            <a:ext cx="1409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Atamian 2024</a:t>
            </a:r>
          </a:p>
        </p:txBody>
      </p:sp>
      <p:sp>
        <p:nvSpPr>
          <p:cNvPr id="43" name="">
            <a:extLst xmlns:a="http://schemas.openxmlformats.org/drawingml/2006/main">
              <a:ext uri="{FF2B5EF4-FFF2-40B4-BE49-F238E27FC236}">
                <a16:creationId xmlns:a16="http://schemas.microsoft.com/office/drawing/2014/main" id="{42BB1039-7CF2-4AE3-82E1-6678E8691934}"/>
              </a:ext>
            </a:extLst>
          </p:cNvPr>
          <p:cNvSpPr>
            <a:spLocks xmlns:a="http://schemas.openxmlformats.org/drawingml/2006/main" noGrp="1"/>
          </p:cNvSpPr>
          <p:nvPr/>
        </p:nvSpPr>
        <p:spPr>
          <a:xfrm xmlns:a="http://schemas.openxmlformats.org/drawingml/2006/main">
            <a:off x="9639300" y="516255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cerebellum</a:t>
            </a:r>
          </a:p>
        </p:txBody>
      </p:sp>
      <p:sp>
        <p:nvSpPr>
          <p:cNvPr id="44" name="">
            <a:extLst xmlns:a="http://schemas.openxmlformats.org/drawingml/2006/main">
              <a:ext uri="{FF2B5EF4-FFF2-40B4-BE49-F238E27FC236}">
                <a16:creationId xmlns:a16="http://schemas.microsoft.com/office/drawing/2014/main" id="{255306FD-0ED8-4081-ACEA-1259268CF73E}"/>
              </a:ext>
            </a:extLst>
          </p:cNvPr>
          <p:cNvSpPr>
            <a:spLocks xmlns:a="http://schemas.openxmlformats.org/drawingml/2006/main" noGrp="1"/>
          </p:cNvSpPr>
          <p:nvPr/>
        </p:nvSpPr>
        <p:spPr>
          <a:xfrm xmlns:a="http://schemas.openxmlformats.org/drawingml/2006/main">
            <a:off x="7105650" y="4933950"/>
            <a:ext cx="17335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45" name="">
            <a:extLst xmlns:a="http://schemas.openxmlformats.org/drawingml/2006/main">
              <a:ext uri="{FF2B5EF4-FFF2-40B4-BE49-F238E27FC236}">
                <a16:creationId xmlns:a16="http://schemas.microsoft.com/office/drawing/2014/main" id="{C7099966-8923-4424-A2C5-496BAF1D3C96}"/>
              </a:ext>
            </a:extLst>
          </p:cNvPr>
          <p:cNvSpPr>
            <a:spLocks xmlns:a="http://schemas.openxmlformats.org/drawingml/2006/main" noGrp="1"/>
          </p:cNvSpPr>
          <p:nvPr/>
        </p:nvSpPr>
        <p:spPr>
          <a:xfrm xmlns:a="http://schemas.openxmlformats.org/drawingml/2006/main">
            <a:off x="7105650" y="493395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46" name="">
            <a:extLst xmlns:a="http://schemas.openxmlformats.org/drawingml/2006/main">
              <a:ext uri="{FF2B5EF4-FFF2-40B4-BE49-F238E27FC236}">
                <a16:creationId xmlns:a16="http://schemas.microsoft.com/office/drawing/2014/main" id="{7C785D6A-8EA6-4604-B01F-E34A389B06CE}"/>
              </a:ext>
            </a:extLst>
          </p:cNvPr>
          <p:cNvSpPr>
            <a:spLocks xmlns:a="http://schemas.openxmlformats.org/drawingml/2006/main" noGrp="1"/>
          </p:cNvSpPr>
          <p:nvPr/>
        </p:nvSpPr>
        <p:spPr>
          <a:xfrm xmlns:a="http://schemas.openxmlformats.org/drawingml/2006/main">
            <a:off x="7277100" y="50863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7" name="">
            <a:extLst xmlns:a="http://schemas.openxmlformats.org/drawingml/2006/main">
              <a:ext uri="{FF2B5EF4-FFF2-40B4-BE49-F238E27FC236}">
                <a16:creationId xmlns:a16="http://schemas.microsoft.com/office/drawing/2014/main" id="{F1E8B33B-DF3C-41C1-B8AD-305F352FF289}"/>
              </a:ext>
            </a:extLst>
          </p:cNvPr>
          <p:cNvSpPr>
            <a:spLocks xmlns:a="http://schemas.openxmlformats.org/drawingml/2006/main" noGrp="1"/>
          </p:cNvSpPr>
          <p:nvPr/>
        </p:nvSpPr>
        <p:spPr>
          <a:xfrm xmlns:a="http://schemas.openxmlformats.org/drawingml/2006/main">
            <a:off x="7277100" y="5372100"/>
            <a:ext cx="1409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Pomeshchik 2020</a:t>
            </a:r>
          </a:p>
        </p:txBody>
      </p:sp>
      <p:sp>
        <p:nvSpPr>
          <p:cNvPr id="48" name="">
            <a:extLst xmlns:a="http://schemas.openxmlformats.org/drawingml/2006/main">
              <a:ext uri="{FF2B5EF4-FFF2-40B4-BE49-F238E27FC236}">
                <a16:creationId xmlns:a16="http://schemas.microsoft.com/office/drawing/2014/main" id="{E27FEE1D-84A2-4CEA-8F31-CA5B6FA56842}"/>
              </a:ext>
            </a:extLst>
          </p:cNvPr>
          <p:cNvSpPr>
            <a:spLocks xmlns:a="http://schemas.openxmlformats.org/drawingml/2006/main" noGrp="1"/>
          </p:cNvSpPr>
          <p:nvPr/>
        </p:nvSpPr>
        <p:spPr>
          <a:xfrm xmlns:a="http://schemas.openxmlformats.org/drawingml/2006/main">
            <a:off x="7277100" y="561975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hippocampus</a:t>
            </a:r>
          </a:p>
        </p:txBody>
      </p:sp>
      <p:sp>
        <p:nvSpPr>
          <p:cNvPr id="49" name="">
            <a:extLst xmlns:a="http://schemas.openxmlformats.org/drawingml/2006/main">
              <a:ext uri="{FF2B5EF4-FFF2-40B4-BE49-F238E27FC236}">
                <a16:creationId xmlns:a16="http://schemas.microsoft.com/office/drawing/2014/main" id="{A5BFCF7E-04C6-4829-B73F-F419696747EA}"/>
              </a:ext>
            </a:extLst>
          </p:cNvPr>
          <p:cNvSpPr>
            <a:spLocks xmlns:a="http://schemas.openxmlformats.org/drawingml/2006/main" noGrp="1"/>
          </p:cNvSpPr>
          <p:nvPr/>
        </p:nvSpPr>
        <p:spPr>
          <a:xfrm xmlns:a="http://schemas.openxmlformats.org/drawingml/2006/main">
            <a:off x="3276600" y="4953000"/>
            <a:ext cx="17335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50" name="">
            <a:extLst xmlns:a="http://schemas.openxmlformats.org/drawingml/2006/main">
              <a:ext uri="{FF2B5EF4-FFF2-40B4-BE49-F238E27FC236}">
                <a16:creationId xmlns:a16="http://schemas.microsoft.com/office/drawing/2014/main" id="{DFE5ED10-58F9-4C5D-B6B6-B51C028EDCFA}"/>
              </a:ext>
            </a:extLst>
          </p:cNvPr>
          <p:cNvSpPr>
            <a:spLocks xmlns:a="http://schemas.openxmlformats.org/drawingml/2006/main" noGrp="1"/>
          </p:cNvSpPr>
          <p:nvPr/>
        </p:nvSpPr>
        <p:spPr>
          <a:xfrm xmlns:a="http://schemas.openxmlformats.org/drawingml/2006/main">
            <a:off x="3276600" y="495300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51" name="">
            <a:extLst xmlns:a="http://schemas.openxmlformats.org/drawingml/2006/main">
              <a:ext uri="{FF2B5EF4-FFF2-40B4-BE49-F238E27FC236}">
                <a16:creationId xmlns:a16="http://schemas.microsoft.com/office/drawing/2014/main" id="{84CC7349-15A4-4003-8DE5-46E325CFC923}"/>
              </a:ext>
            </a:extLst>
          </p:cNvPr>
          <p:cNvSpPr>
            <a:spLocks xmlns:a="http://schemas.openxmlformats.org/drawingml/2006/main" noGrp="1"/>
          </p:cNvSpPr>
          <p:nvPr/>
        </p:nvSpPr>
        <p:spPr>
          <a:xfrm xmlns:a="http://schemas.openxmlformats.org/drawingml/2006/main">
            <a:off x="3448050" y="51054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52" name="">
            <a:extLst xmlns:a="http://schemas.openxmlformats.org/drawingml/2006/main">
              <a:ext uri="{FF2B5EF4-FFF2-40B4-BE49-F238E27FC236}">
                <a16:creationId xmlns:a16="http://schemas.microsoft.com/office/drawing/2014/main" id="{67BD8205-8ADA-425C-97C8-91B5C06735D1}"/>
              </a:ext>
            </a:extLst>
          </p:cNvPr>
          <p:cNvSpPr>
            <a:spLocks xmlns:a="http://schemas.openxmlformats.org/drawingml/2006/main" noGrp="1"/>
          </p:cNvSpPr>
          <p:nvPr/>
        </p:nvSpPr>
        <p:spPr>
          <a:xfrm xmlns:a="http://schemas.openxmlformats.org/drawingml/2006/main">
            <a:off x="3448050" y="5391150"/>
            <a:ext cx="1409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Valiulahi 2021</a:t>
            </a:r>
          </a:p>
        </p:txBody>
      </p:sp>
      <p:sp>
        <p:nvSpPr>
          <p:cNvPr id="53" name="">
            <a:extLst xmlns:a="http://schemas.openxmlformats.org/drawingml/2006/main">
              <a:ext uri="{FF2B5EF4-FFF2-40B4-BE49-F238E27FC236}">
                <a16:creationId xmlns:a16="http://schemas.microsoft.com/office/drawing/2014/main" id="{BFC13015-75A0-4BF9-9003-8A35C8E61880}"/>
              </a:ext>
            </a:extLst>
          </p:cNvPr>
          <p:cNvSpPr>
            <a:spLocks xmlns:a="http://schemas.openxmlformats.org/drawingml/2006/main" noGrp="1"/>
          </p:cNvSpPr>
          <p:nvPr/>
        </p:nvSpPr>
        <p:spPr>
          <a:xfrm xmlns:a="http://schemas.openxmlformats.org/drawingml/2006/main">
            <a:off x="3448050" y="563880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hindbrain / 5-HT</a:t>
            </a:r>
          </a:p>
        </p:txBody>
      </p:sp>
      <p:sp>
        <p:nvSpPr>
          <p:cNvPr id="54" name="">
            <a:extLst xmlns:a="http://schemas.openxmlformats.org/drawingml/2006/main">
              <a:ext uri="{FF2B5EF4-FFF2-40B4-BE49-F238E27FC236}">
                <a16:creationId xmlns:a16="http://schemas.microsoft.com/office/drawing/2014/main" id="{465C97E5-DA9D-4E18-BB5D-31E03144E7A7}"/>
              </a:ext>
            </a:extLst>
          </p:cNvPr>
          <p:cNvSpPr>
            <a:spLocks xmlns:a="http://schemas.openxmlformats.org/drawingml/2006/main" noGrp="1"/>
          </p:cNvSpPr>
          <p:nvPr/>
        </p:nvSpPr>
        <p:spPr>
          <a:xfrm xmlns:a="http://schemas.openxmlformats.org/drawingml/2006/main">
            <a:off x="1047750" y="4095750"/>
            <a:ext cx="16954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55" name="">
            <a:extLst xmlns:a="http://schemas.openxmlformats.org/drawingml/2006/main">
              <a:ext uri="{FF2B5EF4-FFF2-40B4-BE49-F238E27FC236}">
                <a16:creationId xmlns:a16="http://schemas.microsoft.com/office/drawing/2014/main" id="{414D2130-7AFE-4CFA-9546-5083DF75172D}"/>
              </a:ext>
            </a:extLst>
          </p:cNvPr>
          <p:cNvSpPr>
            <a:spLocks xmlns:a="http://schemas.openxmlformats.org/drawingml/2006/main" noGrp="1"/>
          </p:cNvSpPr>
          <p:nvPr/>
        </p:nvSpPr>
        <p:spPr>
          <a:xfrm xmlns:a="http://schemas.openxmlformats.org/drawingml/2006/main">
            <a:off x="1047750" y="409575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56" name="">
            <a:extLst xmlns:a="http://schemas.openxmlformats.org/drawingml/2006/main">
              <a:ext uri="{FF2B5EF4-FFF2-40B4-BE49-F238E27FC236}">
                <a16:creationId xmlns:a16="http://schemas.microsoft.com/office/drawing/2014/main" id="{3AA36332-3B18-48CD-A76A-54A8E307EF9B}"/>
              </a:ext>
            </a:extLst>
          </p:cNvPr>
          <p:cNvSpPr>
            <a:spLocks xmlns:a="http://schemas.openxmlformats.org/drawingml/2006/main" noGrp="1"/>
          </p:cNvSpPr>
          <p:nvPr/>
        </p:nvSpPr>
        <p:spPr>
          <a:xfrm xmlns:a="http://schemas.openxmlformats.org/drawingml/2006/main">
            <a:off x="1219200" y="42481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57" name="">
            <a:extLst xmlns:a="http://schemas.openxmlformats.org/drawingml/2006/main">
              <a:ext uri="{FF2B5EF4-FFF2-40B4-BE49-F238E27FC236}">
                <a16:creationId xmlns:a16="http://schemas.microsoft.com/office/drawing/2014/main" id="{57CD7D1B-E946-494F-A1B3-7A392BFF385E}"/>
              </a:ext>
            </a:extLst>
          </p:cNvPr>
          <p:cNvSpPr>
            <a:spLocks xmlns:a="http://schemas.openxmlformats.org/drawingml/2006/main" noGrp="1"/>
          </p:cNvSpPr>
          <p:nvPr/>
        </p:nvSpPr>
        <p:spPr>
          <a:xfrm xmlns:a="http://schemas.openxmlformats.org/drawingml/2006/main">
            <a:off x="1219200" y="4533900"/>
            <a:ext cx="1371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Eura 2020</a:t>
            </a:r>
          </a:p>
        </p:txBody>
      </p:sp>
      <p:sp>
        <p:nvSpPr>
          <p:cNvPr id="58" name="">
            <a:extLst xmlns:a="http://schemas.openxmlformats.org/drawingml/2006/main">
              <a:ext uri="{FF2B5EF4-FFF2-40B4-BE49-F238E27FC236}">
                <a16:creationId xmlns:a16="http://schemas.microsoft.com/office/drawing/2014/main" id="{6463D982-6BB0-474C-8ACF-5C61DBF1E19F}"/>
              </a:ext>
            </a:extLst>
          </p:cNvPr>
          <p:cNvSpPr>
            <a:spLocks xmlns:a="http://schemas.openxmlformats.org/drawingml/2006/main" noGrp="1"/>
          </p:cNvSpPr>
          <p:nvPr/>
        </p:nvSpPr>
        <p:spPr>
          <a:xfrm xmlns:a="http://schemas.openxmlformats.org/drawingml/2006/main">
            <a:off x="1219200" y="4781550"/>
            <a:ext cx="13716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brainstem</a:t>
            </a:r>
          </a:p>
        </p:txBody>
      </p:sp>
      <p:sp>
        <p:nvSpPr>
          <p:cNvPr id="59" name="">
            <a:extLst xmlns:a="http://schemas.openxmlformats.org/drawingml/2006/main">
              <a:ext uri="{FF2B5EF4-FFF2-40B4-BE49-F238E27FC236}">
                <a16:creationId xmlns:a16="http://schemas.microsoft.com/office/drawing/2014/main" id="{3D6EB891-C02C-4BE2-B7B9-A0A094E7DA3B}"/>
              </a:ext>
            </a:extLst>
          </p:cNvPr>
          <p:cNvSpPr>
            <a:spLocks xmlns:a="http://schemas.openxmlformats.org/drawingml/2006/main" noGrp="1"/>
          </p:cNvSpPr>
          <p:nvPr/>
        </p:nvSpPr>
        <p:spPr>
          <a:xfrm xmlns:a="http://schemas.openxmlformats.org/drawingml/2006/main" rot="-10176016">
            <a:off x="1747369" y="3138488"/>
            <a:ext cx="4115737"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0" name="">
            <a:extLst xmlns:a="http://schemas.openxmlformats.org/drawingml/2006/main">
              <a:ext uri="{FF2B5EF4-FFF2-40B4-BE49-F238E27FC236}">
                <a16:creationId xmlns:a16="http://schemas.microsoft.com/office/drawing/2014/main" id="{8530B424-3562-4C91-A694-BC432E979D76}"/>
              </a:ext>
            </a:extLst>
          </p:cNvPr>
          <p:cNvSpPr>
            <a:spLocks xmlns:a="http://schemas.openxmlformats.org/drawingml/2006/main" noGrp="1"/>
          </p:cNvSpPr>
          <p:nvPr/>
        </p:nvSpPr>
        <p:spPr>
          <a:xfrm xmlns:a="http://schemas.openxmlformats.org/drawingml/2006/main" rot="-9074423">
            <a:off x="3637345" y="2947988"/>
            <a:ext cx="2336034"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1" name="">
            <a:extLst xmlns:a="http://schemas.openxmlformats.org/drawingml/2006/main">
              <a:ext uri="{FF2B5EF4-FFF2-40B4-BE49-F238E27FC236}">
                <a16:creationId xmlns:a16="http://schemas.microsoft.com/office/drawing/2014/main" id="{33C30191-E269-434F-A884-0DAE64E4F5EB}"/>
              </a:ext>
            </a:extLst>
          </p:cNvPr>
          <p:cNvSpPr>
            <a:spLocks xmlns:a="http://schemas.openxmlformats.org/drawingml/2006/main" noGrp="1"/>
          </p:cNvSpPr>
          <p:nvPr/>
        </p:nvSpPr>
        <p:spPr>
          <a:xfrm xmlns:a="http://schemas.openxmlformats.org/drawingml/2006/main" rot="-1299517">
            <a:off x="5729088" y="2986088"/>
            <a:ext cx="2838850"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2" name="">
            <a:extLst xmlns:a="http://schemas.openxmlformats.org/drawingml/2006/main">
              <a:ext uri="{FF2B5EF4-FFF2-40B4-BE49-F238E27FC236}">
                <a16:creationId xmlns:a16="http://schemas.microsoft.com/office/drawing/2014/main" id="{508B8957-11EA-4537-9835-DBD2FB2B56A6}"/>
              </a:ext>
            </a:extLst>
          </p:cNvPr>
          <p:cNvSpPr>
            <a:spLocks xmlns:a="http://schemas.openxmlformats.org/drawingml/2006/main" noGrp="1"/>
          </p:cNvSpPr>
          <p:nvPr/>
        </p:nvSpPr>
        <p:spPr>
          <a:xfrm xmlns:a="http://schemas.openxmlformats.org/drawingml/2006/main" rot="-200725">
            <a:off x="5825406" y="3376613"/>
            <a:ext cx="4570263"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3" name="">
            <a:extLst xmlns:a="http://schemas.openxmlformats.org/drawingml/2006/main">
              <a:ext uri="{FF2B5EF4-FFF2-40B4-BE49-F238E27FC236}">
                <a16:creationId xmlns:a16="http://schemas.microsoft.com/office/drawing/2014/main" id="{3DFEA9C3-6788-4458-9A4D-4489C0E1431A}"/>
              </a:ext>
            </a:extLst>
          </p:cNvPr>
          <p:cNvSpPr>
            <a:spLocks xmlns:a="http://schemas.openxmlformats.org/drawingml/2006/main" noGrp="1"/>
          </p:cNvSpPr>
          <p:nvPr/>
        </p:nvSpPr>
        <p:spPr>
          <a:xfrm xmlns:a="http://schemas.openxmlformats.org/drawingml/2006/main" rot="1095183">
            <a:off x="5709946" y="4252913"/>
            <a:ext cx="4744033"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4" name="">
            <a:extLst xmlns:a="http://schemas.openxmlformats.org/drawingml/2006/main">
              <a:ext uri="{FF2B5EF4-FFF2-40B4-BE49-F238E27FC236}">
                <a16:creationId xmlns:a16="http://schemas.microsoft.com/office/drawing/2014/main" id="{FB16FB1B-A64D-4EE4-8776-C62AA3B0A20A}"/>
              </a:ext>
            </a:extLst>
          </p:cNvPr>
          <p:cNvSpPr>
            <a:spLocks xmlns:a="http://schemas.openxmlformats.org/drawingml/2006/main" noGrp="1"/>
          </p:cNvSpPr>
          <p:nvPr/>
        </p:nvSpPr>
        <p:spPr>
          <a:xfrm xmlns:a="http://schemas.openxmlformats.org/drawingml/2006/main" rot="2531853">
            <a:off x="5454434" y="4481513"/>
            <a:ext cx="2892857"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5" name="">
            <a:extLst xmlns:a="http://schemas.openxmlformats.org/drawingml/2006/main">
              <a:ext uri="{FF2B5EF4-FFF2-40B4-BE49-F238E27FC236}">
                <a16:creationId xmlns:a16="http://schemas.microsoft.com/office/drawing/2014/main" id="{34AA7423-884A-4E82-8F48-728315B73125}"/>
              </a:ext>
            </a:extLst>
          </p:cNvPr>
          <p:cNvSpPr>
            <a:spLocks xmlns:a="http://schemas.openxmlformats.org/drawingml/2006/main" noGrp="1"/>
          </p:cNvSpPr>
          <p:nvPr/>
        </p:nvSpPr>
        <p:spPr>
          <a:xfrm xmlns:a="http://schemas.openxmlformats.org/drawingml/2006/main" rot="7840196">
            <a:off x="3692856" y="4491038"/>
            <a:ext cx="2586963"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6" name="">
            <a:extLst xmlns:a="http://schemas.openxmlformats.org/drawingml/2006/main">
              <a:ext uri="{FF2B5EF4-FFF2-40B4-BE49-F238E27FC236}">
                <a16:creationId xmlns:a16="http://schemas.microsoft.com/office/drawing/2014/main" id="{53060813-A46C-4115-87A5-2BB6598F05C8}"/>
              </a:ext>
            </a:extLst>
          </p:cNvPr>
          <p:cNvSpPr>
            <a:spLocks xmlns:a="http://schemas.openxmlformats.org/drawingml/2006/main" noGrp="1"/>
          </p:cNvSpPr>
          <p:nvPr/>
        </p:nvSpPr>
        <p:spPr>
          <a:xfrm xmlns:a="http://schemas.openxmlformats.org/drawingml/2006/main" rot="9858687">
            <a:off x="1819364" y="4062413"/>
            <a:ext cx="4086047"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7" name="">
            <a:extLst xmlns:a="http://schemas.openxmlformats.org/drawingml/2006/main">
              <a:ext uri="{FF2B5EF4-FFF2-40B4-BE49-F238E27FC236}">
                <a16:creationId xmlns:a16="http://schemas.microsoft.com/office/drawing/2014/main" id="{CD62A36D-6DA6-4323-AF51-48CF931036F2}"/>
              </a:ext>
            </a:extLst>
          </p:cNvPr>
          <p:cNvSpPr>
            <a:spLocks xmlns:a="http://schemas.openxmlformats.org/drawingml/2006/main" noGrp="1"/>
          </p:cNvSpPr>
          <p:nvPr/>
        </p:nvSpPr>
        <p:spPr>
          <a:xfrm xmlns:a="http://schemas.openxmlformats.org/drawingml/2006/main">
            <a:off x="609600" y="6115050"/>
            <a:ext cx="1257300" cy="2667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whole cerebral</a:t>
            </a:r>
          </a:p>
        </p:txBody>
      </p:sp>
      <p:sp>
        <p:nvSpPr>
          <p:cNvPr id="68" name="">
            <a:extLst xmlns:a="http://schemas.openxmlformats.org/drawingml/2006/main">
              <a:ext uri="{FF2B5EF4-FFF2-40B4-BE49-F238E27FC236}">
                <a16:creationId xmlns:a16="http://schemas.microsoft.com/office/drawing/2014/main" id="{8E8A3962-09F5-4224-BC3D-433F4B653CFB}"/>
              </a:ext>
            </a:extLst>
          </p:cNvPr>
          <p:cNvSpPr>
            <a:spLocks xmlns:a="http://schemas.openxmlformats.org/drawingml/2006/main" noGrp="1"/>
          </p:cNvSpPr>
          <p:nvPr/>
        </p:nvSpPr>
        <p:spPr>
          <a:xfrm xmlns:a="http://schemas.openxmlformats.org/drawingml/2006/main">
            <a:off x="2000250" y="6115050"/>
            <a:ext cx="1714500" cy="2667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forebrain / cortical</a:t>
            </a:r>
          </a:p>
        </p:txBody>
      </p:sp>
      <p:sp>
        <p:nvSpPr>
          <p:cNvPr id="69" name="">
            <a:extLst xmlns:a="http://schemas.openxmlformats.org/drawingml/2006/main">
              <a:ext uri="{FF2B5EF4-FFF2-40B4-BE49-F238E27FC236}">
                <a16:creationId xmlns:a16="http://schemas.microsoft.com/office/drawing/2014/main" id="{DBFA1CAF-8F99-43F2-893A-DC270CDC1F49}"/>
              </a:ext>
            </a:extLst>
          </p:cNvPr>
          <p:cNvSpPr>
            <a:spLocks xmlns:a="http://schemas.openxmlformats.org/drawingml/2006/main" noGrp="1"/>
          </p:cNvSpPr>
          <p:nvPr/>
        </p:nvSpPr>
        <p:spPr>
          <a:xfrm xmlns:a="http://schemas.openxmlformats.org/drawingml/2006/main">
            <a:off x="3848100" y="6115050"/>
            <a:ext cx="1485900" cy="2667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posterior / niche</a:t>
            </a:r>
          </a:p>
        </p:txBody>
      </p:sp>
      <p:sp>
        <p:nvSpPr>
          <p:cNvPr id="70" name="">
            <a:extLst xmlns:a="http://schemas.openxmlformats.org/drawingml/2006/main">
              <a:ext uri="{FF2B5EF4-FFF2-40B4-BE49-F238E27FC236}">
                <a16:creationId xmlns:a16="http://schemas.microsoft.com/office/drawing/2014/main" id="{83EE99B6-A8EC-457B-A497-68152A507DAE}"/>
              </a:ext>
            </a:extLst>
          </p:cNvPr>
          <p:cNvSpPr>
            <a:spLocks xmlns:a="http://schemas.openxmlformats.org/drawingml/2006/main" noGrp="1"/>
          </p:cNvSpPr>
          <p:nvPr/>
        </p:nvSpPr>
        <p:spPr>
          <a:xfrm xmlns:a="http://schemas.openxmlformats.org/drawingml/2006/main">
            <a:off x="6915150" y="5905500"/>
            <a:ext cx="4667250" cy="552450"/>
          </a:xfrm>
          <a:prstGeom xmlns:a="http://schemas.openxmlformats.org/drawingml/2006/main" prst="roundRect">
            <a:avLst>
              <a:gd name="adj" fmla="val 1379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71" name="">
            <a:extLst xmlns:a="http://schemas.openxmlformats.org/drawingml/2006/main">
              <a:ext uri="{FF2B5EF4-FFF2-40B4-BE49-F238E27FC236}">
                <a16:creationId xmlns:a16="http://schemas.microsoft.com/office/drawing/2014/main" id="{24F34D83-8E26-4615-BE75-FC177D078DD7}"/>
              </a:ext>
            </a:extLst>
          </p:cNvPr>
          <p:cNvSpPr>
            <a:spLocks xmlns:a="http://schemas.openxmlformats.org/drawingml/2006/main" noGrp="1"/>
          </p:cNvSpPr>
          <p:nvPr/>
        </p:nvSpPr>
        <p:spPr>
          <a:xfrm xmlns:a="http://schemas.openxmlformats.org/drawingml/2006/main">
            <a:off x="6915150" y="5905500"/>
            <a:ext cx="76200" cy="5524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72" name="">
            <a:extLst xmlns:a="http://schemas.openxmlformats.org/drawingml/2006/main">
              <a:ext uri="{FF2B5EF4-FFF2-40B4-BE49-F238E27FC236}">
                <a16:creationId xmlns:a16="http://schemas.microsoft.com/office/drawing/2014/main" id="{C0D0641D-C6FF-4107-B44C-ECEFCC6F4241}"/>
              </a:ext>
            </a:extLst>
          </p:cNvPr>
          <p:cNvSpPr>
            <a:spLocks xmlns:a="http://schemas.openxmlformats.org/drawingml/2006/main" noGrp="1"/>
          </p:cNvSpPr>
          <p:nvPr/>
        </p:nvSpPr>
        <p:spPr>
          <a:xfrm xmlns:a="http://schemas.openxmlformats.org/drawingml/2006/main">
            <a:off x="7124700" y="6057900"/>
            <a:ext cx="42862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1차 질문이 잘 풀어준 것: brain design 문제를 subregion selection 문제로 읽기 시작했다.</a:t>
            </a:r>
          </a:p>
        </p:txBody>
      </p:sp>
      <p:sp>
        <p:nvSpPr>
          <p:cNvPr id="73" name="">
            <a:extLst xmlns:a="http://schemas.openxmlformats.org/drawingml/2006/main">
              <a:ext uri="{FF2B5EF4-FFF2-40B4-BE49-F238E27FC236}">
                <a16:creationId xmlns:a16="http://schemas.microsoft.com/office/drawing/2014/main" id="{E50C0194-12D4-4BE1-80E9-F555E4C2AB85}"/>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graph-style view: question note를 중심으로 source cluster가 확장되는 모습</a:t>
            </a:r>
          </a:p>
        </p:txBody>
      </p:sp>
    </p:spTree>
    <p:extLst>
      <p:ext uri="{BB962C8B-B14F-4D97-AF65-F5344CB8AC3E}">
        <p14:creationId xmlns:p14="http://schemas.microsoft.com/office/powerpoint/2010/main" val="1910036487"/>
      </p:ext>
    </p:extLst>
  </p:cSld>
</p:sld>
</file>

<file path=ppt/slides/slide5.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960B6032-F217-4E1A-A5DD-55BD6786A62D}"/>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0898658f32c42b0"/>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A964C79B-28EB-4C11-B463-8829D1DBC34F}"/>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07BFF6FA-5924-4F20-8C1F-BA5EDEF6D1E6}"/>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293A4111-3C9C-488E-A0D4-83BBE830F658}"/>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546DBB45-57A6-406E-AA1C-E3C333BEAB12}"/>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980F8583-31E5-43F3-9778-04F042276042}"/>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0C24EB52-922D-494E-B38D-072948A7AF9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5D6D9024-34CE-4182-9D69-5530115D01B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FIRST ANSWER</a:t>
            </a:r>
          </a:p>
        </p:txBody>
      </p:sp>
      <p:sp>
        <p:nvSpPr>
          <p:cNvPr id="10" name="">
            <a:extLst xmlns:a="http://schemas.openxmlformats.org/drawingml/2006/main">
              <a:ext uri="{FF2B5EF4-FFF2-40B4-BE49-F238E27FC236}">
                <a16:creationId xmlns:a16="http://schemas.microsoft.com/office/drawing/2014/main" id="{65E0DA6A-7322-4884-9CCF-894453891616}"/>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05 / 12</a:t>
            </a:r>
          </a:p>
        </p:txBody>
      </p:sp>
      <p:sp>
        <p:nvSpPr>
          <p:cNvPr id="11" name="">
            <a:extLst xmlns:a="http://schemas.openxmlformats.org/drawingml/2006/main">
              <a:ext uri="{FF2B5EF4-FFF2-40B4-BE49-F238E27FC236}">
                <a16:creationId xmlns:a16="http://schemas.microsoft.com/office/drawing/2014/main" id="{9751DD0B-37B9-474E-B574-931CAC82E21C}"/>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AAF6DAFD-94A0-42D1-A7E7-18D4B5236A9C}"/>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463A3720-DEFF-4980-8C59-B0A0050D52CA}"/>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1차 정리에서 얻은 답</a:t>
            </a:r>
          </a:p>
        </p:txBody>
      </p:sp>
      <p:sp>
        <p:nvSpPr>
          <p:cNvPr id="14" name="">
            <a:extLst xmlns:a="http://schemas.openxmlformats.org/drawingml/2006/main">
              <a:ext uri="{FF2B5EF4-FFF2-40B4-BE49-F238E27FC236}">
                <a16:creationId xmlns:a16="http://schemas.microsoft.com/office/drawing/2014/main" id="{79FDDFFB-1D40-4BB3-B613-A7C4739B79D3}"/>
              </a:ext>
            </a:extLst>
          </p:cNvPr>
          <p:cNvSpPr>
            <a:spLocks xmlns:a="http://schemas.openxmlformats.org/drawingml/2006/main" noGrp="1"/>
          </p:cNvSpPr>
          <p:nvPr/>
        </p:nvSpPr>
        <p:spPr>
          <a:xfrm xmlns:a="http://schemas.openxmlformats.org/drawingml/2006/main">
            <a:off x="7429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7C1664E2-D1A6-4B46-9B2C-39B0FB06CB5A}"/>
              </a:ext>
            </a:extLst>
          </p:cNvPr>
          <p:cNvSpPr>
            <a:spLocks xmlns:a="http://schemas.openxmlformats.org/drawingml/2006/main" noGrp="1"/>
          </p:cNvSpPr>
          <p:nvPr/>
        </p:nvSpPr>
        <p:spPr>
          <a:xfrm xmlns:a="http://schemas.openxmlformats.org/drawingml/2006/main">
            <a:off x="742950" y="2209800"/>
            <a:ext cx="331470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8D08C849-4F50-4EBE-88BA-DEF80F18D3B3}"/>
              </a:ext>
            </a:extLst>
          </p:cNvPr>
          <p:cNvSpPr>
            <a:spLocks xmlns:a="http://schemas.openxmlformats.org/drawingml/2006/main" noGrp="1"/>
          </p:cNvSpPr>
          <p:nvPr/>
        </p:nvSpPr>
        <p:spPr>
          <a:xfrm xmlns:a="http://schemas.openxmlformats.org/drawingml/2006/main">
            <a:off x="9525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broad cerebral baseline</a:t>
            </a:r>
          </a:p>
        </p:txBody>
      </p:sp>
      <p:sp>
        <p:nvSpPr>
          <p:cNvPr id="17" name="">
            <a:extLst xmlns:a="http://schemas.openxmlformats.org/drawingml/2006/main">
              <a:ext uri="{FF2B5EF4-FFF2-40B4-BE49-F238E27FC236}">
                <a16:creationId xmlns:a16="http://schemas.microsoft.com/office/drawing/2014/main" id="{FF1CF18D-EFEF-46D1-B0B6-2F9A45D3A9A5}"/>
              </a:ext>
            </a:extLst>
          </p:cNvPr>
          <p:cNvSpPr>
            <a:spLocks xmlns:a="http://schemas.openxmlformats.org/drawingml/2006/main" noGrp="1"/>
          </p:cNvSpPr>
          <p:nvPr/>
        </p:nvSpPr>
        <p:spPr>
          <a:xfrm xmlns:a="http://schemas.openxmlformats.org/drawingml/2006/main">
            <a:off x="9525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자가조직화 기반. regional diversity가</a:t>
            </a:r>
          </a:p>
          <a:p xmlns:a="http://schemas.openxmlformats.org/drawingml/2006/main">
            <a:pPr algn="l">
              <a:defRPr sz="1200" b="0">
                <a:solidFill>
                  <a:srgbClr val="132024"/>
                </a:solidFill>
              </a:defRPr>
            </a:pPr>
            <a:r>
              <a:rPr sz="1200" b="0">
                <a:solidFill>
                  <a:srgbClr val="132024"/>
                </a:solidFill>
              </a:rPr>
              <a:t>넓고 emergent architecture를 보기</a:t>
            </a:r>
          </a:p>
          <a:p xmlns:a="http://schemas.openxmlformats.org/drawingml/2006/main">
            <a:pPr algn="l">
              <a:defRPr sz="1200" b="0">
                <a:solidFill>
                  <a:srgbClr val="132024"/>
                </a:solidFill>
              </a:defRPr>
            </a:pPr>
            <a:r>
              <a:rPr sz="1200" b="0">
                <a:solidFill>
                  <a:srgbClr val="132024"/>
                </a:solidFill>
              </a:rPr>
              <a:t>좋지만, batch variability와 mixed</a:t>
            </a:r>
          </a:p>
          <a:p xmlns:a="http://schemas.openxmlformats.org/drawingml/2006/main">
            <a:pPr algn="l">
              <a:defRPr sz="1200" b="0">
                <a:solidFill>
                  <a:srgbClr val="132024"/>
                </a:solidFill>
              </a:defRPr>
            </a:pPr>
            <a:r>
              <a:rPr sz="1200" b="0">
                <a:solidFill>
                  <a:srgbClr val="132024"/>
                </a:solidFill>
              </a:rPr>
              <a:t>identity가 커진다. 대표 anchor:</a:t>
            </a:r>
          </a:p>
          <a:p xmlns:a="http://schemas.openxmlformats.org/drawingml/2006/main">
            <a:pPr algn="l">
              <a:defRPr sz="1200" b="0">
                <a:solidFill>
                  <a:srgbClr val="132024"/>
                </a:solidFill>
              </a:defRPr>
            </a:pPr>
            <a:r>
              <a:rPr sz="1200" b="0">
                <a:solidFill>
                  <a:srgbClr val="132024"/>
                </a:solidFill>
              </a:rPr>
              <a:t>Lancaster 2014.</a:t>
            </a:r>
          </a:p>
        </p:txBody>
      </p:sp>
      <p:sp>
        <p:nvSpPr>
          <p:cNvPr id="18" name="">
            <a:extLst xmlns:a="http://schemas.openxmlformats.org/drawingml/2006/main">
              <a:ext uri="{FF2B5EF4-FFF2-40B4-BE49-F238E27FC236}">
                <a16:creationId xmlns:a16="http://schemas.microsoft.com/office/drawing/2014/main" id="{0B2CBA24-9D3A-4F62-85C7-43ABBFFD0310}"/>
              </a:ext>
            </a:extLst>
          </p:cNvPr>
          <p:cNvSpPr>
            <a:spLocks xmlns:a="http://schemas.openxmlformats.org/drawingml/2006/main" noGrp="1"/>
          </p:cNvSpPr>
          <p:nvPr/>
        </p:nvSpPr>
        <p:spPr>
          <a:xfrm xmlns:a="http://schemas.openxmlformats.org/drawingml/2006/main">
            <a:off x="44386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7CE4A45E-105C-47AC-BE31-A3A88558159B}"/>
              </a:ext>
            </a:extLst>
          </p:cNvPr>
          <p:cNvSpPr>
            <a:spLocks xmlns:a="http://schemas.openxmlformats.org/drawingml/2006/main" noGrp="1"/>
          </p:cNvSpPr>
          <p:nvPr/>
        </p:nvSpPr>
        <p:spPr>
          <a:xfrm xmlns:a="http://schemas.openxmlformats.org/drawingml/2006/main">
            <a:off x="4438650" y="2209800"/>
            <a:ext cx="331470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97497732-AFB4-4B24-8555-9A8BA7E69157}"/>
              </a:ext>
            </a:extLst>
          </p:cNvPr>
          <p:cNvSpPr>
            <a:spLocks xmlns:a="http://schemas.openxmlformats.org/drawingml/2006/main" noGrp="1"/>
          </p:cNvSpPr>
          <p:nvPr/>
        </p:nvSpPr>
        <p:spPr>
          <a:xfrm xmlns:a="http://schemas.openxmlformats.org/drawingml/2006/main">
            <a:off x="46482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forebrain / cortical control</a:t>
            </a:r>
          </a:p>
        </p:txBody>
      </p:sp>
      <p:sp>
        <p:nvSpPr>
          <p:cNvPr id="21" name="">
            <a:extLst xmlns:a="http://schemas.openxmlformats.org/drawingml/2006/main">
              <a:ext uri="{FF2B5EF4-FFF2-40B4-BE49-F238E27FC236}">
                <a16:creationId xmlns:a16="http://schemas.microsoft.com/office/drawing/2014/main" id="{AA5B1627-DF42-40DE-B6E8-F8CA86654882}"/>
              </a:ext>
            </a:extLst>
          </p:cNvPr>
          <p:cNvSpPr>
            <a:spLocks xmlns:a="http://schemas.openxmlformats.org/drawingml/2006/main" noGrp="1"/>
          </p:cNvSpPr>
          <p:nvPr/>
        </p:nvSpPr>
        <p:spPr>
          <a:xfrm xmlns:a="http://schemas.openxmlformats.org/drawingml/2006/main">
            <a:off x="46482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dual SMAD 또는 semi-guided</a:t>
            </a:r>
          </a:p>
          <a:p xmlns:a="http://schemas.openxmlformats.org/drawingml/2006/main">
            <a:pPr algn="l">
              <a:defRPr sz="1200" b="0">
                <a:solidFill>
                  <a:srgbClr val="132024"/>
                </a:solidFill>
              </a:defRPr>
            </a:pPr>
            <a:r>
              <a:rPr sz="1200" b="0">
                <a:solidFill>
                  <a:srgbClr val="132024"/>
                </a:solidFill>
              </a:rPr>
              <a:t>control을 통해 cleaner regional</a:t>
            </a:r>
          </a:p>
          <a:p xmlns:a="http://schemas.openxmlformats.org/drawingml/2006/main">
            <a:pPr algn="l">
              <a:defRPr sz="1200" b="0">
                <a:solidFill>
                  <a:srgbClr val="132024"/>
                </a:solidFill>
              </a:defRPr>
            </a:pPr>
            <a:r>
              <a:rPr sz="1200" b="0">
                <a:solidFill>
                  <a:srgbClr val="132024"/>
                </a:solidFill>
              </a:rPr>
              <a:t>identity와 더 높은 재현성을 노린다. 대표</a:t>
            </a:r>
          </a:p>
          <a:p xmlns:a="http://schemas.openxmlformats.org/drawingml/2006/main">
            <a:pPr algn="l">
              <a:defRPr sz="1200" b="0">
                <a:solidFill>
                  <a:srgbClr val="132024"/>
                </a:solidFill>
              </a:defRPr>
            </a:pPr>
            <a:r>
              <a:rPr sz="1200" b="0">
                <a:solidFill>
                  <a:srgbClr val="132024"/>
                </a:solidFill>
              </a:rPr>
              <a:t>anchor: Sloan 2018,</a:t>
            </a:r>
          </a:p>
          <a:p xmlns:a="http://schemas.openxmlformats.org/drawingml/2006/main">
            <a:pPr algn="l">
              <a:defRPr sz="1200" b="0">
                <a:solidFill>
                  <a:srgbClr val="132024"/>
                </a:solidFill>
              </a:defRPr>
            </a:pPr>
            <a:r>
              <a:rPr sz="1200" b="0">
                <a:solidFill>
                  <a:srgbClr val="132024"/>
                </a:solidFill>
              </a:rPr>
              <a:t>Fitzgerald 2024, Ullah 2025.</a:t>
            </a:r>
          </a:p>
        </p:txBody>
      </p:sp>
      <p:sp>
        <p:nvSpPr>
          <p:cNvPr id="22" name="">
            <a:extLst xmlns:a="http://schemas.openxmlformats.org/drawingml/2006/main">
              <a:ext uri="{FF2B5EF4-FFF2-40B4-BE49-F238E27FC236}">
                <a16:creationId xmlns:a16="http://schemas.microsoft.com/office/drawing/2014/main" id="{E39D8A4D-6AD1-4992-A05D-0C34FC2B0D6A}"/>
              </a:ext>
            </a:extLst>
          </p:cNvPr>
          <p:cNvSpPr>
            <a:spLocks xmlns:a="http://schemas.openxmlformats.org/drawingml/2006/main" noGrp="1"/>
          </p:cNvSpPr>
          <p:nvPr/>
        </p:nvSpPr>
        <p:spPr>
          <a:xfrm xmlns:a="http://schemas.openxmlformats.org/drawingml/2006/main">
            <a:off x="81343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A6011B1A-6D2A-4B88-8B39-2A708A994928}"/>
              </a:ext>
            </a:extLst>
          </p:cNvPr>
          <p:cNvSpPr>
            <a:spLocks xmlns:a="http://schemas.openxmlformats.org/drawingml/2006/main" noGrp="1"/>
          </p:cNvSpPr>
          <p:nvPr/>
        </p:nvSpPr>
        <p:spPr>
          <a:xfrm xmlns:a="http://schemas.openxmlformats.org/drawingml/2006/main">
            <a:off x="8134350" y="2209800"/>
            <a:ext cx="3314700" cy="76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3BC1295B-80F4-4CCE-A993-BFAAE681BDDC}"/>
              </a:ext>
            </a:extLst>
          </p:cNvPr>
          <p:cNvSpPr>
            <a:spLocks xmlns:a="http://schemas.openxmlformats.org/drawingml/2006/main" noGrp="1"/>
          </p:cNvSpPr>
          <p:nvPr/>
        </p:nvSpPr>
        <p:spPr>
          <a:xfrm xmlns:a="http://schemas.openxmlformats.org/drawingml/2006/main">
            <a:off x="83439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posterior / niche specialization</a:t>
            </a:r>
          </a:p>
        </p:txBody>
      </p:sp>
      <p:sp>
        <p:nvSpPr>
          <p:cNvPr id="25" name="">
            <a:extLst xmlns:a="http://schemas.openxmlformats.org/drawingml/2006/main">
              <a:ext uri="{FF2B5EF4-FFF2-40B4-BE49-F238E27FC236}">
                <a16:creationId xmlns:a16="http://schemas.microsoft.com/office/drawing/2014/main" id="{E85E39D4-24BA-4598-B29D-F2DC908D7EF0}"/>
              </a:ext>
            </a:extLst>
          </p:cNvPr>
          <p:cNvSpPr>
            <a:spLocks xmlns:a="http://schemas.openxmlformats.org/drawingml/2006/main" noGrp="1"/>
          </p:cNvSpPr>
          <p:nvPr/>
        </p:nvSpPr>
        <p:spPr>
          <a:xfrm xmlns:a="http://schemas.openxmlformats.org/drawingml/2006/main">
            <a:off x="83439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midbrain, brainstem,</a:t>
            </a:r>
          </a:p>
          <a:p xmlns:a="http://schemas.openxmlformats.org/drawingml/2006/main">
            <a:pPr algn="l">
              <a:defRPr sz="1200" b="0">
                <a:solidFill>
                  <a:srgbClr val="132024"/>
                </a:solidFill>
              </a:defRPr>
            </a:pPr>
            <a:r>
              <a:rPr sz="1200" b="0">
                <a:solidFill>
                  <a:srgbClr val="132024"/>
                </a:solidFill>
              </a:rPr>
              <a:t>hindbrain, hippocampus,</a:t>
            </a:r>
          </a:p>
          <a:p xmlns:a="http://schemas.openxmlformats.org/drawingml/2006/main">
            <a:pPr algn="l">
              <a:defRPr sz="1200" b="0">
                <a:solidFill>
                  <a:srgbClr val="132024"/>
                </a:solidFill>
              </a:defRPr>
            </a:pPr>
            <a:r>
              <a:rPr sz="1200" b="0">
                <a:solidFill>
                  <a:srgbClr val="132024"/>
                </a:solidFill>
              </a:rPr>
              <a:t>cerebellum처럼 질문 특이적인</a:t>
            </a:r>
          </a:p>
          <a:p xmlns:a="http://schemas.openxmlformats.org/drawingml/2006/main">
            <a:pPr algn="l">
              <a:defRPr sz="1200" b="0">
                <a:solidFill>
                  <a:srgbClr val="132024"/>
                </a:solidFill>
              </a:defRPr>
            </a:pPr>
            <a:r>
              <a:rPr sz="1200" b="0">
                <a:solidFill>
                  <a:srgbClr val="132024"/>
                </a:solidFill>
              </a:rPr>
              <a:t>posterior or niche branch로</a:t>
            </a:r>
          </a:p>
          <a:p xmlns:a="http://schemas.openxmlformats.org/drawingml/2006/main">
            <a:pPr algn="l">
              <a:defRPr sz="1200" b="0">
                <a:solidFill>
                  <a:srgbClr val="132024"/>
                </a:solidFill>
              </a:defRPr>
            </a:pPr>
            <a:r>
              <a:rPr sz="1200" b="0">
                <a:solidFill>
                  <a:srgbClr val="132024"/>
                </a:solidFill>
              </a:rPr>
              <a:t>간다. 대표 anchor: Zagare, Eura,</a:t>
            </a:r>
          </a:p>
          <a:p xmlns:a="http://schemas.openxmlformats.org/drawingml/2006/main">
            <a:pPr algn="l">
              <a:defRPr sz="1200" b="0">
                <a:solidFill>
                  <a:srgbClr val="132024"/>
                </a:solidFill>
              </a:defRPr>
            </a:pPr>
            <a:r>
              <a:rPr sz="1200" b="0">
                <a:solidFill>
                  <a:srgbClr val="132024"/>
                </a:solidFill>
              </a:rPr>
              <a:t>Pomeshchik, Atamian.</a:t>
            </a:r>
          </a:p>
        </p:txBody>
      </p:sp>
      <p:sp>
        <p:nvSpPr>
          <p:cNvPr id="26" name="">
            <a:extLst xmlns:a="http://schemas.openxmlformats.org/drawingml/2006/main">
              <a:ext uri="{FF2B5EF4-FFF2-40B4-BE49-F238E27FC236}">
                <a16:creationId xmlns:a16="http://schemas.microsoft.com/office/drawing/2014/main" id="{3DC97F70-929D-4590-A01D-85D28A3079CA}"/>
              </a:ext>
            </a:extLst>
          </p:cNvPr>
          <p:cNvSpPr>
            <a:spLocks xmlns:a="http://schemas.openxmlformats.org/drawingml/2006/main" noGrp="1"/>
          </p:cNvSpPr>
          <p:nvPr/>
        </p:nvSpPr>
        <p:spPr>
          <a:xfrm xmlns:a="http://schemas.openxmlformats.org/drawingml/2006/main">
            <a:off x="857250" y="5353050"/>
            <a:ext cx="10572750" cy="704850"/>
          </a:xfrm>
          <a:prstGeom xmlns:a="http://schemas.openxmlformats.org/drawingml/2006/main" prst="roundRect">
            <a:avLst>
              <a:gd name="adj" fmla="val 10811"/>
            </a:avLst>
          </a:prstGeom>
          <a:solidFill xmlns:a="http://schemas.openxmlformats.org/drawingml/2006/main">
            <a:srgbClr val="F4E8C8"/>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225E5458-A892-4E56-ACAE-10594BAABE09}"/>
              </a:ext>
            </a:extLst>
          </p:cNvPr>
          <p:cNvSpPr>
            <a:spLocks xmlns:a="http://schemas.openxmlformats.org/drawingml/2006/main" noGrp="1"/>
          </p:cNvSpPr>
          <p:nvPr/>
        </p:nvSpPr>
        <p:spPr>
          <a:xfrm xmlns:a="http://schemas.openxmlformats.org/drawingml/2006/main">
            <a:off x="857250" y="5353050"/>
            <a:ext cx="76200" cy="7048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6B6C4965-0299-4339-BB34-FE8BAC5936C0}"/>
              </a:ext>
            </a:extLst>
          </p:cNvPr>
          <p:cNvSpPr>
            <a:spLocks xmlns:a="http://schemas.openxmlformats.org/drawingml/2006/main" noGrp="1"/>
          </p:cNvSpPr>
          <p:nvPr/>
        </p:nvSpPr>
        <p:spPr>
          <a:xfrm xmlns:a="http://schemas.openxmlformats.org/drawingml/2006/main">
            <a:off x="1066800" y="5505450"/>
            <a:ext cx="101917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1차 결론: 많은 brain organoid design 문제는 'brain vs brain'이 아니라 subregion selection 문제다.</a:t>
            </a:r>
          </a:p>
        </p:txBody>
      </p:sp>
      <p:sp>
        <p:nvSpPr>
          <p:cNvPr id="29" name="">
            <a:extLst xmlns:a="http://schemas.openxmlformats.org/drawingml/2006/main">
              <a:ext uri="{FF2B5EF4-FFF2-40B4-BE49-F238E27FC236}">
                <a16:creationId xmlns:a16="http://schemas.microsoft.com/office/drawing/2014/main" id="{63AF5F92-D140-4F33-90A0-9CA043995CF8}"/>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subregion logic는 출발점으로 강력했지만, 아직 quality question을 충분히 설명하지 못했다.</a:t>
            </a:r>
          </a:p>
        </p:txBody>
      </p:sp>
    </p:spTree>
    <p:extLst>
      <p:ext uri="{BB962C8B-B14F-4D97-AF65-F5344CB8AC3E}">
        <p14:creationId xmlns:p14="http://schemas.microsoft.com/office/powerpoint/2010/main" val="1764280472"/>
      </p:ext>
    </p:extLst>
  </p:cSld>
</p:sld>
</file>

<file path=ppt/slides/slide6.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960B6032-F217-4E1A-A5DD-55BD6786A62D}"/>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2a295a7cf1e4004"/>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7437ECB0-377E-4D5F-9D4C-CAA53CE31D5F}"/>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F9E5E1"/>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3799903C-1FD9-4FB8-8DBC-70549F79201A}"/>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BBDF354D-3DCB-469F-BEAD-16542CAD037B}"/>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73E5D6A3-EAFD-4532-B71B-0C3B92666CF8}"/>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E257723C-303C-44E8-9CC0-28D8E4BA011F}"/>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25DB5E96-21A0-4AA8-825D-85340154165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1569"/>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D79B0084-AD7C-4F27-BD5D-A0749F543F1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LIMITATION</a:t>
            </a:r>
          </a:p>
        </p:txBody>
      </p:sp>
      <p:sp>
        <p:nvSpPr>
          <p:cNvPr id="10" name="">
            <a:extLst xmlns:a="http://schemas.openxmlformats.org/drawingml/2006/main">
              <a:ext uri="{FF2B5EF4-FFF2-40B4-BE49-F238E27FC236}">
                <a16:creationId xmlns:a16="http://schemas.microsoft.com/office/drawing/2014/main" id="{F14FDBC4-10C4-420E-83D7-B8C42C994B1E}"/>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06 / 12</a:t>
            </a:r>
          </a:p>
        </p:txBody>
      </p:sp>
      <p:sp>
        <p:nvSpPr>
          <p:cNvPr id="11" name="">
            <a:extLst xmlns:a="http://schemas.openxmlformats.org/drawingml/2006/main">
              <a:ext uri="{FF2B5EF4-FFF2-40B4-BE49-F238E27FC236}">
                <a16:creationId xmlns:a16="http://schemas.microsoft.com/office/drawing/2014/main" id="{945FB7ED-C3D4-4871-AFB7-F38EB9DE8BFD}"/>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7CC946FE-F56E-4672-B12A-C6D55D3AC741}"/>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D1A982F2-7BCF-4072-A4D6-26BD90C7D6E3}"/>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하지만 이 질문만으로는 부족했다</a:t>
            </a:r>
          </a:p>
        </p:txBody>
      </p:sp>
      <p:sp>
        <p:nvSpPr>
          <p:cNvPr id="14" name="">
            <a:extLst xmlns:a="http://schemas.openxmlformats.org/drawingml/2006/main">
              <a:ext uri="{FF2B5EF4-FFF2-40B4-BE49-F238E27FC236}">
                <a16:creationId xmlns:a16="http://schemas.microsoft.com/office/drawing/2014/main" id="{BD0C08B5-34FC-4F60-A4FB-CBF7AFB3F826}"/>
              </a:ext>
            </a:extLst>
          </p:cNvPr>
          <p:cNvSpPr>
            <a:spLocks xmlns:a="http://schemas.openxmlformats.org/drawingml/2006/main" noGrp="1"/>
          </p:cNvSpPr>
          <p:nvPr/>
        </p:nvSpPr>
        <p:spPr>
          <a:xfrm xmlns:a="http://schemas.openxmlformats.org/drawingml/2006/main">
            <a:off x="800100" y="2133600"/>
            <a:ext cx="10591800" cy="971550"/>
          </a:xfrm>
          <a:prstGeom xmlns:a="http://schemas.openxmlformats.org/drawingml/2006/main" prst="roundRect">
            <a:avLst>
              <a:gd name="adj" fmla="val 7843"/>
            </a:avLst>
          </a:prstGeom>
          <a:solidFill xmlns:a="http://schemas.openxmlformats.org/drawingml/2006/main">
            <a:srgbClr val="F7DDD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E2A9D9E1-5EC8-4AD5-8C31-0D91B4F34567}"/>
              </a:ext>
            </a:extLst>
          </p:cNvPr>
          <p:cNvSpPr>
            <a:spLocks xmlns:a="http://schemas.openxmlformats.org/drawingml/2006/main" noGrp="1"/>
          </p:cNvSpPr>
          <p:nvPr/>
        </p:nvSpPr>
        <p:spPr>
          <a:xfrm xmlns:a="http://schemas.openxmlformats.org/drawingml/2006/main">
            <a:off x="800100" y="2133600"/>
            <a:ext cx="76200" cy="9715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3AC94F09-FA96-4100-8B40-8FFE601195CA}"/>
              </a:ext>
            </a:extLst>
          </p:cNvPr>
          <p:cNvSpPr>
            <a:spLocks xmlns:a="http://schemas.openxmlformats.org/drawingml/2006/main" noGrp="1"/>
          </p:cNvSpPr>
          <p:nvPr/>
        </p:nvSpPr>
        <p:spPr>
          <a:xfrm xmlns:a="http://schemas.openxmlformats.org/drawingml/2006/main">
            <a:off x="1009650" y="2286000"/>
            <a:ext cx="1021080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같은 forebrain branch 안에서도 어떤 protocol은 더 reproducible하고, 어떤 protocol은 primary fetal brain에 더 닮고, 어떤 protocol은 발달 timing 해석이 더 쉽다.</a:t>
            </a:r>
          </a:p>
        </p:txBody>
      </p:sp>
      <p:sp>
        <p:nvSpPr>
          <p:cNvPr id="17" name="">
            <a:extLst xmlns:a="http://schemas.openxmlformats.org/drawingml/2006/main">
              <a:ext uri="{FF2B5EF4-FFF2-40B4-BE49-F238E27FC236}">
                <a16:creationId xmlns:a16="http://schemas.microsoft.com/office/drawing/2014/main" id="{144474F9-B7BC-40C0-B2D0-59146CAB7EC8}"/>
              </a:ext>
            </a:extLst>
          </p:cNvPr>
          <p:cNvSpPr>
            <a:spLocks xmlns:a="http://schemas.openxmlformats.org/drawingml/2006/main" noGrp="1"/>
          </p:cNvSpPr>
          <p:nvPr/>
        </p:nvSpPr>
        <p:spPr>
          <a:xfrm xmlns:a="http://schemas.openxmlformats.org/drawingml/2006/main">
            <a:off x="80010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93EAEB98-01C1-4FE0-A2B0-52EC4B117CED}"/>
              </a:ext>
            </a:extLst>
          </p:cNvPr>
          <p:cNvSpPr>
            <a:spLocks xmlns:a="http://schemas.openxmlformats.org/drawingml/2006/main" noGrp="1"/>
          </p:cNvSpPr>
          <p:nvPr/>
        </p:nvSpPr>
        <p:spPr>
          <a:xfrm xmlns:a="http://schemas.openxmlformats.org/drawingml/2006/main">
            <a:off x="800100" y="3638550"/>
            <a:ext cx="314325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3D856F37-8100-4FD4-9EB6-B3E92780B603}"/>
              </a:ext>
            </a:extLst>
          </p:cNvPr>
          <p:cNvSpPr>
            <a:spLocks xmlns:a="http://schemas.openxmlformats.org/drawingml/2006/main" noGrp="1"/>
          </p:cNvSpPr>
          <p:nvPr/>
        </p:nvSpPr>
        <p:spPr>
          <a:xfrm xmlns:a="http://schemas.openxmlformats.org/drawingml/2006/main">
            <a:off x="100965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reproducibility</a:t>
            </a:r>
          </a:p>
        </p:txBody>
      </p:sp>
      <p:sp>
        <p:nvSpPr>
          <p:cNvPr id="20" name="">
            <a:extLst xmlns:a="http://schemas.openxmlformats.org/drawingml/2006/main">
              <a:ext uri="{FF2B5EF4-FFF2-40B4-BE49-F238E27FC236}">
                <a16:creationId xmlns:a16="http://schemas.microsoft.com/office/drawing/2014/main" id="{979D01B7-06EA-490B-8EBE-C4F1A6752A67}"/>
              </a:ext>
            </a:extLst>
          </p:cNvPr>
          <p:cNvSpPr>
            <a:spLocks xmlns:a="http://schemas.openxmlformats.org/drawingml/2006/main" noGrp="1"/>
          </p:cNvSpPr>
          <p:nvPr/>
        </p:nvSpPr>
        <p:spPr>
          <a:xfrm xmlns:a="http://schemas.openxmlformats.org/drawingml/2006/main">
            <a:off x="100965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protocol을 여러 번 돌렸을 때</a:t>
            </a:r>
          </a:p>
          <a:p xmlns:a="http://schemas.openxmlformats.org/drawingml/2006/main">
            <a:pPr algn="l">
              <a:defRPr sz="1200" b="0">
                <a:solidFill>
                  <a:srgbClr val="132024"/>
                </a:solidFill>
              </a:defRPr>
            </a:pPr>
            <a:r>
              <a:rPr sz="1200" b="0">
                <a:solidFill>
                  <a:srgbClr val="132024"/>
                </a:solidFill>
              </a:rPr>
              <a:t>cell composition과 success</a:t>
            </a:r>
          </a:p>
          <a:p xmlns:a="http://schemas.openxmlformats.org/drawingml/2006/main">
            <a:pPr algn="l">
              <a:defRPr sz="1200" b="0">
                <a:solidFill>
                  <a:srgbClr val="132024"/>
                </a:solidFill>
              </a:defRPr>
            </a:pPr>
            <a:r>
              <a:rPr sz="1200" b="0">
                <a:solidFill>
                  <a:srgbClr val="132024"/>
                </a:solidFill>
              </a:rPr>
              <a:t>rate가 얼마나 안정적인가?</a:t>
            </a:r>
          </a:p>
        </p:txBody>
      </p:sp>
      <p:sp>
        <p:nvSpPr>
          <p:cNvPr id="21" name="">
            <a:extLst xmlns:a="http://schemas.openxmlformats.org/drawingml/2006/main">
              <a:ext uri="{FF2B5EF4-FFF2-40B4-BE49-F238E27FC236}">
                <a16:creationId xmlns:a16="http://schemas.microsoft.com/office/drawing/2014/main" id="{5602BB10-E443-42C8-8F65-ED4AF3BCD364}"/>
              </a:ext>
            </a:extLst>
          </p:cNvPr>
          <p:cNvSpPr>
            <a:spLocks xmlns:a="http://schemas.openxmlformats.org/drawingml/2006/main" noGrp="1"/>
          </p:cNvSpPr>
          <p:nvPr/>
        </p:nvSpPr>
        <p:spPr>
          <a:xfrm xmlns:a="http://schemas.openxmlformats.org/drawingml/2006/main">
            <a:off x="451485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9AB6F014-7214-4CF2-A805-B769C180DCBE}"/>
              </a:ext>
            </a:extLst>
          </p:cNvPr>
          <p:cNvSpPr>
            <a:spLocks xmlns:a="http://schemas.openxmlformats.org/drawingml/2006/main" noGrp="1"/>
          </p:cNvSpPr>
          <p:nvPr/>
        </p:nvSpPr>
        <p:spPr>
          <a:xfrm xmlns:a="http://schemas.openxmlformats.org/drawingml/2006/main">
            <a:off x="4514850" y="3638550"/>
            <a:ext cx="314325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7B4E071A-2435-48B3-93BF-1DEFA153F26A}"/>
              </a:ext>
            </a:extLst>
          </p:cNvPr>
          <p:cNvSpPr>
            <a:spLocks xmlns:a="http://schemas.openxmlformats.org/drawingml/2006/main" noGrp="1"/>
          </p:cNvSpPr>
          <p:nvPr/>
        </p:nvSpPr>
        <p:spPr>
          <a:xfrm xmlns:a="http://schemas.openxmlformats.org/drawingml/2006/main">
            <a:off x="472440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fidelity</a:t>
            </a:r>
          </a:p>
        </p:txBody>
      </p:sp>
      <p:sp>
        <p:nvSpPr>
          <p:cNvPr id="24" name="">
            <a:extLst xmlns:a="http://schemas.openxmlformats.org/drawingml/2006/main">
              <a:ext uri="{FF2B5EF4-FFF2-40B4-BE49-F238E27FC236}">
                <a16:creationId xmlns:a16="http://schemas.microsoft.com/office/drawing/2014/main" id="{FDA55EE3-D0C0-4B16-AE51-4DBBA0D9E6B0}"/>
              </a:ext>
            </a:extLst>
          </p:cNvPr>
          <p:cNvSpPr>
            <a:spLocks xmlns:a="http://schemas.openxmlformats.org/drawingml/2006/main" noGrp="1"/>
          </p:cNvSpPr>
          <p:nvPr/>
        </p:nvSpPr>
        <p:spPr>
          <a:xfrm xmlns:a="http://schemas.openxmlformats.org/drawingml/2006/main">
            <a:off x="472440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organoid cell state가</a:t>
            </a:r>
          </a:p>
          <a:p xmlns:a="http://schemas.openxmlformats.org/drawingml/2006/main">
            <a:pPr algn="l">
              <a:defRPr sz="1200" b="0">
                <a:solidFill>
                  <a:srgbClr val="132024"/>
                </a:solidFill>
              </a:defRPr>
            </a:pPr>
            <a:r>
              <a:rPr sz="1200" b="0">
                <a:solidFill>
                  <a:srgbClr val="132024"/>
                </a:solidFill>
              </a:rPr>
              <a:t>primary fetal brain과 얼마나</a:t>
            </a:r>
          </a:p>
          <a:p xmlns:a="http://schemas.openxmlformats.org/drawingml/2006/main">
            <a:pPr algn="l">
              <a:defRPr sz="1200" b="0">
                <a:solidFill>
                  <a:srgbClr val="132024"/>
                </a:solidFill>
              </a:defRPr>
            </a:pPr>
            <a:r>
              <a:rPr sz="1200" b="0">
                <a:solidFill>
                  <a:srgbClr val="132024"/>
                </a:solidFill>
              </a:rPr>
              <a:t>가까운가?</a:t>
            </a:r>
          </a:p>
        </p:txBody>
      </p:sp>
      <p:sp>
        <p:nvSpPr>
          <p:cNvPr id="25" name="">
            <a:extLst xmlns:a="http://schemas.openxmlformats.org/drawingml/2006/main">
              <a:ext uri="{FF2B5EF4-FFF2-40B4-BE49-F238E27FC236}">
                <a16:creationId xmlns:a16="http://schemas.microsoft.com/office/drawing/2014/main" id="{8AC0DABD-AFCB-4F22-85DB-6EF1E56FD641}"/>
              </a:ext>
            </a:extLst>
          </p:cNvPr>
          <p:cNvSpPr>
            <a:spLocks xmlns:a="http://schemas.openxmlformats.org/drawingml/2006/main" noGrp="1"/>
          </p:cNvSpPr>
          <p:nvPr/>
        </p:nvSpPr>
        <p:spPr>
          <a:xfrm xmlns:a="http://schemas.openxmlformats.org/drawingml/2006/main">
            <a:off x="822960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6" name="">
            <a:extLst xmlns:a="http://schemas.openxmlformats.org/drawingml/2006/main">
              <a:ext uri="{FF2B5EF4-FFF2-40B4-BE49-F238E27FC236}">
                <a16:creationId xmlns:a16="http://schemas.microsoft.com/office/drawing/2014/main" id="{4B1A3E64-9D48-4585-936E-C4212CBD4A46}"/>
              </a:ext>
            </a:extLst>
          </p:cNvPr>
          <p:cNvSpPr>
            <a:spLocks xmlns:a="http://schemas.openxmlformats.org/drawingml/2006/main" noGrp="1"/>
          </p:cNvSpPr>
          <p:nvPr/>
        </p:nvSpPr>
        <p:spPr>
          <a:xfrm xmlns:a="http://schemas.openxmlformats.org/drawingml/2006/main">
            <a:off x="8229600" y="3638550"/>
            <a:ext cx="3143250" cy="76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88E77A21-DBF1-4DE8-AC96-7485A04087B8}"/>
              </a:ext>
            </a:extLst>
          </p:cNvPr>
          <p:cNvSpPr>
            <a:spLocks xmlns:a="http://schemas.openxmlformats.org/drawingml/2006/main" noGrp="1"/>
          </p:cNvSpPr>
          <p:nvPr/>
        </p:nvSpPr>
        <p:spPr>
          <a:xfrm xmlns:a="http://schemas.openxmlformats.org/drawingml/2006/main">
            <a:off x="843915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temporal mapping</a:t>
            </a:r>
          </a:p>
        </p:txBody>
      </p:sp>
      <p:sp>
        <p:nvSpPr>
          <p:cNvPr id="28" name="">
            <a:extLst xmlns:a="http://schemas.openxmlformats.org/drawingml/2006/main">
              <a:ext uri="{FF2B5EF4-FFF2-40B4-BE49-F238E27FC236}">
                <a16:creationId xmlns:a16="http://schemas.microsoft.com/office/drawing/2014/main" id="{9DDBC69B-ADFE-4B68-81D3-E1060EDDC162}"/>
              </a:ext>
            </a:extLst>
          </p:cNvPr>
          <p:cNvSpPr>
            <a:spLocks xmlns:a="http://schemas.openxmlformats.org/drawingml/2006/main" noGrp="1"/>
          </p:cNvSpPr>
          <p:nvPr/>
        </p:nvSpPr>
        <p:spPr>
          <a:xfrm xmlns:a="http://schemas.openxmlformats.org/drawingml/2006/main">
            <a:off x="843915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day 30, day 60 같은 culture</a:t>
            </a:r>
          </a:p>
          <a:p xmlns:a="http://schemas.openxmlformats.org/drawingml/2006/main">
            <a:pPr algn="l">
              <a:defRPr sz="1200" b="0">
                <a:solidFill>
                  <a:srgbClr val="132024"/>
                </a:solidFill>
              </a:defRPr>
            </a:pPr>
            <a:r>
              <a:rPr sz="1200" b="0">
                <a:solidFill>
                  <a:srgbClr val="132024"/>
                </a:solidFill>
              </a:rPr>
              <a:t>day가 실제 human developmental</a:t>
            </a:r>
          </a:p>
          <a:p xmlns:a="http://schemas.openxmlformats.org/drawingml/2006/main">
            <a:pPr algn="l">
              <a:defRPr sz="1200" b="0">
                <a:solidFill>
                  <a:srgbClr val="132024"/>
                </a:solidFill>
              </a:defRPr>
            </a:pPr>
            <a:r>
              <a:rPr sz="1200" b="0">
                <a:solidFill>
                  <a:srgbClr val="132024"/>
                </a:solidFill>
              </a:rPr>
              <a:t>stage와 어떻게 대응되는가?</a:t>
            </a:r>
          </a:p>
        </p:txBody>
      </p:sp>
      <p:sp>
        <p:nvSpPr>
          <p:cNvPr id="29" name="">
            <a:extLst xmlns:a="http://schemas.openxmlformats.org/drawingml/2006/main">
              <a:ext uri="{FF2B5EF4-FFF2-40B4-BE49-F238E27FC236}">
                <a16:creationId xmlns:a16="http://schemas.microsoft.com/office/drawing/2014/main" id="{879EA4A0-89F4-4251-8EC1-1D620004135C}"/>
              </a:ext>
            </a:extLst>
          </p:cNvPr>
          <p:cNvSpPr>
            <a:spLocks xmlns:a="http://schemas.openxmlformats.org/drawingml/2006/main" noGrp="1"/>
          </p:cNvSpPr>
          <p:nvPr/>
        </p:nvSpPr>
        <p:spPr>
          <a:xfrm xmlns:a="http://schemas.openxmlformats.org/drawingml/2006/main">
            <a:off x="9810750" y="5543550"/>
            <a:ext cx="120015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Q1 -&gt; Q2</a:t>
            </a:r>
          </a:p>
        </p:txBody>
      </p:sp>
      <p:sp>
        <p:nvSpPr>
          <p:cNvPr id="30" name="">
            <a:extLst xmlns:a="http://schemas.openxmlformats.org/drawingml/2006/main">
              <a:ext uri="{FF2B5EF4-FFF2-40B4-BE49-F238E27FC236}">
                <a16:creationId xmlns:a16="http://schemas.microsoft.com/office/drawing/2014/main" id="{4B4D0BCA-00C1-49A8-9896-FFD01BAD5364}"/>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한계 발견의 순간: region question만으로는 모델의 믿을 만함을 설명할 수 없었다.</a:t>
            </a:r>
          </a:p>
        </p:txBody>
      </p:sp>
    </p:spTree>
    <p:extLst>
      <p:ext uri="{BB962C8B-B14F-4D97-AF65-F5344CB8AC3E}">
        <p14:creationId xmlns:p14="http://schemas.microsoft.com/office/powerpoint/2010/main" val="1817249768"/>
      </p:ext>
    </p:extLst>
  </p:cSld>
</p:sld>
</file>

<file path=ppt/slides/slide7.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960B6032-F217-4E1A-A5DD-55BD6786A62D}"/>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87c8d21b2574782"/>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7B7CC3DF-3975-45F5-8A71-624927BABF62}"/>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CFF2400E-5711-49BB-989E-E6E1363A760D}"/>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114C5466-717D-4D53-B936-A2316A35B62D}"/>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811DE3CE-E0F7-4555-B05C-D1D842E73237}"/>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27599490-AA32-4EB7-98D4-CEA1FA92DF13}"/>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1B32CEB4-8E42-42AA-A65C-050DF6A4E6E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05683BC1-EA67-428D-BD64-BFC1AD4E95C6}"/>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2</a:t>
            </a:r>
          </a:p>
        </p:txBody>
      </p:sp>
      <p:sp>
        <p:nvSpPr>
          <p:cNvPr id="10" name="">
            <a:extLst xmlns:a="http://schemas.openxmlformats.org/drawingml/2006/main">
              <a:ext uri="{FF2B5EF4-FFF2-40B4-BE49-F238E27FC236}">
                <a16:creationId xmlns:a16="http://schemas.microsoft.com/office/drawing/2014/main" id="{5E4641B8-3A88-4C25-AD69-62007BAA44C9}"/>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07 / 12</a:t>
            </a:r>
          </a:p>
        </p:txBody>
      </p:sp>
      <p:sp>
        <p:nvSpPr>
          <p:cNvPr id="11" name="">
            <a:extLst xmlns:a="http://schemas.openxmlformats.org/drawingml/2006/main">
              <a:ext uri="{FF2B5EF4-FFF2-40B4-BE49-F238E27FC236}">
                <a16:creationId xmlns:a16="http://schemas.microsoft.com/office/drawing/2014/main" id="{C76314B7-9621-4D19-BE08-C56367F1BA89}"/>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5B25BBF1-7AD0-41DC-BB01-96B124D4FF02}"/>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1EEA67FC-A7D7-4826-B3F2-E802EC869CF7}"/>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75" b="1">
                <a:solidFill>
                  <a:srgbClr val="132024"/>
                </a:solidFill>
              </a:defRPr>
            </a:pPr>
            <a:r>
              <a:rPr sz="2775" b="1">
                <a:solidFill>
                  <a:srgbClr val="132024"/>
                </a:solidFill>
              </a:rPr>
              <a:t>2차 질문: 발달정도·동기화 비교는</a:t>
            </a:r>
          </a:p>
          <a:p xmlns:a="http://schemas.openxmlformats.org/drawingml/2006/main">
            <a:pPr algn="l">
              <a:defRPr sz="2775" b="1">
                <a:solidFill>
                  <a:srgbClr val="132024"/>
                </a:solidFill>
              </a:defRPr>
            </a:pPr>
            <a:r>
              <a:rPr sz="2775" b="1">
                <a:solidFill>
                  <a:srgbClr val="132024"/>
                </a:solidFill>
              </a:rPr>
              <a:t>어느 수준의 세분화가 필요한가</a:t>
            </a:r>
          </a:p>
        </p:txBody>
      </p:sp>
      <p:sp>
        <p:nvSpPr>
          <p:cNvPr id="14" name="">
            <a:extLst xmlns:a="http://schemas.openxmlformats.org/drawingml/2006/main">
              <a:ext uri="{FF2B5EF4-FFF2-40B4-BE49-F238E27FC236}">
                <a16:creationId xmlns:a16="http://schemas.microsoft.com/office/drawing/2014/main" id="{3026B199-C859-4E76-86DE-B87840903EA5}"/>
              </a:ext>
            </a:extLst>
          </p:cNvPr>
          <p:cNvSpPr>
            <a:spLocks xmlns:a="http://schemas.openxmlformats.org/drawingml/2006/main" noGrp="1"/>
          </p:cNvSpPr>
          <p:nvPr/>
        </p:nvSpPr>
        <p:spPr>
          <a:xfrm xmlns:a="http://schemas.openxmlformats.org/drawingml/2006/main">
            <a:off x="8362950" y="876300"/>
            <a:ext cx="1543050" cy="2667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Round 2-4 added</a:t>
            </a:r>
          </a:p>
        </p:txBody>
      </p:sp>
      <p:sp>
        <p:nvSpPr>
          <p:cNvPr id="15" name="">
            <a:extLst xmlns:a="http://schemas.openxmlformats.org/drawingml/2006/main">
              <a:ext uri="{FF2B5EF4-FFF2-40B4-BE49-F238E27FC236}">
                <a16:creationId xmlns:a16="http://schemas.microsoft.com/office/drawing/2014/main" id="{9FFDC121-6B43-473D-9A52-189A9A560319}"/>
              </a:ext>
            </a:extLst>
          </p:cNvPr>
          <p:cNvSpPr>
            <a:spLocks xmlns:a="http://schemas.openxmlformats.org/drawingml/2006/main" noGrp="1"/>
          </p:cNvSpPr>
          <p:nvPr/>
        </p:nvSpPr>
        <p:spPr>
          <a:xfrm xmlns:a="http://schemas.openxmlformats.org/drawingml/2006/main">
            <a:off x="4343400" y="2609850"/>
            <a:ext cx="3048000" cy="1181100"/>
          </a:xfrm>
          <a:prstGeom xmlns:a="http://schemas.openxmlformats.org/drawingml/2006/main" prst="roundRect">
            <a:avLst>
              <a:gd name="adj" fmla="val 6452"/>
            </a:avLst>
          </a:prstGeom>
          <a:solidFill xmlns:a="http://schemas.openxmlformats.org/drawingml/2006/main">
            <a:srgbClr val="DDF4E8"/>
          </a:solidFill>
          <a:ln xmlns:a="http://schemas.openxmlformats.org/drawingml/2006/main" w="10478">
            <a:solidFill>
              <a:srgbClr val="132024"/>
            </a:solidFill>
            <a:prstDash val="solid"/>
          </a:ln>
        </p:spPr>
      </p:sp>
      <p:sp>
        <p:nvSpPr>
          <p:cNvPr id="16" name="">
            <a:extLst xmlns:a="http://schemas.openxmlformats.org/drawingml/2006/main">
              <a:ext uri="{FF2B5EF4-FFF2-40B4-BE49-F238E27FC236}">
                <a16:creationId xmlns:a16="http://schemas.microsoft.com/office/drawing/2014/main" id="{2A4C3CD8-EE83-49A7-BA20-82BB6412D2A1}"/>
              </a:ext>
            </a:extLst>
          </p:cNvPr>
          <p:cNvSpPr>
            <a:spLocks xmlns:a="http://schemas.openxmlformats.org/drawingml/2006/main" noGrp="1"/>
          </p:cNvSpPr>
          <p:nvPr/>
        </p:nvSpPr>
        <p:spPr>
          <a:xfrm xmlns:a="http://schemas.openxmlformats.org/drawingml/2006/main">
            <a:off x="4343400" y="2609850"/>
            <a:ext cx="66675" cy="118110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3AC5B2CE-36E8-4801-B253-8E1BA489EB40}"/>
              </a:ext>
            </a:extLst>
          </p:cNvPr>
          <p:cNvSpPr>
            <a:spLocks xmlns:a="http://schemas.openxmlformats.org/drawingml/2006/main" noGrp="1"/>
          </p:cNvSpPr>
          <p:nvPr/>
        </p:nvSpPr>
        <p:spPr>
          <a:xfrm xmlns:a="http://schemas.openxmlformats.org/drawingml/2006/main">
            <a:off x="4514850" y="2762250"/>
            <a:ext cx="609600" cy="2286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query</a:t>
            </a:r>
          </a:p>
        </p:txBody>
      </p:sp>
      <p:sp>
        <p:nvSpPr>
          <p:cNvPr id="18" name="">
            <a:extLst xmlns:a="http://schemas.openxmlformats.org/drawingml/2006/main">
              <a:ext uri="{FF2B5EF4-FFF2-40B4-BE49-F238E27FC236}">
                <a16:creationId xmlns:a16="http://schemas.microsoft.com/office/drawing/2014/main" id="{818498CA-A218-4837-B4A8-E26FA9785A09}"/>
              </a:ext>
            </a:extLst>
          </p:cNvPr>
          <p:cNvSpPr>
            <a:spLocks xmlns:a="http://schemas.openxmlformats.org/drawingml/2006/main" noGrp="1"/>
          </p:cNvSpPr>
          <p:nvPr/>
        </p:nvSpPr>
        <p:spPr>
          <a:xfrm xmlns:a="http://schemas.openxmlformats.org/drawingml/2006/main">
            <a:off x="4514850" y="3048000"/>
            <a:ext cx="2724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Q2 | 발달정도·동기화 비교 프레임워크</a:t>
            </a:r>
          </a:p>
        </p:txBody>
      </p:sp>
      <p:sp>
        <p:nvSpPr>
          <p:cNvPr id="19" name="">
            <a:extLst xmlns:a="http://schemas.openxmlformats.org/drawingml/2006/main">
              <a:ext uri="{FF2B5EF4-FFF2-40B4-BE49-F238E27FC236}">
                <a16:creationId xmlns:a16="http://schemas.microsoft.com/office/drawing/2014/main" id="{6D1373D9-BA2D-4B31-A913-FA7E7A8D0147}"/>
              </a:ext>
            </a:extLst>
          </p:cNvPr>
          <p:cNvSpPr>
            <a:spLocks xmlns:a="http://schemas.openxmlformats.org/drawingml/2006/main" noGrp="1"/>
          </p:cNvSpPr>
          <p:nvPr/>
        </p:nvSpPr>
        <p:spPr>
          <a:xfrm xmlns:a="http://schemas.openxmlformats.org/drawingml/2006/main">
            <a:off x="4514850" y="3295650"/>
            <a:ext cx="27241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어느 수준의 세분화가 필요한가?</a:t>
            </a:r>
          </a:p>
        </p:txBody>
      </p:sp>
      <p:sp>
        <p:nvSpPr>
          <p:cNvPr id="20" name="">
            <a:extLst xmlns:a="http://schemas.openxmlformats.org/drawingml/2006/main">
              <a:ext uri="{FF2B5EF4-FFF2-40B4-BE49-F238E27FC236}">
                <a16:creationId xmlns:a16="http://schemas.microsoft.com/office/drawing/2014/main" id="{915840FD-9A55-47F1-B3D3-5389327AEA30}"/>
              </a:ext>
            </a:extLst>
          </p:cNvPr>
          <p:cNvSpPr>
            <a:spLocks xmlns:a="http://schemas.openxmlformats.org/drawingml/2006/main" noGrp="1"/>
          </p:cNvSpPr>
          <p:nvPr/>
        </p:nvSpPr>
        <p:spPr>
          <a:xfrm xmlns:a="http://schemas.openxmlformats.org/drawingml/2006/main">
            <a:off x="971550" y="2000250"/>
            <a:ext cx="1943100" cy="1143000"/>
          </a:xfrm>
          <a:prstGeom xmlns:a="http://schemas.openxmlformats.org/drawingml/2006/main" prst="roundRect">
            <a:avLst>
              <a:gd name="adj" fmla="val 6667"/>
            </a:avLst>
          </a:prstGeom>
          <a:solidFill xmlns:a="http://schemas.openxmlformats.org/drawingml/2006/main">
            <a:srgbClr val="FFFDF8"/>
          </a:solidFill>
          <a:ln xmlns:a="http://schemas.openxmlformats.org/drawingml/2006/main" w="10478">
            <a:solidFill>
              <a:srgbClr val="132024"/>
            </a:solidFill>
            <a:prstDash val="solid"/>
          </a:ln>
        </p:spPr>
      </p:sp>
      <p:sp>
        <p:nvSpPr>
          <p:cNvPr id="21" name="">
            <a:extLst xmlns:a="http://schemas.openxmlformats.org/drawingml/2006/main">
              <a:ext uri="{FF2B5EF4-FFF2-40B4-BE49-F238E27FC236}">
                <a16:creationId xmlns:a16="http://schemas.microsoft.com/office/drawing/2014/main" id="{26250718-7B87-4BCE-AAFF-C7AF98E03B33}"/>
              </a:ext>
            </a:extLst>
          </p:cNvPr>
          <p:cNvSpPr>
            <a:spLocks xmlns:a="http://schemas.openxmlformats.org/drawingml/2006/main" noGrp="1"/>
          </p:cNvSpPr>
          <p:nvPr/>
        </p:nvSpPr>
        <p:spPr>
          <a:xfrm xmlns:a="http://schemas.openxmlformats.org/drawingml/2006/main">
            <a:off x="971550" y="2000250"/>
            <a:ext cx="66675" cy="11430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8067C3E5-A4F7-495C-BEFA-37AD2CC84B18}"/>
              </a:ext>
            </a:extLst>
          </p:cNvPr>
          <p:cNvSpPr>
            <a:spLocks xmlns:a="http://schemas.openxmlformats.org/drawingml/2006/main" noGrp="1"/>
          </p:cNvSpPr>
          <p:nvPr/>
        </p:nvSpPr>
        <p:spPr>
          <a:xfrm xmlns:a="http://schemas.openxmlformats.org/drawingml/2006/main">
            <a:off x="1143000" y="21526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3" name="">
            <a:extLst xmlns:a="http://schemas.openxmlformats.org/drawingml/2006/main">
              <a:ext uri="{FF2B5EF4-FFF2-40B4-BE49-F238E27FC236}">
                <a16:creationId xmlns:a16="http://schemas.microsoft.com/office/drawing/2014/main" id="{23207B98-DAB2-4F10-869E-58E177F1326C}"/>
              </a:ext>
            </a:extLst>
          </p:cNvPr>
          <p:cNvSpPr>
            <a:spLocks xmlns:a="http://schemas.openxmlformats.org/drawingml/2006/main" noGrp="1"/>
          </p:cNvSpPr>
          <p:nvPr/>
        </p:nvSpPr>
        <p:spPr>
          <a:xfrm xmlns:a="http://schemas.openxmlformats.org/drawingml/2006/main">
            <a:off x="1143000" y="2438400"/>
            <a:ext cx="1619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Velasco 2019</a:t>
            </a:r>
          </a:p>
        </p:txBody>
      </p:sp>
      <p:sp>
        <p:nvSpPr>
          <p:cNvPr id="24" name="">
            <a:extLst xmlns:a="http://schemas.openxmlformats.org/drawingml/2006/main">
              <a:ext uri="{FF2B5EF4-FFF2-40B4-BE49-F238E27FC236}">
                <a16:creationId xmlns:a16="http://schemas.microsoft.com/office/drawing/2014/main" id="{BA4218DA-065B-44C5-8F02-222237D8DDDE}"/>
              </a:ext>
            </a:extLst>
          </p:cNvPr>
          <p:cNvSpPr>
            <a:spLocks xmlns:a="http://schemas.openxmlformats.org/drawingml/2006/main" noGrp="1"/>
          </p:cNvSpPr>
          <p:nvPr/>
        </p:nvSpPr>
        <p:spPr>
          <a:xfrm xmlns:a="http://schemas.openxmlformats.org/drawingml/2006/main">
            <a:off x="1143000" y="2686050"/>
            <a:ext cx="16192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within-protocol</a:t>
            </a:r>
          </a:p>
          <a:p xmlns:a="http://schemas.openxmlformats.org/drawingml/2006/main">
            <a:pPr algn="l">
              <a:defRPr sz="825" b="0">
                <a:solidFill>
                  <a:srgbClr val="344146"/>
                </a:solidFill>
              </a:defRPr>
            </a:pPr>
            <a:r>
              <a:rPr sz="825" b="0">
                <a:solidFill>
                  <a:srgbClr val="344146"/>
                </a:solidFill>
              </a:rPr>
              <a:t>reproducibility</a:t>
            </a:r>
          </a:p>
        </p:txBody>
      </p:sp>
      <p:sp>
        <p:nvSpPr>
          <p:cNvPr id="25" name="">
            <a:extLst xmlns:a="http://schemas.openxmlformats.org/drawingml/2006/main">
              <a:ext uri="{FF2B5EF4-FFF2-40B4-BE49-F238E27FC236}">
                <a16:creationId xmlns:a16="http://schemas.microsoft.com/office/drawing/2014/main" id="{91355A50-B23E-41CA-A2D2-05014CEFC620}"/>
              </a:ext>
            </a:extLst>
          </p:cNvPr>
          <p:cNvSpPr>
            <a:spLocks xmlns:a="http://schemas.openxmlformats.org/drawingml/2006/main" noGrp="1"/>
          </p:cNvSpPr>
          <p:nvPr/>
        </p:nvSpPr>
        <p:spPr>
          <a:xfrm xmlns:a="http://schemas.openxmlformats.org/drawingml/2006/main">
            <a:off x="1562100" y="3924300"/>
            <a:ext cx="1943100" cy="1143000"/>
          </a:xfrm>
          <a:prstGeom xmlns:a="http://schemas.openxmlformats.org/drawingml/2006/main" prst="roundRect">
            <a:avLst>
              <a:gd name="adj" fmla="val 6667"/>
            </a:avLst>
          </a:prstGeom>
          <a:solidFill xmlns:a="http://schemas.openxmlformats.org/drawingml/2006/main">
            <a:srgbClr val="FFFDF8"/>
          </a:solidFill>
          <a:ln xmlns:a="http://schemas.openxmlformats.org/drawingml/2006/main" w="10478">
            <a:solidFill>
              <a:srgbClr val="132024"/>
            </a:solidFill>
            <a:prstDash val="solid"/>
          </a:ln>
        </p:spPr>
      </p:sp>
      <p:sp>
        <p:nvSpPr>
          <p:cNvPr id="26" name="">
            <a:extLst xmlns:a="http://schemas.openxmlformats.org/drawingml/2006/main">
              <a:ext uri="{FF2B5EF4-FFF2-40B4-BE49-F238E27FC236}">
                <a16:creationId xmlns:a16="http://schemas.microsoft.com/office/drawing/2014/main" id="{40094F64-4733-4954-ACE5-F0BF69451D1D}"/>
              </a:ext>
            </a:extLst>
          </p:cNvPr>
          <p:cNvSpPr>
            <a:spLocks xmlns:a="http://schemas.openxmlformats.org/drawingml/2006/main" noGrp="1"/>
          </p:cNvSpPr>
          <p:nvPr/>
        </p:nvSpPr>
        <p:spPr>
          <a:xfrm xmlns:a="http://schemas.openxmlformats.org/drawingml/2006/main">
            <a:off x="1562100" y="3924300"/>
            <a:ext cx="66675" cy="11430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0646A686-CCD7-4711-BD72-992BAFAE1B8B}"/>
              </a:ext>
            </a:extLst>
          </p:cNvPr>
          <p:cNvSpPr>
            <a:spLocks xmlns:a="http://schemas.openxmlformats.org/drawingml/2006/main" noGrp="1"/>
          </p:cNvSpPr>
          <p:nvPr/>
        </p:nvSpPr>
        <p:spPr>
          <a:xfrm xmlns:a="http://schemas.openxmlformats.org/drawingml/2006/main">
            <a:off x="1733550" y="40767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8" name="">
            <a:extLst xmlns:a="http://schemas.openxmlformats.org/drawingml/2006/main">
              <a:ext uri="{FF2B5EF4-FFF2-40B4-BE49-F238E27FC236}">
                <a16:creationId xmlns:a16="http://schemas.microsoft.com/office/drawing/2014/main" id="{A2E292A4-5282-486A-B765-75F3B7389A55}"/>
              </a:ext>
            </a:extLst>
          </p:cNvPr>
          <p:cNvSpPr>
            <a:spLocks xmlns:a="http://schemas.openxmlformats.org/drawingml/2006/main" noGrp="1"/>
          </p:cNvSpPr>
          <p:nvPr/>
        </p:nvSpPr>
        <p:spPr>
          <a:xfrm xmlns:a="http://schemas.openxmlformats.org/drawingml/2006/main">
            <a:off x="1733550" y="4362450"/>
            <a:ext cx="1619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Yoon 2019</a:t>
            </a:r>
          </a:p>
        </p:txBody>
      </p:sp>
      <p:sp>
        <p:nvSpPr>
          <p:cNvPr id="29" name="">
            <a:extLst xmlns:a="http://schemas.openxmlformats.org/drawingml/2006/main">
              <a:ext uri="{FF2B5EF4-FFF2-40B4-BE49-F238E27FC236}">
                <a16:creationId xmlns:a16="http://schemas.microsoft.com/office/drawing/2014/main" id="{DBDA3B97-72B5-49D3-AF0F-7CB8C128855F}"/>
              </a:ext>
            </a:extLst>
          </p:cNvPr>
          <p:cNvSpPr>
            <a:spLocks xmlns:a="http://schemas.openxmlformats.org/drawingml/2006/main" noGrp="1"/>
          </p:cNvSpPr>
          <p:nvPr/>
        </p:nvSpPr>
        <p:spPr>
          <a:xfrm xmlns:a="http://schemas.openxmlformats.org/drawingml/2006/main">
            <a:off x="1733550" y="4610100"/>
            <a:ext cx="16192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cross-line</a:t>
            </a:r>
          </a:p>
          <a:p xmlns:a="http://schemas.openxmlformats.org/drawingml/2006/main">
            <a:pPr algn="l">
              <a:defRPr sz="825" b="0">
                <a:solidFill>
                  <a:srgbClr val="344146"/>
                </a:solidFill>
              </a:defRPr>
            </a:pPr>
            <a:r>
              <a:rPr sz="825" b="0">
                <a:solidFill>
                  <a:srgbClr val="344146"/>
                </a:solidFill>
              </a:rPr>
              <a:t>reliability</a:t>
            </a:r>
          </a:p>
        </p:txBody>
      </p:sp>
      <p:sp>
        <p:nvSpPr>
          <p:cNvPr id="30" name="">
            <a:extLst xmlns:a="http://schemas.openxmlformats.org/drawingml/2006/main">
              <a:ext uri="{FF2B5EF4-FFF2-40B4-BE49-F238E27FC236}">
                <a16:creationId xmlns:a16="http://schemas.microsoft.com/office/drawing/2014/main" id="{1BA160CA-8C61-4041-941F-1180D2BB6967}"/>
              </a:ext>
            </a:extLst>
          </p:cNvPr>
          <p:cNvSpPr>
            <a:spLocks xmlns:a="http://schemas.openxmlformats.org/drawingml/2006/main" noGrp="1"/>
          </p:cNvSpPr>
          <p:nvPr/>
        </p:nvSpPr>
        <p:spPr>
          <a:xfrm xmlns:a="http://schemas.openxmlformats.org/drawingml/2006/main">
            <a:off x="8191500" y="1562100"/>
            <a:ext cx="2038350" cy="1219200"/>
          </a:xfrm>
          <a:prstGeom xmlns:a="http://schemas.openxmlformats.org/drawingml/2006/main" prst="roundRect">
            <a:avLst>
              <a:gd name="adj" fmla="val 6250"/>
            </a:avLst>
          </a:prstGeom>
          <a:solidFill xmlns:a="http://schemas.openxmlformats.org/drawingml/2006/main">
            <a:srgbClr val="FFFDF8"/>
          </a:solidFill>
          <a:ln xmlns:a="http://schemas.openxmlformats.org/drawingml/2006/main" w="10478">
            <a:solidFill>
              <a:srgbClr val="132024"/>
            </a:solidFill>
            <a:prstDash val="solid"/>
          </a:ln>
        </p:spPr>
      </p:sp>
      <p:sp>
        <p:nvSpPr>
          <p:cNvPr id="31" name="">
            <a:extLst xmlns:a="http://schemas.openxmlformats.org/drawingml/2006/main">
              <a:ext uri="{FF2B5EF4-FFF2-40B4-BE49-F238E27FC236}">
                <a16:creationId xmlns:a16="http://schemas.microsoft.com/office/drawing/2014/main" id="{A15F59E7-1276-4A5B-B641-F1FBBC38B9CA}"/>
              </a:ext>
            </a:extLst>
          </p:cNvPr>
          <p:cNvSpPr>
            <a:spLocks xmlns:a="http://schemas.openxmlformats.org/drawingml/2006/main" noGrp="1"/>
          </p:cNvSpPr>
          <p:nvPr/>
        </p:nvSpPr>
        <p:spPr>
          <a:xfrm xmlns:a="http://schemas.openxmlformats.org/drawingml/2006/main">
            <a:off x="8191500" y="1562100"/>
            <a:ext cx="66675" cy="1219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27D2CCFF-BD11-49FA-9DDC-5C62B8303C8C}"/>
              </a:ext>
            </a:extLst>
          </p:cNvPr>
          <p:cNvSpPr>
            <a:spLocks xmlns:a="http://schemas.openxmlformats.org/drawingml/2006/main" noGrp="1"/>
          </p:cNvSpPr>
          <p:nvPr/>
        </p:nvSpPr>
        <p:spPr>
          <a:xfrm xmlns:a="http://schemas.openxmlformats.org/drawingml/2006/main">
            <a:off x="8362950" y="17145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3" name="">
            <a:extLst xmlns:a="http://schemas.openxmlformats.org/drawingml/2006/main">
              <a:ext uri="{FF2B5EF4-FFF2-40B4-BE49-F238E27FC236}">
                <a16:creationId xmlns:a16="http://schemas.microsoft.com/office/drawing/2014/main" id="{95D7F305-F4FF-4AA7-9BFB-05B862BC2567}"/>
              </a:ext>
            </a:extLst>
          </p:cNvPr>
          <p:cNvSpPr>
            <a:spLocks xmlns:a="http://schemas.openxmlformats.org/drawingml/2006/main" noGrp="1"/>
          </p:cNvSpPr>
          <p:nvPr/>
        </p:nvSpPr>
        <p:spPr>
          <a:xfrm xmlns:a="http://schemas.openxmlformats.org/drawingml/2006/main">
            <a:off x="8362950" y="2000250"/>
            <a:ext cx="171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Bhaduri 2020</a:t>
            </a:r>
          </a:p>
        </p:txBody>
      </p:sp>
      <p:sp>
        <p:nvSpPr>
          <p:cNvPr id="34" name="">
            <a:extLst xmlns:a="http://schemas.openxmlformats.org/drawingml/2006/main">
              <a:ext uri="{FF2B5EF4-FFF2-40B4-BE49-F238E27FC236}">
                <a16:creationId xmlns:a16="http://schemas.microsoft.com/office/drawing/2014/main" id="{267EB8F7-4153-4431-BE50-9B05F312073A}"/>
              </a:ext>
            </a:extLst>
          </p:cNvPr>
          <p:cNvSpPr>
            <a:spLocks xmlns:a="http://schemas.openxmlformats.org/drawingml/2006/main" noGrp="1"/>
          </p:cNvSpPr>
          <p:nvPr/>
        </p:nvSpPr>
        <p:spPr>
          <a:xfrm xmlns:a="http://schemas.openxmlformats.org/drawingml/2006/main">
            <a:off x="8362950" y="2247900"/>
            <a:ext cx="1714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fidelity versus</a:t>
            </a:r>
          </a:p>
          <a:p xmlns:a="http://schemas.openxmlformats.org/drawingml/2006/main">
            <a:pPr algn="l">
              <a:defRPr sz="825" b="0">
                <a:solidFill>
                  <a:srgbClr val="344146"/>
                </a:solidFill>
              </a:defRPr>
            </a:pPr>
            <a:r>
              <a:rPr sz="825" b="0">
                <a:solidFill>
                  <a:srgbClr val="344146"/>
                </a:solidFill>
              </a:rPr>
              <a:t>stress</a:t>
            </a:r>
          </a:p>
        </p:txBody>
      </p:sp>
      <p:sp>
        <p:nvSpPr>
          <p:cNvPr id="35" name="">
            <a:extLst xmlns:a="http://schemas.openxmlformats.org/drawingml/2006/main">
              <a:ext uri="{FF2B5EF4-FFF2-40B4-BE49-F238E27FC236}">
                <a16:creationId xmlns:a16="http://schemas.microsoft.com/office/drawing/2014/main" id="{704CB99D-23DD-4CFC-9BA9-959245F8E9D9}"/>
              </a:ext>
            </a:extLst>
          </p:cNvPr>
          <p:cNvSpPr>
            <a:spLocks xmlns:a="http://schemas.openxmlformats.org/drawingml/2006/main" noGrp="1"/>
          </p:cNvSpPr>
          <p:nvPr/>
        </p:nvSpPr>
        <p:spPr>
          <a:xfrm xmlns:a="http://schemas.openxmlformats.org/drawingml/2006/main">
            <a:off x="8858250" y="3200400"/>
            <a:ext cx="2038350" cy="1219200"/>
          </a:xfrm>
          <a:prstGeom xmlns:a="http://schemas.openxmlformats.org/drawingml/2006/main" prst="roundRect">
            <a:avLst>
              <a:gd name="adj" fmla="val 6250"/>
            </a:avLst>
          </a:prstGeom>
          <a:solidFill xmlns:a="http://schemas.openxmlformats.org/drawingml/2006/main">
            <a:srgbClr val="FFFDF8"/>
          </a:solidFill>
          <a:ln xmlns:a="http://schemas.openxmlformats.org/drawingml/2006/main" w="10478">
            <a:solidFill>
              <a:srgbClr val="132024"/>
            </a:solidFill>
            <a:prstDash val="solid"/>
          </a:ln>
        </p:spPr>
      </p:sp>
      <p:sp>
        <p:nvSpPr>
          <p:cNvPr id="36" name="">
            <a:extLst xmlns:a="http://schemas.openxmlformats.org/drawingml/2006/main">
              <a:ext uri="{FF2B5EF4-FFF2-40B4-BE49-F238E27FC236}">
                <a16:creationId xmlns:a16="http://schemas.microsoft.com/office/drawing/2014/main" id="{DDACC15A-AC51-4E2E-860B-9BB3A07546A3}"/>
              </a:ext>
            </a:extLst>
          </p:cNvPr>
          <p:cNvSpPr>
            <a:spLocks xmlns:a="http://schemas.openxmlformats.org/drawingml/2006/main" noGrp="1"/>
          </p:cNvSpPr>
          <p:nvPr/>
        </p:nvSpPr>
        <p:spPr>
          <a:xfrm xmlns:a="http://schemas.openxmlformats.org/drawingml/2006/main">
            <a:off x="8858250" y="3200400"/>
            <a:ext cx="66675" cy="1219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D9EC5FDB-DEF1-41B1-BFB4-77F2D3FEFF69}"/>
              </a:ext>
            </a:extLst>
          </p:cNvPr>
          <p:cNvSpPr>
            <a:spLocks xmlns:a="http://schemas.openxmlformats.org/drawingml/2006/main" noGrp="1"/>
          </p:cNvSpPr>
          <p:nvPr/>
        </p:nvSpPr>
        <p:spPr>
          <a:xfrm xmlns:a="http://schemas.openxmlformats.org/drawingml/2006/main">
            <a:off x="9029700" y="33528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8" name="">
            <a:extLst xmlns:a="http://schemas.openxmlformats.org/drawingml/2006/main">
              <a:ext uri="{FF2B5EF4-FFF2-40B4-BE49-F238E27FC236}">
                <a16:creationId xmlns:a16="http://schemas.microsoft.com/office/drawing/2014/main" id="{8CB7BD49-5018-4782-8FC3-605E04DC28C1}"/>
              </a:ext>
            </a:extLst>
          </p:cNvPr>
          <p:cNvSpPr>
            <a:spLocks xmlns:a="http://schemas.openxmlformats.org/drawingml/2006/main" noGrp="1"/>
          </p:cNvSpPr>
          <p:nvPr/>
        </p:nvSpPr>
        <p:spPr>
          <a:xfrm xmlns:a="http://schemas.openxmlformats.org/drawingml/2006/main">
            <a:off x="9029700" y="3638550"/>
            <a:ext cx="171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Kanton 2019</a:t>
            </a:r>
          </a:p>
        </p:txBody>
      </p:sp>
      <p:sp>
        <p:nvSpPr>
          <p:cNvPr id="39" name="">
            <a:extLst xmlns:a="http://schemas.openxmlformats.org/drawingml/2006/main">
              <a:ext uri="{FF2B5EF4-FFF2-40B4-BE49-F238E27FC236}">
                <a16:creationId xmlns:a16="http://schemas.microsoft.com/office/drawing/2014/main" id="{72280B30-88F0-4246-8F6E-D3B6AC7A9638}"/>
              </a:ext>
            </a:extLst>
          </p:cNvPr>
          <p:cNvSpPr>
            <a:spLocks xmlns:a="http://schemas.openxmlformats.org/drawingml/2006/main" noGrp="1"/>
          </p:cNvSpPr>
          <p:nvPr/>
        </p:nvSpPr>
        <p:spPr>
          <a:xfrm xmlns:a="http://schemas.openxmlformats.org/drawingml/2006/main">
            <a:off x="9029700" y="3886200"/>
            <a:ext cx="1714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temporal map</a:t>
            </a:r>
          </a:p>
        </p:txBody>
      </p:sp>
      <p:sp>
        <p:nvSpPr>
          <p:cNvPr id="40" name="">
            <a:extLst xmlns:a="http://schemas.openxmlformats.org/drawingml/2006/main">
              <a:ext uri="{FF2B5EF4-FFF2-40B4-BE49-F238E27FC236}">
                <a16:creationId xmlns:a16="http://schemas.microsoft.com/office/drawing/2014/main" id="{92488128-E9EB-4E76-A99D-0F798FADDD67}"/>
              </a:ext>
            </a:extLst>
          </p:cNvPr>
          <p:cNvSpPr>
            <a:spLocks xmlns:a="http://schemas.openxmlformats.org/drawingml/2006/main" noGrp="1"/>
          </p:cNvSpPr>
          <p:nvPr/>
        </p:nvSpPr>
        <p:spPr>
          <a:xfrm xmlns:a="http://schemas.openxmlformats.org/drawingml/2006/main">
            <a:off x="7981950" y="4857750"/>
            <a:ext cx="2419350" cy="1047750"/>
          </a:xfrm>
          <a:prstGeom xmlns:a="http://schemas.openxmlformats.org/drawingml/2006/main" prst="roundRect">
            <a:avLst>
              <a:gd name="adj" fmla="val 7273"/>
            </a:avLst>
          </a:prstGeom>
          <a:solidFill xmlns:a="http://schemas.openxmlformats.org/drawingml/2006/main">
            <a:srgbClr val="FFFDF8"/>
          </a:solidFill>
          <a:ln xmlns:a="http://schemas.openxmlformats.org/drawingml/2006/main" w="10478">
            <a:solidFill>
              <a:srgbClr val="132024"/>
            </a:solidFill>
            <a:prstDash val="solid"/>
          </a:ln>
        </p:spPr>
      </p:sp>
      <p:sp>
        <p:nvSpPr>
          <p:cNvPr id="41" name="">
            <a:extLst xmlns:a="http://schemas.openxmlformats.org/drawingml/2006/main">
              <a:ext uri="{FF2B5EF4-FFF2-40B4-BE49-F238E27FC236}">
                <a16:creationId xmlns:a16="http://schemas.microsoft.com/office/drawing/2014/main" id="{E482C5C9-BFE9-4C03-8687-F0B09BCD7868}"/>
              </a:ext>
            </a:extLst>
          </p:cNvPr>
          <p:cNvSpPr>
            <a:spLocks xmlns:a="http://schemas.openxmlformats.org/drawingml/2006/main" noGrp="1"/>
          </p:cNvSpPr>
          <p:nvPr/>
        </p:nvSpPr>
        <p:spPr>
          <a:xfrm xmlns:a="http://schemas.openxmlformats.org/drawingml/2006/main">
            <a:off x="7981950" y="4857750"/>
            <a:ext cx="66675" cy="104775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CBB14847-2492-4E54-B2D6-9FF37BEC0ADD}"/>
              </a:ext>
            </a:extLst>
          </p:cNvPr>
          <p:cNvSpPr>
            <a:spLocks xmlns:a="http://schemas.openxmlformats.org/drawingml/2006/main" noGrp="1"/>
          </p:cNvSpPr>
          <p:nvPr/>
        </p:nvSpPr>
        <p:spPr>
          <a:xfrm xmlns:a="http://schemas.openxmlformats.org/drawingml/2006/main">
            <a:off x="8153400" y="50101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3" name="">
            <a:extLst xmlns:a="http://schemas.openxmlformats.org/drawingml/2006/main">
              <a:ext uri="{FF2B5EF4-FFF2-40B4-BE49-F238E27FC236}">
                <a16:creationId xmlns:a16="http://schemas.microsoft.com/office/drawing/2014/main" id="{1CA0E6F5-8DF4-42F2-9252-C0752F0DE024}"/>
              </a:ext>
            </a:extLst>
          </p:cNvPr>
          <p:cNvSpPr>
            <a:spLocks xmlns:a="http://schemas.openxmlformats.org/drawingml/2006/main" noGrp="1"/>
          </p:cNvSpPr>
          <p:nvPr/>
        </p:nvSpPr>
        <p:spPr>
          <a:xfrm xmlns:a="http://schemas.openxmlformats.org/drawingml/2006/main">
            <a:off x="8153400" y="5295900"/>
            <a:ext cx="2095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He 2024</a:t>
            </a:r>
          </a:p>
        </p:txBody>
      </p:sp>
      <p:sp>
        <p:nvSpPr>
          <p:cNvPr id="44" name="">
            <a:extLst xmlns:a="http://schemas.openxmlformats.org/drawingml/2006/main">
              <a:ext uri="{FF2B5EF4-FFF2-40B4-BE49-F238E27FC236}">
                <a16:creationId xmlns:a16="http://schemas.microsoft.com/office/drawing/2014/main" id="{7406B519-950A-47F3-A67B-766544CA781B}"/>
              </a:ext>
            </a:extLst>
          </p:cNvPr>
          <p:cNvSpPr>
            <a:spLocks xmlns:a="http://schemas.openxmlformats.org/drawingml/2006/main" noGrp="1"/>
          </p:cNvSpPr>
          <p:nvPr/>
        </p:nvSpPr>
        <p:spPr>
          <a:xfrm xmlns:a="http://schemas.openxmlformats.org/drawingml/2006/main">
            <a:off x="8153400" y="5543550"/>
            <a:ext cx="20955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integrated atlas</a:t>
            </a:r>
          </a:p>
          <a:p xmlns:a="http://schemas.openxmlformats.org/drawingml/2006/main">
            <a:pPr algn="l">
              <a:defRPr sz="825" b="0">
                <a:solidFill>
                  <a:srgbClr val="344146"/>
                </a:solidFill>
              </a:defRPr>
            </a:pPr>
            <a:r>
              <a:rPr sz="825" b="0">
                <a:solidFill>
                  <a:srgbClr val="344146"/>
                </a:solidFill>
              </a:rPr>
              <a:t>alignment</a:t>
            </a:r>
          </a:p>
        </p:txBody>
      </p:sp>
      <p:sp>
        <p:nvSpPr>
          <p:cNvPr id="45" name="">
            <a:extLst xmlns:a="http://schemas.openxmlformats.org/drawingml/2006/main">
              <a:ext uri="{FF2B5EF4-FFF2-40B4-BE49-F238E27FC236}">
                <a16:creationId xmlns:a16="http://schemas.microsoft.com/office/drawing/2014/main" id="{EC32C468-9789-4035-8824-091ADBB6735A}"/>
              </a:ext>
            </a:extLst>
          </p:cNvPr>
          <p:cNvSpPr>
            <a:spLocks xmlns:a="http://schemas.openxmlformats.org/drawingml/2006/main" noGrp="1"/>
          </p:cNvSpPr>
          <p:nvPr/>
        </p:nvSpPr>
        <p:spPr>
          <a:xfrm xmlns:a="http://schemas.openxmlformats.org/drawingml/2006/main" rot="-10253933">
            <a:off x="1918083" y="2871788"/>
            <a:ext cx="3974334"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46" name="">
            <a:extLst xmlns:a="http://schemas.openxmlformats.org/drawingml/2006/main">
              <a:ext uri="{FF2B5EF4-FFF2-40B4-BE49-F238E27FC236}">
                <a16:creationId xmlns:a16="http://schemas.microsoft.com/office/drawing/2014/main" id="{5524E218-E880-45E0-B0A4-BB7A66A41139}"/>
              </a:ext>
            </a:extLst>
          </p:cNvPr>
          <p:cNvSpPr>
            <a:spLocks xmlns:a="http://schemas.openxmlformats.org/drawingml/2006/main" noGrp="1"/>
          </p:cNvSpPr>
          <p:nvPr/>
        </p:nvSpPr>
        <p:spPr>
          <a:xfrm xmlns:a="http://schemas.openxmlformats.org/drawingml/2006/main" rot="9525918">
            <a:off x="2412233" y="3833813"/>
            <a:ext cx="3576584"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47" name="">
            <a:extLst xmlns:a="http://schemas.openxmlformats.org/drawingml/2006/main">
              <a:ext uri="{FF2B5EF4-FFF2-40B4-BE49-F238E27FC236}">
                <a16:creationId xmlns:a16="http://schemas.microsoft.com/office/drawing/2014/main" id="{0BFA2E85-BC55-4795-84D8-B430B3314921}"/>
              </a:ext>
            </a:extLst>
          </p:cNvPr>
          <p:cNvSpPr>
            <a:spLocks xmlns:a="http://schemas.openxmlformats.org/drawingml/2006/main" noGrp="1"/>
          </p:cNvSpPr>
          <p:nvPr/>
        </p:nvSpPr>
        <p:spPr>
          <a:xfrm xmlns:a="http://schemas.openxmlformats.org/drawingml/2006/main" rot="-1026164">
            <a:off x="5790058" y="2671763"/>
            <a:ext cx="3497958"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6787406D-15B8-4C14-A4DF-53B8C53A4C48}"/>
              </a:ext>
            </a:extLst>
          </p:cNvPr>
          <p:cNvSpPr>
            <a:spLocks xmlns:a="http://schemas.openxmlformats.org/drawingml/2006/main" noGrp="1"/>
          </p:cNvSpPr>
          <p:nvPr/>
        </p:nvSpPr>
        <p:spPr>
          <a:xfrm xmlns:a="http://schemas.openxmlformats.org/drawingml/2006/main" rot="518632">
            <a:off x="5844365" y="3490913"/>
            <a:ext cx="4056096"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49" name="">
            <a:extLst xmlns:a="http://schemas.openxmlformats.org/drawingml/2006/main">
              <a:ext uri="{FF2B5EF4-FFF2-40B4-BE49-F238E27FC236}">
                <a16:creationId xmlns:a16="http://schemas.microsoft.com/office/drawing/2014/main" id="{E2F19318-D4FC-42EB-A4B8-65EFA5A458E2}"/>
              </a:ext>
            </a:extLst>
          </p:cNvPr>
          <p:cNvSpPr>
            <a:spLocks xmlns:a="http://schemas.openxmlformats.org/drawingml/2006/main" noGrp="1"/>
          </p:cNvSpPr>
          <p:nvPr/>
        </p:nvSpPr>
        <p:spPr>
          <a:xfrm xmlns:a="http://schemas.openxmlformats.org/drawingml/2006/main" rot="1996278">
            <a:off x="5541535" y="4276725"/>
            <a:ext cx="3975955"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50" name="">
            <a:extLst xmlns:a="http://schemas.openxmlformats.org/drawingml/2006/main">
              <a:ext uri="{FF2B5EF4-FFF2-40B4-BE49-F238E27FC236}">
                <a16:creationId xmlns:a16="http://schemas.microsoft.com/office/drawing/2014/main" id="{8B8D8C74-336D-4727-AEEA-D64D2AB67937}"/>
              </a:ext>
            </a:extLst>
          </p:cNvPr>
          <p:cNvSpPr>
            <a:spLocks xmlns:a="http://schemas.openxmlformats.org/drawingml/2006/main" noGrp="1"/>
          </p:cNvSpPr>
          <p:nvPr/>
        </p:nvSpPr>
        <p:spPr>
          <a:xfrm xmlns:a="http://schemas.openxmlformats.org/drawingml/2006/main">
            <a:off x="609600" y="6153150"/>
            <a:ext cx="171450" cy="171450"/>
          </a:xfrm>
          <a:prstGeom xmlns:a="http://schemas.openxmlformats.org/drawingml/2006/main" prst="roundRect">
            <a:avLst>
              <a:gd name="adj" fmla="val 44444"/>
            </a:avLst>
          </a:prstGeom>
          <a:solidFill xmlns:a="http://schemas.openxmlformats.org/drawingml/2006/main">
            <a:srgbClr val="DDF4E8"/>
          </a:solidFill>
          <a:ln xmlns:a="http://schemas.openxmlformats.org/drawingml/2006/main" w="9525">
            <a:solidFill>
              <a:srgbClr val="132024"/>
            </a:solidFill>
            <a:prstDash val="solid"/>
          </a:ln>
        </p:spPr>
      </p:sp>
      <p:sp>
        <p:nvSpPr>
          <p:cNvPr id="51" name="">
            <a:extLst xmlns:a="http://schemas.openxmlformats.org/drawingml/2006/main">
              <a:ext uri="{FF2B5EF4-FFF2-40B4-BE49-F238E27FC236}">
                <a16:creationId xmlns:a16="http://schemas.microsoft.com/office/drawing/2014/main" id="{E6CCEB6C-E529-43F0-ABFC-AFE6F5C1EFF9}"/>
              </a:ext>
            </a:extLst>
          </p:cNvPr>
          <p:cNvSpPr>
            <a:spLocks xmlns:a="http://schemas.openxmlformats.org/drawingml/2006/main" noGrp="1"/>
          </p:cNvSpPr>
          <p:nvPr/>
        </p:nvSpPr>
        <p:spPr>
          <a:xfrm xmlns:a="http://schemas.openxmlformats.org/drawingml/2006/main">
            <a:off x="876300" y="6143625"/>
            <a:ext cx="1524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query note</a:t>
            </a:r>
          </a:p>
        </p:txBody>
      </p:sp>
      <p:sp>
        <p:nvSpPr>
          <p:cNvPr id="52" name="">
            <a:extLst xmlns:a="http://schemas.openxmlformats.org/drawingml/2006/main">
              <a:ext uri="{FF2B5EF4-FFF2-40B4-BE49-F238E27FC236}">
                <a16:creationId xmlns:a16="http://schemas.microsoft.com/office/drawing/2014/main" id="{513A7E0D-6F24-4AE5-9448-5C99C008C46B}"/>
              </a:ext>
            </a:extLst>
          </p:cNvPr>
          <p:cNvSpPr>
            <a:spLocks xmlns:a="http://schemas.openxmlformats.org/drawingml/2006/main" noGrp="1"/>
          </p:cNvSpPr>
          <p:nvPr/>
        </p:nvSpPr>
        <p:spPr>
          <a:xfrm xmlns:a="http://schemas.openxmlformats.org/drawingml/2006/main">
            <a:off x="2038350" y="6153150"/>
            <a:ext cx="171450" cy="171450"/>
          </a:xfrm>
          <a:prstGeom xmlns:a="http://schemas.openxmlformats.org/drawingml/2006/main" prst="roundRect">
            <a:avLst>
              <a:gd name="adj" fmla="val 44444"/>
            </a:avLst>
          </a:prstGeom>
          <a:solidFill xmlns:a="http://schemas.openxmlformats.org/drawingml/2006/main">
            <a:srgbClr val="FFFDF8"/>
          </a:solidFill>
          <a:ln xmlns:a="http://schemas.openxmlformats.org/drawingml/2006/main" w="9525">
            <a:solidFill>
              <a:srgbClr val="132024"/>
            </a:solidFill>
            <a:prstDash val="solid"/>
          </a:ln>
        </p:spPr>
      </p:sp>
      <p:sp>
        <p:nvSpPr>
          <p:cNvPr id="53" name="">
            <a:extLst xmlns:a="http://schemas.openxmlformats.org/drawingml/2006/main">
              <a:ext uri="{FF2B5EF4-FFF2-40B4-BE49-F238E27FC236}">
                <a16:creationId xmlns:a16="http://schemas.microsoft.com/office/drawing/2014/main" id="{F74A1D88-F5E3-4354-AD72-9174F2B8DEE1}"/>
              </a:ext>
            </a:extLst>
          </p:cNvPr>
          <p:cNvSpPr>
            <a:spLocks xmlns:a="http://schemas.openxmlformats.org/drawingml/2006/main" noGrp="1"/>
          </p:cNvSpPr>
          <p:nvPr/>
        </p:nvSpPr>
        <p:spPr>
          <a:xfrm xmlns:a="http://schemas.openxmlformats.org/drawingml/2006/main">
            <a:off x="2305050" y="6143625"/>
            <a:ext cx="1524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benchmark source</a:t>
            </a:r>
          </a:p>
        </p:txBody>
      </p:sp>
      <p:sp>
        <p:nvSpPr>
          <p:cNvPr id="54" name="">
            <a:extLst xmlns:a="http://schemas.openxmlformats.org/drawingml/2006/main">
              <a:ext uri="{FF2B5EF4-FFF2-40B4-BE49-F238E27FC236}">
                <a16:creationId xmlns:a16="http://schemas.microsoft.com/office/drawing/2014/main" id="{7A3EAB38-D976-4D33-9ECE-D06C87274DBF}"/>
              </a:ext>
            </a:extLst>
          </p:cNvPr>
          <p:cNvSpPr>
            <a:spLocks xmlns:a="http://schemas.openxmlformats.org/drawingml/2006/main" noGrp="1"/>
          </p:cNvSpPr>
          <p:nvPr/>
        </p:nvSpPr>
        <p:spPr>
          <a:xfrm xmlns:a="http://schemas.openxmlformats.org/drawingml/2006/main">
            <a:off x="6057900" y="5905500"/>
            <a:ext cx="5524500" cy="552450"/>
          </a:xfrm>
          <a:prstGeom xmlns:a="http://schemas.openxmlformats.org/drawingml/2006/main" prst="roundRect">
            <a:avLst>
              <a:gd name="adj" fmla="val 1379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55" name="">
            <a:extLst xmlns:a="http://schemas.openxmlformats.org/drawingml/2006/main">
              <a:ext uri="{FF2B5EF4-FFF2-40B4-BE49-F238E27FC236}">
                <a16:creationId xmlns:a16="http://schemas.microsoft.com/office/drawing/2014/main" id="{72155949-9D2E-4F57-A554-CDB56128B2BD}"/>
              </a:ext>
            </a:extLst>
          </p:cNvPr>
          <p:cNvSpPr>
            <a:spLocks xmlns:a="http://schemas.openxmlformats.org/drawingml/2006/main" noGrp="1"/>
          </p:cNvSpPr>
          <p:nvPr/>
        </p:nvSpPr>
        <p:spPr>
          <a:xfrm xmlns:a="http://schemas.openxmlformats.org/drawingml/2006/main">
            <a:off x="6057900" y="5905500"/>
            <a:ext cx="76200" cy="5524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56" name="">
            <a:extLst xmlns:a="http://schemas.openxmlformats.org/drawingml/2006/main">
              <a:ext uri="{FF2B5EF4-FFF2-40B4-BE49-F238E27FC236}">
                <a16:creationId xmlns:a16="http://schemas.microsoft.com/office/drawing/2014/main" id="{9A1580A5-20FD-49C6-B649-AB3068C7D2F5}"/>
              </a:ext>
            </a:extLst>
          </p:cNvPr>
          <p:cNvSpPr>
            <a:spLocks xmlns:a="http://schemas.openxmlformats.org/drawingml/2006/main" noGrp="1"/>
          </p:cNvSpPr>
          <p:nvPr/>
        </p:nvSpPr>
        <p:spPr>
          <a:xfrm xmlns:a="http://schemas.openxmlformats.org/drawingml/2006/main">
            <a:off x="6267450" y="6057900"/>
            <a:ext cx="5143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새 논문이 추가되면서 '더 많이 안다'가 아니라 '무엇을 따로 질문해야 하는가'가 바뀌었다.</a:t>
            </a:r>
          </a:p>
        </p:txBody>
      </p:sp>
      <p:sp>
        <p:nvSpPr>
          <p:cNvPr id="57" name="">
            <a:extLst xmlns:a="http://schemas.openxmlformats.org/drawingml/2006/main">
              <a:ext uri="{FF2B5EF4-FFF2-40B4-BE49-F238E27FC236}">
                <a16:creationId xmlns:a16="http://schemas.microsoft.com/office/drawing/2014/main" id="{488A1E75-44B4-48BD-B004-24AB10F77BAC}"/>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graph-style view: subregion map 위에 benchmark branch가 새로 얹힌 순간</a:t>
            </a:r>
          </a:p>
        </p:txBody>
      </p:sp>
    </p:spTree>
    <p:extLst>
      <p:ext uri="{BB962C8B-B14F-4D97-AF65-F5344CB8AC3E}">
        <p14:creationId xmlns:p14="http://schemas.microsoft.com/office/powerpoint/2010/main" val="1353326507"/>
      </p:ext>
    </p:extLst>
  </p:cSld>
</p:sld>
</file>

<file path=ppt/slides/slide8.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960B6032-F217-4E1A-A5DD-55BD6786A62D}"/>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ff038c27401436f"/>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37C0A5B3-3001-49E5-8E28-62C0BC9812CC}"/>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F9E5E1"/>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EA061724-D958-4361-8EC9-DC735E7CCC5A}"/>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AD3674FD-A324-4E71-85D4-DB14F54DE6FE}"/>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5C9ED4C1-2CBF-459B-B2A3-748CB61308F6}"/>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2C93C675-C29A-47D6-A95E-24AF8B9A239A}"/>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2144EA5E-EF57-4E47-8F62-B02738BBC46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1569"/>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3C652369-0534-4D72-9988-4AD43F7C2DE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KEY TENSION</a:t>
            </a:r>
          </a:p>
        </p:txBody>
      </p:sp>
      <p:sp>
        <p:nvSpPr>
          <p:cNvPr id="10" name="">
            <a:extLst xmlns:a="http://schemas.openxmlformats.org/drawingml/2006/main">
              <a:ext uri="{FF2B5EF4-FFF2-40B4-BE49-F238E27FC236}">
                <a16:creationId xmlns:a16="http://schemas.microsoft.com/office/drawing/2014/main" id="{AF906821-3274-47D2-879E-A765EDF27DC4}"/>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08 / 12</a:t>
            </a:r>
          </a:p>
        </p:txBody>
      </p:sp>
      <p:sp>
        <p:nvSpPr>
          <p:cNvPr id="11" name="">
            <a:extLst xmlns:a="http://schemas.openxmlformats.org/drawingml/2006/main">
              <a:ext uri="{FF2B5EF4-FFF2-40B4-BE49-F238E27FC236}">
                <a16:creationId xmlns:a16="http://schemas.microsoft.com/office/drawing/2014/main" id="{5C403A5B-0F8E-48B1-92A8-DE383A156FE7}"/>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F3110198-4FB8-413D-B449-630BAEA24388}"/>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E8833FF9-FF1A-4B5C-BB8E-CE445B7AD35E}"/>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재현성이 높다고</a:t>
            </a:r>
          </a:p>
          <a:p xmlns:a="http://schemas.openxmlformats.org/drawingml/2006/main">
            <a:pPr algn="l">
              <a:defRPr sz="2850" b="1">
                <a:solidFill>
                  <a:srgbClr val="132024"/>
                </a:solidFill>
              </a:defRPr>
            </a:pPr>
            <a:r>
              <a:rPr sz="2850" b="1">
                <a:solidFill>
                  <a:srgbClr val="132024"/>
                </a:solidFill>
              </a:rPr>
              <a:t>더 faithful한 것은 아니다</a:t>
            </a:r>
          </a:p>
        </p:txBody>
      </p:sp>
      <p:sp>
        <p:nvSpPr>
          <p:cNvPr id="14" name="">
            <a:extLst xmlns:a="http://schemas.openxmlformats.org/drawingml/2006/main">
              <a:ext uri="{FF2B5EF4-FFF2-40B4-BE49-F238E27FC236}">
                <a16:creationId xmlns:a16="http://schemas.microsoft.com/office/drawing/2014/main" id="{5769F0E5-92DE-4D55-8FEC-5C4962685E16}"/>
              </a:ext>
            </a:extLst>
          </p:cNvPr>
          <p:cNvSpPr>
            <a:spLocks xmlns:a="http://schemas.openxmlformats.org/drawingml/2006/main" noGrp="1"/>
          </p:cNvSpPr>
          <p:nvPr/>
        </p:nvSpPr>
        <p:spPr>
          <a:xfrm xmlns:a="http://schemas.openxmlformats.org/drawingml/2006/main">
            <a:off x="742950" y="2000250"/>
            <a:ext cx="10706100" cy="819150"/>
          </a:xfrm>
          <a:prstGeom xmlns:a="http://schemas.openxmlformats.org/drawingml/2006/main" prst="roundRect">
            <a:avLst>
              <a:gd name="adj" fmla="val 9302"/>
            </a:avLst>
          </a:prstGeom>
          <a:solidFill xmlns:a="http://schemas.openxmlformats.org/drawingml/2006/main">
            <a:srgbClr val="F7DDD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FFC78A64-3BA5-4BEB-A242-D81655895698}"/>
              </a:ext>
            </a:extLst>
          </p:cNvPr>
          <p:cNvSpPr>
            <a:spLocks xmlns:a="http://schemas.openxmlformats.org/drawingml/2006/main" noGrp="1"/>
          </p:cNvSpPr>
          <p:nvPr/>
        </p:nvSpPr>
        <p:spPr>
          <a:xfrm xmlns:a="http://schemas.openxmlformats.org/drawingml/2006/main">
            <a:off x="742950" y="2000250"/>
            <a:ext cx="76200" cy="819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019DFC28-7443-4105-9398-ED29686CA418}"/>
              </a:ext>
            </a:extLst>
          </p:cNvPr>
          <p:cNvSpPr>
            <a:spLocks xmlns:a="http://schemas.openxmlformats.org/drawingml/2006/main" noGrp="1"/>
          </p:cNvSpPr>
          <p:nvPr/>
        </p:nvSpPr>
        <p:spPr>
          <a:xfrm xmlns:a="http://schemas.openxmlformats.org/drawingml/2006/main">
            <a:off x="952500" y="2152650"/>
            <a:ext cx="103251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Velasco / Yoon이 보여준 것은 '잘 반복되는 cortical branch'이고, Bhaduri가 보여준 것은 '그 branch가 primary brain과 어디서 어긋나는가'이다.</a:t>
            </a:r>
          </a:p>
        </p:txBody>
      </p:sp>
      <p:sp>
        <p:nvSpPr>
          <p:cNvPr id="17" name="">
            <a:extLst xmlns:a="http://schemas.openxmlformats.org/drawingml/2006/main">
              <a:ext uri="{FF2B5EF4-FFF2-40B4-BE49-F238E27FC236}">
                <a16:creationId xmlns:a16="http://schemas.microsoft.com/office/drawing/2014/main" id="{D0F6DABD-DFAF-4DB8-9116-3017429B688A}"/>
              </a:ext>
            </a:extLst>
          </p:cNvPr>
          <p:cNvSpPr>
            <a:spLocks xmlns:a="http://schemas.openxmlformats.org/drawingml/2006/main" noGrp="1"/>
          </p:cNvSpPr>
          <p:nvPr/>
        </p:nvSpPr>
        <p:spPr>
          <a:xfrm xmlns:a="http://schemas.openxmlformats.org/drawingml/2006/main">
            <a:off x="876300" y="3276600"/>
            <a:ext cx="4629150" cy="2286000"/>
          </a:xfrm>
          <a:prstGeom xmlns:a="http://schemas.openxmlformats.org/drawingml/2006/main" prst="roundRect">
            <a:avLst>
              <a:gd name="adj" fmla="val 3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AD5873CD-65F1-4C0E-8CFB-2E312A0743D6}"/>
              </a:ext>
            </a:extLst>
          </p:cNvPr>
          <p:cNvSpPr>
            <a:spLocks xmlns:a="http://schemas.openxmlformats.org/drawingml/2006/main" noGrp="1"/>
          </p:cNvSpPr>
          <p:nvPr/>
        </p:nvSpPr>
        <p:spPr>
          <a:xfrm xmlns:a="http://schemas.openxmlformats.org/drawingml/2006/main">
            <a:off x="876300" y="3276600"/>
            <a:ext cx="462915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1FEC39B1-4D7C-40AD-A119-5FD294F0BD16}"/>
              </a:ext>
            </a:extLst>
          </p:cNvPr>
          <p:cNvSpPr>
            <a:spLocks xmlns:a="http://schemas.openxmlformats.org/drawingml/2006/main" noGrp="1"/>
          </p:cNvSpPr>
          <p:nvPr/>
        </p:nvSpPr>
        <p:spPr>
          <a:xfrm xmlns:a="http://schemas.openxmlformats.org/drawingml/2006/main">
            <a:off x="1085850" y="3467100"/>
            <a:ext cx="42100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reproducibility 쪽 질문</a:t>
            </a:r>
          </a:p>
        </p:txBody>
      </p:sp>
      <p:sp>
        <p:nvSpPr>
          <p:cNvPr id="20" name="">
            <a:extLst xmlns:a="http://schemas.openxmlformats.org/drawingml/2006/main">
              <a:ext uri="{FF2B5EF4-FFF2-40B4-BE49-F238E27FC236}">
                <a16:creationId xmlns:a16="http://schemas.microsoft.com/office/drawing/2014/main" id="{93F1EF7A-95A9-4BD8-8378-BF72056E8CA9}"/>
              </a:ext>
            </a:extLst>
          </p:cNvPr>
          <p:cNvSpPr>
            <a:spLocks xmlns:a="http://schemas.openxmlformats.org/drawingml/2006/main" noGrp="1"/>
          </p:cNvSpPr>
          <p:nvPr/>
        </p:nvSpPr>
        <p:spPr>
          <a:xfrm xmlns:a="http://schemas.openxmlformats.org/drawingml/2006/main">
            <a:off x="1085850" y="3886200"/>
            <a:ext cx="4210050" cy="1504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protocol을 여러 번 돌렸을 때</a:t>
            </a:r>
          </a:p>
          <a:p xmlns:a="http://schemas.openxmlformats.org/drawingml/2006/main">
            <a:pPr algn="l">
              <a:defRPr sz="1200" b="0">
                <a:solidFill>
                  <a:srgbClr val="132024"/>
                </a:solidFill>
              </a:defRPr>
            </a:pPr>
            <a:r>
              <a:rPr sz="1200" b="0">
                <a:solidFill>
                  <a:srgbClr val="132024"/>
                </a:solidFill>
              </a:rPr>
              <a:t>organoid-to-organoid variance가 얼마나 낮은가?</a:t>
            </a:r>
          </a:p>
          <a:p xmlns:a="http://schemas.openxmlformats.org/drawingml/2006/main">
            <a:pPr algn="l">
              <a:defRPr sz="1200" b="0">
                <a:solidFill>
                  <a:srgbClr val="132024"/>
                </a:solidFill>
              </a:defRPr>
            </a:pPr>
            <a:r>
              <a:rPr sz="1200" b="0">
                <a:solidFill>
                  <a:srgbClr val="132024"/>
                </a:solidFill>
              </a:rPr>
              <a:t>대표 anchor: Velasco 2019, Yoon 2019</a:t>
            </a:r>
          </a:p>
        </p:txBody>
      </p:sp>
      <p:sp>
        <p:nvSpPr>
          <p:cNvPr id="21" name="">
            <a:extLst xmlns:a="http://schemas.openxmlformats.org/drawingml/2006/main">
              <a:ext uri="{FF2B5EF4-FFF2-40B4-BE49-F238E27FC236}">
                <a16:creationId xmlns:a16="http://schemas.microsoft.com/office/drawing/2014/main" id="{E1EDAFD3-C8D7-457B-9B8B-78DEE766E246}"/>
              </a:ext>
            </a:extLst>
          </p:cNvPr>
          <p:cNvSpPr>
            <a:spLocks xmlns:a="http://schemas.openxmlformats.org/drawingml/2006/main" noGrp="1"/>
          </p:cNvSpPr>
          <p:nvPr/>
        </p:nvSpPr>
        <p:spPr>
          <a:xfrm xmlns:a="http://schemas.openxmlformats.org/drawingml/2006/main">
            <a:off x="6667500" y="3276600"/>
            <a:ext cx="4629150" cy="2286000"/>
          </a:xfrm>
          <a:prstGeom xmlns:a="http://schemas.openxmlformats.org/drawingml/2006/main" prst="roundRect">
            <a:avLst>
              <a:gd name="adj" fmla="val 3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60605FE5-FDE2-495A-A88D-D1D6BAE2CE0B}"/>
              </a:ext>
            </a:extLst>
          </p:cNvPr>
          <p:cNvSpPr>
            <a:spLocks xmlns:a="http://schemas.openxmlformats.org/drawingml/2006/main" noGrp="1"/>
          </p:cNvSpPr>
          <p:nvPr/>
        </p:nvSpPr>
        <p:spPr>
          <a:xfrm xmlns:a="http://schemas.openxmlformats.org/drawingml/2006/main">
            <a:off x="6667500" y="3276600"/>
            <a:ext cx="462915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DEED19F6-0E80-4E76-8505-EA4DF4BFD64B}"/>
              </a:ext>
            </a:extLst>
          </p:cNvPr>
          <p:cNvSpPr>
            <a:spLocks xmlns:a="http://schemas.openxmlformats.org/drawingml/2006/main" noGrp="1"/>
          </p:cNvSpPr>
          <p:nvPr/>
        </p:nvSpPr>
        <p:spPr>
          <a:xfrm xmlns:a="http://schemas.openxmlformats.org/drawingml/2006/main">
            <a:off x="6877050" y="3467100"/>
            <a:ext cx="42100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fidelity 쪽 질문</a:t>
            </a:r>
          </a:p>
        </p:txBody>
      </p:sp>
      <p:sp>
        <p:nvSpPr>
          <p:cNvPr id="24" name="">
            <a:extLst xmlns:a="http://schemas.openxmlformats.org/drawingml/2006/main">
              <a:ext uri="{FF2B5EF4-FFF2-40B4-BE49-F238E27FC236}">
                <a16:creationId xmlns:a16="http://schemas.microsoft.com/office/drawing/2014/main" id="{7AC83465-A985-4A2A-B939-948C31E510DC}"/>
              </a:ext>
            </a:extLst>
          </p:cNvPr>
          <p:cNvSpPr>
            <a:spLocks xmlns:a="http://schemas.openxmlformats.org/drawingml/2006/main" noGrp="1"/>
          </p:cNvSpPr>
          <p:nvPr/>
        </p:nvSpPr>
        <p:spPr>
          <a:xfrm xmlns:a="http://schemas.openxmlformats.org/drawingml/2006/main">
            <a:off x="6877050" y="3886200"/>
            <a:ext cx="4210050" cy="1504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그 organoid cell state가 primary fetal</a:t>
            </a:r>
          </a:p>
          <a:p xmlns:a="http://schemas.openxmlformats.org/drawingml/2006/main">
            <a:pPr algn="l">
              <a:defRPr sz="1200" b="0">
                <a:solidFill>
                  <a:srgbClr val="132024"/>
                </a:solidFill>
              </a:defRPr>
            </a:pPr>
            <a:r>
              <a:rPr sz="1200" b="0">
                <a:solidFill>
                  <a:srgbClr val="132024"/>
                </a:solidFill>
              </a:rPr>
              <a:t>cortex와 얼마나 가까운가? stress-linked</a:t>
            </a:r>
          </a:p>
          <a:p xmlns:a="http://schemas.openxmlformats.org/drawingml/2006/main">
            <a:pPr algn="l">
              <a:defRPr sz="1200" b="0">
                <a:solidFill>
                  <a:srgbClr val="132024"/>
                </a:solidFill>
              </a:defRPr>
            </a:pPr>
            <a:r>
              <a:rPr sz="1200" b="0">
                <a:solidFill>
                  <a:srgbClr val="132024"/>
                </a:solidFill>
              </a:rPr>
              <a:t>divergence는 없는가? 대표 anchor: Bhaduri</a:t>
            </a:r>
          </a:p>
          <a:p xmlns:a="http://schemas.openxmlformats.org/drawingml/2006/main">
            <a:pPr algn="l">
              <a:defRPr sz="1200" b="0">
                <a:solidFill>
                  <a:srgbClr val="132024"/>
                </a:solidFill>
              </a:defRPr>
            </a:pPr>
            <a:r>
              <a:rPr sz="1200" b="0">
                <a:solidFill>
                  <a:srgbClr val="132024"/>
                </a:solidFill>
              </a:rPr>
              <a:t>2020, He 2024</a:t>
            </a:r>
          </a:p>
        </p:txBody>
      </p:sp>
      <p:sp>
        <p:nvSpPr>
          <p:cNvPr id="25" name="">
            <a:extLst xmlns:a="http://schemas.openxmlformats.org/drawingml/2006/main">
              <a:ext uri="{FF2B5EF4-FFF2-40B4-BE49-F238E27FC236}">
                <a16:creationId xmlns:a16="http://schemas.microsoft.com/office/drawing/2014/main" id="{88D117A6-710E-4976-9D07-E300D60C6479}"/>
              </a:ext>
            </a:extLst>
          </p:cNvPr>
          <p:cNvSpPr>
            <a:spLocks xmlns:a="http://schemas.openxmlformats.org/drawingml/2006/main" noGrp="1"/>
          </p:cNvSpPr>
          <p:nvPr/>
        </p:nvSpPr>
        <p:spPr>
          <a:xfrm xmlns:a="http://schemas.openxmlformats.org/drawingml/2006/main">
            <a:off x="5581650" y="4343400"/>
            <a:ext cx="8572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26" name="">
            <a:extLst xmlns:a="http://schemas.openxmlformats.org/drawingml/2006/main">
              <a:ext uri="{FF2B5EF4-FFF2-40B4-BE49-F238E27FC236}">
                <a16:creationId xmlns:a16="http://schemas.microsoft.com/office/drawing/2014/main" id="{EA418AA9-3DFC-4463-B899-74C8A4626888}"/>
              </a:ext>
            </a:extLst>
          </p:cNvPr>
          <p:cNvSpPr>
            <a:spLocks xmlns:a="http://schemas.openxmlformats.org/drawingml/2006/main" noGrp="1"/>
          </p:cNvSpPr>
          <p:nvPr/>
        </p:nvSpPr>
        <p:spPr>
          <a:xfrm xmlns:a="http://schemas.openxmlformats.org/drawingml/2006/main">
            <a:off x="4457700" y="5753100"/>
            <a:ext cx="255270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same region, different question</a:t>
            </a:r>
          </a:p>
        </p:txBody>
      </p:sp>
      <p:sp>
        <p:nvSpPr>
          <p:cNvPr id="27" name="">
            <a:extLst xmlns:a="http://schemas.openxmlformats.org/drawingml/2006/main">
              <a:ext uri="{FF2B5EF4-FFF2-40B4-BE49-F238E27FC236}">
                <a16:creationId xmlns:a16="http://schemas.microsoft.com/office/drawing/2014/main" id="{45EEE04C-68EC-4952-8EFB-9C34941CB240}"/>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이 구분이 있어야 5축 프레임워크가 단순 taxonomy가 아니라 실제 비교 도구가 된다.</a:t>
            </a:r>
          </a:p>
        </p:txBody>
      </p:sp>
    </p:spTree>
    <p:extLst>
      <p:ext uri="{BB962C8B-B14F-4D97-AF65-F5344CB8AC3E}">
        <p14:creationId xmlns:p14="http://schemas.microsoft.com/office/powerpoint/2010/main" val="153437803"/>
      </p:ext>
    </p:extLst>
  </p:cSld>
</p:sld>
</file>

<file path=ppt/slides/slide9.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960B6032-F217-4E1A-A5DD-55BD6786A62D}"/>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f053fbd68824788"/>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56E641A-7C4B-42F9-A70B-B4BD3A8B1D94}"/>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67956381-CF0D-4A1B-A02A-63950CF27469}"/>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B729E932-F9D4-47B9-9D47-3C7299A6F6CD}"/>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95FB93A9-42B4-4C74-AB89-615E4979E5C9}"/>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7303D7D1-F99D-4BC9-81F5-640F6EAA828A}"/>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20049261-E5F1-4D18-94FC-22D4761C5EB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2353"/>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18F60417-01FE-4775-A976-700748DC212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FRAMEWORK</a:t>
            </a:r>
          </a:p>
        </p:txBody>
      </p:sp>
      <p:sp>
        <p:nvSpPr>
          <p:cNvPr id="10" name="">
            <a:extLst xmlns:a="http://schemas.openxmlformats.org/drawingml/2006/main">
              <a:ext uri="{FF2B5EF4-FFF2-40B4-BE49-F238E27FC236}">
                <a16:creationId xmlns:a16="http://schemas.microsoft.com/office/drawing/2014/main" id="{70700D39-9AAE-45C3-B367-E851F592A029}"/>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09 / 12</a:t>
            </a:r>
          </a:p>
        </p:txBody>
      </p:sp>
      <p:sp>
        <p:nvSpPr>
          <p:cNvPr id="11" name="">
            <a:extLst xmlns:a="http://schemas.openxmlformats.org/drawingml/2006/main">
              <a:ext uri="{FF2B5EF4-FFF2-40B4-BE49-F238E27FC236}">
                <a16:creationId xmlns:a16="http://schemas.microsoft.com/office/drawing/2014/main" id="{6EB864DD-0385-4896-963C-C78E84AAAABA}"/>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6EBDB0BA-9160-4551-979E-E68889A1C0F0}"/>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B3329B81-9F4E-4906-B7A2-BBEA6004BA94}"/>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최종적으로 얻은 5축 프레임워크</a:t>
            </a:r>
          </a:p>
        </p:txBody>
      </p:sp>
      <p:sp>
        <p:nvSpPr>
          <p:cNvPr id="14" name="">
            <a:extLst xmlns:a="http://schemas.openxmlformats.org/drawingml/2006/main">
              <a:ext uri="{FF2B5EF4-FFF2-40B4-BE49-F238E27FC236}">
                <a16:creationId xmlns:a16="http://schemas.microsoft.com/office/drawing/2014/main" id="{49746E7F-42BF-4992-9ACE-325F8D2E7731}"/>
              </a:ext>
            </a:extLst>
          </p:cNvPr>
          <p:cNvSpPr>
            <a:spLocks xmlns:a="http://schemas.openxmlformats.org/drawingml/2006/main" noGrp="1"/>
          </p:cNvSpPr>
          <p:nvPr/>
        </p:nvSpPr>
        <p:spPr>
          <a:xfrm xmlns:a="http://schemas.openxmlformats.org/drawingml/2006/main">
            <a:off x="6858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6CE174A4-2B59-4BC7-9F0B-D09E6FC33043}"/>
              </a:ext>
            </a:extLst>
          </p:cNvPr>
          <p:cNvSpPr>
            <a:spLocks xmlns:a="http://schemas.openxmlformats.org/drawingml/2006/main" noGrp="1"/>
          </p:cNvSpPr>
          <p:nvPr/>
        </p:nvSpPr>
        <p:spPr>
          <a:xfrm xmlns:a="http://schemas.openxmlformats.org/drawingml/2006/main">
            <a:off x="685800" y="2095500"/>
            <a:ext cx="335280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B05E0454-6EA9-4EBF-8DA8-C4C7192F4348}"/>
              </a:ext>
            </a:extLst>
          </p:cNvPr>
          <p:cNvSpPr>
            <a:spLocks xmlns:a="http://schemas.openxmlformats.org/drawingml/2006/main" noGrp="1"/>
          </p:cNvSpPr>
          <p:nvPr/>
        </p:nvSpPr>
        <p:spPr>
          <a:xfrm xmlns:a="http://schemas.openxmlformats.org/drawingml/2006/main">
            <a:off x="8953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1. region identity</a:t>
            </a:r>
          </a:p>
        </p:txBody>
      </p:sp>
      <p:sp>
        <p:nvSpPr>
          <p:cNvPr id="17" name="">
            <a:extLst xmlns:a="http://schemas.openxmlformats.org/drawingml/2006/main">
              <a:ext uri="{FF2B5EF4-FFF2-40B4-BE49-F238E27FC236}">
                <a16:creationId xmlns:a16="http://schemas.microsoft.com/office/drawing/2014/main" id="{C4649313-56AA-496B-824E-D50E245B20B4}"/>
              </a:ext>
            </a:extLst>
          </p:cNvPr>
          <p:cNvSpPr>
            <a:spLocks xmlns:a="http://schemas.openxmlformats.org/drawingml/2006/main" noGrp="1"/>
          </p:cNvSpPr>
          <p:nvPr/>
        </p:nvSpPr>
        <p:spPr>
          <a:xfrm xmlns:a="http://schemas.openxmlformats.org/drawingml/2006/main">
            <a:off x="8953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어떤 brain region 또는 subregion을</a:t>
            </a:r>
          </a:p>
          <a:p xmlns:a="http://schemas.openxmlformats.org/drawingml/2006/main">
            <a:pPr algn="l">
              <a:defRPr sz="1200" b="0">
                <a:solidFill>
                  <a:srgbClr val="132024"/>
                </a:solidFill>
              </a:defRPr>
            </a:pPr>
            <a:r>
              <a:rPr sz="1200" b="0">
                <a:solidFill>
                  <a:srgbClr val="132024"/>
                </a:solidFill>
              </a:rPr>
              <a:t>만들고 있는가? anchor: Q1, Sloan,</a:t>
            </a:r>
          </a:p>
          <a:p xmlns:a="http://schemas.openxmlformats.org/drawingml/2006/main">
            <a:pPr algn="l">
              <a:defRPr sz="1200" b="0">
                <a:solidFill>
                  <a:srgbClr val="132024"/>
                </a:solidFill>
              </a:defRPr>
            </a:pPr>
            <a:r>
              <a:rPr sz="1200" b="0">
                <a:solidFill>
                  <a:srgbClr val="132024"/>
                </a:solidFill>
              </a:rPr>
              <a:t>Atamian</a:t>
            </a:r>
          </a:p>
        </p:txBody>
      </p:sp>
      <p:sp>
        <p:nvSpPr>
          <p:cNvPr id="18" name="">
            <a:extLst xmlns:a="http://schemas.openxmlformats.org/drawingml/2006/main">
              <a:ext uri="{FF2B5EF4-FFF2-40B4-BE49-F238E27FC236}">
                <a16:creationId xmlns:a16="http://schemas.microsoft.com/office/drawing/2014/main" id="{0184974A-FF09-4584-B12A-034D7DDD35E8}"/>
              </a:ext>
            </a:extLst>
          </p:cNvPr>
          <p:cNvSpPr>
            <a:spLocks xmlns:a="http://schemas.openxmlformats.org/drawingml/2006/main" noGrp="1"/>
          </p:cNvSpPr>
          <p:nvPr/>
        </p:nvSpPr>
        <p:spPr>
          <a:xfrm xmlns:a="http://schemas.openxmlformats.org/drawingml/2006/main">
            <a:off x="44196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E23F92AF-FD7D-4B0F-BDB8-9D53A9310974}"/>
              </a:ext>
            </a:extLst>
          </p:cNvPr>
          <p:cNvSpPr>
            <a:spLocks xmlns:a="http://schemas.openxmlformats.org/drawingml/2006/main" noGrp="1"/>
          </p:cNvSpPr>
          <p:nvPr/>
        </p:nvSpPr>
        <p:spPr>
          <a:xfrm xmlns:a="http://schemas.openxmlformats.org/drawingml/2006/main">
            <a:off x="4419600" y="2095500"/>
            <a:ext cx="335280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20E675AA-309E-4CB9-807E-88B206D99A31}"/>
              </a:ext>
            </a:extLst>
          </p:cNvPr>
          <p:cNvSpPr>
            <a:spLocks xmlns:a="http://schemas.openxmlformats.org/drawingml/2006/main" noGrp="1"/>
          </p:cNvSpPr>
          <p:nvPr/>
        </p:nvSpPr>
        <p:spPr>
          <a:xfrm xmlns:a="http://schemas.openxmlformats.org/drawingml/2006/main">
            <a:off x="46291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2. reproducibility</a:t>
            </a:r>
          </a:p>
        </p:txBody>
      </p:sp>
      <p:sp>
        <p:nvSpPr>
          <p:cNvPr id="21" name="">
            <a:extLst xmlns:a="http://schemas.openxmlformats.org/drawingml/2006/main">
              <a:ext uri="{FF2B5EF4-FFF2-40B4-BE49-F238E27FC236}">
                <a16:creationId xmlns:a16="http://schemas.microsoft.com/office/drawing/2014/main" id="{4910533A-A2E1-44BF-98D7-CF068B07D858}"/>
              </a:ext>
            </a:extLst>
          </p:cNvPr>
          <p:cNvSpPr>
            <a:spLocks xmlns:a="http://schemas.openxmlformats.org/drawingml/2006/main" noGrp="1"/>
          </p:cNvSpPr>
          <p:nvPr/>
        </p:nvSpPr>
        <p:spPr>
          <a:xfrm xmlns:a="http://schemas.openxmlformats.org/drawingml/2006/main">
            <a:off x="46291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 안에서 cell</a:t>
            </a:r>
          </a:p>
          <a:p xmlns:a="http://schemas.openxmlformats.org/drawingml/2006/main">
            <a:pPr algn="l">
              <a:defRPr sz="1200" b="0">
                <a:solidFill>
                  <a:srgbClr val="132024"/>
                </a:solidFill>
              </a:defRPr>
            </a:pPr>
            <a:r>
              <a:rPr sz="1200" b="0">
                <a:solidFill>
                  <a:srgbClr val="132024"/>
                </a:solidFill>
              </a:rPr>
              <a:t>composition variance가 얼마나</a:t>
            </a:r>
          </a:p>
          <a:p xmlns:a="http://schemas.openxmlformats.org/drawingml/2006/main">
            <a:pPr algn="l">
              <a:defRPr sz="1200" b="0">
                <a:solidFill>
                  <a:srgbClr val="132024"/>
                </a:solidFill>
              </a:defRPr>
            </a:pPr>
            <a:r>
              <a:rPr sz="1200" b="0">
                <a:solidFill>
                  <a:srgbClr val="132024"/>
                </a:solidFill>
              </a:rPr>
              <a:t>낮은가? anchor: Velasco, Yoon</a:t>
            </a:r>
          </a:p>
        </p:txBody>
      </p:sp>
      <p:sp>
        <p:nvSpPr>
          <p:cNvPr id="22" name="">
            <a:extLst xmlns:a="http://schemas.openxmlformats.org/drawingml/2006/main">
              <a:ext uri="{FF2B5EF4-FFF2-40B4-BE49-F238E27FC236}">
                <a16:creationId xmlns:a16="http://schemas.microsoft.com/office/drawing/2014/main" id="{73D257DD-637A-4942-B3A2-190BA6AE5B1B}"/>
              </a:ext>
            </a:extLst>
          </p:cNvPr>
          <p:cNvSpPr>
            <a:spLocks xmlns:a="http://schemas.openxmlformats.org/drawingml/2006/main" noGrp="1"/>
          </p:cNvSpPr>
          <p:nvPr/>
        </p:nvSpPr>
        <p:spPr>
          <a:xfrm xmlns:a="http://schemas.openxmlformats.org/drawingml/2006/main">
            <a:off x="81534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CF1B0FCC-0D6C-4779-A734-BBADED6CEAA4}"/>
              </a:ext>
            </a:extLst>
          </p:cNvPr>
          <p:cNvSpPr>
            <a:spLocks xmlns:a="http://schemas.openxmlformats.org/drawingml/2006/main" noGrp="1"/>
          </p:cNvSpPr>
          <p:nvPr/>
        </p:nvSpPr>
        <p:spPr>
          <a:xfrm xmlns:a="http://schemas.openxmlformats.org/drawingml/2006/main">
            <a:off x="8153400" y="2095500"/>
            <a:ext cx="3352800" cy="76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8CDA3606-C969-4E62-94D7-694C9A2296E2}"/>
              </a:ext>
            </a:extLst>
          </p:cNvPr>
          <p:cNvSpPr>
            <a:spLocks xmlns:a="http://schemas.openxmlformats.org/drawingml/2006/main" noGrp="1"/>
          </p:cNvSpPr>
          <p:nvPr/>
        </p:nvSpPr>
        <p:spPr>
          <a:xfrm xmlns:a="http://schemas.openxmlformats.org/drawingml/2006/main">
            <a:off x="83629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3. fidelity</a:t>
            </a:r>
          </a:p>
        </p:txBody>
      </p:sp>
      <p:sp>
        <p:nvSpPr>
          <p:cNvPr id="25" name="">
            <a:extLst xmlns:a="http://schemas.openxmlformats.org/drawingml/2006/main">
              <a:ext uri="{FF2B5EF4-FFF2-40B4-BE49-F238E27FC236}">
                <a16:creationId xmlns:a16="http://schemas.microsoft.com/office/drawing/2014/main" id="{8D246FE2-4E66-4C71-B17C-8E0567F6B4D6}"/>
              </a:ext>
            </a:extLst>
          </p:cNvPr>
          <p:cNvSpPr>
            <a:spLocks xmlns:a="http://schemas.openxmlformats.org/drawingml/2006/main" noGrp="1"/>
          </p:cNvSpPr>
          <p:nvPr/>
        </p:nvSpPr>
        <p:spPr>
          <a:xfrm xmlns:a="http://schemas.openxmlformats.org/drawingml/2006/main">
            <a:off x="83629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primary fetal brain과의</a:t>
            </a:r>
          </a:p>
          <a:p xmlns:a="http://schemas.openxmlformats.org/drawingml/2006/main">
            <a:pPr algn="l">
              <a:defRPr sz="1200" b="0">
                <a:solidFill>
                  <a:srgbClr val="132024"/>
                </a:solidFill>
              </a:defRPr>
            </a:pPr>
            <a:r>
              <a:rPr sz="1200" b="0">
                <a:solidFill>
                  <a:srgbClr val="132024"/>
                </a:solidFill>
              </a:rPr>
              <a:t>distance를 어떻게 볼 것인가? anchor:</a:t>
            </a:r>
          </a:p>
          <a:p xmlns:a="http://schemas.openxmlformats.org/drawingml/2006/main">
            <a:pPr algn="l">
              <a:defRPr sz="1200" b="0">
                <a:solidFill>
                  <a:srgbClr val="132024"/>
                </a:solidFill>
              </a:defRPr>
            </a:pPr>
            <a:r>
              <a:rPr sz="1200" b="0">
                <a:solidFill>
                  <a:srgbClr val="132024"/>
                </a:solidFill>
              </a:rPr>
              <a:t>Bhaduri, He</a:t>
            </a:r>
          </a:p>
        </p:txBody>
      </p:sp>
      <p:sp>
        <p:nvSpPr>
          <p:cNvPr id="26" name="">
            <a:extLst xmlns:a="http://schemas.openxmlformats.org/drawingml/2006/main">
              <a:ext uri="{FF2B5EF4-FFF2-40B4-BE49-F238E27FC236}">
                <a16:creationId xmlns:a16="http://schemas.microsoft.com/office/drawing/2014/main" id="{A146F6B0-3B79-4D46-8F10-12FCB71B4B0E}"/>
              </a:ext>
            </a:extLst>
          </p:cNvPr>
          <p:cNvSpPr>
            <a:spLocks xmlns:a="http://schemas.openxmlformats.org/drawingml/2006/main" noGrp="1"/>
          </p:cNvSpPr>
          <p:nvPr/>
        </p:nvSpPr>
        <p:spPr>
          <a:xfrm xmlns:a="http://schemas.openxmlformats.org/drawingml/2006/main">
            <a:off x="1371600" y="3790950"/>
            <a:ext cx="4400550" cy="1428750"/>
          </a:xfrm>
          <a:prstGeom xmlns:a="http://schemas.openxmlformats.org/drawingml/2006/main" prst="roundRect">
            <a:avLst>
              <a:gd name="adj" fmla="val 5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782B439B-EBA4-4D82-A73F-E845FDED8CF7}"/>
              </a:ext>
            </a:extLst>
          </p:cNvPr>
          <p:cNvSpPr>
            <a:spLocks xmlns:a="http://schemas.openxmlformats.org/drawingml/2006/main" noGrp="1"/>
          </p:cNvSpPr>
          <p:nvPr/>
        </p:nvSpPr>
        <p:spPr>
          <a:xfrm xmlns:a="http://schemas.openxmlformats.org/drawingml/2006/main">
            <a:off x="1371600" y="3790950"/>
            <a:ext cx="4400550" cy="7620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75548353-4574-41AE-BEF6-9DBB39FD1D69}"/>
              </a:ext>
            </a:extLst>
          </p:cNvPr>
          <p:cNvSpPr>
            <a:spLocks xmlns:a="http://schemas.openxmlformats.org/drawingml/2006/main" noGrp="1"/>
          </p:cNvSpPr>
          <p:nvPr/>
        </p:nvSpPr>
        <p:spPr>
          <a:xfrm xmlns:a="http://schemas.openxmlformats.org/drawingml/2006/main">
            <a:off x="1581150" y="3981450"/>
            <a:ext cx="39814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4. temporal mapping</a:t>
            </a:r>
          </a:p>
        </p:txBody>
      </p:sp>
      <p:sp>
        <p:nvSpPr>
          <p:cNvPr id="29" name="">
            <a:extLst xmlns:a="http://schemas.openxmlformats.org/drawingml/2006/main">
              <a:ext uri="{FF2B5EF4-FFF2-40B4-BE49-F238E27FC236}">
                <a16:creationId xmlns:a16="http://schemas.microsoft.com/office/drawing/2014/main" id="{B8319447-569E-4CC2-9F95-E355D9D5C3F8}"/>
              </a:ext>
            </a:extLst>
          </p:cNvPr>
          <p:cNvSpPr>
            <a:spLocks xmlns:a="http://schemas.openxmlformats.org/drawingml/2006/main" noGrp="1"/>
          </p:cNvSpPr>
          <p:nvPr/>
        </p:nvSpPr>
        <p:spPr>
          <a:xfrm xmlns:a="http://schemas.openxmlformats.org/drawingml/2006/main">
            <a:off x="1581150" y="4400550"/>
            <a:ext cx="398145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culture day를 developmental stage로 어떻게</a:t>
            </a:r>
          </a:p>
          <a:p xmlns:a="http://schemas.openxmlformats.org/drawingml/2006/main">
            <a:pPr algn="l">
              <a:defRPr sz="1200" b="0">
                <a:solidFill>
                  <a:srgbClr val="132024"/>
                </a:solidFill>
              </a:defRPr>
            </a:pPr>
            <a:r>
              <a:rPr sz="1200" b="0">
                <a:solidFill>
                  <a:srgbClr val="132024"/>
                </a:solidFill>
              </a:rPr>
              <a:t>읽을 것인가? anchor: Kanton, Giandomenico</a:t>
            </a:r>
          </a:p>
        </p:txBody>
      </p:sp>
      <p:sp>
        <p:nvSpPr>
          <p:cNvPr id="30" name="">
            <a:extLst xmlns:a="http://schemas.openxmlformats.org/drawingml/2006/main">
              <a:ext uri="{FF2B5EF4-FFF2-40B4-BE49-F238E27FC236}">
                <a16:creationId xmlns:a16="http://schemas.microsoft.com/office/drawing/2014/main" id="{3B52DB75-0A80-447D-95CF-B79D38309109}"/>
              </a:ext>
            </a:extLst>
          </p:cNvPr>
          <p:cNvSpPr>
            <a:spLocks xmlns:a="http://schemas.openxmlformats.org/drawingml/2006/main" noGrp="1"/>
          </p:cNvSpPr>
          <p:nvPr/>
        </p:nvSpPr>
        <p:spPr>
          <a:xfrm xmlns:a="http://schemas.openxmlformats.org/drawingml/2006/main">
            <a:off x="6438900" y="3790950"/>
            <a:ext cx="4400550" cy="1428750"/>
          </a:xfrm>
          <a:prstGeom xmlns:a="http://schemas.openxmlformats.org/drawingml/2006/main" prst="roundRect">
            <a:avLst>
              <a:gd name="adj" fmla="val 5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1" name="">
            <a:extLst xmlns:a="http://schemas.openxmlformats.org/drawingml/2006/main">
              <a:ext uri="{FF2B5EF4-FFF2-40B4-BE49-F238E27FC236}">
                <a16:creationId xmlns:a16="http://schemas.microsoft.com/office/drawing/2014/main" id="{DC505630-7505-44CD-BE37-51FB73855722}"/>
              </a:ext>
            </a:extLst>
          </p:cNvPr>
          <p:cNvSpPr>
            <a:spLocks xmlns:a="http://schemas.openxmlformats.org/drawingml/2006/main" noGrp="1"/>
          </p:cNvSpPr>
          <p:nvPr/>
        </p:nvSpPr>
        <p:spPr>
          <a:xfrm xmlns:a="http://schemas.openxmlformats.org/drawingml/2006/main">
            <a:off x="6438900" y="3790950"/>
            <a:ext cx="4400550" cy="7620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0EE4481E-6D9F-425F-8C79-7DF842AC6157}"/>
              </a:ext>
            </a:extLst>
          </p:cNvPr>
          <p:cNvSpPr>
            <a:spLocks xmlns:a="http://schemas.openxmlformats.org/drawingml/2006/main" noGrp="1"/>
          </p:cNvSpPr>
          <p:nvPr/>
        </p:nvSpPr>
        <p:spPr>
          <a:xfrm xmlns:a="http://schemas.openxmlformats.org/drawingml/2006/main">
            <a:off x="6648450" y="3981450"/>
            <a:ext cx="39814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5. atlas alignment</a:t>
            </a:r>
          </a:p>
        </p:txBody>
      </p:sp>
      <p:sp>
        <p:nvSpPr>
          <p:cNvPr id="33" name="">
            <a:extLst xmlns:a="http://schemas.openxmlformats.org/drawingml/2006/main">
              <a:ext uri="{FF2B5EF4-FFF2-40B4-BE49-F238E27FC236}">
                <a16:creationId xmlns:a16="http://schemas.microsoft.com/office/drawing/2014/main" id="{970F7CEA-91FF-47A3-A856-9C37A011501A}"/>
              </a:ext>
            </a:extLst>
          </p:cNvPr>
          <p:cNvSpPr>
            <a:spLocks xmlns:a="http://schemas.openxmlformats.org/drawingml/2006/main" noGrp="1"/>
          </p:cNvSpPr>
          <p:nvPr/>
        </p:nvSpPr>
        <p:spPr>
          <a:xfrm xmlns:a="http://schemas.openxmlformats.org/drawingml/2006/main">
            <a:off x="6648450" y="4400550"/>
            <a:ext cx="398145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여러 protocol을 같은 reference atlas 좌표계에서</a:t>
            </a:r>
          </a:p>
          <a:p xmlns:a="http://schemas.openxmlformats.org/drawingml/2006/main">
            <a:pPr algn="l">
              <a:defRPr sz="1200" b="0">
                <a:solidFill>
                  <a:srgbClr val="132024"/>
                </a:solidFill>
              </a:defRPr>
            </a:pPr>
            <a:r>
              <a:rPr sz="1200" b="0">
                <a:solidFill>
                  <a:srgbClr val="132024"/>
                </a:solidFill>
              </a:rPr>
              <a:t>어떻게 정렬할 것인가? anchor: He 2024</a:t>
            </a:r>
          </a:p>
        </p:txBody>
      </p:sp>
      <p:sp>
        <p:nvSpPr>
          <p:cNvPr id="34" name="">
            <a:extLst xmlns:a="http://schemas.openxmlformats.org/drawingml/2006/main">
              <a:ext uri="{FF2B5EF4-FFF2-40B4-BE49-F238E27FC236}">
                <a16:creationId xmlns:a16="http://schemas.microsoft.com/office/drawing/2014/main" id="{1EF9B889-196D-4215-86F8-A612533DF73E}"/>
              </a:ext>
            </a:extLst>
          </p:cNvPr>
          <p:cNvSpPr>
            <a:spLocks xmlns:a="http://schemas.openxmlformats.org/drawingml/2006/main" noGrp="1"/>
          </p:cNvSpPr>
          <p:nvPr/>
        </p:nvSpPr>
        <p:spPr>
          <a:xfrm xmlns:a="http://schemas.openxmlformats.org/drawingml/2006/main">
            <a:off x="2038350" y="5581650"/>
            <a:ext cx="8115300" cy="609600"/>
          </a:xfrm>
          <a:prstGeom xmlns:a="http://schemas.openxmlformats.org/drawingml/2006/main" prst="roundRect">
            <a:avLst>
              <a:gd name="adj" fmla="val 12500"/>
            </a:avLst>
          </a:prstGeom>
          <a:solidFill xmlns:a="http://schemas.openxmlformats.org/drawingml/2006/main">
            <a:srgbClr val="F7DDD8"/>
          </a:solidFill>
          <a:ln xmlns:a="http://schemas.openxmlformats.org/drawingml/2006/main" w="11430">
            <a:solidFill>
              <a:srgbClr val="132024"/>
            </a:solidFill>
            <a:prstDash val="solid"/>
          </a:ln>
        </p:spPr>
      </p:sp>
      <p:sp>
        <p:nvSpPr>
          <p:cNvPr id="35" name="">
            <a:extLst xmlns:a="http://schemas.openxmlformats.org/drawingml/2006/main">
              <a:ext uri="{FF2B5EF4-FFF2-40B4-BE49-F238E27FC236}">
                <a16:creationId xmlns:a16="http://schemas.microsoft.com/office/drawing/2014/main" id="{7AFFF3E5-57CE-4FD2-8C01-59B87FF0AFDF}"/>
              </a:ext>
            </a:extLst>
          </p:cNvPr>
          <p:cNvSpPr>
            <a:spLocks xmlns:a="http://schemas.openxmlformats.org/drawingml/2006/main" noGrp="1"/>
          </p:cNvSpPr>
          <p:nvPr/>
        </p:nvSpPr>
        <p:spPr>
          <a:xfrm xmlns:a="http://schemas.openxmlformats.org/drawingml/2006/main">
            <a:off x="2038350" y="5581650"/>
            <a:ext cx="76200" cy="6096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4FB74BBB-C939-49AF-AD23-2FA3CE1452F7}"/>
              </a:ext>
            </a:extLst>
          </p:cNvPr>
          <p:cNvSpPr>
            <a:spLocks xmlns:a="http://schemas.openxmlformats.org/drawingml/2006/main" noGrp="1"/>
          </p:cNvSpPr>
          <p:nvPr/>
        </p:nvSpPr>
        <p:spPr>
          <a:xfrm xmlns:a="http://schemas.openxmlformats.org/drawingml/2006/main">
            <a:off x="2247900" y="5734050"/>
            <a:ext cx="77343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핵심 메시지: reproducibility와 fidelity는 같은 말이 아니다.</a:t>
            </a:r>
          </a:p>
        </p:txBody>
      </p:sp>
      <p:sp>
        <p:nvSpPr>
          <p:cNvPr id="37" name="">
            <a:extLst xmlns:a="http://schemas.openxmlformats.org/drawingml/2006/main">
              <a:ext uri="{FF2B5EF4-FFF2-40B4-BE49-F238E27FC236}">
                <a16:creationId xmlns:a16="http://schemas.microsoft.com/office/drawing/2014/main" id="{C090045A-CC9C-4DBE-A732-E449B772851E}"/>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5축은 서로 다른 benchmark question이며, 한 축의 강점이 다른 축의 답을 대신하지 않는다.</a:t>
            </a:r>
          </a:p>
        </p:txBody>
      </p:sp>
    </p:spTree>
    <p:extLst>
      <p:ext uri="{BB962C8B-B14F-4D97-AF65-F5344CB8AC3E}">
        <p14:creationId xmlns:p14="http://schemas.microsoft.com/office/powerpoint/2010/main" val="509341327"/>
      </p:ext>
    </p:extLst>
  </p:cSld>
</p:sld>
</file>

<file path=ppt/slides/slide10.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960B6032-F217-4E1A-A5DD-55BD6786A62D}"/>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4c5b4d5b9464b99"/>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C7A596AD-4198-48B0-80FF-0D0440B25489}"/>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F6D7A45A-4A77-439A-B8B7-C760DAC8605E}"/>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690571F6-F1D8-4BF9-B4A2-9A7C15C9A2C0}"/>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D4B77F69-E22A-4B10-9504-69C45679DE4D}"/>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D9BB5190-4FAE-4FA1-BC64-0AA271BC9218}"/>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C36729A7-718F-4FA1-B2C0-B2193E46390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6EE6BBDC-B9DB-4A62-B75A-11456C45D23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3</a:t>
            </a:r>
          </a:p>
        </p:txBody>
      </p:sp>
      <p:sp>
        <p:nvSpPr>
          <p:cNvPr id="10" name="">
            <a:extLst xmlns:a="http://schemas.openxmlformats.org/drawingml/2006/main">
              <a:ext uri="{FF2B5EF4-FFF2-40B4-BE49-F238E27FC236}">
                <a16:creationId xmlns:a16="http://schemas.microsoft.com/office/drawing/2014/main" id="{0ADA5FCA-F15D-4F99-9531-FB6035023374}"/>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10 / 12</a:t>
            </a:r>
          </a:p>
        </p:txBody>
      </p:sp>
      <p:sp>
        <p:nvSpPr>
          <p:cNvPr id="11" name="">
            <a:extLst xmlns:a="http://schemas.openxmlformats.org/drawingml/2006/main">
              <a:ext uri="{FF2B5EF4-FFF2-40B4-BE49-F238E27FC236}">
                <a16:creationId xmlns:a16="http://schemas.microsoft.com/office/drawing/2014/main" id="{E33917A0-8418-4B25-AC35-D2211DF29F7D}"/>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27C0257F-A743-4B04-ACAB-4F5ACF6D03F6}"/>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9158C1E2-2FD1-45DB-A916-8F07960034B9}"/>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다음 단계: 결국 무엇을</a:t>
            </a:r>
          </a:p>
          <a:p xmlns:a="http://schemas.openxmlformats.org/drawingml/2006/main">
            <a:pPr algn="l">
              <a:defRPr sz="2850" b="1">
                <a:solidFill>
                  <a:srgbClr val="132024"/>
                </a:solidFill>
              </a:defRPr>
            </a:pPr>
            <a:r>
              <a:rPr sz="2850" b="1">
                <a:solidFill>
                  <a:srgbClr val="132024"/>
                </a:solidFill>
              </a:rPr>
              <a:t>먼저 믿고 싶은가</a:t>
            </a:r>
          </a:p>
        </p:txBody>
      </p:sp>
      <p:sp>
        <p:nvSpPr>
          <p:cNvPr id="14" name="">
            <a:extLst xmlns:a="http://schemas.openxmlformats.org/drawingml/2006/main">
              <a:ext uri="{FF2B5EF4-FFF2-40B4-BE49-F238E27FC236}">
                <a16:creationId xmlns:a16="http://schemas.microsoft.com/office/drawing/2014/main" id="{6D5ADEEF-6BF3-4F80-8D84-E45BFAFD5D0F}"/>
              </a:ext>
            </a:extLst>
          </p:cNvPr>
          <p:cNvSpPr>
            <a:spLocks xmlns:a="http://schemas.openxmlformats.org/drawingml/2006/main" noGrp="1"/>
          </p:cNvSpPr>
          <p:nvPr/>
        </p:nvSpPr>
        <p:spPr>
          <a:xfrm xmlns:a="http://schemas.openxmlformats.org/drawingml/2006/main">
            <a:off x="628650" y="2076450"/>
            <a:ext cx="2857500" cy="3562350"/>
          </a:xfrm>
          <a:prstGeom xmlns:a="http://schemas.openxmlformats.org/drawingml/2006/main" prst="roundRect">
            <a:avLst>
              <a:gd name="adj" fmla="val 2667"/>
            </a:avLst>
          </a:prstGeom>
          <a:solidFill xmlns:a="http://schemas.openxmlformats.org/drawingml/2006/main">
            <a:srgbClr val="DDF4E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4685831A-343C-4284-81C5-E3944507D5D7}"/>
              </a:ext>
            </a:extLst>
          </p:cNvPr>
          <p:cNvSpPr>
            <a:spLocks xmlns:a="http://schemas.openxmlformats.org/drawingml/2006/main" noGrp="1"/>
          </p:cNvSpPr>
          <p:nvPr/>
        </p:nvSpPr>
        <p:spPr>
          <a:xfrm xmlns:a="http://schemas.openxmlformats.org/drawingml/2006/main">
            <a:off x="628650" y="2076450"/>
            <a:ext cx="285750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871BBA1B-32CF-4527-83C8-FA2147563ED8}"/>
              </a:ext>
            </a:extLst>
          </p:cNvPr>
          <p:cNvSpPr>
            <a:spLocks xmlns:a="http://schemas.openxmlformats.org/drawingml/2006/main" noGrp="1"/>
          </p:cNvSpPr>
          <p:nvPr/>
        </p:nvSpPr>
        <p:spPr>
          <a:xfrm xmlns:a="http://schemas.openxmlformats.org/drawingml/2006/main">
            <a:off x="838200" y="2266950"/>
            <a:ext cx="24384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readout-first rule</a:t>
            </a:r>
          </a:p>
        </p:txBody>
      </p:sp>
      <p:sp>
        <p:nvSpPr>
          <p:cNvPr id="17" name="">
            <a:extLst xmlns:a="http://schemas.openxmlformats.org/drawingml/2006/main">
              <a:ext uri="{FF2B5EF4-FFF2-40B4-BE49-F238E27FC236}">
                <a16:creationId xmlns:a16="http://schemas.microsoft.com/office/drawing/2014/main" id="{246BDDD2-0E6A-4FE3-9189-B51E4CF1FD49}"/>
              </a:ext>
            </a:extLst>
          </p:cNvPr>
          <p:cNvSpPr>
            <a:spLocks xmlns:a="http://schemas.openxmlformats.org/drawingml/2006/main" noGrp="1"/>
          </p:cNvSpPr>
          <p:nvPr/>
        </p:nvSpPr>
        <p:spPr>
          <a:xfrm xmlns:a="http://schemas.openxmlformats.org/drawingml/2006/main">
            <a:off x="838200" y="2686050"/>
            <a:ext cx="2438400" cy="2781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1. 먼저 가장 중요한 readout을</a:t>
            </a:r>
          </a:p>
          <a:p xmlns:a="http://schemas.openxmlformats.org/drawingml/2006/main">
            <a:pPr algn="l">
              <a:defRPr sz="1200" b="0">
                <a:solidFill>
                  <a:srgbClr val="132024"/>
                </a:solidFill>
              </a:defRPr>
            </a:pPr>
            <a:r>
              <a:rPr sz="1200" b="0">
                <a:solidFill>
                  <a:srgbClr val="132024"/>
                </a:solidFill>
              </a:rPr>
              <a:t>적는다. 2. 그 readout을 가장</a:t>
            </a:r>
          </a:p>
          <a:p xmlns:a="http://schemas.openxmlformats.org/drawingml/2006/main">
            <a:pPr algn="l">
              <a:defRPr sz="1200" b="0">
                <a:solidFill>
                  <a:srgbClr val="132024"/>
                </a:solidFill>
              </a:defRPr>
            </a:pPr>
            <a:r>
              <a:rPr sz="1200" b="0">
                <a:solidFill>
                  <a:srgbClr val="132024"/>
                </a:solidFill>
              </a:rPr>
              <a:t>직접적으로 최적화한 branch를 고른다.</a:t>
            </a:r>
          </a:p>
          <a:p xmlns:a="http://schemas.openxmlformats.org/drawingml/2006/main">
            <a:pPr algn="l">
              <a:defRPr sz="1200" b="0">
                <a:solidFill>
                  <a:srgbClr val="132024"/>
                </a:solidFill>
              </a:defRPr>
            </a:pPr>
            <a:r>
              <a:rPr sz="1200" b="0">
                <a:solidFill>
                  <a:srgbClr val="132024"/>
                </a:solidFill>
              </a:rPr>
              <a:t>3. region, benchmark,</a:t>
            </a:r>
          </a:p>
          <a:p xmlns:a="http://schemas.openxmlformats.org/drawingml/2006/main">
            <a:pPr algn="l">
              <a:defRPr sz="1200" b="0">
                <a:solidFill>
                  <a:srgbClr val="132024"/>
                </a:solidFill>
              </a:defRPr>
            </a:pPr>
            <a:r>
              <a:rPr sz="1200" b="0">
                <a:solidFill>
                  <a:srgbClr val="132024"/>
                </a:solidFill>
              </a:rPr>
              <a:t>host validation은 그다음 순서로</a:t>
            </a:r>
          </a:p>
          <a:p xmlns:a="http://schemas.openxmlformats.org/drawingml/2006/main">
            <a:pPr algn="l">
              <a:defRPr sz="1200" b="0">
                <a:solidFill>
                  <a:srgbClr val="132024"/>
                </a:solidFill>
              </a:defRPr>
            </a:pPr>
            <a:r>
              <a:rPr sz="1200" b="0">
                <a:solidFill>
                  <a:srgbClr val="132024"/>
                </a:solidFill>
              </a:rPr>
              <a:t>붙인다.</a:t>
            </a:r>
          </a:p>
        </p:txBody>
      </p:sp>
      <p:sp>
        <p:nvSpPr>
          <p:cNvPr id="18" name="">
            <a:extLst xmlns:a="http://schemas.openxmlformats.org/drawingml/2006/main">
              <a:ext uri="{FF2B5EF4-FFF2-40B4-BE49-F238E27FC236}">
                <a16:creationId xmlns:a16="http://schemas.microsoft.com/office/drawing/2014/main" id="{73B26408-2A38-49E7-A1FD-DE071E94F8CC}"/>
              </a:ext>
            </a:extLst>
          </p:cNvPr>
          <p:cNvSpPr>
            <a:spLocks xmlns:a="http://schemas.openxmlformats.org/drawingml/2006/main" noGrp="1"/>
          </p:cNvSpPr>
          <p:nvPr/>
        </p:nvSpPr>
        <p:spPr>
          <a:xfrm xmlns:a="http://schemas.openxmlformats.org/drawingml/2006/main">
            <a:off x="3848100" y="211455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19" name="">
            <a:extLst xmlns:a="http://schemas.openxmlformats.org/drawingml/2006/main">
              <a:ext uri="{FF2B5EF4-FFF2-40B4-BE49-F238E27FC236}">
                <a16:creationId xmlns:a16="http://schemas.microsoft.com/office/drawing/2014/main" id="{85DA6675-C00F-4736-860D-289364F9C792}"/>
              </a:ext>
            </a:extLst>
          </p:cNvPr>
          <p:cNvSpPr>
            <a:spLocks xmlns:a="http://schemas.openxmlformats.org/drawingml/2006/main" noGrp="1"/>
          </p:cNvSpPr>
          <p:nvPr/>
        </p:nvSpPr>
        <p:spPr>
          <a:xfrm xmlns:a="http://schemas.openxmlformats.org/drawingml/2006/main">
            <a:off x="3848100" y="2114550"/>
            <a:ext cx="66675" cy="12573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4445D70C-9EA1-44C2-955B-15B2A1AF81BB}"/>
              </a:ext>
            </a:extLst>
          </p:cNvPr>
          <p:cNvSpPr>
            <a:spLocks xmlns:a="http://schemas.openxmlformats.org/drawingml/2006/main" noGrp="1"/>
          </p:cNvSpPr>
          <p:nvPr/>
        </p:nvSpPr>
        <p:spPr>
          <a:xfrm xmlns:a="http://schemas.openxmlformats.org/drawingml/2006/main">
            <a:off x="4019550" y="22669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1" name="">
            <a:extLst xmlns:a="http://schemas.openxmlformats.org/drawingml/2006/main">
              <a:ext uri="{FF2B5EF4-FFF2-40B4-BE49-F238E27FC236}">
                <a16:creationId xmlns:a16="http://schemas.microsoft.com/office/drawing/2014/main" id="{F8052575-F369-4932-8FF1-89219DE495D0}"/>
              </a:ext>
            </a:extLst>
          </p:cNvPr>
          <p:cNvSpPr>
            <a:spLocks xmlns:a="http://schemas.openxmlformats.org/drawingml/2006/main" noGrp="1"/>
          </p:cNvSpPr>
          <p:nvPr/>
        </p:nvSpPr>
        <p:spPr>
          <a:xfrm xmlns:a="http://schemas.openxmlformats.org/drawingml/2006/main">
            <a:off x="4019550" y="255270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composition</a:t>
            </a:r>
          </a:p>
        </p:txBody>
      </p:sp>
      <p:sp>
        <p:nvSpPr>
          <p:cNvPr id="22" name="">
            <a:extLst xmlns:a="http://schemas.openxmlformats.org/drawingml/2006/main">
              <a:ext uri="{FF2B5EF4-FFF2-40B4-BE49-F238E27FC236}">
                <a16:creationId xmlns:a16="http://schemas.microsoft.com/office/drawing/2014/main" id="{7E7991AB-39C0-489C-9C5C-751E86071104}"/>
              </a:ext>
            </a:extLst>
          </p:cNvPr>
          <p:cNvSpPr>
            <a:spLocks xmlns:a="http://schemas.openxmlformats.org/drawingml/2006/main" noGrp="1"/>
          </p:cNvSpPr>
          <p:nvPr/>
        </p:nvSpPr>
        <p:spPr>
          <a:xfrm xmlns:a="http://schemas.openxmlformats.org/drawingml/2006/main">
            <a:off x="4019550" y="280035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stability</a:t>
            </a:r>
          </a:p>
          <a:p xmlns:a="http://schemas.openxmlformats.org/drawingml/2006/main">
            <a:pPr algn="l">
              <a:defRPr sz="825" b="0">
                <a:solidFill>
                  <a:srgbClr val="344146"/>
                </a:solidFill>
              </a:defRPr>
            </a:pPr>
            <a:r>
              <a:rPr sz="825" b="0">
                <a:solidFill>
                  <a:srgbClr val="344146"/>
                </a:solidFill>
              </a:rPr>
              <a:t>Velasco / Yoon</a:t>
            </a:r>
          </a:p>
        </p:txBody>
      </p:sp>
      <p:sp>
        <p:nvSpPr>
          <p:cNvPr id="23" name="">
            <a:extLst xmlns:a="http://schemas.openxmlformats.org/drawingml/2006/main">
              <a:ext uri="{FF2B5EF4-FFF2-40B4-BE49-F238E27FC236}">
                <a16:creationId xmlns:a16="http://schemas.microsoft.com/office/drawing/2014/main" id="{3FEA6351-E9AE-470A-97D0-48EEA5DF1026}"/>
              </a:ext>
            </a:extLst>
          </p:cNvPr>
          <p:cNvSpPr>
            <a:spLocks xmlns:a="http://schemas.openxmlformats.org/drawingml/2006/main" noGrp="1"/>
          </p:cNvSpPr>
          <p:nvPr/>
        </p:nvSpPr>
        <p:spPr>
          <a:xfrm xmlns:a="http://schemas.openxmlformats.org/drawingml/2006/main">
            <a:off x="6572250" y="211455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24" name="">
            <a:extLst xmlns:a="http://schemas.openxmlformats.org/drawingml/2006/main">
              <a:ext uri="{FF2B5EF4-FFF2-40B4-BE49-F238E27FC236}">
                <a16:creationId xmlns:a16="http://schemas.microsoft.com/office/drawing/2014/main" id="{D8E3B962-4EA0-4CB8-94F5-EAF977110A36}"/>
              </a:ext>
            </a:extLst>
          </p:cNvPr>
          <p:cNvSpPr>
            <a:spLocks xmlns:a="http://schemas.openxmlformats.org/drawingml/2006/main" noGrp="1"/>
          </p:cNvSpPr>
          <p:nvPr/>
        </p:nvSpPr>
        <p:spPr>
          <a:xfrm xmlns:a="http://schemas.openxmlformats.org/drawingml/2006/main">
            <a:off x="6572250" y="2114550"/>
            <a:ext cx="66675" cy="12573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3872C247-A658-440B-9364-7573018DD639}"/>
              </a:ext>
            </a:extLst>
          </p:cNvPr>
          <p:cNvSpPr>
            <a:spLocks xmlns:a="http://schemas.openxmlformats.org/drawingml/2006/main" noGrp="1"/>
          </p:cNvSpPr>
          <p:nvPr/>
        </p:nvSpPr>
        <p:spPr>
          <a:xfrm xmlns:a="http://schemas.openxmlformats.org/drawingml/2006/main">
            <a:off x="6743700" y="22669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6" name="">
            <a:extLst xmlns:a="http://schemas.openxmlformats.org/drawingml/2006/main">
              <a:ext uri="{FF2B5EF4-FFF2-40B4-BE49-F238E27FC236}">
                <a16:creationId xmlns:a16="http://schemas.microsoft.com/office/drawing/2014/main" id="{01C05C80-2F87-405A-BA7E-F73EE0E9E9EA}"/>
              </a:ext>
            </a:extLst>
          </p:cNvPr>
          <p:cNvSpPr>
            <a:spLocks xmlns:a="http://schemas.openxmlformats.org/drawingml/2006/main" noGrp="1"/>
          </p:cNvSpPr>
          <p:nvPr/>
        </p:nvSpPr>
        <p:spPr>
          <a:xfrm xmlns:a="http://schemas.openxmlformats.org/drawingml/2006/main">
            <a:off x="6743700" y="255270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fidelity</a:t>
            </a:r>
          </a:p>
        </p:txBody>
      </p:sp>
      <p:sp>
        <p:nvSpPr>
          <p:cNvPr id="27" name="">
            <a:extLst xmlns:a="http://schemas.openxmlformats.org/drawingml/2006/main">
              <a:ext uri="{FF2B5EF4-FFF2-40B4-BE49-F238E27FC236}">
                <a16:creationId xmlns:a16="http://schemas.microsoft.com/office/drawing/2014/main" id="{E1C939AB-D13B-4417-8748-BD9679C4C0CD}"/>
              </a:ext>
            </a:extLst>
          </p:cNvPr>
          <p:cNvSpPr>
            <a:spLocks xmlns:a="http://schemas.openxmlformats.org/drawingml/2006/main" noGrp="1"/>
          </p:cNvSpPr>
          <p:nvPr/>
        </p:nvSpPr>
        <p:spPr>
          <a:xfrm xmlns:a="http://schemas.openxmlformats.org/drawingml/2006/main">
            <a:off x="6743700" y="280035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primary-like</a:t>
            </a:r>
          </a:p>
          <a:p xmlns:a="http://schemas.openxmlformats.org/drawingml/2006/main">
            <a:pPr algn="l">
              <a:defRPr sz="825" b="0">
                <a:solidFill>
                  <a:srgbClr val="344146"/>
                </a:solidFill>
              </a:defRPr>
            </a:pPr>
            <a:r>
              <a:rPr sz="825" b="0">
                <a:solidFill>
                  <a:srgbClr val="344146"/>
                </a:solidFill>
              </a:rPr>
              <a:t>Bhaduri / He</a:t>
            </a:r>
          </a:p>
        </p:txBody>
      </p:sp>
      <p:sp>
        <p:nvSpPr>
          <p:cNvPr id="28" name="">
            <a:extLst xmlns:a="http://schemas.openxmlformats.org/drawingml/2006/main">
              <a:ext uri="{FF2B5EF4-FFF2-40B4-BE49-F238E27FC236}">
                <a16:creationId xmlns:a16="http://schemas.microsoft.com/office/drawing/2014/main" id="{43AE5D66-0000-42A9-BD4B-FE633C270FAA}"/>
              </a:ext>
            </a:extLst>
          </p:cNvPr>
          <p:cNvSpPr>
            <a:spLocks xmlns:a="http://schemas.openxmlformats.org/drawingml/2006/main" noGrp="1"/>
          </p:cNvSpPr>
          <p:nvPr/>
        </p:nvSpPr>
        <p:spPr>
          <a:xfrm xmlns:a="http://schemas.openxmlformats.org/drawingml/2006/main">
            <a:off x="9296400" y="211455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29" name="">
            <a:extLst xmlns:a="http://schemas.openxmlformats.org/drawingml/2006/main">
              <a:ext uri="{FF2B5EF4-FFF2-40B4-BE49-F238E27FC236}">
                <a16:creationId xmlns:a16="http://schemas.microsoft.com/office/drawing/2014/main" id="{E7603683-5A2E-4A69-A045-F6F533CBC32D}"/>
              </a:ext>
            </a:extLst>
          </p:cNvPr>
          <p:cNvSpPr>
            <a:spLocks xmlns:a="http://schemas.openxmlformats.org/drawingml/2006/main" noGrp="1"/>
          </p:cNvSpPr>
          <p:nvPr/>
        </p:nvSpPr>
        <p:spPr>
          <a:xfrm xmlns:a="http://schemas.openxmlformats.org/drawingml/2006/main">
            <a:off x="9296400" y="2114550"/>
            <a:ext cx="66675" cy="125730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263FF0FB-1231-4B72-B223-CC09C1768656}"/>
              </a:ext>
            </a:extLst>
          </p:cNvPr>
          <p:cNvSpPr>
            <a:spLocks xmlns:a="http://schemas.openxmlformats.org/drawingml/2006/main" noGrp="1"/>
          </p:cNvSpPr>
          <p:nvPr/>
        </p:nvSpPr>
        <p:spPr>
          <a:xfrm xmlns:a="http://schemas.openxmlformats.org/drawingml/2006/main">
            <a:off x="9467850" y="22669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1" name="">
            <a:extLst xmlns:a="http://schemas.openxmlformats.org/drawingml/2006/main">
              <a:ext uri="{FF2B5EF4-FFF2-40B4-BE49-F238E27FC236}">
                <a16:creationId xmlns:a16="http://schemas.microsoft.com/office/drawing/2014/main" id="{7175DB21-E662-458A-B2EA-9A8EB6F7FC69}"/>
              </a:ext>
            </a:extLst>
          </p:cNvPr>
          <p:cNvSpPr>
            <a:spLocks xmlns:a="http://schemas.openxmlformats.org/drawingml/2006/main" noGrp="1"/>
          </p:cNvSpPr>
          <p:nvPr/>
        </p:nvSpPr>
        <p:spPr>
          <a:xfrm xmlns:a="http://schemas.openxmlformats.org/drawingml/2006/main">
            <a:off x="9467850" y="255270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timing</a:t>
            </a:r>
          </a:p>
        </p:txBody>
      </p:sp>
      <p:sp>
        <p:nvSpPr>
          <p:cNvPr id="32" name="">
            <a:extLst xmlns:a="http://schemas.openxmlformats.org/drawingml/2006/main">
              <a:ext uri="{FF2B5EF4-FFF2-40B4-BE49-F238E27FC236}">
                <a16:creationId xmlns:a16="http://schemas.microsoft.com/office/drawing/2014/main" id="{94BAA104-43CE-4D5A-A02A-1583994DFD9A}"/>
              </a:ext>
            </a:extLst>
          </p:cNvPr>
          <p:cNvSpPr>
            <a:spLocks xmlns:a="http://schemas.openxmlformats.org/drawingml/2006/main" noGrp="1"/>
          </p:cNvSpPr>
          <p:nvPr/>
        </p:nvSpPr>
        <p:spPr>
          <a:xfrm xmlns:a="http://schemas.openxmlformats.org/drawingml/2006/main">
            <a:off x="9467850" y="280035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maturation map</a:t>
            </a:r>
          </a:p>
          <a:p xmlns:a="http://schemas.openxmlformats.org/drawingml/2006/main">
            <a:pPr algn="l">
              <a:defRPr sz="825" b="0">
                <a:solidFill>
                  <a:srgbClr val="344146"/>
                </a:solidFill>
              </a:defRPr>
            </a:pPr>
            <a:r>
              <a:rPr sz="825" b="0">
                <a:solidFill>
                  <a:srgbClr val="344146"/>
                </a:solidFill>
              </a:rPr>
              <a:t>Kanton / Giandomenico</a:t>
            </a:r>
          </a:p>
        </p:txBody>
      </p:sp>
      <p:sp>
        <p:nvSpPr>
          <p:cNvPr id="33" name="">
            <a:extLst xmlns:a="http://schemas.openxmlformats.org/drawingml/2006/main">
              <a:ext uri="{FF2B5EF4-FFF2-40B4-BE49-F238E27FC236}">
                <a16:creationId xmlns:a16="http://schemas.microsoft.com/office/drawing/2014/main" id="{BB541B52-98BA-4F15-BBA7-2CAAF84ED03B}"/>
              </a:ext>
            </a:extLst>
          </p:cNvPr>
          <p:cNvSpPr>
            <a:spLocks xmlns:a="http://schemas.openxmlformats.org/drawingml/2006/main" noGrp="1"/>
          </p:cNvSpPr>
          <p:nvPr/>
        </p:nvSpPr>
        <p:spPr>
          <a:xfrm xmlns:a="http://schemas.openxmlformats.org/drawingml/2006/main">
            <a:off x="3848100" y="392430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34" name="">
            <a:extLst xmlns:a="http://schemas.openxmlformats.org/drawingml/2006/main">
              <a:ext uri="{FF2B5EF4-FFF2-40B4-BE49-F238E27FC236}">
                <a16:creationId xmlns:a16="http://schemas.microsoft.com/office/drawing/2014/main" id="{D3BC4080-1227-4CE7-93F7-9C71F6D0984E}"/>
              </a:ext>
            </a:extLst>
          </p:cNvPr>
          <p:cNvSpPr>
            <a:spLocks xmlns:a="http://schemas.openxmlformats.org/drawingml/2006/main" noGrp="1"/>
          </p:cNvSpPr>
          <p:nvPr/>
        </p:nvSpPr>
        <p:spPr>
          <a:xfrm xmlns:a="http://schemas.openxmlformats.org/drawingml/2006/main">
            <a:off x="3848100" y="3924300"/>
            <a:ext cx="66675" cy="12573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EA492787-D2A8-4633-9739-103016811D54}"/>
              </a:ext>
            </a:extLst>
          </p:cNvPr>
          <p:cNvSpPr>
            <a:spLocks xmlns:a="http://schemas.openxmlformats.org/drawingml/2006/main" noGrp="1"/>
          </p:cNvSpPr>
          <p:nvPr/>
        </p:nvSpPr>
        <p:spPr>
          <a:xfrm xmlns:a="http://schemas.openxmlformats.org/drawingml/2006/main">
            <a:off x="4019550" y="40767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6" name="">
            <a:extLst xmlns:a="http://schemas.openxmlformats.org/drawingml/2006/main">
              <a:ext uri="{FF2B5EF4-FFF2-40B4-BE49-F238E27FC236}">
                <a16:creationId xmlns:a16="http://schemas.microsoft.com/office/drawing/2014/main" id="{FA1C0A33-0EC0-4182-97AB-69845CCDD0CA}"/>
              </a:ext>
            </a:extLst>
          </p:cNvPr>
          <p:cNvSpPr>
            <a:spLocks xmlns:a="http://schemas.openxmlformats.org/drawingml/2006/main" noGrp="1"/>
          </p:cNvSpPr>
          <p:nvPr/>
        </p:nvSpPr>
        <p:spPr>
          <a:xfrm xmlns:a="http://schemas.openxmlformats.org/drawingml/2006/main">
            <a:off x="4019550" y="436245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MEA</a:t>
            </a:r>
          </a:p>
        </p:txBody>
      </p:sp>
      <p:sp>
        <p:nvSpPr>
          <p:cNvPr id="37" name="">
            <a:extLst xmlns:a="http://schemas.openxmlformats.org/drawingml/2006/main">
              <a:ext uri="{FF2B5EF4-FFF2-40B4-BE49-F238E27FC236}">
                <a16:creationId xmlns:a16="http://schemas.microsoft.com/office/drawing/2014/main" id="{9F6401CC-A86A-46DE-89DA-F5F8A1A4AD48}"/>
              </a:ext>
            </a:extLst>
          </p:cNvPr>
          <p:cNvSpPr>
            <a:spLocks xmlns:a="http://schemas.openxmlformats.org/drawingml/2006/main" noGrp="1"/>
          </p:cNvSpPr>
          <p:nvPr/>
        </p:nvSpPr>
        <p:spPr>
          <a:xfrm xmlns:a="http://schemas.openxmlformats.org/drawingml/2006/main">
            <a:off x="4019550" y="461010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oscillation</a:t>
            </a:r>
          </a:p>
          <a:p xmlns:a="http://schemas.openxmlformats.org/drawingml/2006/main">
            <a:pPr algn="l">
              <a:defRPr sz="825" b="0">
                <a:solidFill>
                  <a:srgbClr val="344146"/>
                </a:solidFill>
              </a:defRPr>
            </a:pPr>
            <a:r>
              <a:rPr sz="825" b="0">
                <a:solidFill>
                  <a:srgbClr val="344146"/>
                </a:solidFill>
              </a:rPr>
              <a:t>Fitzgerald</a:t>
            </a:r>
          </a:p>
        </p:txBody>
      </p:sp>
      <p:sp>
        <p:nvSpPr>
          <p:cNvPr id="38" name="">
            <a:extLst xmlns:a="http://schemas.openxmlformats.org/drawingml/2006/main">
              <a:ext uri="{FF2B5EF4-FFF2-40B4-BE49-F238E27FC236}">
                <a16:creationId xmlns:a16="http://schemas.microsoft.com/office/drawing/2014/main" id="{C984D756-AD52-4C0B-B9AE-596583AD9BEA}"/>
              </a:ext>
            </a:extLst>
          </p:cNvPr>
          <p:cNvSpPr>
            <a:spLocks xmlns:a="http://schemas.openxmlformats.org/drawingml/2006/main" noGrp="1"/>
          </p:cNvSpPr>
          <p:nvPr/>
        </p:nvSpPr>
        <p:spPr>
          <a:xfrm xmlns:a="http://schemas.openxmlformats.org/drawingml/2006/main">
            <a:off x="6572250" y="392430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39" name="">
            <a:extLst xmlns:a="http://schemas.openxmlformats.org/drawingml/2006/main">
              <a:ext uri="{FF2B5EF4-FFF2-40B4-BE49-F238E27FC236}">
                <a16:creationId xmlns:a16="http://schemas.microsoft.com/office/drawing/2014/main" id="{9F914EFD-DA10-484B-B0C4-D6CE7F47F6B9}"/>
              </a:ext>
            </a:extLst>
          </p:cNvPr>
          <p:cNvSpPr>
            <a:spLocks xmlns:a="http://schemas.openxmlformats.org/drawingml/2006/main" noGrp="1"/>
          </p:cNvSpPr>
          <p:nvPr/>
        </p:nvSpPr>
        <p:spPr>
          <a:xfrm xmlns:a="http://schemas.openxmlformats.org/drawingml/2006/main">
            <a:off x="6572250" y="3924300"/>
            <a:ext cx="66675" cy="125730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4641A93F-6615-4163-8A98-0BC91C8C7F54}"/>
              </a:ext>
            </a:extLst>
          </p:cNvPr>
          <p:cNvSpPr>
            <a:spLocks xmlns:a="http://schemas.openxmlformats.org/drawingml/2006/main" noGrp="1"/>
          </p:cNvSpPr>
          <p:nvPr/>
        </p:nvSpPr>
        <p:spPr>
          <a:xfrm xmlns:a="http://schemas.openxmlformats.org/drawingml/2006/main">
            <a:off x="6743700" y="40767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1" name="">
            <a:extLst xmlns:a="http://schemas.openxmlformats.org/drawingml/2006/main">
              <a:ext uri="{FF2B5EF4-FFF2-40B4-BE49-F238E27FC236}">
                <a16:creationId xmlns:a16="http://schemas.microsoft.com/office/drawing/2014/main" id="{C508E38A-EA99-4C28-9F6F-8EE3950FCEB5}"/>
              </a:ext>
            </a:extLst>
          </p:cNvPr>
          <p:cNvSpPr>
            <a:spLocks xmlns:a="http://schemas.openxmlformats.org/drawingml/2006/main" noGrp="1"/>
          </p:cNvSpPr>
          <p:nvPr/>
        </p:nvSpPr>
        <p:spPr>
          <a:xfrm xmlns:a="http://schemas.openxmlformats.org/drawingml/2006/main">
            <a:off x="6743700" y="436245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host circuit</a:t>
            </a:r>
          </a:p>
        </p:txBody>
      </p:sp>
      <p:sp>
        <p:nvSpPr>
          <p:cNvPr id="42" name="">
            <a:extLst xmlns:a="http://schemas.openxmlformats.org/drawingml/2006/main">
              <a:ext uri="{FF2B5EF4-FFF2-40B4-BE49-F238E27FC236}">
                <a16:creationId xmlns:a16="http://schemas.microsoft.com/office/drawing/2014/main" id="{F6F1D4FF-1D1A-458B-989D-401EE51FE7EB}"/>
              </a:ext>
            </a:extLst>
          </p:cNvPr>
          <p:cNvSpPr>
            <a:spLocks xmlns:a="http://schemas.openxmlformats.org/drawingml/2006/main" noGrp="1"/>
          </p:cNvSpPr>
          <p:nvPr/>
        </p:nvSpPr>
        <p:spPr>
          <a:xfrm xmlns:a="http://schemas.openxmlformats.org/drawingml/2006/main">
            <a:off x="6743700" y="461010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integration</a:t>
            </a:r>
          </a:p>
          <a:p xmlns:a="http://schemas.openxmlformats.org/drawingml/2006/main">
            <a:pPr algn="l">
              <a:defRPr sz="825" b="0">
                <a:solidFill>
                  <a:srgbClr val="344146"/>
                </a:solidFill>
              </a:defRPr>
            </a:pPr>
            <a:r>
              <a:rPr sz="825" b="0">
                <a:solidFill>
                  <a:srgbClr val="344146"/>
                </a:solidFill>
              </a:rPr>
              <a:t>Kelley</a:t>
            </a:r>
          </a:p>
        </p:txBody>
      </p:sp>
      <p:sp>
        <p:nvSpPr>
          <p:cNvPr id="43" name="">
            <a:extLst xmlns:a="http://schemas.openxmlformats.org/drawingml/2006/main">
              <a:ext uri="{FF2B5EF4-FFF2-40B4-BE49-F238E27FC236}">
                <a16:creationId xmlns:a16="http://schemas.microsoft.com/office/drawing/2014/main" id="{9FD63DF9-97E8-4B08-AEB8-63F76C816DFD}"/>
              </a:ext>
            </a:extLst>
          </p:cNvPr>
          <p:cNvSpPr>
            <a:spLocks xmlns:a="http://schemas.openxmlformats.org/drawingml/2006/main" noGrp="1"/>
          </p:cNvSpPr>
          <p:nvPr/>
        </p:nvSpPr>
        <p:spPr>
          <a:xfrm xmlns:a="http://schemas.openxmlformats.org/drawingml/2006/main">
            <a:off x="9296400" y="392430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44" name="">
            <a:extLst xmlns:a="http://schemas.openxmlformats.org/drawingml/2006/main">
              <a:ext uri="{FF2B5EF4-FFF2-40B4-BE49-F238E27FC236}">
                <a16:creationId xmlns:a16="http://schemas.microsoft.com/office/drawing/2014/main" id="{42354D64-F273-4207-ACB0-E4705F055384}"/>
              </a:ext>
            </a:extLst>
          </p:cNvPr>
          <p:cNvSpPr>
            <a:spLocks xmlns:a="http://schemas.openxmlformats.org/drawingml/2006/main" noGrp="1"/>
          </p:cNvSpPr>
          <p:nvPr/>
        </p:nvSpPr>
        <p:spPr>
          <a:xfrm xmlns:a="http://schemas.openxmlformats.org/drawingml/2006/main">
            <a:off x="9296400" y="3924300"/>
            <a:ext cx="66675" cy="1257300"/>
          </a:xfrm>
          <a:prstGeom xmlns:a="http://schemas.openxmlformats.org/drawingml/2006/main" prst="rect">
            <a:avLst/>
          </a:prstGeom>
          <a:solidFill xmlns:a="http://schemas.openxmlformats.org/drawingml/2006/main">
            <a:srgbClr val="7D6AA7"/>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7E05032D-D08C-4CB3-AD78-AE568AD591A6}"/>
              </a:ext>
            </a:extLst>
          </p:cNvPr>
          <p:cNvSpPr>
            <a:spLocks xmlns:a="http://schemas.openxmlformats.org/drawingml/2006/main" noGrp="1"/>
          </p:cNvSpPr>
          <p:nvPr/>
        </p:nvSpPr>
        <p:spPr>
          <a:xfrm xmlns:a="http://schemas.openxmlformats.org/drawingml/2006/main">
            <a:off x="9467850" y="40767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6" name="">
            <a:extLst xmlns:a="http://schemas.openxmlformats.org/drawingml/2006/main">
              <a:ext uri="{FF2B5EF4-FFF2-40B4-BE49-F238E27FC236}">
                <a16:creationId xmlns:a16="http://schemas.microsoft.com/office/drawing/2014/main" id="{EEC9E956-55C0-474B-92C1-88E8170BD69C}"/>
              </a:ext>
            </a:extLst>
          </p:cNvPr>
          <p:cNvSpPr>
            <a:spLocks xmlns:a="http://schemas.openxmlformats.org/drawingml/2006/main" noGrp="1"/>
          </p:cNvSpPr>
          <p:nvPr/>
        </p:nvSpPr>
        <p:spPr>
          <a:xfrm xmlns:a="http://schemas.openxmlformats.org/drawingml/2006/main">
            <a:off x="9467850" y="436245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screening</a:t>
            </a:r>
          </a:p>
        </p:txBody>
      </p:sp>
      <p:sp>
        <p:nvSpPr>
          <p:cNvPr id="47" name="">
            <a:extLst xmlns:a="http://schemas.openxmlformats.org/drawingml/2006/main">
              <a:ext uri="{FF2B5EF4-FFF2-40B4-BE49-F238E27FC236}">
                <a16:creationId xmlns:a16="http://schemas.microsoft.com/office/drawing/2014/main" id="{20591A73-FA7B-4402-867B-CE07735667B5}"/>
              </a:ext>
            </a:extLst>
          </p:cNvPr>
          <p:cNvSpPr>
            <a:spLocks xmlns:a="http://schemas.openxmlformats.org/drawingml/2006/main" noGrp="1"/>
          </p:cNvSpPr>
          <p:nvPr/>
        </p:nvSpPr>
        <p:spPr>
          <a:xfrm xmlns:a="http://schemas.openxmlformats.org/drawingml/2006/main">
            <a:off x="9467850" y="461010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perturbation</a:t>
            </a:r>
          </a:p>
          <a:p xmlns:a="http://schemas.openxmlformats.org/drawingml/2006/main">
            <a:pPr algn="l">
              <a:defRPr sz="825" b="0">
                <a:solidFill>
                  <a:srgbClr val="344146"/>
                </a:solidFill>
              </a:defRPr>
            </a:pPr>
            <a:r>
              <a:rPr sz="825" b="0">
                <a:solidFill>
                  <a:srgbClr val="344146"/>
                </a:solidFill>
              </a:rPr>
              <a:t>Chen / Meng</a:t>
            </a:r>
          </a:p>
        </p:txBody>
      </p:sp>
      <p:sp>
        <p:nvSpPr>
          <p:cNvPr id="48" name="">
            <a:extLst xmlns:a="http://schemas.openxmlformats.org/drawingml/2006/main">
              <a:ext uri="{FF2B5EF4-FFF2-40B4-BE49-F238E27FC236}">
                <a16:creationId xmlns:a16="http://schemas.microsoft.com/office/drawing/2014/main" id="{6D366893-9473-4C8E-BA9C-D16AE7EF20FC}"/>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최종 질문: 어느 region을 만들까? 보다 무엇을 먼저 믿고 싶은가?</a:t>
            </a:r>
          </a:p>
        </p:txBody>
      </p:sp>
    </p:spTree>
    <p:extLst>
      <p:ext uri="{BB962C8B-B14F-4D97-AF65-F5344CB8AC3E}">
        <p14:creationId xmlns:p14="http://schemas.microsoft.com/office/powerpoint/2010/main" val="787067506"/>
      </p:ext>
    </p:extLst>
  </p:cSld>
</p:sld>
</file>

<file path=ppt/slides/slide11.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960B6032-F217-4E1A-A5DD-55BD6786A62D}"/>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ba9e852e65c4b15"/>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A52D9098-2D43-4E28-B538-1A6DD387E9C3}"/>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3A9BF062-74B9-49CE-B1C5-09FF8FF52CB1}"/>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3BA89900-2B8E-4CE8-AC90-3EEB91C28D80}"/>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32C55214-CA06-491D-924E-ED2147FF5B0F}"/>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E64D7267-3F5E-4470-A40E-F5745C90FAD7}"/>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31685AC0-E1C4-4D00-86A3-205D1E68E06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E2252E4B-4D0E-44EB-8C7D-DFDBEE942DD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REVIEW WRITING</a:t>
            </a:r>
          </a:p>
        </p:txBody>
      </p:sp>
      <p:sp>
        <p:nvSpPr>
          <p:cNvPr id="10" name="">
            <a:extLst xmlns:a="http://schemas.openxmlformats.org/drawingml/2006/main">
              <a:ext uri="{FF2B5EF4-FFF2-40B4-BE49-F238E27FC236}">
                <a16:creationId xmlns:a16="http://schemas.microsoft.com/office/drawing/2014/main" id="{ADD5F0F7-796E-4926-9990-6D771D9569EB}"/>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11 / 12</a:t>
            </a:r>
          </a:p>
        </p:txBody>
      </p:sp>
      <p:sp>
        <p:nvSpPr>
          <p:cNvPr id="11" name="">
            <a:extLst xmlns:a="http://schemas.openxmlformats.org/drawingml/2006/main">
              <a:ext uri="{FF2B5EF4-FFF2-40B4-BE49-F238E27FC236}">
                <a16:creationId xmlns:a16="http://schemas.microsoft.com/office/drawing/2014/main" id="{D243EB5E-D3F1-43EA-B397-6B3A38CD8E2D}"/>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3A2782DC-9CBE-492C-AC01-61720E8D1270}"/>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3BB6EC63-E057-43E6-96C1-6FEEA1DBB27E}"/>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이 질문 체인이</a:t>
            </a:r>
          </a:p>
          <a:p xmlns:a="http://schemas.openxmlformats.org/drawingml/2006/main">
            <a:pPr algn="l">
              <a:defRPr sz="2850" b="1">
                <a:solidFill>
                  <a:srgbClr val="132024"/>
                </a:solidFill>
              </a:defRPr>
            </a:pPr>
            <a:r>
              <a:rPr sz="2850" b="1">
                <a:solidFill>
                  <a:srgbClr val="132024"/>
                </a:solidFill>
              </a:rPr>
              <a:t>리뷰 논문 구조에 준 영향</a:t>
            </a:r>
          </a:p>
        </p:txBody>
      </p:sp>
      <p:sp>
        <p:nvSpPr>
          <p:cNvPr id="14" name="">
            <a:extLst xmlns:a="http://schemas.openxmlformats.org/drawingml/2006/main">
              <a:ext uri="{FF2B5EF4-FFF2-40B4-BE49-F238E27FC236}">
                <a16:creationId xmlns:a16="http://schemas.microsoft.com/office/drawing/2014/main" id="{9D6387BF-8E1F-4375-ABB7-47D92096A12A}"/>
              </a:ext>
            </a:extLst>
          </p:cNvPr>
          <p:cNvSpPr>
            <a:spLocks xmlns:a="http://schemas.openxmlformats.org/drawingml/2006/main" noGrp="1"/>
          </p:cNvSpPr>
          <p:nvPr/>
        </p:nvSpPr>
        <p:spPr>
          <a:xfrm xmlns:a="http://schemas.openxmlformats.org/drawingml/2006/main">
            <a:off x="704850" y="2209800"/>
            <a:ext cx="3162300" cy="2400300"/>
          </a:xfrm>
          <a:prstGeom xmlns:a="http://schemas.openxmlformats.org/drawingml/2006/main" prst="roundRect">
            <a:avLst>
              <a:gd name="adj" fmla="val 317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45005616-496A-4F15-B37F-853D58EB7AB2}"/>
              </a:ext>
            </a:extLst>
          </p:cNvPr>
          <p:cNvSpPr>
            <a:spLocks xmlns:a="http://schemas.openxmlformats.org/drawingml/2006/main" noGrp="1"/>
          </p:cNvSpPr>
          <p:nvPr/>
        </p:nvSpPr>
        <p:spPr>
          <a:xfrm xmlns:a="http://schemas.openxmlformats.org/drawingml/2006/main">
            <a:off x="704850" y="2209800"/>
            <a:ext cx="316230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217BD277-8141-42A4-BB8F-4B4D4F35D359}"/>
              </a:ext>
            </a:extLst>
          </p:cNvPr>
          <p:cNvSpPr>
            <a:spLocks xmlns:a="http://schemas.openxmlformats.org/drawingml/2006/main" noGrp="1"/>
          </p:cNvSpPr>
          <p:nvPr/>
        </p:nvSpPr>
        <p:spPr>
          <a:xfrm xmlns:a="http://schemas.openxmlformats.org/drawingml/2006/main">
            <a:off x="914400" y="2400300"/>
            <a:ext cx="2743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리뷰 1장</a:t>
            </a:r>
          </a:p>
        </p:txBody>
      </p:sp>
      <p:sp>
        <p:nvSpPr>
          <p:cNvPr id="17" name="">
            <a:extLst xmlns:a="http://schemas.openxmlformats.org/drawingml/2006/main">
              <a:ext uri="{FF2B5EF4-FFF2-40B4-BE49-F238E27FC236}">
                <a16:creationId xmlns:a16="http://schemas.microsoft.com/office/drawing/2014/main" id="{06EBAC93-49C6-405E-AA7F-34C7BC650910}"/>
              </a:ext>
            </a:extLst>
          </p:cNvPr>
          <p:cNvSpPr>
            <a:spLocks xmlns:a="http://schemas.openxmlformats.org/drawingml/2006/main" noGrp="1"/>
          </p:cNvSpPr>
          <p:nvPr/>
        </p:nvSpPr>
        <p:spPr>
          <a:xfrm xmlns:a="http://schemas.openxmlformats.org/drawingml/2006/main">
            <a:off x="914400" y="2819400"/>
            <a:ext cx="2743200" cy="1619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brain organoid baseline</a:t>
            </a:r>
          </a:p>
          <a:p xmlns:a="http://schemas.openxmlformats.org/drawingml/2006/main">
            <a:pPr algn="l">
              <a:defRPr sz="1200" b="0">
                <a:solidFill>
                  <a:srgbClr val="132024"/>
                </a:solidFill>
              </a:defRPr>
            </a:pPr>
            <a:r>
              <a:rPr sz="1200" b="0">
                <a:solidFill>
                  <a:srgbClr val="132024"/>
                </a:solidFill>
              </a:rPr>
              <a:t>family whole cerebral -&gt;</a:t>
            </a:r>
          </a:p>
          <a:p xmlns:a="http://schemas.openxmlformats.org/drawingml/2006/main">
            <a:pPr algn="l">
              <a:defRPr sz="1200" b="0">
                <a:solidFill>
                  <a:srgbClr val="132024"/>
                </a:solidFill>
              </a:defRPr>
            </a:pPr>
            <a:r>
              <a:rPr sz="1200" b="0">
                <a:solidFill>
                  <a:srgbClr val="132024"/>
                </a:solidFill>
              </a:rPr>
              <a:t>forebrain / cortical -&gt;</a:t>
            </a:r>
          </a:p>
          <a:p xmlns:a="http://schemas.openxmlformats.org/drawingml/2006/main">
            <a:pPr algn="l">
              <a:defRPr sz="1200" b="0">
                <a:solidFill>
                  <a:srgbClr val="132024"/>
                </a:solidFill>
              </a:defRPr>
            </a:pPr>
            <a:r>
              <a:rPr sz="1200" b="0">
                <a:solidFill>
                  <a:srgbClr val="132024"/>
                </a:solidFill>
              </a:rPr>
              <a:t>posterior / niche routes</a:t>
            </a:r>
          </a:p>
        </p:txBody>
      </p:sp>
      <p:sp>
        <p:nvSpPr>
          <p:cNvPr id="18" name="">
            <a:extLst xmlns:a="http://schemas.openxmlformats.org/drawingml/2006/main">
              <a:ext uri="{FF2B5EF4-FFF2-40B4-BE49-F238E27FC236}">
                <a16:creationId xmlns:a16="http://schemas.microsoft.com/office/drawing/2014/main" id="{A05B4609-BC6D-4216-A967-0FBF48A148B1}"/>
              </a:ext>
            </a:extLst>
          </p:cNvPr>
          <p:cNvSpPr>
            <a:spLocks xmlns:a="http://schemas.openxmlformats.org/drawingml/2006/main" noGrp="1"/>
          </p:cNvSpPr>
          <p:nvPr/>
        </p:nvSpPr>
        <p:spPr>
          <a:xfrm xmlns:a="http://schemas.openxmlformats.org/drawingml/2006/main">
            <a:off x="4000500" y="3257550"/>
            <a:ext cx="7048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19" name="">
            <a:extLst xmlns:a="http://schemas.openxmlformats.org/drawingml/2006/main">
              <a:ext uri="{FF2B5EF4-FFF2-40B4-BE49-F238E27FC236}">
                <a16:creationId xmlns:a16="http://schemas.microsoft.com/office/drawing/2014/main" id="{95C35A51-1565-48AD-9E1F-0BE99DD5246C}"/>
              </a:ext>
            </a:extLst>
          </p:cNvPr>
          <p:cNvSpPr>
            <a:spLocks xmlns:a="http://schemas.openxmlformats.org/drawingml/2006/main" noGrp="1"/>
          </p:cNvSpPr>
          <p:nvPr/>
        </p:nvSpPr>
        <p:spPr>
          <a:xfrm xmlns:a="http://schemas.openxmlformats.org/drawingml/2006/main">
            <a:off x="4762500" y="2209800"/>
            <a:ext cx="3162300" cy="2400300"/>
          </a:xfrm>
          <a:prstGeom xmlns:a="http://schemas.openxmlformats.org/drawingml/2006/main" prst="roundRect">
            <a:avLst>
              <a:gd name="adj" fmla="val 317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0" name="">
            <a:extLst xmlns:a="http://schemas.openxmlformats.org/drawingml/2006/main">
              <a:ext uri="{FF2B5EF4-FFF2-40B4-BE49-F238E27FC236}">
                <a16:creationId xmlns:a16="http://schemas.microsoft.com/office/drawing/2014/main" id="{BBB38B7A-706E-4394-B210-F1F688DBB8E2}"/>
              </a:ext>
            </a:extLst>
          </p:cNvPr>
          <p:cNvSpPr>
            <a:spLocks xmlns:a="http://schemas.openxmlformats.org/drawingml/2006/main" noGrp="1"/>
          </p:cNvSpPr>
          <p:nvPr/>
        </p:nvSpPr>
        <p:spPr>
          <a:xfrm xmlns:a="http://schemas.openxmlformats.org/drawingml/2006/main">
            <a:off x="4762500" y="2209800"/>
            <a:ext cx="316230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388CC5E5-03F7-4DF2-BD81-A13AAA33F208}"/>
              </a:ext>
            </a:extLst>
          </p:cNvPr>
          <p:cNvSpPr>
            <a:spLocks xmlns:a="http://schemas.openxmlformats.org/drawingml/2006/main" noGrp="1"/>
          </p:cNvSpPr>
          <p:nvPr/>
        </p:nvSpPr>
        <p:spPr>
          <a:xfrm xmlns:a="http://schemas.openxmlformats.org/drawingml/2006/main">
            <a:off x="4972050" y="2400300"/>
            <a:ext cx="2743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리뷰 2장</a:t>
            </a:r>
          </a:p>
        </p:txBody>
      </p:sp>
      <p:sp>
        <p:nvSpPr>
          <p:cNvPr id="22" name="">
            <a:extLst xmlns:a="http://schemas.openxmlformats.org/drawingml/2006/main">
              <a:ext uri="{FF2B5EF4-FFF2-40B4-BE49-F238E27FC236}">
                <a16:creationId xmlns:a16="http://schemas.microsoft.com/office/drawing/2014/main" id="{D1DD6816-FDF1-4A42-B68F-AC3E4DD5EEA2}"/>
              </a:ext>
            </a:extLst>
          </p:cNvPr>
          <p:cNvSpPr>
            <a:spLocks xmlns:a="http://schemas.openxmlformats.org/drawingml/2006/main" noGrp="1"/>
          </p:cNvSpPr>
          <p:nvPr/>
        </p:nvSpPr>
        <p:spPr>
          <a:xfrm xmlns:a="http://schemas.openxmlformats.org/drawingml/2006/main">
            <a:off x="4972050" y="2819400"/>
            <a:ext cx="2743200" cy="1619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protocol benchmark axes</a:t>
            </a:r>
          </a:p>
          <a:p xmlns:a="http://schemas.openxmlformats.org/drawingml/2006/main">
            <a:pPr algn="l">
              <a:defRPr sz="1200" b="0">
                <a:solidFill>
                  <a:srgbClr val="132024"/>
                </a:solidFill>
              </a:defRPr>
            </a:pPr>
            <a:r>
              <a:rPr sz="1200" b="0">
                <a:solidFill>
                  <a:srgbClr val="132024"/>
                </a:solidFill>
              </a:rPr>
              <a:t>reproducibility, fidelity,</a:t>
            </a:r>
          </a:p>
          <a:p xmlns:a="http://schemas.openxmlformats.org/drawingml/2006/main">
            <a:pPr algn="l">
              <a:defRPr sz="1200" b="0">
                <a:solidFill>
                  <a:srgbClr val="132024"/>
                </a:solidFill>
              </a:defRPr>
            </a:pPr>
            <a:r>
              <a:rPr sz="1200" b="0">
                <a:solidFill>
                  <a:srgbClr val="132024"/>
                </a:solidFill>
              </a:rPr>
              <a:t>timing, atlas alignment</a:t>
            </a:r>
          </a:p>
        </p:txBody>
      </p:sp>
      <p:sp>
        <p:nvSpPr>
          <p:cNvPr id="23" name="">
            <a:extLst xmlns:a="http://schemas.openxmlformats.org/drawingml/2006/main">
              <a:ext uri="{FF2B5EF4-FFF2-40B4-BE49-F238E27FC236}">
                <a16:creationId xmlns:a16="http://schemas.microsoft.com/office/drawing/2014/main" id="{913D0341-05E4-4438-824A-92CA1C3CEFE7}"/>
              </a:ext>
            </a:extLst>
          </p:cNvPr>
          <p:cNvSpPr>
            <a:spLocks xmlns:a="http://schemas.openxmlformats.org/drawingml/2006/main" noGrp="1"/>
          </p:cNvSpPr>
          <p:nvPr/>
        </p:nvSpPr>
        <p:spPr>
          <a:xfrm xmlns:a="http://schemas.openxmlformats.org/drawingml/2006/main">
            <a:off x="8058150" y="3257550"/>
            <a:ext cx="7048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24" name="">
            <a:extLst xmlns:a="http://schemas.openxmlformats.org/drawingml/2006/main">
              <a:ext uri="{FF2B5EF4-FFF2-40B4-BE49-F238E27FC236}">
                <a16:creationId xmlns:a16="http://schemas.microsoft.com/office/drawing/2014/main" id="{9F6390D0-8126-4229-81A4-59032DA927D4}"/>
              </a:ext>
            </a:extLst>
          </p:cNvPr>
          <p:cNvSpPr>
            <a:spLocks xmlns:a="http://schemas.openxmlformats.org/drawingml/2006/main" noGrp="1"/>
          </p:cNvSpPr>
          <p:nvPr/>
        </p:nvSpPr>
        <p:spPr>
          <a:xfrm xmlns:a="http://schemas.openxmlformats.org/drawingml/2006/main">
            <a:off x="8820150" y="2209800"/>
            <a:ext cx="2667000" cy="2400300"/>
          </a:xfrm>
          <a:prstGeom xmlns:a="http://schemas.openxmlformats.org/drawingml/2006/main" prst="roundRect">
            <a:avLst>
              <a:gd name="adj" fmla="val 317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5" name="">
            <a:extLst xmlns:a="http://schemas.openxmlformats.org/drawingml/2006/main">
              <a:ext uri="{FF2B5EF4-FFF2-40B4-BE49-F238E27FC236}">
                <a16:creationId xmlns:a16="http://schemas.microsoft.com/office/drawing/2014/main" id="{A1AB046F-84FA-433D-9BFE-235AFD61CC72}"/>
              </a:ext>
            </a:extLst>
          </p:cNvPr>
          <p:cNvSpPr>
            <a:spLocks xmlns:a="http://schemas.openxmlformats.org/drawingml/2006/main" noGrp="1"/>
          </p:cNvSpPr>
          <p:nvPr/>
        </p:nvSpPr>
        <p:spPr>
          <a:xfrm xmlns:a="http://schemas.openxmlformats.org/drawingml/2006/main">
            <a:off x="8820150" y="2209800"/>
            <a:ext cx="2667000" cy="76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2BD8FDE3-2F26-4B8A-AE22-48259EAB548C}"/>
              </a:ext>
            </a:extLst>
          </p:cNvPr>
          <p:cNvSpPr>
            <a:spLocks xmlns:a="http://schemas.openxmlformats.org/drawingml/2006/main" noGrp="1"/>
          </p:cNvSpPr>
          <p:nvPr/>
        </p:nvSpPr>
        <p:spPr>
          <a:xfrm xmlns:a="http://schemas.openxmlformats.org/drawingml/2006/main">
            <a:off x="9029700" y="2400300"/>
            <a:ext cx="22479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리뷰 3장</a:t>
            </a:r>
          </a:p>
        </p:txBody>
      </p:sp>
      <p:sp>
        <p:nvSpPr>
          <p:cNvPr id="27" name="">
            <a:extLst xmlns:a="http://schemas.openxmlformats.org/drawingml/2006/main">
              <a:ext uri="{FF2B5EF4-FFF2-40B4-BE49-F238E27FC236}">
                <a16:creationId xmlns:a16="http://schemas.microsoft.com/office/drawing/2014/main" id="{C1A75C71-4558-43EF-B3F3-C8395F6C19DD}"/>
              </a:ext>
            </a:extLst>
          </p:cNvPr>
          <p:cNvSpPr>
            <a:spLocks xmlns:a="http://schemas.openxmlformats.org/drawingml/2006/main" noGrp="1"/>
          </p:cNvSpPr>
          <p:nvPr/>
        </p:nvSpPr>
        <p:spPr>
          <a:xfrm xmlns:a="http://schemas.openxmlformats.org/drawingml/2006/main">
            <a:off x="9029700" y="2819400"/>
            <a:ext cx="2247900" cy="1619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readout-first selection</a:t>
            </a:r>
          </a:p>
          <a:p xmlns:a="http://schemas.openxmlformats.org/drawingml/2006/main">
            <a:pPr algn="l">
              <a:defRPr sz="1200" b="0">
                <a:solidFill>
                  <a:srgbClr val="132024"/>
                </a:solidFill>
              </a:defRPr>
            </a:pPr>
            <a:r>
              <a:rPr sz="1200" b="0">
                <a:solidFill>
                  <a:srgbClr val="132024"/>
                </a:solidFill>
              </a:rPr>
              <a:t>rule MEA, host, atlas,</a:t>
            </a:r>
          </a:p>
          <a:p xmlns:a="http://schemas.openxmlformats.org/drawingml/2006/main">
            <a:pPr algn="l">
              <a:defRPr sz="1200" b="0">
                <a:solidFill>
                  <a:srgbClr val="132024"/>
                </a:solidFill>
              </a:defRPr>
            </a:pPr>
            <a:r>
              <a:rPr sz="1200" b="0">
                <a:solidFill>
                  <a:srgbClr val="132024"/>
                </a:solidFill>
              </a:rPr>
              <a:t>screening</a:t>
            </a:r>
          </a:p>
        </p:txBody>
      </p:sp>
      <p:sp>
        <p:nvSpPr>
          <p:cNvPr id="28" name="">
            <a:extLst xmlns:a="http://schemas.openxmlformats.org/drawingml/2006/main">
              <a:ext uri="{FF2B5EF4-FFF2-40B4-BE49-F238E27FC236}">
                <a16:creationId xmlns:a16="http://schemas.microsoft.com/office/drawing/2014/main" id="{BD59825F-D55E-4B1E-8A59-69662D2B4F4D}"/>
              </a:ext>
            </a:extLst>
          </p:cNvPr>
          <p:cNvSpPr>
            <a:spLocks xmlns:a="http://schemas.openxmlformats.org/drawingml/2006/main" noGrp="1"/>
          </p:cNvSpPr>
          <p:nvPr/>
        </p:nvSpPr>
        <p:spPr>
          <a:xfrm xmlns:a="http://schemas.openxmlformats.org/drawingml/2006/main">
            <a:off x="723900" y="5029200"/>
            <a:ext cx="10744200" cy="819150"/>
          </a:xfrm>
          <a:prstGeom xmlns:a="http://schemas.openxmlformats.org/drawingml/2006/main" prst="roundRect">
            <a:avLst>
              <a:gd name="adj" fmla="val 9302"/>
            </a:avLst>
          </a:prstGeom>
          <a:solidFill xmlns:a="http://schemas.openxmlformats.org/drawingml/2006/main">
            <a:srgbClr val="F4E8C8"/>
          </a:solidFill>
          <a:ln xmlns:a="http://schemas.openxmlformats.org/drawingml/2006/main" w="11430">
            <a:solidFill>
              <a:srgbClr val="132024"/>
            </a:solidFill>
            <a:prstDash val="solid"/>
          </a:ln>
        </p:spPr>
      </p:sp>
      <p:sp>
        <p:nvSpPr>
          <p:cNvPr id="29" name="">
            <a:extLst xmlns:a="http://schemas.openxmlformats.org/drawingml/2006/main">
              <a:ext uri="{FF2B5EF4-FFF2-40B4-BE49-F238E27FC236}">
                <a16:creationId xmlns:a16="http://schemas.microsoft.com/office/drawing/2014/main" id="{3A5674C4-3B09-4D9E-92F3-B9D3A67F337B}"/>
              </a:ext>
            </a:extLst>
          </p:cNvPr>
          <p:cNvSpPr>
            <a:spLocks xmlns:a="http://schemas.openxmlformats.org/drawingml/2006/main" noGrp="1"/>
          </p:cNvSpPr>
          <p:nvPr/>
        </p:nvSpPr>
        <p:spPr>
          <a:xfrm xmlns:a="http://schemas.openxmlformats.org/drawingml/2006/main">
            <a:off x="723900" y="5029200"/>
            <a:ext cx="76200" cy="819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9BBF5409-3A31-40E4-8133-D60FDB4D3319}"/>
              </a:ext>
            </a:extLst>
          </p:cNvPr>
          <p:cNvSpPr>
            <a:spLocks xmlns:a="http://schemas.openxmlformats.org/drawingml/2006/main" noGrp="1"/>
          </p:cNvSpPr>
          <p:nvPr/>
        </p:nvSpPr>
        <p:spPr>
          <a:xfrm xmlns:a="http://schemas.openxmlformats.org/drawingml/2006/main">
            <a:off x="933450" y="5181600"/>
            <a:ext cx="103632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즉 발표는 질문이 변한 과정을 보여주고, 리뷰 논문은 그 과정이 남긴 organizing principle을 글의 장 구조로 고정한다.</a:t>
            </a:r>
          </a:p>
        </p:txBody>
      </p:sp>
      <p:sp>
        <p:nvSpPr>
          <p:cNvPr id="31" name="">
            <a:extLst xmlns:a="http://schemas.openxmlformats.org/drawingml/2006/main">
              <a:ext uri="{FF2B5EF4-FFF2-40B4-BE49-F238E27FC236}">
                <a16:creationId xmlns:a16="http://schemas.microsoft.com/office/drawing/2014/main" id="{FECC0E2F-6AF3-4BE0-951D-EF074EB9E3B9}"/>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발표와 리뷰 논문이 따로 노는 것이 아니라, 같은 위키 체인의 서로 다른 출력물이라는 점을 보여준다.</a:t>
            </a:r>
          </a:p>
        </p:txBody>
      </p:sp>
    </p:spTree>
    <p:extLst>
      <p:ext uri="{BB962C8B-B14F-4D97-AF65-F5344CB8AC3E}">
        <p14:creationId xmlns:p14="http://schemas.microsoft.com/office/powerpoint/2010/main" val="1370780609"/>
      </p:ext>
    </p:extLst>
  </p:cSld>
</p:sld>
</file>

<file path=ppt/slides/slide12.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960B6032-F217-4E1A-A5DD-55BD6786A62D}"/>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cfa3a8900a841c8"/>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C80F7C23-607F-40E5-BFE5-A38764698413}"/>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29B5BD61-F9EC-4029-A669-AEF0FCE0215F}"/>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87228B47-3A71-435A-A01B-3E8EF4513923}"/>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CB44074F-8F39-4D52-A86D-709F9AE64B94}"/>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F6010B32-3508-4015-B92A-8F0C6889A27D}"/>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7B3E7D01-DB4E-4C5B-860E-24B844186E8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8213490E-2373-4845-85BE-91259D48EA7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CLOSING</a:t>
            </a:r>
          </a:p>
        </p:txBody>
      </p:sp>
      <p:sp>
        <p:nvSpPr>
          <p:cNvPr id="10" name="">
            <a:extLst xmlns:a="http://schemas.openxmlformats.org/drawingml/2006/main">
              <a:ext uri="{FF2B5EF4-FFF2-40B4-BE49-F238E27FC236}">
                <a16:creationId xmlns:a16="http://schemas.microsoft.com/office/drawing/2014/main" id="{7FA503CE-5228-41DE-81ED-12424AA536E6}"/>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12 / 12</a:t>
            </a:r>
          </a:p>
        </p:txBody>
      </p:sp>
      <p:sp>
        <p:nvSpPr>
          <p:cNvPr id="11" name="">
            <a:extLst xmlns:a="http://schemas.openxmlformats.org/drawingml/2006/main">
              <a:ext uri="{FF2B5EF4-FFF2-40B4-BE49-F238E27FC236}">
                <a16:creationId xmlns:a16="http://schemas.microsoft.com/office/drawing/2014/main" id="{6A0C2324-CCAF-4880-9AA0-65B6F646996B}"/>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A785EBB7-8132-4114-AD55-2E0256F25359}"/>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F4454808-891E-4091-9B0D-B8E9D39A9602}"/>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결론과 토론</a:t>
            </a:r>
          </a:p>
        </p:txBody>
      </p:sp>
      <p:sp>
        <p:nvSpPr>
          <p:cNvPr id="14" name="">
            <a:extLst xmlns:a="http://schemas.openxmlformats.org/drawingml/2006/main">
              <a:ext uri="{FF2B5EF4-FFF2-40B4-BE49-F238E27FC236}">
                <a16:creationId xmlns:a16="http://schemas.microsoft.com/office/drawing/2014/main" id="{0A46A9B8-0761-4839-9694-DFEFF6816DE4}"/>
              </a:ext>
            </a:extLst>
          </p:cNvPr>
          <p:cNvSpPr>
            <a:spLocks xmlns:a="http://schemas.openxmlformats.org/drawingml/2006/main" noGrp="1"/>
          </p:cNvSpPr>
          <p:nvPr/>
        </p:nvSpPr>
        <p:spPr>
          <a:xfrm xmlns:a="http://schemas.openxmlformats.org/drawingml/2006/main">
            <a:off x="704850" y="2095500"/>
            <a:ext cx="314325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7B3E52C1-5905-44FB-9C64-BFB8F5D01792}"/>
              </a:ext>
            </a:extLst>
          </p:cNvPr>
          <p:cNvSpPr>
            <a:spLocks xmlns:a="http://schemas.openxmlformats.org/drawingml/2006/main" noGrp="1"/>
          </p:cNvSpPr>
          <p:nvPr/>
        </p:nvSpPr>
        <p:spPr>
          <a:xfrm xmlns:a="http://schemas.openxmlformats.org/drawingml/2006/main">
            <a:off x="704850" y="2095500"/>
            <a:ext cx="314325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5F19D6AD-4A2A-45DD-A53F-47A4912CCFDD}"/>
              </a:ext>
            </a:extLst>
          </p:cNvPr>
          <p:cNvSpPr>
            <a:spLocks xmlns:a="http://schemas.openxmlformats.org/drawingml/2006/main" noGrp="1"/>
          </p:cNvSpPr>
          <p:nvPr/>
        </p:nvSpPr>
        <p:spPr>
          <a:xfrm xmlns:a="http://schemas.openxmlformats.org/drawingml/2006/main">
            <a:off x="914400" y="22860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1</a:t>
            </a:r>
          </a:p>
        </p:txBody>
      </p:sp>
      <p:sp>
        <p:nvSpPr>
          <p:cNvPr id="17" name="">
            <a:extLst xmlns:a="http://schemas.openxmlformats.org/drawingml/2006/main">
              <a:ext uri="{FF2B5EF4-FFF2-40B4-BE49-F238E27FC236}">
                <a16:creationId xmlns:a16="http://schemas.microsoft.com/office/drawing/2014/main" id="{7FFC5497-975C-4365-8D6E-85A962ABD59A}"/>
              </a:ext>
            </a:extLst>
          </p:cNvPr>
          <p:cNvSpPr>
            <a:spLocks xmlns:a="http://schemas.openxmlformats.org/drawingml/2006/main" noGrp="1"/>
          </p:cNvSpPr>
          <p:nvPr/>
        </p:nvSpPr>
        <p:spPr>
          <a:xfrm xmlns:a="http://schemas.openxmlformats.org/drawingml/2006/main">
            <a:off x="914400" y="2705100"/>
            <a:ext cx="2724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subregion comparison은 좋은</a:t>
            </a:r>
          </a:p>
          <a:p xmlns:a="http://schemas.openxmlformats.org/drawingml/2006/main">
            <a:pPr algn="l">
              <a:defRPr sz="1200" b="0">
                <a:solidFill>
                  <a:srgbClr val="132024"/>
                </a:solidFill>
              </a:defRPr>
            </a:pPr>
            <a:r>
              <a:rPr sz="1200" b="0">
                <a:solidFill>
                  <a:srgbClr val="132024"/>
                </a:solidFill>
              </a:rPr>
              <a:t>출발점이었다. 질문을 broad brain에서</a:t>
            </a:r>
          </a:p>
          <a:p xmlns:a="http://schemas.openxmlformats.org/drawingml/2006/main">
            <a:pPr algn="l">
              <a:defRPr sz="1200" b="0">
                <a:solidFill>
                  <a:srgbClr val="132024"/>
                </a:solidFill>
              </a:defRPr>
            </a:pPr>
            <a:r>
              <a:rPr sz="1200" b="0">
                <a:solidFill>
                  <a:srgbClr val="132024"/>
                </a:solidFill>
              </a:rPr>
              <a:t>subregion choice로 좁혀줬다.</a:t>
            </a:r>
          </a:p>
        </p:txBody>
      </p:sp>
      <p:sp>
        <p:nvSpPr>
          <p:cNvPr id="18" name="">
            <a:extLst xmlns:a="http://schemas.openxmlformats.org/drawingml/2006/main">
              <a:ext uri="{FF2B5EF4-FFF2-40B4-BE49-F238E27FC236}">
                <a16:creationId xmlns:a16="http://schemas.microsoft.com/office/drawing/2014/main" id="{FA56A61D-B9FB-4A26-977E-B86633972B79}"/>
              </a:ext>
            </a:extLst>
          </p:cNvPr>
          <p:cNvSpPr>
            <a:spLocks xmlns:a="http://schemas.openxmlformats.org/drawingml/2006/main" noGrp="1"/>
          </p:cNvSpPr>
          <p:nvPr/>
        </p:nvSpPr>
        <p:spPr>
          <a:xfrm xmlns:a="http://schemas.openxmlformats.org/drawingml/2006/main">
            <a:off x="4095750" y="2095500"/>
            <a:ext cx="314325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8FB0021A-A814-47DE-8DD3-42CB7D8E4385}"/>
              </a:ext>
            </a:extLst>
          </p:cNvPr>
          <p:cNvSpPr>
            <a:spLocks xmlns:a="http://schemas.openxmlformats.org/drawingml/2006/main" noGrp="1"/>
          </p:cNvSpPr>
          <p:nvPr/>
        </p:nvSpPr>
        <p:spPr>
          <a:xfrm xmlns:a="http://schemas.openxmlformats.org/drawingml/2006/main">
            <a:off x="4095750" y="2095500"/>
            <a:ext cx="314325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987CA3A3-7176-427E-99FB-0F37BB309C8C}"/>
              </a:ext>
            </a:extLst>
          </p:cNvPr>
          <p:cNvSpPr>
            <a:spLocks xmlns:a="http://schemas.openxmlformats.org/drawingml/2006/main" noGrp="1"/>
          </p:cNvSpPr>
          <p:nvPr/>
        </p:nvSpPr>
        <p:spPr>
          <a:xfrm xmlns:a="http://schemas.openxmlformats.org/drawingml/2006/main">
            <a:off x="4305300" y="22860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2</a:t>
            </a:r>
          </a:p>
        </p:txBody>
      </p:sp>
      <p:sp>
        <p:nvSpPr>
          <p:cNvPr id="21" name="">
            <a:extLst xmlns:a="http://schemas.openxmlformats.org/drawingml/2006/main">
              <a:ext uri="{FF2B5EF4-FFF2-40B4-BE49-F238E27FC236}">
                <a16:creationId xmlns:a16="http://schemas.microsoft.com/office/drawing/2014/main" id="{5FB5EB20-1902-4791-AABD-6C9ABB31E146}"/>
              </a:ext>
            </a:extLst>
          </p:cNvPr>
          <p:cNvSpPr>
            <a:spLocks xmlns:a="http://schemas.openxmlformats.org/drawingml/2006/main" noGrp="1"/>
          </p:cNvSpPr>
          <p:nvPr/>
        </p:nvSpPr>
        <p:spPr>
          <a:xfrm xmlns:a="http://schemas.openxmlformats.org/drawingml/2006/main">
            <a:off x="4305300" y="2705100"/>
            <a:ext cx="2724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하지만 benchmark 축이 들어오자, 같은</a:t>
            </a:r>
          </a:p>
          <a:p xmlns:a="http://schemas.openxmlformats.org/drawingml/2006/main">
            <a:pPr algn="l">
              <a:defRPr sz="1200" b="0">
                <a:solidFill>
                  <a:srgbClr val="132024"/>
                </a:solidFill>
              </a:defRPr>
            </a:pPr>
            <a:r>
              <a:rPr sz="1200" b="0">
                <a:solidFill>
                  <a:srgbClr val="132024"/>
                </a:solidFill>
              </a:rPr>
              <a:t>region 안에서도 다른 질문이 생겼다.</a:t>
            </a:r>
          </a:p>
        </p:txBody>
      </p:sp>
      <p:sp>
        <p:nvSpPr>
          <p:cNvPr id="22" name="">
            <a:extLst xmlns:a="http://schemas.openxmlformats.org/drawingml/2006/main">
              <a:ext uri="{FF2B5EF4-FFF2-40B4-BE49-F238E27FC236}">
                <a16:creationId xmlns:a16="http://schemas.microsoft.com/office/drawing/2014/main" id="{5E6E42FE-BB9A-4800-93F1-824FF3268EAA}"/>
              </a:ext>
            </a:extLst>
          </p:cNvPr>
          <p:cNvSpPr>
            <a:spLocks xmlns:a="http://schemas.openxmlformats.org/drawingml/2006/main" noGrp="1"/>
          </p:cNvSpPr>
          <p:nvPr/>
        </p:nvSpPr>
        <p:spPr>
          <a:xfrm xmlns:a="http://schemas.openxmlformats.org/drawingml/2006/main">
            <a:off x="7486650" y="2095500"/>
            <a:ext cx="400050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E50FE5DC-CB9D-4DE9-A434-B1A3C156D61A}"/>
              </a:ext>
            </a:extLst>
          </p:cNvPr>
          <p:cNvSpPr>
            <a:spLocks xmlns:a="http://schemas.openxmlformats.org/drawingml/2006/main" noGrp="1"/>
          </p:cNvSpPr>
          <p:nvPr/>
        </p:nvSpPr>
        <p:spPr>
          <a:xfrm xmlns:a="http://schemas.openxmlformats.org/drawingml/2006/main">
            <a:off x="7486650" y="2095500"/>
            <a:ext cx="4000500" cy="76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664D9052-8036-4ADF-960C-21C59CD403C3}"/>
              </a:ext>
            </a:extLst>
          </p:cNvPr>
          <p:cNvSpPr>
            <a:spLocks xmlns:a="http://schemas.openxmlformats.org/drawingml/2006/main" noGrp="1"/>
          </p:cNvSpPr>
          <p:nvPr/>
        </p:nvSpPr>
        <p:spPr>
          <a:xfrm xmlns:a="http://schemas.openxmlformats.org/drawingml/2006/main">
            <a:off x="7696200" y="2286000"/>
            <a:ext cx="35814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3</a:t>
            </a:r>
          </a:p>
        </p:txBody>
      </p:sp>
      <p:sp>
        <p:nvSpPr>
          <p:cNvPr id="25" name="">
            <a:extLst xmlns:a="http://schemas.openxmlformats.org/drawingml/2006/main">
              <a:ext uri="{FF2B5EF4-FFF2-40B4-BE49-F238E27FC236}">
                <a16:creationId xmlns:a16="http://schemas.microsoft.com/office/drawing/2014/main" id="{B0FEEE6B-A432-49FF-B30A-F2B408DCD560}"/>
              </a:ext>
            </a:extLst>
          </p:cNvPr>
          <p:cNvSpPr>
            <a:spLocks xmlns:a="http://schemas.openxmlformats.org/drawingml/2006/main" noGrp="1"/>
          </p:cNvSpPr>
          <p:nvPr/>
        </p:nvSpPr>
        <p:spPr>
          <a:xfrm xmlns:a="http://schemas.openxmlformats.org/drawingml/2006/main">
            <a:off x="7696200" y="2705100"/>
            <a:ext cx="358140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최종적으로 protocol choice는 region</a:t>
            </a:r>
          </a:p>
          <a:p xmlns:a="http://schemas.openxmlformats.org/drawingml/2006/main">
            <a:pPr algn="l">
              <a:defRPr sz="1200" b="0">
                <a:solidFill>
                  <a:srgbClr val="132024"/>
                </a:solidFill>
              </a:defRPr>
            </a:pPr>
            <a:r>
              <a:rPr sz="1200" b="0">
                <a:solidFill>
                  <a:srgbClr val="132024"/>
                </a:solidFill>
              </a:rPr>
              <a:t>choice를 넘어 readout-first selection</a:t>
            </a:r>
          </a:p>
          <a:p xmlns:a="http://schemas.openxmlformats.org/drawingml/2006/main">
            <a:pPr algn="l">
              <a:defRPr sz="1200" b="0">
                <a:solidFill>
                  <a:srgbClr val="132024"/>
                </a:solidFill>
              </a:defRPr>
            </a:pPr>
            <a:r>
              <a:rPr sz="1200" b="0">
                <a:solidFill>
                  <a:srgbClr val="132024"/>
                </a:solidFill>
              </a:rPr>
              <a:t>rule로 이동했다.</a:t>
            </a:r>
          </a:p>
        </p:txBody>
      </p:sp>
      <p:sp>
        <p:nvSpPr>
          <p:cNvPr id="26" name="">
            <a:extLst xmlns:a="http://schemas.openxmlformats.org/drawingml/2006/main">
              <a:ext uri="{FF2B5EF4-FFF2-40B4-BE49-F238E27FC236}">
                <a16:creationId xmlns:a16="http://schemas.microsoft.com/office/drawing/2014/main" id="{4B6DB613-C5DE-496E-A2B9-4BDE98865BF3}"/>
              </a:ext>
            </a:extLst>
          </p:cNvPr>
          <p:cNvSpPr>
            <a:spLocks xmlns:a="http://schemas.openxmlformats.org/drawingml/2006/main" noGrp="1"/>
          </p:cNvSpPr>
          <p:nvPr/>
        </p:nvSpPr>
        <p:spPr>
          <a:xfrm xmlns:a="http://schemas.openxmlformats.org/drawingml/2006/main">
            <a:off x="704850" y="4095750"/>
            <a:ext cx="10782300" cy="819150"/>
          </a:xfrm>
          <a:prstGeom xmlns:a="http://schemas.openxmlformats.org/drawingml/2006/main" prst="roundRect">
            <a:avLst>
              <a:gd name="adj" fmla="val 9302"/>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D0360A30-945B-4449-8A81-058DD8EEC58E}"/>
              </a:ext>
            </a:extLst>
          </p:cNvPr>
          <p:cNvSpPr>
            <a:spLocks xmlns:a="http://schemas.openxmlformats.org/drawingml/2006/main" noGrp="1"/>
          </p:cNvSpPr>
          <p:nvPr/>
        </p:nvSpPr>
        <p:spPr>
          <a:xfrm xmlns:a="http://schemas.openxmlformats.org/drawingml/2006/main">
            <a:off x="704850" y="4095750"/>
            <a:ext cx="76200" cy="819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2211CF0A-81FD-47F4-80F8-999D7FEEE8DB}"/>
              </a:ext>
            </a:extLst>
          </p:cNvPr>
          <p:cNvSpPr>
            <a:spLocks xmlns:a="http://schemas.openxmlformats.org/drawingml/2006/main" noGrp="1"/>
          </p:cNvSpPr>
          <p:nvPr/>
        </p:nvSpPr>
        <p:spPr>
          <a:xfrm xmlns:a="http://schemas.openxmlformats.org/drawingml/2006/main">
            <a:off x="914400" y="4248150"/>
            <a:ext cx="1040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토론용 질문: 왜 reproducibility와 fidelity를 분리해야 하는가? 어느 축을 먼저 봐야 하는가? host validation은 언제 필요한가?</a:t>
            </a:r>
          </a:p>
        </p:txBody>
      </p:sp>
      <p:sp>
        <p:nvSpPr>
          <p:cNvPr id="29" name="">
            <a:extLst xmlns:a="http://schemas.openxmlformats.org/drawingml/2006/main">
              <a:ext uri="{FF2B5EF4-FFF2-40B4-BE49-F238E27FC236}">
                <a16:creationId xmlns:a16="http://schemas.microsoft.com/office/drawing/2014/main" id="{37D964C8-26D9-4AA5-A0B3-65559AF1FEFC}"/>
              </a:ext>
            </a:extLst>
          </p:cNvPr>
          <p:cNvSpPr>
            <a:spLocks xmlns:a="http://schemas.openxmlformats.org/drawingml/2006/main" noGrp="1"/>
          </p:cNvSpPr>
          <p:nvPr/>
        </p:nvSpPr>
        <p:spPr>
          <a:xfrm xmlns:a="http://schemas.openxmlformats.org/drawingml/2006/main">
            <a:off x="704850" y="5257800"/>
            <a:ext cx="10782300" cy="781050"/>
          </a:xfrm>
          <a:prstGeom xmlns:a="http://schemas.openxmlformats.org/drawingml/2006/main" prst="roundRect">
            <a:avLst>
              <a:gd name="adj" fmla="val 9756"/>
            </a:avLst>
          </a:prstGeom>
          <a:solidFill xmlns:a="http://schemas.openxmlformats.org/drawingml/2006/main">
            <a:srgbClr val="F4E8C8"/>
          </a:solidFill>
          <a:ln xmlns:a="http://schemas.openxmlformats.org/drawingml/2006/main" w="11430">
            <a:solidFill>
              <a:srgbClr val="132024"/>
            </a:solidFill>
            <a:prstDash val="solid"/>
          </a:ln>
        </p:spPr>
      </p:sp>
      <p:sp>
        <p:nvSpPr>
          <p:cNvPr id="30" name="">
            <a:extLst xmlns:a="http://schemas.openxmlformats.org/drawingml/2006/main">
              <a:ext uri="{FF2B5EF4-FFF2-40B4-BE49-F238E27FC236}">
                <a16:creationId xmlns:a16="http://schemas.microsoft.com/office/drawing/2014/main" id="{E99ED512-14F4-4FAA-A7D0-D94A93C7417C}"/>
              </a:ext>
            </a:extLst>
          </p:cNvPr>
          <p:cNvSpPr>
            <a:spLocks xmlns:a="http://schemas.openxmlformats.org/drawingml/2006/main" noGrp="1"/>
          </p:cNvSpPr>
          <p:nvPr/>
        </p:nvSpPr>
        <p:spPr>
          <a:xfrm xmlns:a="http://schemas.openxmlformats.org/drawingml/2006/main">
            <a:off x="704850" y="5257800"/>
            <a:ext cx="76200" cy="7810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EA26BDC7-A583-4388-AC5B-79CAE587ED4A}"/>
              </a:ext>
            </a:extLst>
          </p:cNvPr>
          <p:cNvSpPr>
            <a:spLocks xmlns:a="http://schemas.openxmlformats.org/drawingml/2006/main" noGrp="1"/>
          </p:cNvSpPr>
          <p:nvPr/>
        </p:nvSpPr>
        <p:spPr>
          <a:xfrm xmlns:a="http://schemas.openxmlformats.org/drawingml/2006/main">
            <a:off x="914400" y="5410200"/>
            <a:ext cx="104013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정리: 위키를 정리하자 질문이 바뀌었고, 질문이 바뀌자 비교 기준도 바뀌었다.</a:t>
            </a:r>
          </a:p>
        </p:txBody>
      </p:sp>
      <p:sp>
        <p:nvSpPr>
          <p:cNvPr id="32" name="">
            <a:extLst xmlns:a="http://schemas.openxmlformats.org/drawingml/2006/main">
              <a:ext uri="{FF2B5EF4-FFF2-40B4-BE49-F238E27FC236}">
                <a16:creationId xmlns:a16="http://schemas.microsoft.com/office/drawing/2014/main" id="{C936665F-3FD5-448D-9EB0-EB408B7E3295}"/>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Q&amp;A로 넘어가면 각 질문의 우선축과 validation 순서를 중심으로 답하면 된다.</a:t>
            </a:r>
          </a:p>
        </p:txBody>
      </p:sp>
    </p:spTree>
    <p:extLst>
      <p:ext uri="{BB962C8B-B14F-4D97-AF65-F5344CB8AC3E}">
        <p14:creationId xmlns:p14="http://schemas.microsoft.com/office/powerpoint/2010/main" val="2910097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2026-04-27T01:47:53.5150000Z</dcterms:created>
  <dcterms:modified xsi:type="dcterms:W3CDTF">2026-04-27T01:47:53.5150000Z</dcterms:modified>
</coreProperties>
</file>