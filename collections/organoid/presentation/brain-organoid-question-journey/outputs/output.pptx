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2c7fee937f7430c" /><Relationship Type="http://schemas.openxmlformats.org/officeDocument/2006/relationships/extended-properties" Target="/docProps/app.xml" Id="Ra2bb4af24a64425e" /><Relationship Type="http://schemas.openxmlformats.org/officeDocument/2006/relationships/officeDocument" Target="/ppt/presentation.xml" Id="Re35bc5a80d6b4cbd" /></Relationships>
</file>

<file path=ppt/presentation.xml><?xml version="1.0" encoding="utf-8"?>
<p:presentation xmlns:p="http://schemas.openxmlformats.org/presentationml/2006/main">
  <p:sldMasterIdLst>
    <p:sldMasterId xmlns:r="http://schemas.openxmlformats.org/officeDocument/2006/relationships" id="2147483648" r:id="Ra720de4a084f4755"/>
  </p:sldMasterIdLst>
  <p:notesMasterIdLst>
    <p:notesMasterId xmlns:r="http://schemas.openxmlformats.org/officeDocument/2006/relationships" r:id="R76e9172c755447dd"/>
  </p:notesMasterIdLst>
  <p:sldIdLst>
    <p:sldId xmlns:r="http://schemas.openxmlformats.org/officeDocument/2006/relationships" id="256" r:id="R706598e340ab4774"/>
    <p:sldId xmlns:r="http://schemas.openxmlformats.org/officeDocument/2006/relationships" id="257" r:id="Rf151b712f4924a42"/>
    <p:sldId xmlns:r="http://schemas.openxmlformats.org/officeDocument/2006/relationships" id="258" r:id="Rba5018f0c18c4f2e"/>
    <p:sldId xmlns:r="http://schemas.openxmlformats.org/officeDocument/2006/relationships" id="259" r:id="Raa0650c5e6b54bb0"/>
    <p:sldId xmlns:r="http://schemas.openxmlformats.org/officeDocument/2006/relationships" id="260" r:id="Rd7aa1865fa7f4e98"/>
    <p:sldId xmlns:r="http://schemas.openxmlformats.org/officeDocument/2006/relationships" id="261" r:id="R25e1ddfab04a466f"/>
    <p:sldId xmlns:r="http://schemas.openxmlformats.org/officeDocument/2006/relationships" id="262" r:id="R23f84669911c4111"/>
    <p:sldId xmlns:r="http://schemas.openxmlformats.org/officeDocument/2006/relationships" id="263" r:id="Re4f7d62a1da24a2e"/>
    <p:sldId xmlns:r="http://schemas.openxmlformats.org/officeDocument/2006/relationships" id="264" r:id="R8cb5aae19a764d09"/>
    <p:sldId xmlns:r="http://schemas.openxmlformats.org/officeDocument/2006/relationships" id="265" r:id="R7679f6f03c6f44f1"/>
    <p:sldId xmlns:r="http://schemas.openxmlformats.org/officeDocument/2006/relationships" id="266" r:id="R138a8f5a0d8448b6"/>
    <p:sldId xmlns:r="http://schemas.openxmlformats.org/officeDocument/2006/relationships" id="267" r:id="Refceca85e91f4fb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a720de4a084f4755" /><Relationship Type="http://schemas.openxmlformats.org/officeDocument/2006/relationships/theme" Target="/ppt/theme/theme1.xml" Id="R82b305f4994142b2" /><Relationship Type="http://schemas.openxmlformats.org/officeDocument/2006/relationships/notesMaster" Target="/ppt/notesMasters/notesMaster1.xml" Id="R76e9172c755447dd" /><Relationship Type="http://schemas.openxmlformats.org/officeDocument/2006/relationships/presProps" Target="/ppt/presProps.xml" Id="R2d046df3578547be" /><Relationship Type="http://schemas.openxmlformats.org/officeDocument/2006/relationships/viewProps" Target="/ppt/viewProps.xml" Id="Rb02cc8f3f80b4e61" /><Relationship Type="http://schemas.openxmlformats.org/officeDocument/2006/relationships/tableStyles" Target="/ppt/tableStyles.xml" Id="R1f4a301b85d141fb" /><Relationship Type="http://schemas.openxmlformats.org/officeDocument/2006/relationships/slide" Target="/ppt/slides/slide1.xml" Id="R706598e340ab4774" /><Relationship Type="http://schemas.openxmlformats.org/officeDocument/2006/relationships/slide" Target="/ppt/slides/slide2.xml" Id="Rf151b712f4924a42" /><Relationship Type="http://schemas.openxmlformats.org/officeDocument/2006/relationships/slide" Target="/ppt/slides/slide3.xml" Id="Rba5018f0c18c4f2e" /><Relationship Type="http://schemas.openxmlformats.org/officeDocument/2006/relationships/slide" Target="/ppt/slides/slide4.xml" Id="Raa0650c5e6b54bb0" /><Relationship Type="http://schemas.openxmlformats.org/officeDocument/2006/relationships/slide" Target="/ppt/slides/slide5.xml" Id="Rd7aa1865fa7f4e98" /><Relationship Type="http://schemas.openxmlformats.org/officeDocument/2006/relationships/slide" Target="/ppt/slides/slide6.xml" Id="R25e1ddfab04a466f" /><Relationship Type="http://schemas.openxmlformats.org/officeDocument/2006/relationships/slide" Target="/ppt/slides/slide7.xml" Id="R23f84669911c4111" /><Relationship Type="http://schemas.openxmlformats.org/officeDocument/2006/relationships/slide" Target="/ppt/slides/slide8.xml" Id="Re4f7d62a1da24a2e" /><Relationship Type="http://schemas.openxmlformats.org/officeDocument/2006/relationships/slide" Target="/ppt/slides/slide9.xml" Id="R8cb5aae19a764d09" /><Relationship Type="http://schemas.openxmlformats.org/officeDocument/2006/relationships/slide" Target="/ppt/slides/slide10.xml" Id="R7679f6f03c6f44f1" /><Relationship Type="http://schemas.openxmlformats.org/officeDocument/2006/relationships/slide" Target="/ppt/slides/slide11.xml" Id="R138a8f5a0d8448b6" /><Relationship Type="http://schemas.openxmlformats.org/officeDocument/2006/relationships/slide" Target="/ppt/slides/slide12.xml" Id="Refceca85e91f4fb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1fa8a0aef27f4d2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8831b4444d64d9e" /><Relationship Type="http://schemas.openxmlformats.org/officeDocument/2006/relationships/notesMaster" Target="/ppt/notesMasters/notesMaster1.xml" Id="R1534ac39aab64184"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38f793848246a6" /><Relationship Type="http://schemas.openxmlformats.org/officeDocument/2006/relationships/notesMaster" Target="/ppt/notesMasters/notesMaster1.xml" Id="Rf777ee410e364bf0" /></Relationships>
</file>

<file path=ppt/notesSlides/_rels/notesSlide3.xml.rels>&#65279;<?xml version="1.0" encoding="utf-8"?><Relationships xmlns="http://schemas.openxmlformats.org/package/2006/relationships"><Relationship Type="http://schemas.openxmlformats.org/officeDocument/2006/relationships/slide" Target="/ppt/slides/slide3.xml" Id="R86c74db29c294a96" /><Relationship Type="http://schemas.openxmlformats.org/officeDocument/2006/relationships/notesMaster" Target="/ppt/notesMasters/notesMaster1.xml" Id="R37eecf4dd96440fb"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492ffec557496b" /><Relationship Type="http://schemas.openxmlformats.org/officeDocument/2006/relationships/notesMaster" Target="/ppt/notesMasters/notesMaster1.xml" Id="Rfb65c4c5c4ab4d6a" /></Relationships>
</file>

<file path=ppt/notesSlides/_rels/notesSlide5.xml.rels>&#65279;<?xml version="1.0" encoding="utf-8"?><Relationships xmlns="http://schemas.openxmlformats.org/package/2006/relationships"><Relationship Type="http://schemas.openxmlformats.org/officeDocument/2006/relationships/slide" Target="/ppt/slides/slide5.xml" Id="R10c5149563d94bfe" /><Relationship Type="http://schemas.openxmlformats.org/officeDocument/2006/relationships/notesMaster" Target="/ppt/notesMasters/notesMaster1.xml" Id="Ra9ec4d390d1946dd" /></Relationships>
</file>

<file path=ppt/notesSlides/_rels/notesSlide6.xml.rels>&#65279;<?xml version="1.0" encoding="utf-8"?><Relationships xmlns="http://schemas.openxmlformats.org/package/2006/relationships"><Relationship Type="http://schemas.openxmlformats.org/officeDocument/2006/relationships/slide" Target="/ppt/slides/slide6.xml" Id="Rec546d64cfc041ea" /><Relationship Type="http://schemas.openxmlformats.org/officeDocument/2006/relationships/notesMaster" Target="/ppt/notesMasters/notesMaster1.xml" Id="R325377e830f84916" /></Relationships>
</file>

<file path=ppt/notesSlides/_rels/notesSlide7.xml.rels>&#65279;<?xml version="1.0" encoding="utf-8"?><Relationships xmlns="http://schemas.openxmlformats.org/package/2006/relationships"><Relationship Type="http://schemas.openxmlformats.org/officeDocument/2006/relationships/slide" Target="/ppt/slides/slide7.xml" Id="Rbf2cad7cab6845c7" /><Relationship Type="http://schemas.openxmlformats.org/officeDocument/2006/relationships/notesMaster" Target="/ppt/notesMasters/notesMaster1.xml" Id="Rf5867f050f374f8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209b1d6d70a4cb0" /><Relationship Type="http://schemas.openxmlformats.org/officeDocument/2006/relationships/notesMaster" Target="/ppt/notesMasters/notesMaster1.xml" Id="Rd92834e6933c4f15" /></Relationships>
</file>

<file path=ppt/notesSlides/_rels/notesSlide9.xml.rels>&#65279;<?xml version="1.0" encoding="utf-8"?><Relationships xmlns="http://schemas.openxmlformats.org/package/2006/relationships"><Relationship Type="http://schemas.openxmlformats.org/officeDocument/2006/relationships/slide" Target="/ppt/slides/slide9.xml" Id="Rff3cd0abd8ba4c4c" /><Relationship Type="http://schemas.openxmlformats.org/officeDocument/2006/relationships/notesMaster" Target="/ppt/notesMasters/notesMaster1.xml" Id="R8da4ee91f9a94fdb"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0abf21312af04eaf" /><Relationship Type="http://schemas.openxmlformats.org/officeDocument/2006/relationships/notesMaster" Target="/ppt/notesMasters/notesMaster1.xml" Id="Rafab83144a104a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9845c61e27d4859" /><Relationship Type="http://schemas.openxmlformats.org/officeDocument/2006/relationships/notesMaster" Target="/ppt/notesMasters/notesMaster1.xml" Id="R1bbd81e31545429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1b948eca9ab4e52" /><Relationship Type="http://schemas.openxmlformats.org/officeDocument/2006/relationships/notesMaster" Target="/ppt/notesMasters/notesMaster1.xml" Id="R5c4d97b3feed42f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발표는 결론만 요약하는 발표가 아니라, 질문이 위키 안에서 어떻게 정교해졌는지를 보여주는 발표다.</a:t>
            </a:r>
          </a:p>
          <a:p xmlns:a="http://schemas.openxmlformats.org/drawingml/2006/main">
            <a:r>
              <a:t>처음에는 brain subregion별 프로토콜 차이를 비교하고 싶었지만, 정리할수록 reproducibility, fidelity, timing, readout 문제가 분리되기 시작했다.</a:t>
            </a:r>
          </a:p>
          <a:p xmlns:a="http://schemas.openxmlformats.org/drawingml/2006/main">
            <a:r>
              <a:t>오늘의 핵심 문장은 '질문이 바뀌면 비교 기준도 바뀐다'이다.</a:t>
            </a:r>
          </a:p>
          <a:p xmlns:a="http://schemas.openxmlformats.org/drawingml/2006/main">
            <a:r>
              <a:t/>
            </a:r>
          </a:p>
          <a:p xmlns:a="http://schemas.openxmlformats.org/drawingml/2006/main">
            <a:r>
              <a:t>[Sources]</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발표의 목적은 brain organoid 리뷰를 완성형 결론으로 제시하는 것이 아니라, paper_collect 위키에서 질문이 확장되는 과정을 보여주는 것이다.</a:t>
            </a:r>
          </a:p>
          <a:p xmlns:a="http://schemas.openxmlformats.org/drawingml/2006/main">
            <a:r>
              <a:t>이 컬렉션은 active source page 96개, 그중 brain cluster 17개를 갖고 있고, 오늘 발표는 그중 3개의 질문 노트를 핵심 체인으로 삼는다.</a:t>
            </a:r>
          </a:p>
          <a:p xmlns:a="http://schemas.openxmlformats.org/drawingml/2006/main">
            <a:r>
              <a:t>즉 corpus -&gt; 첫 질문 -&gt; 질문 재정의의 흐름 자체가 발표 내용이다.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발표 초반에 이 슬라이드를 넣으면 왜 하필 brain organoid를 사례로 잡았는지 설명하기 좋다.</a:t>
            </a:r>
          </a:p>
          <a:p xmlns:a="http://schemas.openxmlformats.org/drawingml/2006/main">
            <a:r>
              <a:t>brain cluster는 이 corpus에서 source 수가 가장 크고, broad cerebral에서 niche subregion까지 연속체가 있으며, benchmark 논문과 functional readout 논문도 함께 연결된다.</a:t>
            </a:r>
          </a:p>
          <a:p xmlns:a="http://schemas.openxmlformats.org/drawingml/2006/main">
            <a:r>
              <a:t>즉 질문이 자라나는 과정을 보여주기에 가장 적합한 branch였다.</a:t>
            </a:r>
          </a:p>
          <a:p xmlns:a="http://schemas.openxmlformats.org/drawingml/2006/main">
            <a:r>
              <a:t/>
            </a:r>
          </a:p>
          <a:p xmlns:a="http://schemas.openxmlformats.org/drawingml/2006/main">
            <a:r>
              <a:t>[Sources]</a:t>
            </a:r>
          </a:p>
          <a:p xmlns:a="http://schemas.openxmlformats.org/drawingml/2006/main">
            <a:r>
              <a:t>- collections/organoid/wiki/overview.md</a:t>
            </a:r>
          </a:p>
          <a:p xmlns:a="http://schemas.openxmlformats.org/drawingml/2006/main">
            <a:r>
              <a:t>- collections/organoid/wiki/index.md</a:t>
            </a:r>
          </a:p>
          <a:p xmlns:a="http://schemas.openxmlformats.org/drawingml/2006/main">
            <a:r>
              <a:t>- collections/organoid/wiki/concepts/brain-subregion-specific-organoid-protocols.md</a:t>
            </a:r>
          </a:p>
          <a:p xmlns:a="http://schemas.openxmlformats.org/drawingml/2006/main">
            <a:r>
              <a:t>- collections/organoid/wiki/concepts/brain-organoid-fidelity-reproducibility-and-atlases.md</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질문 노트는 subregion 중심 비교다.</a:t>
            </a:r>
          </a:p>
          <a:p xmlns:a="http://schemas.openxmlformats.org/drawingml/2006/main">
            <a:r>
              <a:t>Lancaster는 broad cerebral baseline, Sloan과 Fitzgerald는 forebrain or cortical control, Zagare와 Eura와 Valiulahi는 posterior branch, Pomeshchik과 Atamian은 niche specialization으로 묶였다.</a:t>
            </a:r>
          </a:p>
          <a:p xmlns:a="http://schemas.openxmlformats.org/drawingml/2006/main">
            <a:r>
              <a:t>이 단계에서는 brain organoid 설계 문제가 주로 subregion selection 문제처럼 보였다.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collections/organoid/wiki/concepts/brain-subregion-specific-organoid-protocols.md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Fitzgerald 2024 | Generation of semi-guided cortical organoids with complex neural oscillations</a:t>
            </a:r>
          </a:p>
          <a:p xmlns:a="http://schemas.openxmlformats.org/drawingml/2006/main">
            <a:r>
              <a:t>- Zagare 2021 | A robust protocol for the generation of human midbrain organoids</a:t>
            </a:r>
          </a:p>
          <a:p xmlns:a="http://schemas.openxmlformats.org/drawingml/2006/main">
            <a:r>
              <a:t>- Eura 2020 | Brainstem organoids from human pluripotent stem cells</a:t>
            </a:r>
          </a:p>
          <a:p xmlns:a="http://schemas.openxmlformats.org/drawingml/2006/main">
            <a:r>
              <a:t>- Valiulahi 2021 | Generation of caudal-type serotonin neurons and hindbrain-fate organoids</a:t>
            </a:r>
          </a:p>
          <a:p xmlns:a="http://schemas.openxmlformats.org/drawingml/2006/main">
            <a:r>
              <a:t>- Pomeshchik 2020 | Human iPSC-derived hippocampal spheroids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첫 번째 정리에서 얻은 핵심은 세 갈래였다.</a:t>
            </a:r>
          </a:p>
          <a:p xmlns:a="http://schemas.openxmlformats.org/drawingml/2006/main">
            <a:r>
              <a:t>첫째, broad cerebral baseline은 diversity가 크지만 variability도 크다.</a:t>
            </a:r>
          </a:p>
          <a:p xmlns:a="http://schemas.openxmlformats.org/drawingml/2006/main">
            <a:r>
              <a:t>둘째, forebrain or cortical routes는 더 clean한 regional control을 준다.</a:t>
            </a:r>
          </a:p>
          <a:p xmlns:a="http://schemas.openxmlformats.org/drawingml/2006/main">
            <a:r>
              <a:t>셋째, posterior or niche routes는 특정 biological question에 더 직접적이다.</a:t>
            </a:r>
          </a:p>
          <a:p xmlns:a="http://schemas.openxmlformats.org/drawingml/2006/main">
            <a:r>
              <a:t>이 단계의 잠정 결론은 '많은 brain design 문제는 subregion selection 문제다'였다.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collections/organoid/wiki/concepts/brain-organoid-patterning-and-assembloids.md</a:t>
            </a:r>
          </a:p>
          <a:p xmlns:a="http://schemas.openxmlformats.org/drawingml/2006/main">
            <a:r>
              <a:t>- collections/organoid/wiki/syntheses/20260424_organoid-developmental-baseline-and-regionalization-playbook.md</a:t>
            </a:r>
          </a:p>
          <a:p xmlns:a="http://schemas.openxmlformats.org/drawingml/2006/main">
            <a:r>
              <a:t>- Lancaster 2014 | Generation of cerebral organoids from human pluripotent stem cells</a:t>
            </a:r>
          </a:p>
          <a:p xmlns:a="http://schemas.openxmlformats.org/drawingml/2006/main">
            <a:r>
              <a:t>- Sloan 2018 | Generation and assembly of human brain region-specific three-dimensional cultures</a:t>
            </a:r>
          </a:p>
          <a:p xmlns:a="http://schemas.openxmlformats.org/drawingml/2006/main">
            <a:r>
              <a:t>- Zagare 2021 | A robust protocol for the generation of human midbrain organoids</a:t>
            </a:r>
          </a:p>
          <a:p xmlns:a="http://schemas.openxmlformats.org/drawingml/2006/main">
            <a:r>
              <a:t>- Atamian 2024 | Generation and long-term culture of human cerebellar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subregion 비교는 useful한 출발점이었지만, 그것만으로는 모델의 quality를 설명하지 못했다.</a:t>
            </a:r>
          </a:p>
          <a:p xmlns:a="http://schemas.openxmlformats.org/drawingml/2006/main">
            <a:r>
              <a:t>같은 cortical branch 안에서도 어떤 프로토콜은 더 reproducible하고, 어떤 것은 primary tissue와 더 닮고, 어떤 것은 timing mapping이 더 분명했다.</a:t>
            </a:r>
          </a:p>
          <a:p xmlns:a="http://schemas.openxmlformats.org/drawingml/2006/main">
            <a:r>
              <a:t>그래서 질문이 '어떤 region인가'에서 '어떤 benchmark로 믿을 수 있는가'로 이동했다.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두 번째 질문 노트는 benchmark question이다.</a:t>
            </a:r>
          </a:p>
          <a:p xmlns:a="http://schemas.openxmlformats.org/drawingml/2006/main">
            <a:r>
              <a:t>Velasco와 Yoon은 reproducibility, Bhaduri는 fidelity, Kanton은 timing, He는 cross-protocol atlas alignment를 제공했다.</a:t>
            </a:r>
          </a:p>
          <a:p xmlns:a="http://schemas.openxmlformats.org/drawingml/2006/main">
            <a:r>
              <a:t>즉 새 논문이 추가되면서 더 많은 근거가 생긴 것이 아니라, 어떤 질문을 던져야 하는지 자체가 바뀌었다.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이 슬라이드는 benchmark slide와 framework slide 사이의 다리 역할을 한다.</a:t>
            </a:r>
          </a:p>
          <a:p xmlns:a="http://schemas.openxmlformats.org/drawingml/2006/main">
            <a:r>
              <a:t>Velasco와 Yoon은 잘 반복되는 cortical branch를 보여주지만, Bhaduri는 그 branch가 primary fetal cortex와 얼마나 다른지를 보여준다.</a:t>
            </a:r>
          </a:p>
          <a:p xmlns:a="http://schemas.openxmlformats.org/drawingml/2006/main">
            <a:r>
              <a:t>즉 '잘 반복된다'와 '더 진짜 같다'는 다른 질문이며, 이 구분이 이후 5축 프레임워크의 핵심이 된다.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결국 이 컬렉션에서 brain organoid 비교는 다섯 축으로 정리됐다.</a:t>
            </a:r>
          </a:p>
          <a:p xmlns:a="http://schemas.openxmlformats.org/drawingml/2006/main">
            <a:r>
              <a:t>region identity, reproducibility, fidelity, temporal mapping, atlas alignment는 서로 다른 measurement question이다.</a:t>
            </a:r>
          </a:p>
          <a:p xmlns:a="http://schemas.openxmlformats.org/drawingml/2006/main">
            <a:r>
              <a:t>여기서 가장 중요한 메시지는 reproducibility와 fidelity가 같은 말이 아니라는 점이다.</a:t>
            </a:r>
          </a:p>
          <a:p xmlns:a="http://schemas.openxmlformats.org/drawingml/2006/main">
            <a:r>
              <a:t/>
            </a:r>
          </a:p>
          <a:p xmlns:a="http://schemas.openxmlformats.org/drawingml/2006/main">
            <a:r>
              <a:t>[Sources]</a:t>
            </a:r>
          </a:p>
          <a:p xmlns:a="http://schemas.openxmlformats.org/drawingml/2006/main">
            <a:r>
              <a:t>- collections/organoid/wiki/queries/20260409_brain-protocol-maturation-synchronization.md</a:t>
            </a:r>
          </a:p>
          <a:p xmlns:a="http://schemas.openxmlformats.org/drawingml/2006/main">
            <a:r>
              <a:t>- collections/organoid/wiki/concepts/brain-organoid-fidelity-reproducibility-and-atlases.md</a:t>
            </a:r>
          </a:p>
          <a:p xmlns:a="http://schemas.openxmlformats.org/drawingml/2006/main">
            <a:r>
              <a:t>- Velasco 2019 | Individual brain organoids reproducibly form cell diversity of the human cerebral cortex</a:t>
            </a:r>
          </a:p>
          <a:p xmlns:a="http://schemas.openxmlformats.org/drawingml/2006/main">
            <a:r>
              <a:t>- Yoon 2019 | Reliability of human cortical organoid generation</a:t>
            </a:r>
          </a:p>
          <a:p xmlns:a="http://schemas.openxmlformats.org/drawingml/2006/main">
            <a:r>
              <a:t>- Bhaduri 2020 | Cell stress in cortical organoids impairs molecular subtype specification</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세 번째 질문 노트에서는 protocol choice가 readout-first rule로 재정리된다.</a:t>
            </a:r>
          </a:p>
          <a:p xmlns:a="http://schemas.openxmlformats.org/drawingml/2006/main">
            <a:r>
              <a:t>composition reproducibility를 원하면 Velasco or Yoon 계열, fidelity를 원하면 Bhaduri or He, timing을 원하면 Kanton, dish function을 원하면 Fitzgerald, host relevance를 원하면 Kelley, screening을 원하면 Chen or Meng이 우선 anchor가 된다.</a:t>
            </a:r>
          </a:p>
          <a:p xmlns:a="http://schemas.openxmlformats.org/drawingml/2006/main">
            <a:r>
              <a:t>즉 최종 질문은 '어느 region을 만들까'보다 '무슨 readout을 먼저 믿고 싶은가'가 됐다.</a:t>
            </a:r>
          </a:p>
          <a:p xmlns:a="http://schemas.openxmlformats.org/drawingml/2006/main">
            <a:r>
              <a:t/>
            </a:r>
          </a:p>
          <a:p xmlns:a="http://schemas.openxmlformats.org/drawingml/2006/main">
            <a:r>
              <a:t>[Sources]</a:t>
            </a:r>
          </a:p>
          <a:p xmlns:a="http://schemas.openxmlformats.org/drawingml/2006/main">
            <a:r>
              <a:t>- collections/organoid/wiki/queries/20260420_172825_brain-functional-readout-selection.md</a:t>
            </a:r>
          </a:p>
          <a:p xmlns:a="http://schemas.openxmlformats.org/drawingml/2006/main">
            <a:r>
              <a:t>- collections/organoid/wiki/concepts/brain-organoid-patterning-and-assembloids.md</a:t>
            </a:r>
          </a:p>
          <a:p xmlns:a="http://schemas.openxmlformats.org/drawingml/2006/main">
            <a:r>
              <a:t>- collections/organoid/wiki/concepts/brain-organoid-fidelity-reproducibility-and-atlases.md</a:t>
            </a:r>
          </a:p>
          <a:p xmlns:a="http://schemas.openxmlformats.org/drawingml/2006/main">
            <a:r>
              <a:t>- Fitzgerald 2024 | Generation of semi-guided cortical organoids with complex neural oscillations</a:t>
            </a:r>
          </a:p>
          <a:p xmlns:a="http://schemas.openxmlformats.org/drawingml/2006/main">
            <a:r>
              <a:t>- Kelley 2024 | Host circuit engagement of human cortical organoids transplanted in rodents</a:t>
            </a:r>
          </a:p>
          <a:p xmlns:a="http://schemas.openxmlformats.org/drawingml/2006/main">
            <a:r>
              <a:t>- Chen 2023 | Protocol for generating reproducible miniaturized controlled midbrain organoids</a:t>
            </a:r>
          </a:p>
          <a:p xmlns:a="http://schemas.openxmlformats.org/drawingml/2006/main">
            <a:r>
              <a:t>- Meng 2025 | CRISPR screens in human neural organoids and assembloids</a:t>
            </a:r>
          </a:p>
          <a:p xmlns:a="http://schemas.openxmlformats.org/drawingml/2006/main">
            <a:r>
              <a:t>- Kanton 2019 | Organoid single-cell genomic atlas uncovers human-specific features of brain development</a:t>
            </a:r>
          </a:p>
          <a:p xmlns:a="http://schemas.openxmlformats.org/drawingml/2006/main">
            <a:r>
              <a:t>- He 2024 | An integrated transcriptomic cell atlas of human neural organoids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기말 과제가 리뷰 논문이므로, 발표가 글쓰기와 어떻게 연결되는지도 짚어주면 좋다.</a:t>
            </a:r>
          </a:p>
          <a:p xmlns:a="http://schemas.openxmlformats.org/drawingml/2006/main">
            <a:r>
              <a:t>이 위키 체인을 따라가면 리뷰 글의 구조도 자연스럽게 나온다.</a:t>
            </a:r>
          </a:p>
          <a:p xmlns:a="http://schemas.openxmlformats.org/drawingml/2006/main">
            <a:r>
              <a:t>예를 들어 첫 장은 subregion baseline, 다음은 benchmark axes, 마지막은 readout-first design rule처럼 배치할 수 있다.</a:t>
            </a:r>
          </a:p>
          <a:p xmlns:a="http://schemas.openxmlformats.org/drawingml/2006/main">
            <a:r>
              <a:t>즉 발표는 process를, 리뷰는 그 process가 남긴 organizing principle을 보여준다.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collections/organoid/wiki/syntheses/20260424_organoid-developmental-baseline-and-regionalization-playbook.md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마무리에서는 세 가지 takeaway를 다시 강조한다.</a:t>
            </a:r>
          </a:p>
          <a:p xmlns:a="http://schemas.openxmlformats.org/drawingml/2006/main">
            <a:r>
              <a:t>첫째, subregion comparison은 출발점으로 유효했다.</a:t>
            </a:r>
          </a:p>
          <a:p xmlns:a="http://schemas.openxmlformats.org/drawingml/2006/main">
            <a:r>
              <a:t>둘째, benchmark 축이 들어오면서 질문이 바뀌었다.</a:t>
            </a:r>
          </a:p>
          <a:p xmlns:a="http://schemas.openxmlformats.org/drawingml/2006/main">
            <a:r>
              <a:t>셋째, 최종 rule은 readout-first protocol selection이다.</a:t>
            </a:r>
          </a:p>
          <a:p xmlns:a="http://schemas.openxmlformats.org/drawingml/2006/main">
            <a:r>
              <a:t>Q and A에서는 reproducibility와 fidelity를 왜 분리해야 하는지, 어느 축을 먼저 볼지, host validation이 언제 필요한지를 중심으로 받으면 된다.</a:t>
            </a:r>
          </a:p>
          <a:p xmlns:a="http://schemas.openxmlformats.org/drawingml/2006/main">
            <a:r>
              <a:t/>
            </a:r>
          </a:p>
          <a:p xmlns:a="http://schemas.openxmlformats.org/drawingml/2006/main">
            <a:r>
              <a:t>[Sources]</a:t>
            </a:r>
          </a:p>
          <a:p xmlns:a="http://schemas.openxmlformats.org/drawingml/2006/main">
            <a:r>
              <a:t>- collections/organoid/wiki/queries/20260408_174047_brain-subregion-protocol-comparison.md</a:t>
            </a:r>
          </a:p>
          <a:p xmlns:a="http://schemas.openxmlformats.org/drawingml/2006/main">
            <a:r>
              <a:t>- collections/organoid/wiki/queries/20260409_brain-protocol-maturation-synchronization.md</a:t>
            </a:r>
          </a:p>
          <a:p xmlns:a="http://schemas.openxmlformats.org/drawingml/2006/main">
            <a:r>
              <a:t>- collections/organoid/wiki/queries/20260420_172825_brain-functional-readout-selection.md</a:t>
            </a:r>
          </a:p>
          <a:p xmlns:a="http://schemas.openxmlformats.org/drawingml/2006/main">
            <a:r>
              <a:t>- collections/organoid/wiki/concepts/brain-organoid-fidelity-reproducibility-and-atlases.md</a:t>
            </a:r>
          </a:p>
          <a:p xmlns:a="http://schemas.openxmlformats.org/drawingml/2006/main">
            <a:r>
              <a:t>- collections/organoid/wiki/concepts/brain-organoid-patterning-and-assembloids.md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e5565a06df484816"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1" name="Title 1">
            <a:extLst xmlns:a="http://schemas.openxmlformats.org/drawingml/2006/main">
              <a:ext uri="{FF2B5EF4-FFF2-40B4-BE49-F238E27FC236}">
                <a16:creationId xmlns:a16="http://schemas.microsoft.com/office/drawing/2014/main" id="{ECC3B110-96BF-440A-A1B6-CBD5345734F3}"/>
              </a:ext>
            </a:extLst>
          </p:cNvPr>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p:txBody>
      </p:sp>
      <p:sp>
        <p:nvSpPr>
          <p:cNvPr id="2" name="Subtitle 2">
            <a:extLst xmlns:a="http://schemas.openxmlformats.org/drawingml/2006/main">
              <a:ext uri="{FF2B5EF4-FFF2-40B4-BE49-F238E27FC236}">
                <a16:creationId xmlns:a16="http://schemas.microsoft.com/office/drawing/2014/main" id="{29F5EAB8-9E93-44B6-9A8F-677A9BD04D04}"/>
              </a:ext>
            </a:extLst>
          </p:cNvPr>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p:txBody>
      </p:sp>
      <p:sp>
        <p:nvSpPr>
          <p:cNvPr id="3" name="Date Placeholder 3">
            <a:extLst xmlns:a="http://schemas.openxmlformats.org/drawingml/2006/main">
              <a:ext uri="{FF2B5EF4-FFF2-40B4-BE49-F238E27FC236}">
                <a16:creationId xmlns:a16="http://schemas.microsoft.com/office/drawing/2014/main" id="{26BD9A40-0D29-4897-A413-E6B2E6BBFE8C}"/>
              </a:ext>
            </a:extLst>
          </p:cNvPr>
          <p:cNvSpPr/>
          <p:nvPr>
            <p:ph type="dt" idx="10"/>
          </p:nvPr>
        </p:nvSpPr>
        <p:spPr/>
        <p:txBody>
          <a:bodyPr xmlns:a="http://schemas.openxmlformats.org/drawingml/2006/main"/>
          <a:lstStyle xmlns:a="http://schemas.openxmlformats.org/drawingml/2006/main"/>
          <a:p xmlns:a="http://schemas.openxmlformats.org/drawingml/2006/main"/>
        </p:txBody>
      </p:sp>
      <p:sp>
        <p:nvSpPr>
          <p:cNvPr id="4" name="Footer Placeholder 4">
            <a:extLst xmlns:a="http://schemas.openxmlformats.org/drawingml/2006/main">
              <a:ext uri="{FF2B5EF4-FFF2-40B4-BE49-F238E27FC236}">
                <a16:creationId xmlns:a16="http://schemas.microsoft.com/office/drawing/2014/main" id="{EDBB824B-FD9D-4EC1-92AF-BEFAFB3D13A3}"/>
              </a:ext>
            </a:extLst>
          </p:cNvPr>
          <p:cNvSpPr/>
          <p:nvPr>
            <p:ph type="ftr" idx="11"/>
          </p:nvPr>
        </p:nvSpPr>
        <p:spPr/>
        <p:txBody>
          <a:bodyPr xmlns:a="http://schemas.openxmlformats.org/drawingml/2006/main"/>
          <a:lstStyle xmlns:a="http://schemas.openxmlformats.org/drawingml/2006/main"/>
          <a:p xmlns:a="http://schemas.openxmlformats.org/drawingml/2006/main"/>
        </p:txBody>
      </p:sp>
      <p:sp>
        <p:nvSpPr>
          <p:cNvPr id="5" name="Slide Number Placeholder 5">
            <a:extLst xmlns:a="http://schemas.openxmlformats.org/drawingml/2006/main">
              <a:ext uri="{FF2B5EF4-FFF2-40B4-BE49-F238E27FC236}">
                <a16:creationId xmlns:a16="http://schemas.microsoft.com/office/drawing/2014/main" id="{11DAD1DA-DD27-4C25-AFB7-E057ACC56EC0}"/>
              </a:ext>
            </a:extLst>
          </p:cNvPr>
          <p:cNvSpPr/>
          <p:nvPr>
            <p:ph type="sldNum" idx="12"/>
          </p:nvPr>
        </p:nvSpPr>
        <p:spPr/>
        <p:txBody>
          <a:bodyPr xmlns:a="http://schemas.openxmlformats.org/drawingml/2006/main"/>
          <a:lstStyle xmlns:a="http://schemas.openxmlformats.org/drawingml/2006/main"/>
          <a:p xmlns:a="http://schemas.openxmlformats.org/drawingml/2006/main"/>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1dcce5d15ead4038" /><Relationship Type="http://schemas.openxmlformats.org/officeDocument/2006/relationships/slideLayout" Target="/ppt/slideLayouts/slideLayout2.xml" Id="R2c25b305d1b64e69"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E3B211BA-1583-47AF-A4CA-25141E837EC6}"/>
              </a:ext>
            </a:extLst>
          </p:cNvPr>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82000"/>
                  </a:schemeClr>
                </a:solidFill>
              </a:defRPr>
            </a:lvl1pPr>
          </a:lstStyle>
          <a:p xmlns:a="http://schemas.openxmlformats.org/drawingml/2006/main"/>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c25b305d1b64e69"/>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5623359fcb414375" /><Relationship Type="http://schemas.openxmlformats.org/officeDocument/2006/relationships/image" Target="/ppt/media/image.png" Id="R4a5e0179826d4513" /><Relationship Type="http://schemas.openxmlformats.org/officeDocument/2006/relationships/notesSlide" Target="/ppt/notesSlides/notesSlide1.xml" Id="Rc3658ae805504811"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23dcfa4e62714fcd" /><Relationship Type="http://schemas.openxmlformats.org/officeDocument/2006/relationships/image" Target="/ppt/media/image2.png" Id="Ra0304f5dd0e24df6" /><Relationship Type="http://schemas.openxmlformats.org/officeDocument/2006/relationships/notesSlide" Target="/ppt/notesSlides/notesSlide2.xml" Id="R8262f80e689e41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e2676f69408f4fc3" /><Relationship Type="http://schemas.openxmlformats.org/officeDocument/2006/relationships/image" Target="/ppt/media/image3.png" Id="Ra9dd5dbe3f0b4712" /><Relationship Type="http://schemas.openxmlformats.org/officeDocument/2006/relationships/notesSlide" Target="/ppt/notesSlides/notesSlide3.xml" Id="R2f48cbbf176745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119c1bf2de564123" /><Relationship Type="http://schemas.openxmlformats.org/officeDocument/2006/relationships/image" Target="/ppt/media/image4.png" Id="Rb701a0bc86634413" /><Relationship Type="http://schemas.openxmlformats.org/officeDocument/2006/relationships/notesSlide" Target="/ppt/notesSlides/notesSlide4.xml" Id="R7ff7e2b4154f456b"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d15a937facce4462" /><Relationship Type="http://schemas.openxmlformats.org/officeDocument/2006/relationships/image" Target="/ppt/media/image5.png" Id="R329e59ab59594c65" /><Relationship Type="http://schemas.openxmlformats.org/officeDocument/2006/relationships/notesSlide" Target="/ppt/notesSlides/notesSlide5.xml" Id="Rf3663f5c367a4b6d"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a95cc2f819946c5" /><Relationship Type="http://schemas.openxmlformats.org/officeDocument/2006/relationships/image" Target="/ppt/media/image6.png" Id="R0f8ad99d1a8745c6" /><Relationship Type="http://schemas.openxmlformats.org/officeDocument/2006/relationships/notesSlide" Target="/ppt/notesSlides/notesSlide6.xml" Id="R56ee0015f3514530"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619432b092d14638" /><Relationship Type="http://schemas.openxmlformats.org/officeDocument/2006/relationships/image" Target="/ppt/media/image7.png" Id="R3d2b7887ebd74606" /><Relationship Type="http://schemas.openxmlformats.org/officeDocument/2006/relationships/notesSlide" Target="/ppt/notesSlides/notesSlide7.xml" Id="R5aca17f3f65b4380"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60991c92173544fd" /><Relationship Type="http://schemas.openxmlformats.org/officeDocument/2006/relationships/image" Target="/ppt/media/image8.png" Id="R77907492fdcc4418" /><Relationship Type="http://schemas.openxmlformats.org/officeDocument/2006/relationships/notesSlide" Target="/ppt/notesSlides/notesSlide8.xml" Id="R2eabdc11e14242cc"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786a51c8cad646d3" /><Relationship Type="http://schemas.openxmlformats.org/officeDocument/2006/relationships/image" Target="/ppt/media/image9.png" Id="R21db6cc0b8e444dd" /><Relationship Type="http://schemas.openxmlformats.org/officeDocument/2006/relationships/notesSlide" Target="/ppt/notesSlides/notesSlide9.xml" Id="Rf905a7be7da34e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ec1672a4c0f74b98" /><Relationship Type="http://schemas.openxmlformats.org/officeDocument/2006/relationships/image" Target="/ppt/media/image10.png" Id="R424ef6cffc1642c7" /><Relationship Type="http://schemas.openxmlformats.org/officeDocument/2006/relationships/notesSlide" Target="/ppt/notesSlides/notesSlide10.xml" Id="Rde59bbb2b7234719" /></Relationships>
</file>

<file path=ppt/slides/_rels/slide11.xml.rels>&#65279;<?xml version="1.0" encoding="utf-8"?><Relationships xmlns="http://schemas.openxmlformats.org/package/2006/relationships"><Relationship Type="http://schemas.openxmlformats.org/officeDocument/2006/relationships/slideLayout" Target="/ppt/slideLayouts/slideLayout2.xml" Id="Rbb8b6de3dcc94102" /><Relationship Type="http://schemas.openxmlformats.org/officeDocument/2006/relationships/image" Target="/ppt/media/image11.png" Id="Rf02569a7d8d44dfb" /><Relationship Type="http://schemas.openxmlformats.org/officeDocument/2006/relationships/notesSlide" Target="/ppt/notesSlides/notesSlide11.xml" Id="Ra20764aedc3546cf"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ad347f29597648a0" /><Relationship Type="http://schemas.openxmlformats.org/officeDocument/2006/relationships/image" Target="/ppt/media/image12.png" Id="R0e02595e97b74128" /><Relationship Type="http://schemas.openxmlformats.org/officeDocument/2006/relationships/notesSlide" Target="/ppt/notesSlides/notesSlide12.xml" Id="R00866dacffc44333" /></Relationships>
</file>

<file path=ppt/slides/slide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a5e0179826d4513"/>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7339EF0-8F1E-49C0-AA20-AB70083193B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1E90DB7-7C6E-4CA9-B74D-C96B63075758}"/>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0F421652-C795-4D0C-AFAE-D290A4EE3A13}"/>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9CB5977C-0EA1-44AC-B755-7306A61E9120}"/>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4263FC6D-6119-4C7D-A5AA-41DA7C26F210}"/>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696CBEF-BE49-4E98-AA90-A7990C6FBD5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C0E0E9BB-2157-4012-B01A-277177FA9844}"/>
              </a:ext>
            </a:extLst>
          </p:cNvPr>
          <p:cNvSpPr>
            <a:spLocks xmlns:a="http://schemas.openxmlformats.org/drawingml/2006/main" noGrp="1"/>
          </p:cNvSpPr>
          <p:nvPr/>
        </p:nvSpPr>
        <p:spPr>
          <a:xfrm xmlns:a="http://schemas.openxmlformats.org/drawingml/2006/main">
            <a:off x="609600" y="819150"/>
            <a:ext cx="76200" cy="43624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FD976BF8-754B-44F4-9DB1-A41466A50AC4}"/>
              </a:ext>
            </a:extLst>
          </p:cNvPr>
          <p:cNvSpPr>
            <a:spLocks xmlns:a="http://schemas.openxmlformats.org/drawingml/2006/main" noGrp="1"/>
          </p:cNvSpPr>
          <p:nvPr/>
        </p:nvSpPr>
        <p:spPr>
          <a:xfrm xmlns:a="http://schemas.openxmlformats.org/drawingml/2006/main">
            <a:off x="819150" y="838200"/>
            <a:ext cx="49530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BRAIN ORGANOID QUESTION CHAIN</a:t>
            </a:r>
          </a:p>
        </p:txBody>
      </p:sp>
      <p:sp>
        <p:nvSpPr>
          <p:cNvPr id="11" name="">
            <a:extLst xmlns:a="http://schemas.openxmlformats.org/drawingml/2006/main">
              <a:ext uri="{FF2B5EF4-FFF2-40B4-BE49-F238E27FC236}">
                <a16:creationId xmlns:a16="http://schemas.microsoft.com/office/drawing/2014/main" id="{624584EA-83F8-4D56-B030-984AA4014673}"/>
              </a:ext>
            </a:extLst>
          </p:cNvPr>
          <p:cNvSpPr>
            <a:spLocks xmlns:a="http://schemas.openxmlformats.org/drawingml/2006/main" noGrp="1"/>
          </p:cNvSpPr>
          <p:nvPr/>
        </p:nvSpPr>
        <p:spPr>
          <a:xfrm xmlns:a="http://schemas.openxmlformats.org/drawingml/2006/main">
            <a:off x="781050" y="1238250"/>
            <a:ext cx="6572250" cy="1447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3375" b="1">
                <a:solidFill>
                  <a:srgbClr val="132024"/>
                </a:solidFill>
              </a:defRPr>
            </a:pPr>
            <a:r>
              <a:rPr sz="3375" b="1">
                <a:solidFill>
                  <a:srgbClr val="132024"/>
                </a:solidFill>
              </a:rPr>
              <a:t>Brain organoid protocol 비교는</a:t>
            </a:r>
          </a:p>
          <a:p xmlns:a="http://schemas.openxmlformats.org/drawingml/2006/main">
            <a:pPr algn="l">
              <a:defRPr sz="3375" b="1">
                <a:solidFill>
                  <a:srgbClr val="132024"/>
                </a:solidFill>
              </a:defRPr>
            </a:pPr>
            <a:r>
              <a:rPr sz="3375" b="1">
                <a:solidFill>
                  <a:srgbClr val="132024"/>
                </a:solidFill>
              </a:rPr>
              <a:t>왜 subregion 비교만으로 끝나지 않는가</a:t>
            </a:r>
          </a:p>
        </p:txBody>
      </p:sp>
      <p:sp>
        <p:nvSpPr>
          <p:cNvPr id="12" name="">
            <a:extLst xmlns:a="http://schemas.openxmlformats.org/drawingml/2006/main">
              <a:ext uri="{FF2B5EF4-FFF2-40B4-BE49-F238E27FC236}">
                <a16:creationId xmlns:a16="http://schemas.microsoft.com/office/drawing/2014/main" id="{90017FA9-3222-4781-8123-1E68877C4F88}"/>
              </a:ext>
            </a:extLst>
          </p:cNvPr>
          <p:cNvSpPr>
            <a:spLocks xmlns:a="http://schemas.openxmlformats.org/drawingml/2006/main" noGrp="1"/>
          </p:cNvSpPr>
          <p:nvPr/>
        </p:nvSpPr>
        <p:spPr>
          <a:xfrm xmlns:a="http://schemas.openxmlformats.org/drawingml/2006/main">
            <a:off x="819150" y="2933700"/>
            <a:ext cx="5905500" cy="7810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500" b="0">
                <a:solidFill>
                  <a:srgbClr val="344146"/>
                </a:solidFill>
              </a:defRPr>
            </a:pPr>
            <a:r>
              <a:rPr sz="1500" b="0">
                <a:solidFill>
                  <a:srgbClr val="344146"/>
                </a:solidFill>
              </a:rPr>
              <a:t>organoid 위키를 정리하면서, 단순한 region 비교 질문이</a:t>
            </a:r>
          </a:p>
          <a:p xmlns:a="http://schemas.openxmlformats.org/drawingml/2006/main">
            <a:pPr algn="l">
              <a:defRPr sz="1500" b="0">
                <a:solidFill>
                  <a:srgbClr val="344146"/>
                </a:solidFill>
              </a:defRPr>
            </a:pPr>
            <a:r>
              <a:rPr sz="1500" b="0">
                <a:solidFill>
                  <a:srgbClr val="344146"/>
                </a:solidFill>
              </a:rPr>
              <a:t>benchmark와 readout 중심 질문으로 어떻게 확장됐는지를 보여준다.</a:t>
            </a:r>
          </a:p>
        </p:txBody>
      </p:sp>
      <p:sp>
        <p:nvSpPr>
          <p:cNvPr id="13" name="">
            <a:extLst xmlns:a="http://schemas.openxmlformats.org/drawingml/2006/main">
              <a:ext uri="{FF2B5EF4-FFF2-40B4-BE49-F238E27FC236}">
                <a16:creationId xmlns:a16="http://schemas.microsoft.com/office/drawing/2014/main" id="{7DC74DB7-240D-4EB0-B65E-165F70538A6E}"/>
              </a:ext>
            </a:extLst>
          </p:cNvPr>
          <p:cNvSpPr>
            <a:spLocks xmlns:a="http://schemas.openxmlformats.org/drawingml/2006/main" noGrp="1"/>
          </p:cNvSpPr>
          <p:nvPr/>
        </p:nvSpPr>
        <p:spPr>
          <a:xfrm xmlns:a="http://schemas.openxmlformats.org/drawingml/2006/main">
            <a:off x="819150" y="4210050"/>
            <a:ext cx="4114800" cy="876300"/>
          </a:xfrm>
          <a:prstGeom xmlns:a="http://schemas.openxmlformats.org/drawingml/2006/main" prst="roundRect">
            <a:avLst>
              <a:gd name="adj" fmla="val 8696"/>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4" name="">
            <a:extLst xmlns:a="http://schemas.openxmlformats.org/drawingml/2006/main">
              <a:ext uri="{FF2B5EF4-FFF2-40B4-BE49-F238E27FC236}">
                <a16:creationId xmlns:a16="http://schemas.microsoft.com/office/drawing/2014/main" id="{F51B54BB-F896-410C-B679-45317198576A}"/>
              </a:ext>
            </a:extLst>
          </p:cNvPr>
          <p:cNvSpPr>
            <a:spLocks xmlns:a="http://schemas.openxmlformats.org/drawingml/2006/main" noGrp="1"/>
          </p:cNvSpPr>
          <p:nvPr/>
        </p:nvSpPr>
        <p:spPr>
          <a:xfrm xmlns:a="http://schemas.openxmlformats.org/drawingml/2006/main">
            <a:off x="1066800" y="4457700"/>
            <a:ext cx="36957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650" b="1">
                <a:solidFill>
                  <a:srgbClr val="132024"/>
                </a:solidFill>
              </a:defRPr>
            </a:pPr>
            <a:r>
              <a:rPr sz="1650" b="1">
                <a:solidFill>
                  <a:srgbClr val="132024"/>
                </a:solidFill>
              </a:rPr>
              <a:t>질문이 바뀌면 비교 기준도 바뀐다</a:t>
            </a:r>
          </a:p>
        </p:txBody>
      </p:sp>
      <p:sp>
        <p:nvSpPr>
          <p:cNvPr id="15" name="">
            <a:extLst xmlns:a="http://schemas.openxmlformats.org/drawingml/2006/main">
              <a:ext uri="{FF2B5EF4-FFF2-40B4-BE49-F238E27FC236}">
                <a16:creationId xmlns:a16="http://schemas.microsoft.com/office/drawing/2014/main" id="{A35F55F9-A16E-41AB-A46C-74A7497B4540}"/>
              </a:ext>
            </a:extLst>
          </p:cNvPr>
          <p:cNvSpPr>
            <a:spLocks xmlns:a="http://schemas.openxmlformats.org/drawingml/2006/main" noGrp="1"/>
          </p:cNvSpPr>
          <p:nvPr/>
        </p:nvSpPr>
        <p:spPr>
          <a:xfrm xmlns:a="http://schemas.openxmlformats.org/drawingml/2006/main">
            <a:off x="8020050" y="1200150"/>
            <a:ext cx="20383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7C9690DE-6E36-422A-B665-1610B27D5F92}"/>
              </a:ext>
            </a:extLst>
          </p:cNvPr>
          <p:cNvSpPr>
            <a:spLocks xmlns:a="http://schemas.openxmlformats.org/drawingml/2006/main" noGrp="1"/>
          </p:cNvSpPr>
          <p:nvPr/>
        </p:nvSpPr>
        <p:spPr>
          <a:xfrm xmlns:a="http://schemas.openxmlformats.org/drawingml/2006/main">
            <a:off x="8067675" y="1247775"/>
            <a:ext cx="47625" cy="10096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201A1D4E-6207-48CF-A878-C534EBFC9391}"/>
              </a:ext>
            </a:extLst>
          </p:cNvPr>
          <p:cNvSpPr>
            <a:spLocks xmlns:a="http://schemas.openxmlformats.org/drawingml/2006/main" noGrp="1"/>
          </p:cNvSpPr>
          <p:nvPr/>
        </p:nvSpPr>
        <p:spPr>
          <a:xfrm xmlns:a="http://schemas.openxmlformats.org/drawingml/2006/main">
            <a:off x="8191500" y="135255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18" name="">
            <a:extLst xmlns:a="http://schemas.openxmlformats.org/drawingml/2006/main">
              <a:ext uri="{FF2B5EF4-FFF2-40B4-BE49-F238E27FC236}">
                <a16:creationId xmlns:a16="http://schemas.microsoft.com/office/drawing/2014/main" id="{0707ACEE-CB88-4FE1-8B86-F8AD4F556F02}"/>
              </a:ext>
            </a:extLst>
          </p:cNvPr>
          <p:cNvSpPr>
            <a:spLocks xmlns:a="http://schemas.openxmlformats.org/drawingml/2006/main" noGrp="1"/>
          </p:cNvSpPr>
          <p:nvPr/>
        </p:nvSpPr>
        <p:spPr>
          <a:xfrm xmlns:a="http://schemas.openxmlformats.org/drawingml/2006/main">
            <a:off x="8191500" y="163830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subregion</a:t>
            </a:r>
          </a:p>
        </p:txBody>
      </p:sp>
      <p:sp>
        <p:nvSpPr>
          <p:cNvPr id="19" name="">
            <a:extLst xmlns:a="http://schemas.openxmlformats.org/drawingml/2006/main">
              <a:ext uri="{FF2B5EF4-FFF2-40B4-BE49-F238E27FC236}">
                <a16:creationId xmlns:a16="http://schemas.microsoft.com/office/drawing/2014/main" id="{0CE1A79B-C8FB-4FB6-92CE-231B997E3177}"/>
              </a:ext>
            </a:extLst>
          </p:cNvPr>
          <p:cNvSpPr>
            <a:spLocks xmlns:a="http://schemas.openxmlformats.org/drawingml/2006/main" noGrp="1"/>
          </p:cNvSpPr>
          <p:nvPr/>
        </p:nvSpPr>
        <p:spPr>
          <a:xfrm xmlns:a="http://schemas.openxmlformats.org/drawingml/2006/main">
            <a:off x="8191500" y="1885950"/>
            <a:ext cx="17145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a:p xmlns:a="http://schemas.openxmlformats.org/drawingml/2006/main">
            <a:pPr algn="l">
              <a:defRPr sz="825" b="0">
                <a:solidFill>
                  <a:srgbClr val="344146"/>
                </a:solidFill>
              </a:defRPr>
            </a:pPr>
            <a:r>
              <a:rPr sz="825" b="0">
                <a:solidFill>
                  <a:srgbClr val="344146"/>
                </a:solidFill>
              </a:rPr>
              <a:t>forebrain, midbrain</a:t>
            </a:r>
          </a:p>
        </p:txBody>
      </p:sp>
      <p:sp>
        <p:nvSpPr>
          <p:cNvPr id="20" name="">
            <a:extLst xmlns:a="http://schemas.openxmlformats.org/drawingml/2006/main">
              <a:ext uri="{FF2B5EF4-FFF2-40B4-BE49-F238E27FC236}">
                <a16:creationId xmlns:a16="http://schemas.microsoft.com/office/drawing/2014/main" id="{ED06CEF5-37F7-42CC-A4EB-1C6D1814DC8C}"/>
              </a:ext>
            </a:extLst>
          </p:cNvPr>
          <p:cNvSpPr>
            <a:spLocks xmlns:a="http://schemas.openxmlformats.org/drawingml/2006/main" noGrp="1"/>
          </p:cNvSpPr>
          <p:nvPr/>
        </p:nvSpPr>
        <p:spPr>
          <a:xfrm xmlns:a="http://schemas.openxmlformats.org/drawingml/2006/main">
            <a:off x="9296400" y="2667000"/>
            <a:ext cx="198120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98B54306-4633-45D7-97E0-70F57C759700}"/>
              </a:ext>
            </a:extLst>
          </p:cNvPr>
          <p:cNvSpPr>
            <a:spLocks xmlns:a="http://schemas.openxmlformats.org/drawingml/2006/main" noGrp="1"/>
          </p:cNvSpPr>
          <p:nvPr/>
        </p:nvSpPr>
        <p:spPr>
          <a:xfrm xmlns:a="http://schemas.openxmlformats.org/drawingml/2006/main">
            <a:off x="9344025" y="2714625"/>
            <a:ext cx="47625" cy="10096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86EFA5F7-04F6-45AA-836B-35168A23A427}"/>
              </a:ext>
            </a:extLst>
          </p:cNvPr>
          <p:cNvSpPr>
            <a:spLocks xmlns:a="http://schemas.openxmlformats.org/drawingml/2006/main" noGrp="1"/>
          </p:cNvSpPr>
          <p:nvPr/>
        </p:nvSpPr>
        <p:spPr>
          <a:xfrm xmlns:a="http://schemas.openxmlformats.org/drawingml/2006/main">
            <a:off x="9467850" y="2819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3" name="">
            <a:extLst xmlns:a="http://schemas.openxmlformats.org/drawingml/2006/main">
              <a:ext uri="{FF2B5EF4-FFF2-40B4-BE49-F238E27FC236}">
                <a16:creationId xmlns:a16="http://schemas.microsoft.com/office/drawing/2014/main" id="{72C92222-0B5E-414C-B5DA-189656526C75}"/>
              </a:ext>
            </a:extLst>
          </p:cNvPr>
          <p:cNvSpPr>
            <a:spLocks xmlns:a="http://schemas.openxmlformats.org/drawingml/2006/main" noGrp="1"/>
          </p:cNvSpPr>
          <p:nvPr/>
        </p:nvSpPr>
        <p:spPr>
          <a:xfrm xmlns:a="http://schemas.openxmlformats.org/drawingml/2006/main">
            <a:off x="9467850" y="3105150"/>
            <a:ext cx="16573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benchmark</a:t>
            </a:r>
          </a:p>
        </p:txBody>
      </p:sp>
      <p:sp>
        <p:nvSpPr>
          <p:cNvPr id="24" name="">
            <a:extLst xmlns:a="http://schemas.openxmlformats.org/drawingml/2006/main">
              <a:ext uri="{FF2B5EF4-FFF2-40B4-BE49-F238E27FC236}">
                <a16:creationId xmlns:a16="http://schemas.microsoft.com/office/drawing/2014/main" id="{7FF59A00-372A-4682-B2CC-2C9C290A4918}"/>
              </a:ext>
            </a:extLst>
          </p:cNvPr>
          <p:cNvSpPr>
            <a:spLocks xmlns:a="http://schemas.openxmlformats.org/drawingml/2006/main" noGrp="1"/>
          </p:cNvSpPr>
          <p:nvPr/>
        </p:nvSpPr>
        <p:spPr>
          <a:xfrm xmlns:a="http://schemas.openxmlformats.org/drawingml/2006/main">
            <a:off x="9467850" y="3352800"/>
            <a:ext cx="16573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reproducibility,</a:t>
            </a:r>
          </a:p>
          <a:p xmlns:a="http://schemas.openxmlformats.org/drawingml/2006/main">
            <a:pPr algn="l">
              <a:defRPr sz="825" b="0">
                <a:solidFill>
                  <a:srgbClr val="344146"/>
                </a:solidFill>
              </a:defRPr>
            </a:pPr>
            <a:r>
              <a:rPr sz="825" b="0">
                <a:solidFill>
                  <a:srgbClr val="344146"/>
                </a:solidFill>
              </a:rPr>
              <a:t>fidelity, timing</a:t>
            </a:r>
          </a:p>
        </p:txBody>
      </p:sp>
      <p:sp>
        <p:nvSpPr>
          <p:cNvPr id="25" name="">
            <a:extLst xmlns:a="http://schemas.openxmlformats.org/drawingml/2006/main">
              <a:ext uri="{FF2B5EF4-FFF2-40B4-BE49-F238E27FC236}">
                <a16:creationId xmlns:a16="http://schemas.microsoft.com/office/drawing/2014/main" id="{252783C7-6DFC-4DA7-9500-EEB240153661}"/>
              </a:ext>
            </a:extLst>
          </p:cNvPr>
          <p:cNvSpPr>
            <a:spLocks xmlns:a="http://schemas.openxmlformats.org/drawingml/2006/main" noGrp="1"/>
          </p:cNvSpPr>
          <p:nvPr/>
        </p:nvSpPr>
        <p:spPr>
          <a:xfrm xmlns:a="http://schemas.openxmlformats.org/drawingml/2006/main">
            <a:off x="8001000" y="4191000"/>
            <a:ext cx="2114550" cy="1104900"/>
          </a:xfrm>
          <a:prstGeom xmlns:a="http://schemas.openxmlformats.org/drawingml/2006/main" prst="roundRect">
            <a:avLst>
              <a:gd name="adj" fmla="val 689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B7C29A70-87D4-4A71-9A05-9EA01401BEA1}"/>
              </a:ext>
            </a:extLst>
          </p:cNvPr>
          <p:cNvSpPr>
            <a:spLocks xmlns:a="http://schemas.openxmlformats.org/drawingml/2006/main" noGrp="1"/>
          </p:cNvSpPr>
          <p:nvPr/>
        </p:nvSpPr>
        <p:spPr>
          <a:xfrm xmlns:a="http://schemas.openxmlformats.org/drawingml/2006/main">
            <a:off x="8048625" y="4238625"/>
            <a:ext cx="47625" cy="10096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E711E8A7-C1B8-4764-A335-8BB85142CF29}"/>
              </a:ext>
            </a:extLst>
          </p:cNvPr>
          <p:cNvSpPr>
            <a:spLocks xmlns:a="http://schemas.openxmlformats.org/drawingml/2006/main" noGrp="1"/>
          </p:cNvSpPr>
          <p:nvPr/>
        </p:nvSpPr>
        <p:spPr>
          <a:xfrm xmlns:a="http://schemas.openxmlformats.org/drawingml/2006/main">
            <a:off x="8172450" y="4343400"/>
            <a:ext cx="723900" cy="2286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concept</a:t>
            </a:r>
          </a:p>
        </p:txBody>
      </p:sp>
      <p:sp>
        <p:nvSpPr>
          <p:cNvPr id="28" name="">
            <a:extLst xmlns:a="http://schemas.openxmlformats.org/drawingml/2006/main">
              <a:ext uri="{FF2B5EF4-FFF2-40B4-BE49-F238E27FC236}">
                <a16:creationId xmlns:a16="http://schemas.microsoft.com/office/drawing/2014/main" id="{81A49393-3949-4C9B-844A-86B085ED23CA}"/>
              </a:ext>
            </a:extLst>
          </p:cNvPr>
          <p:cNvSpPr>
            <a:spLocks xmlns:a="http://schemas.openxmlformats.org/drawingml/2006/main" noGrp="1"/>
          </p:cNvSpPr>
          <p:nvPr/>
        </p:nvSpPr>
        <p:spPr>
          <a:xfrm xmlns:a="http://schemas.openxmlformats.org/drawingml/2006/main">
            <a:off x="8172450" y="4629150"/>
            <a:ext cx="1790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readout</a:t>
            </a:r>
          </a:p>
        </p:txBody>
      </p:sp>
      <p:sp>
        <p:nvSpPr>
          <p:cNvPr id="29" name="">
            <a:extLst xmlns:a="http://schemas.openxmlformats.org/drawingml/2006/main">
              <a:ext uri="{FF2B5EF4-FFF2-40B4-BE49-F238E27FC236}">
                <a16:creationId xmlns:a16="http://schemas.microsoft.com/office/drawing/2014/main" id="{FE218DBA-DC67-4031-B959-2FF0C09237B4}"/>
              </a:ext>
            </a:extLst>
          </p:cNvPr>
          <p:cNvSpPr>
            <a:spLocks xmlns:a="http://schemas.openxmlformats.org/drawingml/2006/main" noGrp="1"/>
          </p:cNvSpPr>
          <p:nvPr/>
        </p:nvSpPr>
        <p:spPr>
          <a:xfrm xmlns:a="http://schemas.openxmlformats.org/drawingml/2006/main">
            <a:off x="8172450" y="4876800"/>
            <a:ext cx="179070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MEA, atlas, host,</a:t>
            </a:r>
          </a:p>
          <a:p xmlns:a="http://schemas.openxmlformats.org/drawingml/2006/main">
            <a:pPr algn="l">
              <a:defRPr sz="825" b="0">
                <a:solidFill>
                  <a:srgbClr val="344146"/>
                </a:solidFill>
              </a:defRPr>
            </a:pPr>
            <a:r>
              <a:rPr sz="825" b="0">
                <a:solidFill>
                  <a:srgbClr val="344146"/>
                </a:solidFill>
              </a:rPr>
              <a:t>screening</a:t>
            </a:r>
          </a:p>
        </p:txBody>
      </p:sp>
      <p:sp>
        <p:nvSpPr>
          <p:cNvPr id="30" name="">
            <a:extLst xmlns:a="http://schemas.openxmlformats.org/drawingml/2006/main">
              <a:ext uri="{FF2B5EF4-FFF2-40B4-BE49-F238E27FC236}">
                <a16:creationId xmlns:a16="http://schemas.microsoft.com/office/drawing/2014/main" id="{642E8CAB-A9F7-49B5-B474-2138F24B5FF4}"/>
              </a:ext>
            </a:extLst>
          </p:cNvPr>
          <p:cNvSpPr>
            <a:spLocks xmlns:a="http://schemas.openxmlformats.org/drawingml/2006/main" noGrp="1"/>
          </p:cNvSpPr>
          <p:nvPr/>
        </p:nvSpPr>
        <p:spPr>
          <a:xfrm xmlns:a="http://schemas.openxmlformats.org/drawingml/2006/main">
            <a:off x="7391400" y="2609850"/>
            <a:ext cx="2095500" cy="990600"/>
          </a:xfrm>
          <a:prstGeom xmlns:a="http://schemas.openxmlformats.org/drawingml/2006/main" prst="roundRect">
            <a:avLst>
              <a:gd name="adj" fmla="val 7692"/>
            </a:avLst>
          </a:prstGeom>
          <a:solidFill xmlns:a="http://schemas.openxmlformats.org/drawingml/2006/main">
            <a:srgbClr val="DDF4E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40FEB741-0BD1-484C-A361-F0E7620550C3}"/>
              </a:ext>
            </a:extLst>
          </p:cNvPr>
          <p:cNvSpPr>
            <a:spLocks xmlns:a="http://schemas.openxmlformats.org/drawingml/2006/main" noGrp="1"/>
          </p:cNvSpPr>
          <p:nvPr/>
        </p:nvSpPr>
        <p:spPr>
          <a:xfrm xmlns:a="http://schemas.openxmlformats.org/drawingml/2006/main">
            <a:off x="7439025" y="2657475"/>
            <a:ext cx="47625" cy="8953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FBD4AA92-CABF-4530-B0A2-BBBA95CD1452}"/>
              </a:ext>
            </a:extLst>
          </p:cNvPr>
          <p:cNvSpPr>
            <a:spLocks xmlns:a="http://schemas.openxmlformats.org/drawingml/2006/main" noGrp="1"/>
          </p:cNvSpPr>
          <p:nvPr/>
        </p:nvSpPr>
        <p:spPr>
          <a:xfrm xmlns:a="http://schemas.openxmlformats.org/drawingml/2006/main">
            <a:off x="7562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33" name="">
            <a:extLst xmlns:a="http://schemas.openxmlformats.org/drawingml/2006/main">
              <a:ext uri="{FF2B5EF4-FFF2-40B4-BE49-F238E27FC236}">
                <a16:creationId xmlns:a16="http://schemas.microsoft.com/office/drawing/2014/main" id="{E9DC7D06-779F-436E-BAC4-57AAFDDCB4E5}"/>
              </a:ext>
            </a:extLst>
          </p:cNvPr>
          <p:cNvSpPr>
            <a:spLocks xmlns:a="http://schemas.openxmlformats.org/drawingml/2006/main" noGrp="1"/>
          </p:cNvSpPr>
          <p:nvPr/>
        </p:nvSpPr>
        <p:spPr>
          <a:xfrm xmlns:a="http://schemas.openxmlformats.org/drawingml/2006/main">
            <a:off x="7562850" y="3048000"/>
            <a:ext cx="17716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질문의 이동</a:t>
            </a:r>
          </a:p>
        </p:txBody>
      </p:sp>
      <p:sp>
        <p:nvSpPr>
          <p:cNvPr id="34" name="">
            <a:extLst xmlns:a="http://schemas.openxmlformats.org/drawingml/2006/main">
              <a:ext uri="{FF2B5EF4-FFF2-40B4-BE49-F238E27FC236}">
                <a16:creationId xmlns:a16="http://schemas.microsoft.com/office/drawing/2014/main" id="{FFEC52A0-C393-4EC9-AB22-79CFA92640FF}"/>
              </a:ext>
            </a:extLst>
          </p:cNvPr>
          <p:cNvSpPr>
            <a:spLocks xmlns:a="http://schemas.openxmlformats.org/drawingml/2006/main" noGrp="1"/>
          </p:cNvSpPr>
          <p:nvPr/>
        </p:nvSpPr>
        <p:spPr>
          <a:xfrm xmlns:a="http://schemas.openxmlformats.org/drawingml/2006/main">
            <a:off x="7562850" y="3295650"/>
            <a:ext cx="177165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what should I compare first?</a:t>
            </a:r>
          </a:p>
        </p:txBody>
      </p:sp>
      <p:sp>
        <p:nvSpPr>
          <p:cNvPr id="35" name="">
            <a:extLst xmlns:a="http://schemas.openxmlformats.org/drawingml/2006/main">
              <a:ext uri="{FF2B5EF4-FFF2-40B4-BE49-F238E27FC236}">
                <a16:creationId xmlns:a16="http://schemas.microsoft.com/office/drawing/2014/main" id="{ED61FC1C-1CDB-4DEB-BC25-73D2A73BF2A4}"/>
              </a:ext>
            </a:extLst>
          </p:cNvPr>
          <p:cNvSpPr>
            <a:spLocks xmlns:a="http://schemas.openxmlformats.org/drawingml/2006/main" noGrp="1"/>
          </p:cNvSpPr>
          <p:nvPr/>
        </p:nvSpPr>
        <p:spPr>
          <a:xfrm xmlns:a="http://schemas.openxmlformats.org/drawingml/2006/main" rot="-3964498">
            <a:off x="7999343" y="2414588"/>
            <a:ext cx="1479690" cy="28575"/>
          </a:xfrm>
          <a:prstGeom xmlns:a="http://schemas.openxmlformats.org/drawingml/2006/main" prst="rect">
            <a:avLst/>
          </a:prstGeom>
          <a:solidFill xmlns:a="http://schemas.openxmlformats.org/drawingml/2006/main">
            <a:srgbClr val="97B7AA"/>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04156535-8226-4246-862A-5F99B9CAC964}"/>
              </a:ext>
            </a:extLst>
          </p:cNvPr>
          <p:cNvSpPr>
            <a:spLocks xmlns:a="http://schemas.openxmlformats.org/drawingml/2006/main" noGrp="1"/>
          </p:cNvSpPr>
          <p:nvPr/>
        </p:nvSpPr>
        <p:spPr>
          <a:xfrm xmlns:a="http://schemas.openxmlformats.org/drawingml/2006/main" rot="212374">
            <a:off x="8437384" y="3148013"/>
            <a:ext cx="1851382" cy="28575"/>
          </a:xfrm>
          <a:prstGeom xmlns:a="http://schemas.openxmlformats.org/drawingml/2006/main" prst="rect">
            <a:avLst/>
          </a:prstGeom>
          <a:solidFill xmlns:a="http://schemas.openxmlformats.org/drawingml/2006/main">
            <a:srgbClr val="B7B0A1"/>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3A193531-8B89-458C-A18F-E94B08A801CC}"/>
              </a:ext>
            </a:extLst>
          </p:cNvPr>
          <p:cNvSpPr>
            <a:spLocks xmlns:a="http://schemas.openxmlformats.org/drawingml/2006/main" noGrp="1"/>
          </p:cNvSpPr>
          <p:nvPr/>
        </p:nvSpPr>
        <p:spPr>
          <a:xfrm xmlns:a="http://schemas.openxmlformats.org/drawingml/2006/main" rot="4157884">
            <a:off x="7873021" y="3910013"/>
            <a:ext cx="1751383" cy="28575"/>
          </a:xfrm>
          <a:prstGeom xmlns:a="http://schemas.openxmlformats.org/drawingml/2006/main" prst="rect">
            <a:avLst/>
          </a:prstGeom>
          <a:solidFill xmlns:a="http://schemas.openxmlformats.org/drawingml/2006/main">
            <a:srgbClr val="CDA69F"/>
          </a:solidFill>
          <a:ln xmlns:a="http://schemas.openxmlformats.org/drawingml/2006/main" w="0">
            <a:solidFill>
              <a:srgbClr val="000000">
                <a:alpha val="0"/>
              </a:srgbClr>
            </a:solidFill>
            <a:prstDash val="solid"/>
          </a:ln>
        </p:spPr>
      </p:sp>
      <p:sp>
        <p:nvSpPr>
          <p:cNvPr id="38" name="">
            <a:extLst xmlns:a="http://schemas.openxmlformats.org/drawingml/2006/main">
              <a:ext uri="{FF2B5EF4-FFF2-40B4-BE49-F238E27FC236}">
                <a16:creationId xmlns:a16="http://schemas.microsoft.com/office/drawing/2014/main" id="{B541EDDF-FBDF-4495-8B72-D85B93719533}"/>
              </a:ext>
            </a:extLst>
          </p:cNvPr>
          <p:cNvSpPr>
            <a:spLocks xmlns:a="http://schemas.openxmlformats.org/drawingml/2006/main" noGrp="1"/>
          </p:cNvSpPr>
          <p:nvPr/>
        </p:nvSpPr>
        <p:spPr>
          <a:xfrm xmlns:a="http://schemas.openxmlformats.org/drawingml/2006/main">
            <a:off x="819150" y="5448300"/>
            <a:ext cx="110490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15 min talk</a:t>
            </a:r>
          </a:p>
        </p:txBody>
      </p:sp>
      <p:sp>
        <p:nvSpPr>
          <p:cNvPr id="39" name="">
            <a:extLst xmlns:a="http://schemas.openxmlformats.org/drawingml/2006/main">
              <a:ext uri="{FF2B5EF4-FFF2-40B4-BE49-F238E27FC236}">
                <a16:creationId xmlns:a16="http://schemas.microsoft.com/office/drawing/2014/main" id="{59BF53CB-18BC-4A04-937C-891FC0F725FE}"/>
              </a:ext>
            </a:extLst>
          </p:cNvPr>
          <p:cNvSpPr>
            <a:spLocks xmlns:a="http://schemas.openxmlformats.org/drawingml/2006/main" noGrp="1"/>
          </p:cNvSpPr>
          <p:nvPr/>
        </p:nvSpPr>
        <p:spPr>
          <a:xfrm xmlns:a="http://schemas.openxmlformats.org/drawingml/2006/main">
            <a:off x="2038350" y="5448300"/>
            <a:ext cx="15621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question journey</a:t>
            </a:r>
          </a:p>
        </p:txBody>
      </p:sp>
      <p:sp>
        <p:nvSpPr>
          <p:cNvPr id="40" name="">
            <a:extLst xmlns:a="http://schemas.openxmlformats.org/drawingml/2006/main">
              <a:ext uri="{FF2B5EF4-FFF2-40B4-BE49-F238E27FC236}">
                <a16:creationId xmlns:a16="http://schemas.microsoft.com/office/drawing/2014/main" id="{04E28CDB-6AF1-460B-BCC7-4695FE294912}"/>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 구조: 출발 질문 -&gt; 한계 발견 -&gt; 질문 재정의 -&gt; 최종 선택 규칙</a:t>
            </a:r>
          </a:p>
        </p:txBody>
      </p:sp>
    </p:spTree>
    <p:extLst>
      <p:ext uri="{BB962C8B-B14F-4D97-AF65-F5344CB8AC3E}">
        <p14:creationId xmlns:p14="http://schemas.microsoft.com/office/powerpoint/2010/main" val="257606857"/>
      </p:ext>
    </p:extLst>
  </p:cSld>
</p:sld>
</file>

<file path=ppt/slides/slide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0304f5dd0e24df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893E64E-6129-45DA-988E-2B377CED734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5107458C-4998-40C0-8C8B-050621CD7BE3}"/>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3580B83-D042-4367-B994-63229681735D}"/>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E50165C-39E9-4D7F-A687-D37B38733E1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E333A1D-83BD-46F5-A535-DFE4BF1D1C56}"/>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3CD26A6-36C3-408C-A8CD-E1E008E7814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78431"/>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83D28E01-5DBF-4D35-97A8-10C56F48E6F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WHY THIS TALK</a:t>
            </a:r>
          </a:p>
        </p:txBody>
      </p:sp>
      <p:sp>
        <p:nvSpPr>
          <p:cNvPr id="10" name="">
            <a:extLst xmlns:a="http://schemas.openxmlformats.org/drawingml/2006/main">
              <a:ext uri="{FF2B5EF4-FFF2-40B4-BE49-F238E27FC236}">
                <a16:creationId xmlns:a16="http://schemas.microsoft.com/office/drawing/2014/main" id="{0FAD8CDE-9AF7-4D2C-AB81-AD7ABE9F57B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02 / 12</a:t>
            </a:r>
          </a:p>
        </p:txBody>
      </p:sp>
      <p:sp>
        <p:nvSpPr>
          <p:cNvPr id="11" name="">
            <a:extLst xmlns:a="http://schemas.openxmlformats.org/drawingml/2006/main">
              <a:ext uri="{FF2B5EF4-FFF2-40B4-BE49-F238E27FC236}">
                <a16:creationId xmlns:a16="http://schemas.microsoft.com/office/drawing/2014/main" id="{EF7E2534-E92C-4244-AF04-55C78993184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FE12EF6-F5AA-4987-8A0F-E5EB8170CB05}"/>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BBFACD09-599A-43A7-8CE6-DAB820C8C25C}"/>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교수님 가이드에 맞춘</a:t>
            </a:r>
          </a:p>
          <a:p xmlns:a="http://schemas.openxmlformats.org/drawingml/2006/main">
            <a:pPr algn="l">
              <a:defRPr sz="2850" b="1">
                <a:solidFill>
                  <a:srgbClr val="132024"/>
                </a:solidFill>
              </a:defRPr>
            </a:pPr>
            <a:r>
              <a:rPr sz="2850" b="1">
                <a:solidFill>
                  <a:srgbClr val="132024"/>
                </a:solidFill>
              </a:rPr>
              <a:t>발표 프레임</a:t>
            </a:r>
          </a:p>
        </p:txBody>
      </p:sp>
      <p:sp>
        <p:nvSpPr>
          <p:cNvPr id="14" name="">
            <a:extLst xmlns:a="http://schemas.openxmlformats.org/drawingml/2006/main">
              <a:ext uri="{FF2B5EF4-FFF2-40B4-BE49-F238E27FC236}">
                <a16:creationId xmlns:a16="http://schemas.microsoft.com/office/drawing/2014/main" id="{5B5A5C34-60CC-457E-98AB-E8997F0AB420}"/>
              </a:ext>
            </a:extLst>
          </p:cNvPr>
          <p:cNvSpPr>
            <a:spLocks xmlns:a="http://schemas.openxmlformats.org/drawingml/2006/main" noGrp="1"/>
          </p:cNvSpPr>
          <p:nvPr/>
        </p:nvSpPr>
        <p:spPr>
          <a:xfrm xmlns:a="http://schemas.openxmlformats.org/drawingml/2006/main">
            <a:off x="7772400" y="990600"/>
            <a:ext cx="3714750" cy="876300"/>
          </a:xfrm>
          <a:prstGeom xmlns:a="http://schemas.openxmlformats.org/drawingml/2006/main" prst="roundRect">
            <a:avLst>
              <a:gd name="adj" fmla="val 8696"/>
            </a:avLst>
          </a:prstGeom>
          <a:solidFill xmlns:a="http://schemas.openxmlformats.org/drawingml/2006/main">
            <a:srgbClr val="F4E8C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CC111975-E0A9-41F2-B173-ACD7BF2C950A}"/>
              </a:ext>
            </a:extLst>
          </p:cNvPr>
          <p:cNvSpPr>
            <a:spLocks xmlns:a="http://schemas.openxmlformats.org/drawingml/2006/main" noGrp="1"/>
          </p:cNvSpPr>
          <p:nvPr/>
        </p:nvSpPr>
        <p:spPr>
          <a:xfrm xmlns:a="http://schemas.openxmlformats.org/drawingml/2006/main">
            <a:off x="7820025" y="1038225"/>
            <a:ext cx="57150" cy="781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C700934-E756-4964-B3FB-7247A4093027}"/>
              </a:ext>
            </a:extLst>
          </p:cNvPr>
          <p:cNvSpPr>
            <a:spLocks xmlns:a="http://schemas.openxmlformats.org/drawingml/2006/main" noGrp="1"/>
          </p:cNvSpPr>
          <p:nvPr/>
        </p:nvSpPr>
        <p:spPr>
          <a:xfrm xmlns:a="http://schemas.openxmlformats.org/drawingml/2006/main">
            <a:off x="7981950" y="1143000"/>
            <a:ext cx="333375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교수님 포인트: 결론보다 '지식-위키 체인'이 어떻게 만들어졌는지를 보여주는 발표</a:t>
            </a:r>
          </a:p>
        </p:txBody>
      </p:sp>
      <p:sp>
        <p:nvSpPr>
          <p:cNvPr id="17" name="">
            <a:extLst xmlns:a="http://schemas.openxmlformats.org/drawingml/2006/main">
              <a:ext uri="{FF2B5EF4-FFF2-40B4-BE49-F238E27FC236}">
                <a16:creationId xmlns:a16="http://schemas.microsoft.com/office/drawing/2014/main" id="{348368ED-BB4F-4627-8B31-DA7E7A5FD6C0}"/>
              </a:ext>
            </a:extLst>
          </p:cNvPr>
          <p:cNvSpPr>
            <a:spLocks xmlns:a="http://schemas.openxmlformats.org/drawingml/2006/main" noGrp="1"/>
          </p:cNvSpPr>
          <p:nvPr/>
        </p:nvSpPr>
        <p:spPr>
          <a:xfrm xmlns:a="http://schemas.openxmlformats.org/drawingml/2006/main">
            <a:off x="6096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8D78B38D-92F5-4661-A8BE-262CE62FED55}"/>
              </a:ext>
            </a:extLst>
          </p:cNvPr>
          <p:cNvSpPr>
            <a:spLocks xmlns:a="http://schemas.openxmlformats.org/drawingml/2006/main" noGrp="1"/>
          </p:cNvSpPr>
          <p:nvPr/>
        </p:nvSpPr>
        <p:spPr>
          <a:xfrm xmlns:a="http://schemas.openxmlformats.org/drawingml/2006/main">
            <a:off x="666750" y="2266950"/>
            <a:ext cx="31623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EED22E06-12E6-4149-9415-1CD6A8F1C689}"/>
              </a:ext>
            </a:extLst>
          </p:cNvPr>
          <p:cNvSpPr>
            <a:spLocks xmlns:a="http://schemas.openxmlformats.org/drawingml/2006/main" noGrp="1"/>
          </p:cNvSpPr>
          <p:nvPr/>
        </p:nvSpPr>
        <p:spPr>
          <a:xfrm xmlns:a="http://schemas.openxmlformats.org/drawingml/2006/main">
            <a:off x="8001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96</a:t>
            </a:r>
          </a:p>
        </p:txBody>
      </p:sp>
      <p:sp>
        <p:nvSpPr>
          <p:cNvPr id="20" name="">
            <a:extLst xmlns:a="http://schemas.openxmlformats.org/drawingml/2006/main">
              <a:ext uri="{FF2B5EF4-FFF2-40B4-BE49-F238E27FC236}">
                <a16:creationId xmlns:a16="http://schemas.microsoft.com/office/drawing/2014/main" id="{7DA682C3-CCF0-4BDF-9A36-5C99ED78AD68}"/>
              </a:ext>
            </a:extLst>
          </p:cNvPr>
          <p:cNvSpPr>
            <a:spLocks xmlns:a="http://schemas.openxmlformats.org/drawingml/2006/main" noGrp="1"/>
          </p:cNvSpPr>
          <p:nvPr/>
        </p:nvSpPr>
        <p:spPr>
          <a:xfrm xmlns:a="http://schemas.openxmlformats.org/drawingml/2006/main">
            <a:off x="8001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active source pages</a:t>
            </a:r>
          </a:p>
        </p:txBody>
      </p:sp>
      <p:sp>
        <p:nvSpPr>
          <p:cNvPr id="21" name="">
            <a:extLst xmlns:a="http://schemas.openxmlformats.org/drawingml/2006/main">
              <a:ext uri="{FF2B5EF4-FFF2-40B4-BE49-F238E27FC236}">
                <a16:creationId xmlns:a16="http://schemas.microsoft.com/office/drawing/2014/main" id="{D00459A7-6C47-4146-B239-BFAFC5764081}"/>
              </a:ext>
            </a:extLst>
          </p:cNvPr>
          <p:cNvSpPr>
            <a:spLocks xmlns:a="http://schemas.openxmlformats.org/drawingml/2006/main" noGrp="1"/>
          </p:cNvSpPr>
          <p:nvPr/>
        </p:nvSpPr>
        <p:spPr>
          <a:xfrm xmlns:a="http://schemas.openxmlformats.org/drawingml/2006/main">
            <a:off x="8001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2" name="">
            <a:extLst xmlns:a="http://schemas.openxmlformats.org/drawingml/2006/main">
              <a:ext uri="{FF2B5EF4-FFF2-40B4-BE49-F238E27FC236}">
                <a16:creationId xmlns:a16="http://schemas.microsoft.com/office/drawing/2014/main" id="{BDC9CAA2-C883-4C8C-84D8-A97EFBF3F1F7}"/>
              </a:ext>
            </a:extLst>
          </p:cNvPr>
          <p:cNvSpPr>
            <a:spLocks xmlns:a="http://schemas.openxmlformats.org/drawingml/2006/main" noGrp="1"/>
          </p:cNvSpPr>
          <p:nvPr/>
        </p:nvSpPr>
        <p:spPr>
          <a:xfrm xmlns:a="http://schemas.openxmlformats.org/drawingml/2006/main">
            <a:off x="41148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5EE9DD3A-833A-4876-926E-7031099BF309}"/>
              </a:ext>
            </a:extLst>
          </p:cNvPr>
          <p:cNvSpPr>
            <a:spLocks xmlns:a="http://schemas.openxmlformats.org/drawingml/2006/main" noGrp="1"/>
          </p:cNvSpPr>
          <p:nvPr/>
        </p:nvSpPr>
        <p:spPr>
          <a:xfrm xmlns:a="http://schemas.openxmlformats.org/drawingml/2006/main">
            <a:off x="4171950" y="2266950"/>
            <a:ext cx="31623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AAFFEA89-20F8-4EFC-AE09-734ED955A21E}"/>
              </a:ext>
            </a:extLst>
          </p:cNvPr>
          <p:cNvSpPr>
            <a:spLocks xmlns:a="http://schemas.openxmlformats.org/drawingml/2006/main" noGrp="1"/>
          </p:cNvSpPr>
          <p:nvPr/>
        </p:nvSpPr>
        <p:spPr>
          <a:xfrm xmlns:a="http://schemas.openxmlformats.org/drawingml/2006/main">
            <a:off x="43053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25" name="">
            <a:extLst xmlns:a="http://schemas.openxmlformats.org/drawingml/2006/main">
              <a:ext uri="{FF2B5EF4-FFF2-40B4-BE49-F238E27FC236}">
                <a16:creationId xmlns:a16="http://schemas.microsoft.com/office/drawing/2014/main" id="{34AA8A49-C335-4C59-9545-90630E04D909}"/>
              </a:ext>
            </a:extLst>
          </p:cNvPr>
          <p:cNvSpPr>
            <a:spLocks xmlns:a="http://schemas.openxmlformats.org/drawingml/2006/main" noGrp="1"/>
          </p:cNvSpPr>
          <p:nvPr/>
        </p:nvSpPr>
        <p:spPr>
          <a:xfrm xmlns:a="http://schemas.openxmlformats.org/drawingml/2006/main">
            <a:off x="43053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 cluster sources</a:t>
            </a:r>
          </a:p>
        </p:txBody>
      </p:sp>
      <p:sp>
        <p:nvSpPr>
          <p:cNvPr id="26" name="">
            <a:extLst xmlns:a="http://schemas.openxmlformats.org/drawingml/2006/main">
              <a:ext uri="{FF2B5EF4-FFF2-40B4-BE49-F238E27FC236}">
                <a16:creationId xmlns:a16="http://schemas.microsoft.com/office/drawing/2014/main" id="{4FDC5D70-EDA6-40BF-A737-BE2E3AF33837}"/>
              </a:ext>
            </a:extLst>
          </p:cNvPr>
          <p:cNvSpPr>
            <a:spLocks xmlns:a="http://schemas.openxmlformats.org/drawingml/2006/main" noGrp="1"/>
          </p:cNvSpPr>
          <p:nvPr/>
        </p:nvSpPr>
        <p:spPr>
          <a:xfrm xmlns:a="http://schemas.openxmlformats.org/drawingml/2006/main">
            <a:off x="43053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a:t>
            </a:r>
          </a:p>
        </p:txBody>
      </p:sp>
      <p:sp>
        <p:nvSpPr>
          <p:cNvPr id="27" name="">
            <a:extLst xmlns:a="http://schemas.openxmlformats.org/drawingml/2006/main">
              <a:ext uri="{FF2B5EF4-FFF2-40B4-BE49-F238E27FC236}">
                <a16:creationId xmlns:a16="http://schemas.microsoft.com/office/drawing/2014/main" id="{42B082B9-D4E3-4881-A420-3025A11F8C03}"/>
              </a:ext>
            </a:extLst>
          </p:cNvPr>
          <p:cNvSpPr>
            <a:spLocks xmlns:a="http://schemas.openxmlformats.org/drawingml/2006/main" noGrp="1"/>
          </p:cNvSpPr>
          <p:nvPr/>
        </p:nvSpPr>
        <p:spPr>
          <a:xfrm xmlns:a="http://schemas.openxmlformats.org/drawingml/2006/main">
            <a:off x="7620000" y="22098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8" name="">
            <a:extLst xmlns:a="http://schemas.openxmlformats.org/drawingml/2006/main">
              <a:ext uri="{FF2B5EF4-FFF2-40B4-BE49-F238E27FC236}">
                <a16:creationId xmlns:a16="http://schemas.microsoft.com/office/drawing/2014/main" id="{0500AF2B-3AE3-4C8C-84AE-45686BD1868F}"/>
              </a:ext>
            </a:extLst>
          </p:cNvPr>
          <p:cNvSpPr>
            <a:spLocks xmlns:a="http://schemas.openxmlformats.org/drawingml/2006/main" noGrp="1"/>
          </p:cNvSpPr>
          <p:nvPr/>
        </p:nvSpPr>
        <p:spPr>
          <a:xfrm xmlns:a="http://schemas.openxmlformats.org/drawingml/2006/main">
            <a:off x="7677150" y="2266950"/>
            <a:ext cx="31623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9" name="">
            <a:extLst xmlns:a="http://schemas.openxmlformats.org/drawingml/2006/main">
              <a:ext uri="{FF2B5EF4-FFF2-40B4-BE49-F238E27FC236}">
                <a16:creationId xmlns:a16="http://schemas.microsoft.com/office/drawing/2014/main" id="{4A6D9000-6BF3-49A4-B49F-8FC0E1C53597}"/>
              </a:ext>
            </a:extLst>
          </p:cNvPr>
          <p:cNvSpPr>
            <a:spLocks xmlns:a="http://schemas.openxmlformats.org/drawingml/2006/main" noGrp="1"/>
          </p:cNvSpPr>
          <p:nvPr/>
        </p:nvSpPr>
        <p:spPr>
          <a:xfrm xmlns:a="http://schemas.openxmlformats.org/drawingml/2006/main">
            <a:off x="7810500" y="23812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30" name="">
            <a:extLst xmlns:a="http://schemas.openxmlformats.org/drawingml/2006/main">
              <a:ext uri="{FF2B5EF4-FFF2-40B4-BE49-F238E27FC236}">
                <a16:creationId xmlns:a16="http://schemas.microsoft.com/office/drawing/2014/main" id="{9717394E-86F4-49B9-95C3-DB5C2A3329DB}"/>
              </a:ext>
            </a:extLst>
          </p:cNvPr>
          <p:cNvSpPr>
            <a:spLocks xmlns:a="http://schemas.openxmlformats.org/drawingml/2006/main" noGrp="1"/>
          </p:cNvSpPr>
          <p:nvPr/>
        </p:nvSpPr>
        <p:spPr>
          <a:xfrm xmlns:a="http://schemas.openxmlformats.org/drawingml/2006/main">
            <a:off x="7810500" y="28384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 in this talk</a:t>
            </a:r>
          </a:p>
        </p:txBody>
      </p:sp>
      <p:sp>
        <p:nvSpPr>
          <p:cNvPr id="31" name="">
            <a:extLst xmlns:a="http://schemas.openxmlformats.org/drawingml/2006/main">
              <a:ext uri="{FF2B5EF4-FFF2-40B4-BE49-F238E27FC236}">
                <a16:creationId xmlns:a16="http://schemas.microsoft.com/office/drawing/2014/main" id="{DA7A41A6-9D7A-4682-BD8D-20B9ED9150FD}"/>
              </a:ext>
            </a:extLst>
          </p:cNvPr>
          <p:cNvSpPr>
            <a:spLocks xmlns:a="http://schemas.openxmlformats.org/drawingml/2006/main" noGrp="1"/>
          </p:cNvSpPr>
          <p:nvPr/>
        </p:nvSpPr>
        <p:spPr>
          <a:xfrm xmlns:a="http://schemas.openxmlformats.org/drawingml/2006/main">
            <a:off x="7810500" y="30480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32" name="">
            <a:extLst xmlns:a="http://schemas.openxmlformats.org/drawingml/2006/main">
              <a:ext uri="{FF2B5EF4-FFF2-40B4-BE49-F238E27FC236}">
                <a16:creationId xmlns:a16="http://schemas.microsoft.com/office/drawing/2014/main" id="{BAF80B8A-1081-40DD-94F3-ECC9D29F8D35}"/>
              </a:ext>
            </a:extLst>
          </p:cNvPr>
          <p:cNvSpPr>
            <a:spLocks xmlns:a="http://schemas.openxmlformats.org/drawingml/2006/main" noGrp="1"/>
          </p:cNvSpPr>
          <p:nvPr/>
        </p:nvSpPr>
        <p:spPr>
          <a:xfrm xmlns:a="http://schemas.openxmlformats.org/drawingml/2006/main">
            <a:off x="7810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3" name="">
            <a:extLst xmlns:a="http://schemas.openxmlformats.org/drawingml/2006/main">
              <a:ext uri="{FF2B5EF4-FFF2-40B4-BE49-F238E27FC236}">
                <a16:creationId xmlns:a16="http://schemas.microsoft.com/office/drawing/2014/main" id="{D8CB177D-D25D-49DF-A7A3-C6D2CA72FCA8}"/>
              </a:ext>
            </a:extLst>
          </p:cNvPr>
          <p:cNvSpPr>
            <a:spLocks xmlns:a="http://schemas.openxmlformats.org/drawingml/2006/main" noGrp="1"/>
          </p:cNvSpPr>
          <p:nvPr/>
        </p:nvSpPr>
        <p:spPr>
          <a:xfrm xmlns:a="http://schemas.openxmlformats.org/drawingml/2006/main">
            <a:off x="838200" y="3924300"/>
            <a:ext cx="28765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4" name="">
            <a:extLst xmlns:a="http://schemas.openxmlformats.org/drawingml/2006/main">
              <a:ext uri="{FF2B5EF4-FFF2-40B4-BE49-F238E27FC236}">
                <a16:creationId xmlns:a16="http://schemas.microsoft.com/office/drawing/2014/main" id="{1EBFD550-D799-4E62-BBAE-CC02337BB2E4}"/>
              </a:ext>
            </a:extLst>
          </p:cNvPr>
          <p:cNvSpPr>
            <a:spLocks xmlns:a="http://schemas.openxmlformats.org/drawingml/2006/main" noGrp="1"/>
          </p:cNvSpPr>
          <p:nvPr/>
        </p:nvSpPr>
        <p:spPr>
          <a:xfrm xmlns:a="http://schemas.openxmlformats.org/drawingml/2006/main">
            <a:off x="9906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corpus browse</a:t>
            </a:r>
          </a:p>
        </p:txBody>
      </p:sp>
      <p:sp>
        <p:nvSpPr>
          <p:cNvPr id="35" name="">
            <a:extLst xmlns:a="http://schemas.openxmlformats.org/drawingml/2006/main">
              <a:ext uri="{FF2B5EF4-FFF2-40B4-BE49-F238E27FC236}">
                <a16:creationId xmlns:a16="http://schemas.microsoft.com/office/drawing/2014/main" id="{6EDDDA34-F8B3-4F5D-8039-7D3AC38D17ED}"/>
              </a:ext>
            </a:extLst>
          </p:cNvPr>
          <p:cNvSpPr>
            <a:spLocks xmlns:a="http://schemas.openxmlformats.org/drawingml/2006/main" noGrp="1"/>
          </p:cNvSpPr>
          <p:nvPr/>
        </p:nvSpPr>
        <p:spPr>
          <a:xfrm xmlns:a="http://schemas.openxmlformats.org/drawingml/2006/main">
            <a:off x="9906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index와 overview에서 organoid</a:t>
            </a:r>
          </a:p>
          <a:p xmlns:a="http://schemas.openxmlformats.org/drawingml/2006/main">
            <a:pPr algn="l">
              <a:defRPr sz="1200" b="0">
                <a:solidFill>
                  <a:srgbClr val="132024"/>
                </a:solidFill>
              </a:defRPr>
            </a:pPr>
            <a:r>
              <a:rPr sz="1200" b="0">
                <a:solidFill>
                  <a:srgbClr val="132024"/>
                </a:solidFill>
              </a:rPr>
              <a:t>corpus 전체 구조를 잡고, brain 관련</a:t>
            </a:r>
          </a:p>
          <a:p xmlns:a="http://schemas.openxmlformats.org/drawingml/2006/main">
            <a:pPr algn="l">
              <a:defRPr sz="1200" b="0">
                <a:solidFill>
                  <a:srgbClr val="132024"/>
                </a:solidFill>
              </a:defRPr>
            </a:pPr>
            <a:r>
              <a:rPr sz="1200" b="0">
                <a:solidFill>
                  <a:srgbClr val="132024"/>
                </a:solidFill>
              </a:rPr>
              <a:t>source와 concept page를 먼저</a:t>
            </a:r>
          </a:p>
          <a:p xmlns:a="http://schemas.openxmlformats.org/drawingml/2006/main">
            <a:pPr algn="l">
              <a:defRPr sz="1200" b="0">
                <a:solidFill>
                  <a:srgbClr val="132024"/>
                </a:solidFill>
              </a:defRPr>
            </a:pPr>
            <a:r>
              <a:rPr sz="1200" b="0">
                <a:solidFill>
                  <a:srgbClr val="132024"/>
                </a:solidFill>
              </a:rPr>
              <a:t>추렸다.</a:t>
            </a:r>
          </a:p>
        </p:txBody>
      </p:sp>
      <p:sp>
        <p:nvSpPr>
          <p:cNvPr id="36" name="">
            <a:extLst xmlns:a="http://schemas.openxmlformats.org/drawingml/2006/main">
              <a:ext uri="{FF2B5EF4-FFF2-40B4-BE49-F238E27FC236}">
                <a16:creationId xmlns:a16="http://schemas.microsoft.com/office/drawing/2014/main" id="{CEB7D67D-6261-4F3E-B6B9-92F8136908D2}"/>
              </a:ext>
            </a:extLst>
          </p:cNvPr>
          <p:cNvSpPr>
            <a:spLocks xmlns:a="http://schemas.openxmlformats.org/drawingml/2006/main" noGrp="1"/>
          </p:cNvSpPr>
          <p:nvPr/>
        </p:nvSpPr>
        <p:spPr>
          <a:xfrm xmlns:a="http://schemas.openxmlformats.org/drawingml/2006/main">
            <a:off x="39814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37" name="">
            <a:extLst xmlns:a="http://schemas.openxmlformats.org/drawingml/2006/main">
              <a:ext uri="{FF2B5EF4-FFF2-40B4-BE49-F238E27FC236}">
                <a16:creationId xmlns:a16="http://schemas.microsoft.com/office/drawing/2014/main" id="{8B5B25B2-5BDD-455E-80AB-A578CDE574B9}"/>
              </a:ext>
            </a:extLst>
          </p:cNvPr>
          <p:cNvSpPr>
            <a:spLocks xmlns:a="http://schemas.openxmlformats.org/drawingml/2006/main" noGrp="1"/>
          </p:cNvSpPr>
          <p:nvPr/>
        </p:nvSpPr>
        <p:spPr>
          <a:xfrm xmlns:a="http://schemas.openxmlformats.org/drawingml/2006/main">
            <a:off x="4819650" y="3867150"/>
            <a:ext cx="29908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51504DE1-0571-4B0B-9490-6041D3FB3010}"/>
              </a:ext>
            </a:extLst>
          </p:cNvPr>
          <p:cNvSpPr>
            <a:spLocks xmlns:a="http://schemas.openxmlformats.org/drawingml/2006/main" noGrp="1"/>
          </p:cNvSpPr>
          <p:nvPr/>
        </p:nvSpPr>
        <p:spPr>
          <a:xfrm xmlns:a="http://schemas.openxmlformats.org/drawingml/2006/main">
            <a:off x="4876800" y="3924300"/>
            <a:ext cx="28765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0376D61F-027E-4D4F-9184-4931C012F6DF}"/>
              </a:ext>
            </a:extLst>
          </p:cNvPr>
          <p:cNvSpPr>
            <a:spLocks xmlns:a="http://schemas.openxmlformats.org/drawingml/2006/main" noGrp="1"/>
          </p:cNvSpPr>
          <p:nvPr/>
        </p:nvSpPr>
        <p:spPr>
          <a:xfrm xmlns:a="http://schemas.openxmlformats.org/drawingml/2006/main">
            <a:off x="5029200" y="4057650"/>
            <a:ext cx="25717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first query</a:t>
            </a:r>
          </a:p>
        </p:txBody>
      </p:sp>
      <p:sp>
        <p:nvSpPr>
          <p:cNvPr id="40" name="">
            <a:extLst xmlns:a="http://schemas.openxmlformats.org/drawingml/2006/main">
              <a:ext uri="{FF2B5EF4-FFF2-40B4-BE49-F238E27FC236}">
                <a16:creationId xmlns:a16="http://schemas.microsoft.com/office/drawing/2014/main" id="{950F11A0-3F50-45C2-B480-3319E83059B4}"/>
              </a:ext>
            </a:extLst>
          </p:cNvPr>
          <p:cNvSpPr>
            <a:spLocks xmlns:a="http://schemas.openxmlformats.org/drawingml/2006/main" noGrp="1"/>
          </p:cNvSpPr>
          <p:nvPr/>
        </p:nvSpPr>
        <p:spPr>
          <a:xfrm xmlns:a="http://schemas.openxmlformats.org/drawingml/2006/main">
            <a:off x="5029200" y="4476750"/>
            <a:ext cx="25717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subregion별 프로토콜 차이를 정리하면서</a:t>
            </a:r>
          </a:p>
          <a:p xmlns:a="http://schemas.openxmlformats.org/drawingml/2006/main">
            <a:pPr algn="l">
              <a:defRPr sz="1200" b="0">
                <a:solidFill>
                  <a:srgbClr val="132024"/>
                </a:solidFill>
              </a:defRPr>
            </a:pPr>
            <a:r>
              <a:rPr sz="1200" b="0">
                <a:solidFill>
                  <a:srgbClr val="132024"/>
                </a:solidFill>
              </a:rPr>
              <a:t>region choice를 중심 질문으로</a:t>
            </a:r>
          </a:p>
          <a:p xmlns:a="http://schemas.openxmlformats.org/drawingml/2006/main">
            <a:pPr algn="l">
              <a:defRPr sz="1200" b="0">
                <a:solidFill>
                  <a:srgbClr val="132024"/>
                </a:solidFill>
              </a:defRPr>
            </a:pPr>
            <a:r>
              <a:rPr sz="1200" b="0">
                <a:solidFill>
                  <a:srgbClr val="132024"/>
                </a:solidFill>
              </a:rPr>
              <a:t>세웠다.</a:t>
            </a:r>
          </a:p>
        </p:txBody>
      </p:sp>
      <p:sp>
        <p:nvSpPr>
          <p:cNvPr id="41" name="">
            <a:extLst xmlns:a="http://schemas.openxmlformats.org/drawingml/2006/main">
              <a:ext uri="{FF2B5EF4-FFF2-40B4-BE49-F238E27FC236}">
                <a16:creationId xmlns:a16="http://schemas.microsoft.com/office/drawing/2014/main" id="{77A9AFD6-AE46-41FA-B05C-6078B3F525EF}"/>
              </a:ext>
            </a:extLst>
          </p:cNvPr>
          <p:cNvSpPr>
            <a:spLocks xmlns:a="http://schemas.openxmlformats.org/drawingml/2006/main" noGrp="1"/>
          </p:cNvSpPr>
          <p:nvPr/>
        </p:nvSpPr>
        <p:spPr>
          <a:xfrm xmlns:a="http://schemas.openxmlformats.org/drawingml/2006/main">
            <a:off x="8020050" y="4629150"/>
            <a:ext cx="72390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42" name="">
            <a:extLst xmlns:a="http://schemas.openxmlformats.org/drawingml/2006/main">
              <a:ext uri="{FF2B5EF4-FFF2-40B4-BE49-F238E27FC236}">
                <a16:creationId xmlns:a16="http://schemas.microsoft.com/office/drawing/2014/main" id="{0130B438-0D26-451C-9E5E-F129C9698561}"/>
              </a:ext>
            </a:extLst>
          </p:cNvPr>
          <p:cNvSpPr>
            <a:spLocks xmlns:a="http://schemas.openxmlformats.org/drawingml/2006/main" noGrp="1"/>
          </p:cNvSpPr>
          <p:nvPr/>
        </p:nvSpPr>
        <p:spPr>
          <a:xfrm xmlns:a="http://schemas.openxmlformats.org/drawingml/2006/main">
            <a:off x="8858250" y="3867150"/>
            <a:ext cx="243840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43" name="">
            <a:extLst xmlns:a="http://schemas.openxmlformats.org/drawingml/2006/main">
              <a:ext uri="{FF2B5EF4-FFF2-40B4-BE49-F238E27FC236}">
                <a16:creationId xmlns:a16="http://schemas.microsoft.com/office/drawing/2014/main" id="{889733F1-229D-484A-8097-18AF38A9216A}"/>
              </a:ext>
            </a:extLst>
          </p:cNvPr>
          <p:cNvSpPr>
            <a:spLocks xmlns:a="http://schemas.openxmlformats.org/drawingml/2006/main" noGrp="1"/>
          </p:cNvSpPr>
          <p:nvPr/>
        </p:nvSpPr>
        <p:spPr>
          <a:xfrm xmlns:a="http://schemas.openxmlformats.org/drawingml/2006/main">
            <a:off x="8915400" y="3924300"/>
            <a:ext cx="23241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44" name="">
            <a:extLst xmlns:a="http://schemas.openxmlformats.org/drawingml/2006/main">
              <a:ext uri="{FF2B5EF4-FFF2-40B4-BE49-F238E27FC236}">
                <a16:creationId xmlns:a16="http://schemas.microsoft.com/office/drawing/2014/main" id="{5EE9C989-196F-4EFF-9FFB-45319CC94C0A}"/>
              </a:ext>
            </a:extLst>
          </p:cNvPr>
          <p:cNvSpPr>
            <a:spLocks xmlns:a="http://schemas.openxmlformats.org/drawingml/2006/main" noGrp="1"/>
          </p:cNvSpPr>
          <p:nvPr/>
        </p:nvSpPr>
        <p:spPr>
          <a:xfrm xmlns:a="http://schemas.openxmlformats.org/drawingml/2006/main">
            <a:off x="9067800" y="4057650"/>
            <a:ext cx="20193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refined query</a:t>
            </a:r>
          </a:p>
        </p:txBody>
      </p:sp>
      <p:sp>
        <p:nvSpPr>
          <p:cNvPr id="45" name="">
            <a:extLst xmlns:a="http://schemas.openxmlformats.org/drawingml/2006/main">
              <a:ext uri="{FF2B5EF4-FFF2-40B4-BE49-F238E27FC236}">
                <a16:creationId xmlns:a16="http://schemas.microsoft.com/office/drawing/2014/main" id="{C8A4ACE1-CE31-47D9-BF4D-E329B4106179}"/>
              </a:ext>
            </a:extLst>
          </p:cNvPr>
          <p:cNvSpPr>
            <a:spLocks xmlns:a="http://schemas.openxmlformats.org/drawingml/2006/main" noGrp="1"/>
          </p:cNvSpPr>
          <p:nvPr/>
        </p:nvSpPr>
        <p:spPr>
          <a:xfrm xmlns:a="http://schemas.openxmlformats.org/drawingml/2006/main">
            <a:off x="9067800" y="4476750"/>
            <a:ext cx="201930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질문만으로는 부족하다는 걸 발견하고</a:t>
            </a:r>
          </a:p>
          <a:p xmlns:a="http://schemas.openxmlformats.org/drawingml/2006/main">
            <a:pPr algn="l">
              <a:defRPr sz="1200" b="0">
                <a:solidFill>
                  <a:srgbClr val="132024"/>
                </a:solidFill>
              </a:defRPr>
            </a:pPr>
            <a:r>
              <a:rPr sz="1200" b="0">
                <a:solidFill>
                  <a:srgbClr val="132024"/>
                </a:solidFill>
              </a:rPr>
              <a:t>benchmark와 readout</a:t>
            </a:r>
          </a:p>
          <a:p xmlns:a="http://schemas.openxmlformats.org/drawingml/2006/main">
            <a:pPr algn="l">
              <a:defRPr sz="1200" b="0">
                <a:solidFill>
                  <a:srgbClr val="132024"/>
                </a:solidFill>
              </a:defRPr>
            </a:pPr>
            <a:r>
              <a:rPr sz="1200" b="0">
                <a:solidFill>
                  <a:srgbClr val="132024"/>
                </a:solidFill>
              </a:rPr>
              <a:t>질문으로 확장했다.</a:t>
            </a:r>
          </a:p>
        </p:txBody>
      </p:sp>
      <p:sp>
        <p:nvSpPr>
          <p:cNvPr id="46" name="">
            <a:extLst xmlns:a="http://schemas.openxmlformats.org/drawingml/2006/main">
              <a:ext uri="{FF2B5EF4-FFF2-40B4-BE49-F238E27FC236}">
                <a16:creationId xmlns:a16="http://schemas.microsoft.com/office/drawing/2014/main" id="{A267C33E-A382-4509-AAE3-9CB5D6033830}"/>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오늘 발표는 이 세 단계 자체를 보여주는 발표다.</a:t>
            </a:r>
          </a:p>
        </p:txBody>
      </p:sp>
    </p:spTree>
    <p:extLst>
      <p:ext uri="{BB962C8B-B14F-4D97-AF65-F5344CB8AC3E}">
        <p14:creationId xmlns:p14="http://schemas.microsoft.com/office/powerpoint/2010/main" val="150236197"/>
      </p:ext>
    </p:extLst>
  </p:cSld>
</p:sld>
</file>

<file path=ppt/slides/slide3.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9dd5dbe3f0b4712"/>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C4E4F89-053C-42E3-BBE7-AEB7B10E07E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9EB6CE44-88FD-4113-B29B-CE0A4E0BF2B4}"/>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F6FAD442-3F6A-40FC-812C-0AC8C5D1B821}"/>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2673F55-E503-4B06-B4F2-E330EAF668A9}"/>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FBA00386-8697-4553-8174-CD6CC5A5BA8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6D566E1-41FE-4576-B7A7-C00932F8B1F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F5A06E7D-B0FB-4616-9BFC-3CDEB1DA9896}"/>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SCOPE</a:t>
            </a:r>
          </a:p>
        </p:txBody>
      </p:sp>
      <p:sp>
        <p:nvSpPr>
          <p:cNvPr id="10" name="">
            <a:extLst xmlns:a="http://schemas.openxmlformats.org/drawingml/2006/main">
              <a:ext uri="{FF2B5EF4-FFF2-40B4-BE49-F238E27FC236}">
                <a16:creationId xmlns:a16="http://schemas.microsoft.com/office/drawing/2014/main" id="{594178A3-8BAF-4AB1-B54C-737E1390F80E}"/>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03 / 12</a:t>
            </a:r>
          </a:p>
        </p:txBody>
      </p:sp>
      <p:sp>
        <p:nvSpPr>
          <p:cNvPr id="11" name="">
            <a:extLst xmlns:a="http://schemas.openxmlformats.org/drawingml/2006/main">
              <a:ext uri="{FF2B5EF4-FFF2-40B4-BE49-F238E27FC236}">
                <a16:creationId xmlns:a16="http://schemas.microsoft.com/office/drawing/2014/main" id="{3B6F4D70-A10A-4F27-A581-16C9A082A0D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EA16861-73E4-40CE-8BA2-B5FE49EF6FB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8D56011E-DE74-4C9D-967C-70BC4D13DD78}"/>
              </a:ext>
            </a:extLst>
          </p:cNvPr>
          <p:cNvSpPr>
            <a:spLocks xmlns:a="http://schemas.openxmlformats.org/drawingml/2006/main" noGrp="1"/>
          </p:cNvSpPr>
          <p:nvPr/>
        </p:nvSpPr>
        <p:spPr>
          <a:xfrm xmlns:a="http://schemas.openxmlformats.org/drawingml/2006/main">
            <a:off x="609600" y="838200"/>
            <a:ext cx="70485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왜 이 corpus에서</a:t>
            </a:r>
          </a:p>
          <a:p xmlns:a="http://schemas.openxmlformats.org/drawingml/2006/main">
            <a:pPr algn="l">
              <a:defRPr sz="2850" b="1">
                <a:solidFill>
                  <a:srgbClr val="132024"/>
                </a:solidFill>
              </a:defRPr>
            </a:pPr>
            <a:r>
              <a:rPr sz="2850" b="1">
                <a:solidFill>
                  <a:srgbClr val="132024"/>
                </a:solidFill>
              </a:rPr>
              <a:t>brain branch를 먼저 잡았나</a:t>
            </a:r>
          </a:p>
        </p:txBody>
      </p:sp>
      <p:sp>
        <p:nvSpPr>
          <p:cNvPr id="14" name="">
            <a:extLst xmlns:a="http://schemas.openxmlformats.org/drawingml/2006/main">
              <a:ext uri="{FF2B5EF4-FFF2-40B4-BE49-F238E27FC236}">
                <a16:creationId xmlns:a16="http://schemas.microsoft.com/office/drawing/2014/main" id="{A858BB7F-C28D-4BF7-B096-9E360ED6A5F6}"/>
              </a:ext>
            </a:extLst>
          </p:cNvPr>
          <p:cNvSpPr>
            <a:spLocks xmlns:a="http://schemas.openxmlformats.org/drawingml/2006/main" noGrp="1"/>
          </p:cNvSpPr>
          <p:nvPr/>
        </p:nvSpPr>
        <p:spPr>
          <a:xfrm xmlns:a="http://schemas.openxmlformats.org/drawingml/2006/main">
            <a:off x="6858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B30471F-D138-4AC0-87DB-2C86D77996DD}"/>
              </a:ext>
            </a:extLst>
          </p:cNvPr>
          <p:cNvSpPr>
            <a:spLocks xmlns:a="http://schemas.openxmlformats.org/drawingml/2006/main" noGrp="1"/>
          </p:cNvSpPr>
          <p:nvPr/>
        </p:nvSpPr>
        <p:spPr>
          <a:xfrm xmlns:a="http://schemas.openxmlformats.org/drawingml/2006/main">
            <a:off x="742950" y="2228850"/>
            <a:ext cx="31623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721CA5C-3306-4B7B-B4EA-C65B428FAB3D}"/>
              </a:ext>
            </a:extLst>
          </p:cNvPr>
          <p:cNvSpPr>
            <a:spLocks xmlns:a="http://schemas.openxmlformats.org/drawingml/2006/main" noGrp="1"/>
          </p:cNvSpPr>
          <p:nvPr/>
        </p:nvSpPr>
        <p:spPr>
          <a:xfrm xmlns:a="http://schemas.openxmlformats.org/drawingml/2006/main">
            <a:off x="8763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17</a:t>
            </a:r>
          </a:p>
        </p:txBody>
      </p:sp>
      <p:sp>
        <p:nvSpPr>
          <p:cNvPr id="17" name="">
            <a:extLst xmlns:a="http://schemas.openxmlformats.org/drawingml/2006/main">
              <a:ext uri="{FF2B5EF4-FFF2-40B4-BE49-F238E27FC236}">
                <a16:creationId xmlns:a16="http://schemas.microsoft.com/office/drawing/2014/main" id="{49D82C79-4C96-4117-80CC-23ACAABD5F67}"/>
              </a:ext>
            </a:extLst>
          </p:cNvPr>
          <p:cNvSpPr>
            <a:spLocks xmlns:a="http://schemas.openxmlformats.org/drawingml/2006/main" noGrp="1"/>
          </p:cNvSpPr>
          <p:nvPr/>
        </p:nvSpPr>
        <p:spPr>
          <a:xfrm xmlns:a="http://schemas.openxmlformats.org/drawingml/2006/main">
            <a:off x="8763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brain-related active sources</a:t>
            </a:r>
          </a:p>
        </p:txBody>
      </p:sp>
      <p:sp>
        <p:nvSpPr>
          <p:cNvPr id="18" name="">
            <a:extLst xmlns:a="http://schemas.openxmlformats.org/drawingml/2006/main">
              <a:ext uri="{FF2B5EF4-FFF2-40B4-BE49-F238E27FC236}">
                <a16:creationId xmlns:a16="http://schemas.microsoft.com/office/drawing/2014/main" id="{02624F2E-E019-4BA2-B59E-B2DBCA9A6808}"/>
              </a:ext>
            </a:extLst>
          </p:cNvPr>
          <p:cNvSpPr>
            <a:spLocks xmlns:a="http://schemas.openxmlformats.org/drawingml/2006/main" noGrp="1"/>
          </p:cNvSpPr>
          <p:nvPr/>
        </p:nvSpPr>
        <p:spPr>
          <a:xfrm xmlns:a="http://schemas.openxmlformats.org/drawingml/2006/main">
            <a:off x="8763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overview.md cluster count</a:t>
            </a:r>
          </a:p>
        </p:txBody>
      </p:sp>
      <p:sp>
        <p:nvSpPr>
          <p:cNvPr id="19" name="">
            <a:extLst xmlns:a="http://schemas.openxmlformats.org/drawingml/2006/main">
              <a:ext uri="{FF2B5EF4-FFF2-40B4-BE49-F238E27FC236}">
                <a16:creationId xmlns:a16="http://schemas.microsoft.com/office/drawing/2014/main" id="{E22260D2-72C8-4F19-8269-D8DB3E6560DF}"/>
              </a:ext>
            </a:extLst>
          </p:cNvPr>
          <p:cNvSpPr>
            <a:spLocks xmlns:a="http://schemas.openxmlformats.org/drawingml/2006/main" noGrp="1"/>
          </p:cNvSpPr>
          <p:nvPr/>
        </p:nvSpPr>
        <p:spPr>
          <a:xfrm xmlns:a="http://schemas.openxmlformats.org/drawingml/2006/main">
            <a:off x="41910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241BA0B5-BEB4-42AE-B78E-E5DA25508E67}"/>
              </a:ext>
            </a:extLst>
          </p:cNvPr>
          <p:cNvSpPr>
            <a:spLocks xmlns:a="http://schemas.openxmlformats.org/drawingml/2006/main" noGrp="1"/>
          </p:cNvSpPr>
          <p:nvPr/>
        </p:nvSpPr>
        <p:spPr>
          <a:xfrm xmlns:a="http://schemas.openxmlformats.org/drawingml/2006/main">
            <a:off x="4248150" y="2228850"/>
            <a:ext cx="31623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DC9B0BCC-FC2C-4D01-AB2C-49AEF69BB3FC}"/>
              </a:ext>
            </a:extLst>
          </p:cNvPr>
          <p:cNvSpPr>
            <a:spLocks xmlns:a="http://schemas.openxmlformats.org/drawingml/2006/main" noGrp="1"/>
          </p:cNvSpPr>
          <p:nvPr/>
        </p:nvSpPr>
        <p:spPr>
          <a:xfrm xmlns:a="http://schemas.openxmlformats.org/drawingml/2006/main">
            <a:off x="43815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3</a:t>
            </a:r>
          </a:p>
        </p:txBody>
      </p:sp>
      <p:sp>
        <p:nvSpPr>
          <p:cNvPr id="22" name="">
            <a:extLst xmlns:a="http://schemas.openxmlformats.org/drawingml/2006/main">
              <a:ext uri="{FF2B5EF4-FFF2-40B4-BE49-F238E27FC236}">
                <a16:creationId xmlns:a16="http://schemas.microsoft.com/office/drawing/2014/main" id="{887E3D04-76B9-42CA-B701-6138BCCAF4C2}"/>
              </a:ext>
            </a:extLst>
          </p:cNvPr>
          <p:cNvSpPr>
            <a:spLocks xmlns:a="http://schemas.openxmlformats.org/drawingml/2006/main" noGrp="1"/>
          </p:cNvSpPr>
          <p:nvPr/>
        </p:nvSpPr>
        <p:spPr>
          <a:xfrm xmlns:a="http://schemas.openxmlformats.org/drawingml/2006/main">
            <a:off x="43815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core question notes</a:t>
            </a:r>
          </a:p>
        </p:txBody>
      </p:sp>
      <p:sp>
        <p:nvSpPr>
          <p:cNvPr id="23" name="">
            <a:extLst xmlns:a="http://schemas.openxmlformats.org/drawingml/2006/main">
              <a:ext uri="{FF2B5EF4-FFF2-40B4-BE49-F238E27FC236}">
                <a16:creationId xmlns:a16="http://schemas.microsoft.com/office/drawing/2014/main" id="{0673D2AE-BD96-4ABD-A6E2-C4EF72413A5C}"/>
              </a:ext>
            </a:extLst>
          </p:cNvPr>
          <p:cNvSpPr>
            <a:spLocks xmlns:a="http://schemas.openxmlformats.org/drawingml/2006/main" noGrp="1"/>
          </p:cNvSpPr>
          <p:nvPr/>
        </p:nvSpPr>
        <p:spPr>
          <a:xfrm xmlns:a="http://schemas.openxmlformats.org/drawingml/2006/main">
            <a:off x="43815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q1 -&gt; q2 -&gt; q3</a:t>
            </a:r>
          </a:p>
        </p:txBody>
      </p:sp>
      <p:sp>
        <p:nvSpPr>
          <p:cNvPr id="24" name="">
            <a:extLst xmlns:a="http://schemas.openxmlformats.org/drawingml/2006/main">
              <a:ext uri="{FF2B5EF4-FFF2-40B4-BE49-F238E27FC236}">
                <a16:creationId xmlns:a16="http://schemas.microsoft.com/office/drawing/2014/main" id="{27E524B7-1245-48A0-985B-79E68D0FA0B7}"/>
              </a:ext>
            </a:extLst>
          </p:cNvPr>
          <p:cNvSpPr>
            <a:spLocks xmlns:a="http://schemas.openxmlformats.org/drawingml/2006/main" noGrp="1"/>
          </p:cNvSpPr>
          <p:nvPr/>
        </p:nvSpPr>
        <p:spPr>
          <a:xfrm xmlns:a="http://schemas.openxmlformats.org/drawingml/2006/main">
            <a:off x="7696200" y="2171700"/>
            <a:ext cx="3276600" cy="1104900"/>
          </a:xfrm>
          <a:prstGeom xmlns:a="http://schemas.openxmlformats.org/drawingml/2006/main" prst="roundRect">
            <a:avLst>
              <a:gd name="adj" fmla="val 6897"/>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F57B177C-7164-41BE-8810-ACE5AFEFBC21}"/>
              </a:ext>
            </a:extLst>
          </p:cNvPr>
          <p:cNvSpPr>
            <a:spLocks xmlns:a="http://schemas.openxmlformats.org/drawingml/2006/main" noGrp="1"/>
          </p:cNvSpPr>
          <p:nvPr/>
        </p:nvSpPr>
        <p:spPr>
          <a:xfrm xmlns:a="http://schemas.openxmlformats.org/drawingml/2006/main">
            <a:off x="7753350" y="2228850"/>
            <a:ext cx="31623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5FBA155E-66CA-47FF-ADD1-480B246620B9}"/>
              </a:ext>
            </a:extLst>
          </p:cNvPr>
          <p:cNvSpPr>
            <a:spLocks xmlns:a="http://schemas.openxmlformats.org/drawingml/2006/main" noGrp="1"/>
          </p:cNvSpPr>
          <p:nvPr/>
        </p:nvSpPr>
        <p:spPr>
          <a:xfrm xmlns:a="http://schemas.openxmlformats.org/drawingml/2006/main">
            <a:off x="7886700" y="2343150"/>
            <a:ext cx="289560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325" b="1">
                <a:solidFill>
                  <a:srgbClr val="132024"/>
                </a:solidFill>
              </a:defRPr>
            </a:pPr>
            <a:r>
              <a:rPr sz="2325" b="1">
                <a:solidFill>
                  <a:srgbClr val="132024"/>
                </a:solidFill>
              </a:rPr>
              <a:t>5</a:t>
            </a:r>
          </a:p>
        </p:txBody>
      </p:sp>
      <p:sp>
        <p:nvSpPr>
          <p:cNvPr id="27" name="">
            <a:extLst xmlns:a="http://schemas.openxmlformats.org/drawingml/2006/main">
              <a:ext uri="{FF2B5EF4-FFF2-40B4-BE49-F238E27FC236}">
                <a16:creationId xmlns:a16="http://schemas.microsoft.com/office/drawing/2014/main" id="{FB404FE6-8743-41E2-9A68-16052E3292A4}"/>
              </a:ext>
            </a:extLst>
          </p:cNvPr>
          <p:cNvSpPr>
            <a:spLocks xmlns:a="http://schemas.openxmlformats.org/drawingml/2006/main" noGrp="1"/>
          </p:cNvSpPr>
          <p:nvPr/>
        </p:nvSpPr>
        <p:spPr>
          <a:xfrm xmlns:a="http://schemas.openxmlformats.org/drawingml/2006/main">
            <a:off x="7886700" y="2800350"/>
            <a:ext cx="28956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050" b="0">
                <a:solidFill>
                  <a:srgbClr val="344146"/>
                </a:solidFill>
              </a:defRPr>
            </a:pPr>
            <a:r>
              <a:rPr sz="1050" b="0">
                <a:solidFill>
                  <a:srgbClr val="344146"/>
                </a:solidFill>
              </a:rPr>
              <a:t>benchmark axes in final frame</a:t>
            </a:r>
          </a:p>
        </p:txBody>
      </p:sp>
      <p:sp>
        <p:nvSpPr>
          <p:cNvPr id="28" name="">
            <a:extLst xmlns:a="http://schemas.openxmlformats.org/drawingml/2006/main">
              <a:ext uri="{FF2B5EF4-FFF2-40B4-BE49-F238E27FC236}">
                <a16:creationId xmlns:a16="http://schemas.microsoft.com/office/drawing/2014/main" id="{5DCEAAE7-BF74-4536-ACEA-38EF7D442C8A}"/>
              </a:ext>
            </a:extLst>
          </p:cNvPr>
          <p:cNvSpPr>
            <a:spLocks xmlns:a="http://schemas.openxmlformats.org/drawingml/2006/main" noGrp="1"/>
          </p:cNvSpPr>
          <p:nvPr/>
        </p:nvSpPr>
        <p:spPr>
          <a:xfrm xmlns:a="http://schemas.openxmlformats.org/drawingml/2006/main">
            <a:off x="7886700" y="3009900"/>
            <a:ext cx="28956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region / reproducibility / fidelity / timing / atlas</a:t>
            </a:r>
          </a:p>
        </p:txBody>
      </p:sp>
      <p:sp>
        <p:nvSpPr>
          <p:cNvPr id="29" name="">
            <a:extLst xmlns:a="http://schemas.openxmlformats.org/drawingml/2006/main">
              <a:ext uri="{FF2B5EF4-FFF2-40B4-BE49-F238E27FC236}">
                <a16:creationId xmlns:a16="http://schemas.microsoft.com/office/drawing/2014/main" id="{8C5B0C55-C2A3-4DE9-B4C6-9EF888265533}"/>
              </a:ext>
            </a:extLst>
          </p:cNvPr>
          <p:cNvSpPr>
            <a:spLocks xmlns:a="http://schemas.openxmlformats.org/drawingml/2006/main" noGrp="1"/>
          </p:cNvSpPr>
          <p:nvPr/>
        </p:nvSpPr>
        <p:spPr>
          <a:xfrm xmlns:a="http://schemas.openxmlformats.org/drawingml/2006/main">
            <a:off x="7810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40AF74D7-0BB3-49B1-97D9-D0227DBA3DFE}"/>
              </a:ext>
            </a:extLst>
          </p:cNvPr>
          <p:cNvSpPr>
            <a:spLocks xmlns:a="http://schemas.openxmlformats.org/drawingml/2006/main" noGrp="1"/>
          </p:cNvSpPr>
          <p:nvPr/>
        </p:nvSpPr>
        <p:spPr>
          <a:xfrm xmlns:a="http://schemas.openxmlformats.org/drawingml/2006/main">
            <a:off x="838200" y="38290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1D274B15-D79F-455C-BD50-74EDA75EF169}"/>
              </a:ext>
            </a:extLst>
          </p:cNvPr>
          <p:cNvSpPr>
            <a:spLocks xmlns:a="http://schemas.openxmlformats.org/drawingml/2006/main" noGrp="1"/>
          </p:cNvSpPr>
          <p:nvPr/>
        </p:nvSpPr>
        <p:spPr>
          <a:xfrm xmlns:a="http://schemas.openxmlformats.org/drawingml/2006/main">
            <a:off x="9906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brain인가</a:t>
            </a:r>
          </a:p>
        </p:txBody>
      </p:sp>
      <p:sp>
        <p:nvSpPr>
          <p:cNvPr id="32" name="">
            <a:extLst xmlns:a="http://schemas.openxmlformats.org/drawingml/2006/main">
              <a:ext uri="{FF2B5EF4-FFF2-40B4-BE49-F238E27FC236}">
                <a16:creationId xmlns:a16="http://schemas.microsoft.com/office/drawing/2014/main" id="{50D3E824-639B-48F4-BA11-E5921BE55712}"/>
              </a:ext>
            </a:extLst>
          </p:cNvPr>
          <p:cNvSpPr>
            <a:spLocks xmlns:a="http://schemas.openxmlformats.org/drawingml/2006/main" noGrp="1"/>
          </p:cNvSpPr>
          <p:nvPr/>
        </p:nvSpPr>
        <p:spPr>
          <a:xfrm xmlns:a="http://schemas.openxmlformats.org/drawingml/2006/main">
            <a:off x="9906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이 corpus에서 brain branch는</a:t>
            </a:r>
          </a:p>
          <a:p xmlns:a="http://schemas.openxmlformats.org/drawingml/2006/main">
            <a:pPr algn="l">
              <a:defRPr sz="1200" b="0">
                <a:solidFill>
                  <a:srgbClr val="132024"/>
                </a:solidFill>
              </a:defRPr>
            </a:pPr>
            <a:r>
              <a:rPr sz="1200" b="0">
                <a:solidFill>
                  <a:srgbClr val="132024"/>
                </a:solidFill>
              </a:rPr>
              <a:t>source 수가 크고, subregion</a:t>
            </a:r>
          </a:p>
          <a:p xmlns:a="http://schemas.openxmlformats.org/drawingml/2006/main">
            <a:pPr algn="l">
              <a:defRPr sz="1200" b="0">
                <a:solidFill>
                  <a:srgbClr val="132024"/>
                </a:solidFill>
              </a:defRPr>
            </a:pPr>
            <a:r>
              <a:rPr sz="1200" b="0">
                <a:solidFill>
                  <a:srgbClr val="132024"/>
                </a:solidFill>
              </a:rPr>
              <a:t>protocol과 benchmark 논문,</a:t>
            </a:r>
          </a:p>
          <a:p xmlns:a="http://schemas.openxmlformats.org/drawingml/2006/main">
            <a:pPr algn="l">
              <a:defRPr sz="1200" b="0">
                <a:solidFill>
                  <a:srgbClr val="132024"/>
                </a:solidFill>
              </a:defRPr>
            </a:pPr>
            <a:r>
              <a:rPr sz="1200" b="0">
                <a:solidFill>
                  <a:srgbClr val="132024"/>
                </a:solidFill>
              </a:rPr>
              <a:t>functional readout 논문이 동시에</a:t>
            </a:r>
          </a:p>
          <a:p xmlns:a="http://schemas.openxmlformats.org/drawingml/2006/main">
            <a:pPr algn="l">
              <a:defRPr sz="1200" b="0">
                <a:solidFill>
                  <a:srgbClr val="132024"/>
                </a:solidFill>
              </a:defRPr>
            </a:pPr>
            <a:r>
              <a:rPr sz="1200" b="0">
                <a:solidFill>
                  <a:srgbClr val="132024"/>
                </a:solidFill>
              </a:rPr>
              <a:t>연결돼 있다.</a:t>
            </a:r>
          </a:p>
        </p:txBody>
      </p:sp>
      <p:sp>
        <p:nvSpPr>
          <p:cNvPr id="33" name="">
            <a:extLst xmlns:a="http://schemas.openxmlformats.org/drawingml/2006/main">
              <a:ext uri="{FF2B5EF4-FFF2-40B4-BE49-F238E27FC236}">
                <a16:creationId xmlns:a16="http://schemas.microsoft.com/office/drawing/2014/main" id="{DBA6429A-3A1E-4C3A-BF7A-E184EA59A547}"/>
              </a:ext>
            </a:extLst>
          </p:cNvPr>
          <p:cNvSpPr>
            <a:spLocks xmlns:a="http://schemas.openxmlformats.org/drawingml/2006/main" noGrp="1"/>
          </p:cNvSpPr>
          <p:nvPr/>
        </p:nvSpPr>
        <p:spPr>
          <a:xfrm xmlns:a="http://schemas.openxmlformats.org/drawingml/2006/main">
            <a:off x="45148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4" name="">
            <a:extLst xmlns:a="http://schemas.openxmlformats.org/drawingml/2006/main">
              <a:ext uri="{FF2B5EF4-FFF2-40B4-BE49-F238E27FC236}">
                <a16:creationId xmlns:a16="http://schemas.microsoft.com/office/drawing/2014/main" id="{4D6619E3-D7D7-49BE-9273-2DCC775B0171}"/>
              </a:ext>
            </a:extLst>
          </p:cNvPr>
          <p:cNvSpPr>
            <a:spLocks xmlns:a="http://schemas.openxmlformats.org/drawingml/2006/main" noGrp="1"/>
          </p:cNvSpPr>
          <p:nvPr/>
        </p:nvSpPr>
        <p:spPr>
          <a:xfrm xmlns:a="http://schemas.openxmlformats.org/drawingml/2006/main">
            <a:off x="4572000" y="38290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4A483BD2-4192-4E7D-B7D4-5C0AAC03B61A}"/>
              </a:ext>
            </a:extLst>
          </p:cNvPr>
          <p:cNvSpPr>
            <a:spLocks xmlns:a="http://schemas.openxmlformats.org/drawingml/2006/main" noGrp="1"/>
          </p:cNvSpPr>
          <p:nvPr/>
        </p:nvSpPr>
        <p:spPr>
          <a:xfrm xmlns:a="http://schemas.openxmlformats.org/drawingml/2006/main">
            <a:off x="47244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좋은 발표 소재인가</a:t>
            </a:r>
          </a:p>
        </p:txBody>
      </p:sp>
      <p:sp>
        <p:nvSpPr>
          <p:cNvPr id="36" name="">
            <a:extLst xmlns:a="http://schemas.openxmlformats.org/drawingml/2006/main">
              <a:ext uri="{FF2B5EF4-FFF2-40B4-BE49-F238E27FC236}">
                <a16:creationId xmlns:a16="http://schemas.microsoft.com/office/drawing/2014/main" id="{96C53DBA-BEE9-4999-9118-416C05844DDC}"/>
              </a:ext>
            </a:extLst>
          </p:cNvPr>
          <p:cNvSpPr>
            <a:spLocks xmlns:a="http://schemas.openxmlformats.org/drawingml/2006/main" noGrp="1"/>
          </p:cNvSpPr>
          <p:nvPr/>
        </p:nvSpPr>
        <p:spPr>
          <a:xfrm xmlns:a="http://schemas.openxmlformats.org/drawingml/2006/main">
            <a:off x="47244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질문이 subregion selection에서</a:t>
            </a:r>
          </a:p>
          <a:p xmlns:a="http://schemas.openxmlformats.org/drawingml/2006/main">
            <a:pPr algn="l">
              <a:defRPr sz="1200" b="0">
                <a:solidFill>
                  <a:srgbClr val="132024"/>
                </a:solidFill>
              </a:defRPr>
            </a:pPr>
            <a:r>
              <a:rPr sz="1200" b="0">
                <a:solidFill>
                  <a:srgbClr val="132024"/>
                </a:solidFill>
              </a:rPr>
              <a:t>benchmark question, 그리고</a:t>
            </a:r>
          </a:p>
          <a:p xmlns:a="http://schemas.openxmlformats.org/drawingml/2006/main">
            <a:pPr algn="l">
              <a:defRPr sz="1200" b="0">
                <a:solidFill>
                  <a:srgbClr val="132024"/>
                </a:solidFill>
              </a:defRPr>
            </a:pPr>
            <a:r>
              <a:rPr sz="1200" b="0">
                <a:solidFill>
                  <a:srgbClr val="132024"/>
                </a:solidFill>
              </a:rPr>
              <a:t>readout-first rule로 자라나는</a:t>
            </a:r>
          </a:p>
          <a:p xmlns:a="http://schemas.openxmlformats.org/drawingml/2006/main">
            <a:pPr algn="l">
              <a:defRPr sz="1200" b="0">
                <a:solidFill>
                  <a:srgbClr val="132024"/>
                </a:solidFill>
              </a:defRPr>
            </a:pPr>
            <a:r>
              <a:rPr sz="1200" b="0">
                <a:solidFill>
                  <a:srgbClr val="132024"/>
                </a:solidFill>
              </a:rPr>
              <a:t>과정이 가장 뚜렷하게 보인다.</a:t>
            </a:r>
          </a:p>
        </p:txBody>
      </p:sp>
      <p:sp>
        <p:nvSpPr>
          <p:cNvPr id="37" name="">
            <a:extLst xmlns:a="http://schemas.openxmlformats.org/drawingml/2006/main">
              <a:ext uri="{FF2B5EF4-FFF2-40B4-BE49-F238E27FC236}">
                <a16:creationId xmlns:a16="http://schemas.microsoft.com/office/drawing/2014/main" id="{C934437D-F2F5-4385-81D5-873450F96C36}"/>
              </a:ext>
            </a:extLst>
          </p:cNvPr>
          <p:cNvSpPr>
            <a:spLocks xmlns:a="http://schemas.openxmlformats.org/drawingml/2006/main" noGrp="1"/>
          </p:cNvSpPr>
          <p:nvPr/>
        </p:nvSpPr>
        <p:spPr>
          <a:xfrm xmlns:a="http://schemas.openxmlformats.org/drawingml/2006/main">
            <a:off x="8248650" y="3771900"/>
            <a:ext cx="3143250" cy="1752600"/>
          </a:xfrm>
          <a:prstGeom xmlns:a="http://schemas.openxmlformats.org/drawingml/2006/main" prst="roundRect">
            <a:avLst>
              <a:gd name="adj" fmla="val 4348"/>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8" name="">
            <a:extLst xmlns:a="http://schemas.openxmlformats.org/drawingml/2006/main">
              <a:ext uri="{FF2B5EF4-FFF2-40B4-BE49-F238E27FC236}">
                <a16:creationId xmlns:a16="http://schemas.microsoft.com/office/drawing/2014/main" id="{40B0D508-131F-455F-A87A-78B6607D6313}"/>
              </a:ext>
            </a:extLst>
          </p:cNvPr>
          <p:cNvSpPr>
            <a:spLocks xmlns:a="http://schemas.openxmlformats.org/drawingml/2006/main" noGrp="1"/>
          </p:cNvSpPr>
          <p:nvPr/>
        </p:nvSpPr>
        <p:spPr>
          <a:xfrm xmlns:a="http://schemas.openxmlformats.org/drawingml/2006/main">
            <a:off x="8305800" y="382905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9" name="">
            <a:extLst xmlns:a="http://schemas.openxmlformats.org/drawingml/2006/main">
              <a:ext uri="{FF2B5EF4-FFF2-40B4-BE49-F238E27FC236}">
                <a16:creationId xmlns:a16="http://schemas.microsoft.com/office/drawing/2014/main" id="{51E39ADE-AF2E-4D2F-B029-F71D91E1CE8A}"/>
              </a:ext>
            </a:extLst>
          </p:cNvPr>
          <p:cNvSpPr>
            <a:spLocks xmlns:a="http://schemas.openxmlformats.org/drawingml/2006/main" noGrp="1"/>
          </p:cNvSpPr>
          <p:nvPr/>
        </p:nvSpPr>
        <p:spPr>
          <a:xfrm xmlns:a="http://schemas.openxmlformats.org/drawingml/2006/main">
            <a:off x="8458200" y="39624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왜 리뷰 글과도 맞나</a:t>
            </a:r>
          </a:p>
        </p:txBody>
      </p:sp>
      <p:sp>
        <p:nvSpPr>
          <p:cNvPr id="40" name="">
            <a:extLst xmlns:a="http://schemas.openxmlformats.org/drawingml/2006/main">
              <a:ext uri="{FF2B5EF4-FFF2-40B4-BE49-F238E27FC236}">
                <a16:creationId xmlns:a16="http://schemas.microsoft.com/office/drawing/2014/main" id="{7DA479DE-6363-4C30-8441-79C6F836B199}"/>
              </a:ext>
            </a:extLst>
          </p:cNvPr>
          <p:cNvSpPr>
            <a:spLocks xmlns:a="http://schemas.openxmlformats.org/drawingml/2006/main" noGrp="1"/>
          </p:cNvSpPr>
          <p:nvPr/>
        </p:nvSpPr>
        <p:spPr>
          <a:xfrm xmlns:a="http://schemas.openxmlformats.org/drawingml/2006/main">
            <a:off x="8458200" y="4381500"/>
            <a:ext cx="2724150" cy="971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결론만 요약하는 대신, protocol</a:t>
            </a:r>
          </a:p>
          <a:p xmlns:a="http://schemas.openxmlformats.org/drawingml/2006/main">
            <a:pPr algn="l">
              <a:defRPr sz="1200" b="0">
                <a:solidFill>
                  <a:srgbClr val="132024"/>
                </a:solidFill>
              </a:defRPr>
            </a:pPr>
            <a:r>
              <a:rPr sz="1200" b="0">
                <a:solidFill>
                  <a:srgbClr val="132024"/>
                </a:solidFill>
              </a:rPr>
              <a:t>family와 평가 기준이 분기되는 구조를</a:t>
            </a:r>
          </a:p>
          <a:p xmlns:a="http://schemas.openxmlformats.org/drawingml/2006/main">
            <a:pPr algn="l">
              <a:defRPr sz="1200" b="0">
                <a:solidFill>
                  <a:srgbClr val="132024"/>
                </a:solidFill>
              </a:defRPr>
            </a:pPr>
            <a:r>
              <a:rPr sz="1200" b="0">
                <a:solidFill>
                  <a:srgbClr val="132024"/>
                </a:solidFill>
              </a:rPr>
              <a:t>review article의 장 구조로 바꾸기</a:t>
            </a:r>
          </a:p>
          <a:p xmlns:a="http://schemas.openxmlformats.org/drawingml/2006/main">
            <a:pPr algn="l">
              <a:defRPr sz="1200" b="0">
                <a:solidFill>
                  <a:srgbClr val="132024"/>
                </a:solidFill>
              </a:defRPr>
            </a:pPr>
            <a:r>
              <a:rPr sz="1200" b="0">
                <a:solidFill>
                  <a:srgbClr val="132024"/>
                </a:solidFill>
              </a:rPr>
              <a:t>좋다.</a:t>
            </a:r>
          </a:p>
        </p:txBody>
      </p:sp>
      <p:sp>
        <p:nvSpPr>
          <p:cNvPr id="41" name="">
            <a:extLst xmlns:a="http://schemas.openxmlformats.org/drawingml/2006/main">
              <a:ext uri="{FF2B5EF4-FFF2-40B4-BE49-F238E27FC236}">
                <a16:creationId xmlns:a16="http://schemas.microsoft.com/office/drawing/2014/main" id="{8BB1D1B8-056E-48E4-B3A4-7BB9E3A4D38F}"/>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brain branch는 scope, benchmark, readout이 모두 살아 있어서 question journey를 보여주기 좋았다.</a:t>
            </a:r>
          </a:p>
        </p:txBody>
      </p:sp>
    </p:spTree>
    <p:extLst>
      <p:ext uri="{BB962C8B-B14F-4D97-AF65-F5344CB8AC3E}">
        <p14:creationId xmlns:p14="http://schemas.microsoft.com/office/powerpoint/2010/main" val="134510111"/>
      </p:ext>
    </p:extLst>
  </p:cSld>
</p:sld>
</file>

<file path=ppt/slides/slide4.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701a0bc86634413"/>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85B3A74-CFEE-4B4B-BA34-3FE18FE7A39B}"/>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D2B568E6-C8D2-4B51-9FFF-7A666CFC4BF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697BBF5-645A-4EDB-95D1-EBBCC7F167AF}"/>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D86B6496-099A-418D-AABE-215CB6880197}"/>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53DBD1D7-5B12-4EB7-9403-CC197A8DA97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AA81F857-8EB9-4753-B292-222178A42FF8}"/>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D5A3FCB-EB87-4167-95B6-3E1444C05F55}"/>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1</a:t>
            </a:r>
          </a:p>
        </p:txBody>
      </p:sp>
      <p:sp>
        <p:nvSpPr>
          <p:cNvPr id="10" name="">
            <a:extLst xmlns:a="http://schemas.openxmlformats.org/drawingml/2006/main">
              <a:ext uri="{FF2B5EF4-FFF2-40B4-BE49-F238E27FC236}">
                <a16:creationId xmlns:a16="http://schemas.microsoft.com/office/drawing/2014/main" id="{DA4A6AC2-1C0E-41BC-BE2D-2FD93BBC7E13}"/>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04 / 12</a:t>
            </a:r>
          </a:p>
        </p:txBody>
      </p:sp>
      <p:sp>
        <p:nvSpPr>
          <p:cNvPr id="11" name="">
            <a:extLst xmlns:a="http://schemas.openxmlformats.org/drawingml/2006/main">
              <a:ext uri="{FF2B5EF4-FFF2-40B4-BE49-F238E27FC236}">
                <a16:creationId xmlns:a16="http://schemas.microsoft.com/office/drawing/2014/main" id="{A614AD8C-9446-4524-894A-FE6736E5424D}"/>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D3435FA6-DA60-4D8E-8D74-157EA7250B63}"/>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21B2A585-4DB7-45B9-82BB-12A43818D9AE}"/>
              </a:ext>
            </a:extLst>
          </p:cNvPr>
          <p:cNvSpPr>
            <a:spLocks xmlns:a="http://schemas.openxmlformats.org/drawingml/2006/main" noGrp="1"/>
          </p:cNvSpPr>
          <p:nvPr/>
        </p:nvSpPr>
        <p:spPr>
          <a:xfrm xmlns:a="http://schemas.openxmlformats.org/drawingml/2006/main">
            <a:off x="609600" y="838200"/>
            <a:ext cx="6858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질문: brain subregion별</a:t>
            </a:r>
          </a:p>
          <a:p xmlns:a="http://schemas.openxmlformats.org/drawingml/2006/main">
            <a:pPr algn="l">
              <a:defRPr sz="2850" b="1">
                <a:solidFill>
                  <a:srgbClr val="132024"/>
                </a:solidFill>
              </a:defRPr>
            </a:pPr>
            <a:r>
              <a:rPr sz="2850" b="1">
                <a:solidFill>
                  <a:srgbClr val="132024"/>
                </a:solidFill>
              </a:rPr>
              <a:t>프로토콜 비교</a:t>
            </a:r>
          </a:p>
        </p:txBody>
      </p:sp>
      <p:sp>
        <p:nvSpPr>
          <p:cNvPr id="14" name="">
            <a:extLst xmlns:a="http://schemas.openxmlformats.org/drawingml/2006/main">
              <a:ext uri="{FF2B5EF4-FFF2-40B4-BE49-F238E27FC236}">
                <a16:creationId xmlns:a16="http://schemas.microsoft.com/office/drawing/2014/main" id="{64666229-7EE7-4F05-B618-E88FEE88B2D5}"/>
              </a:ext>
            </a:extLst>
          </p:cNvPr>
          <p:cNvSpPr>
            <a:spLocks xmlns:a="http://schemas.openxmlformats.org/drawingml/2006/main" noGrp="1"/>
          </p:cNvSpPr>
          <p:nvPr/>
        </p:nvSpPr>
        <p:spPr>
          <a:xfrm xmlns:a="http://schemas.openxmlformats.org/drawingml/2006/main">
            <a:off x="4495800" y="2971800"/>
            <a:ext cx="2667000" cy="1104900"/>
          </a:xfrm>
          <a:prstGeom xmlns:a="http://schemas.openxmlformats.org/drawingml/2006/main" prst="roundRect">
            <a:avLst>
              <a:gd name="adj" fmla="val 6897"/>
            </a:avLst>
          </a:prstGeom>
          <a:solidFill xmlns:a="http://schemas.openxmlformats.org/drawingml/2006/main">
            <a:srgbClr val="DDF4E8"/>
          </a:solidFill>
          <a:ln xmlns:a="http://schemas.openxmlformats.org/drawingml/2006/main" w="10478">
            <a:solidFill>
              <a:srgbClr val="132024"/>
            </a:solidFill>
            <a:prstDash val="solid"/>
          </a:ln>
        </p:spPr>
      </p:sp>
      <p:sp>
        <p:nvSpPr>
          <p:cNvPr id="15" name="">
            <a:extLst xmlns:a="http://schemas.openxmlformats.org/drawingml/2006/main">
              <a:ext uri="{FF2B5EF4-FFF2-40B4-BE49-F238E27FC236}">
                <a16:creationId xmlns:a16="http://schemas.microsoft.com/office/drawing/2014/main" id="{03442357-BCA3-42C6-854A-CB39EE742C9D}"/>
              </a:ext>
            </a:extLst>
          </p:cNvPr>
          <p:cNvSpPr>
            <a:spLocks xmlns:a="http://schemas.openxmlformats.org/drawingml/2006/main" noGrp="1"/>
          </p:cNvSpPr>
          <p:nvPr/>
        </p:nvSpPr>
        <p:spPr>
          <a:xfrm xmlns:a="http://schemas.openxmlformats.org/drawingml/2006/main">
            <a:off x="4543425" y="3019425"/>
            <a:ext cx="47625" cy="10096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888E989F-A41A-49E4-9699-9D8140A742DF}"/>
              </a:ext>
            </a:extLst>
          </p:cNvPr>
          <p:cNvSpPr>
            <a:spLocks xmlns:a="http://schemas.openxmlformats.org/drawingml/2006/main" noGrp="1"/>
          </p:cNvSpPr>
          <p:nvPr/>
        </p:nvSpPr>
        <p:spPr>
          <a:xfrm xmlns:a="http://schemas.openxmlformats.org/drawingml/2006/main">
            <a:off x="4667250" y="312420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7" name="">
            <a:extLst xmlns:a="http://schemas.openxmlformats.org/drawingml/2006/main">
              <a:ext uri="{FF2B5EF4-FFF2-40B4-BE49-F238E27FC236}">
                <a16:creationId xmlns:a16="http://schemas.microsoft.com/office/drawing/2014/main" id="{9AA7D190-2724-4DFE-BF05-C95E8648644A}"/>
              </a:ext>
            </a:extLst>
          </p:cNvPr>
          <p:cNvSpPr>
            <a:spLocks xmlns:a="http://schemas.openxmlformats.org/drawingml/2006/main" noGrp="1"/>
          </p:cNvSpPr>
          <p:nvPr/>
        </p:nvSpPr>
        <p:spPr>
          <a:xfrm xmlns:a="http://schemas.openxmlformats.org/drawingml/2006/main">
            <a:off x="4667250" y="3409950"/>
            <a:ext cx="2343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Q1 | brain subregion별 프로토콜 비교</a:t>
            </a:r>
          </a:p>
        </p:txBody>
      </p:sp>
      <p:sp>
        <p:nvSpPr>
          <p:cNvPr id="18" name="">
            <a:extLst xmlns:a="http://schemas.openxmlformats.org/drawingml/2006/main">
              <a:ext uri="{FF2B5EF4-FFF2-40B4-BE49-F238E27FC236}">
                <a16:creationId xmlns:a16="http://schemas.microsoft.com/office/drawing/2014/main" id="{65933066-28F1-45DD-BEBD-62CA3D6F5496}"/>
              </a:ext>
            </a:extLst>
          </p:cNvPr>
          <p:cNvSpPr>
            <a:spLocks xmlns:a="http://schemas.openxmlformats.org/drawingml/2006/main" noGrp="1"/>
          </p:cNvSpPr>
          <p:nvPr/>
        </p:nvSpPr>
        <p:spPr>
          <a:xfrm xmlns:a="http://schemas.openxmlformats.org/drawingml/2006/main">
            <a:off x="4667250" y="3657600"/>
            <a:ext cx="2343150" cy="3048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region을 만들 것인가?</a:t>
            </a:r>
          </a:p>
        </p:txBody>
      </p:sp>
      <p:sp>
        <p:nvSpPr>
          <p:cNvPr id="19" name="">
            <a:extLst xmlns:a="http://schemas.openxmlformats.org/drawingml/2006/main">
              <a:ext uri="{FF2B5EF4-FFF2-40B4-BE49-F238E27FC236}">
                <a16:creationId xmlns:a16="http://schemas.microsoft.com/office/drawing/2014/main" id="{5EE22EA8-105A-4238-87BC-E41CF7B4E646}"/>
              </a:ext>
            </a:extLst>
          </p:cNvPr>
          <p:cNvSpPr>
            <a:spLocks xmlns:a="http://schemas.openxmlformats.org/drawingml/2006/main" noGrp="1"/>
          </p:cNvSpPr>
          <p:nvPr/>
        </p:nvSpPr>
        <p:spPr>
          <a:xfrm xmlns:a="http://schemas.openxmlformats.org/drawingml/2006/main">
            <a:off x="933450" y="2247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0" name="">
            <a:extLst xmlns:a="http://schemas.openxmlformats.org/drawingml/2006/main">
              <a:ext uri="{FF2B5EF4-FFF2-40B4-BE49-F238E27FC236}">
                <a16:creationId xmlns:a16="http://schemas.microsoft.com/office/drawing/2014/main" id="{B3CB1E16-E632-4273-A521-12587BEDE2C4}"/>
              </a:ext>
            </a:extLst>
          </p:cNvPr>
          <p:cNvSpPr>
            <a:spLocks xmlns:a="http://schemas.openxmlformats.org/drawingml/2006/main" noGrp="1"/>
          </p:cNvSpPr>
          <p:nvPr/>
        </p:nvSpPr>
        <p:spPr>
          <a:xfrm xmlns:a="http://schemas.openxmlformats.org/drawingml/2006/main">
            <a:off x="981075" y="22955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AB6F4D34-90C7-4D29-8119-A15089249835}"/>
              </a:ext>
            </a:extLst>
          </p:cNvPr>
          <p:cNvSpPr>
            <a:spLocks xmlns:a="http://schemas.openxmlformats.org/drawingml/2006/main" noGrp="1"/>
          </p:cNvSpPr>
          <p:nvPr/>
        </p:nvSpPr>
        <p:spPr>
          <a:xfrm xmlns:a="http://schemas.openxmlformats.org/drawingml/2006/main">
            <a:off x="1104900" y="2400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2" name="">
            <a:extLst xmlns:a="http://schemas.openxmlformats.org/drawingml/2006/main">
              <a:ext uri="{FF2B5EF4-FFF2-40B4-BE49-F238E27FC236}">
                <a16:creationId xmlns:a16="http://schemas.microsoft.com/office/drawing/2014/main" id="{BF1AB3E3-93B9-45C8-B6F5-AD75FB5043D6}"/>
              </a:ext>
            </a:extLst>
          </p:cNvPr>
          <p:cNvSpPr>
            <a:spLocks xmlns:a="http://schemas.openxmlformats.org/drawingml/2006/main" noGrp="1"/>
          </p:cNvSpPr>
          <p:nvPr/>
        </p:nvSpPr>
        <p:spPr>
          <a:xfrm xmlns:a="http://schemas.openxmlformats.org/drawingml/2006/main">
            <a:off x="1104900" y="2686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Lancaster 2014</a:t>
            </a:r>
          </a:p>
        </p:txBody>
      </p:sp>
      <p:sp>
        <p:nvSpPr>
          <p:cNvPr id="23" name="">
            <a:extLst xmlns:a="http://schemas.openxmlformats.org/drawingml/2006/main">
              <a:ext uri="{FF2B5EF4-FFF2-40B4-BE49-F238E27FC236}">
                <a16:creationId xmlns:a16="http://schemas.microsoft.com/office/drawing/2014/main" id="{8EEE65B7-74A6-48D5-8DA8-707726E82D03}"/>
              </a:ext>
            </a:extLst>
          </p:cNvPr>
          <p:cNvSpPr>
            <a:spLocks xmlns:a="http://schemas.openxmlformats.org/drawingml/2006/main" noGrp="1"/>
          </p:cNvSpPr>
          <p:nvPr/>
        </p:nvSpPr>
        <p:spPr>
          <a:xfrm xmlns:a="http://schemas.openxmlformats.org/drawingml/2006/main">
            <a:off x="1104900" y="2933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whole cerebral</a:t>
            </a:r>
          </a:p>
        </p:txBody>
      </p:sp>
      <p:sp>
        <p:nvSpPr>
          <p:cNvPr id="24" name="">
            <a:extLst xmlns:a="http://schemas.openxmlformats.org/drawingml/2006/main">
              <a:ext uri="{FF2B5EF4-FFF2-40B4-BE49-F238E27FC236}">
                <a16:creationId xmlns:a16="http://schemas.microsoft.com/office/drawing/2014/main" id="{BEB4B4F3-AB83-4831-9418-F9AD8E50A8FC}"/>
              </a:ext>
            </a:extLst>
          </p:cNvPr>
          <p:cNvSpPr>
            <a:spLocks xmlns:a="http://schemas.openxmlformats.org/drawingml/2006/main" noGrp="1"/>
          </p:cNvSpPr>
          <p:nvPr/>
        </p:nvSpPr>
        <p:spPr>
          <a:xfrm xmlns:a="http://schemas.openxmlformats.org/drawingml/2006/main">
            <a:off x="2933700" y="186690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25" name="">
            <a:extLst xmlns:a="http://schemas.openxmlformats.org/drawingml/2006/main">
              <a:ext uri="{FF2B5EF4-FFF2-40B4-BE49-F238E27FC236}">
                <a16:creationId xmlns:a16="http://schemas.microsoft.com/office/drawing/2014/main" id="{CA30BCC3-8CCA-483E-9695-833DFD5396E4}"/>
              </a:ext>
            </a:extLst>
          </p:cNvPr>
          <p:cNvSpPr>
            <a:spLocks xmlns:a="http://schemas.openxmlformats.org/drawingml/2006/main" noGrp="1"/>
          </p:cNvSpPr>
          <p:nvPr/>
        </p:nvSpPr>
        <p:spPr>
          <a:xfrm xmlns:a="http://schemas.openxmlformats.org/drawingml/2006/main">
            <a:off x="2981325" y="19145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EFC6A08E-DCBA-48FA-8ECF-21068CFC128C}"/>
              </a:ext>
            </a:extLst>
          </p:cNvPr>
          <p:cNvSpPr>
            <a:spLocks xmlns:a="http://schemas.openxmlformats.org/drawingml/2006/main" noGrp="1"/>
          </p:cNvSpPr>
          <p:nvPr/>
        </p:nvSpPr>
        <p:spPr>
          <a:xfrm xmlns:a="http://schemas.openxmlformats.org/drawingml/2006/main">
            <a:off x="3105150" y="20193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7" name="">
            <a:extLst xmlns:a="http://schemas.openxmlformats.org/drawingml/2006/main">
              <a:ext uri="{FF2B5EF4-FFF2-40B4-BE49-F238E27FC236}">
                <a16:creationId xmlns:a16="http://schemas.microsoft.com/office/drawing/2014/main" id="{55B8C646-C849-4804-82F1-A7BD485EA5D5}"/>
              </a:ext>
            </a:extLst>
          </p:cNvPr>
          <p:cNvSpPr>
            <a:spLocks xmlns:a="http://schemas.openxmlformats.org/drawingml/2006/main" noGrp="1"/>
          </p:cNvSpPr>
          <p:nvPr/>
        </p:nvSpPr>
        <p:spPr>
          <a:xfrm xmlns:a="http://schemas.openxmlformats.org/drawingml/2006/main">
            <a:off x="3105150" y="230505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Sloan 2018</a:t>
            </a:r>
          </a:p>
        </p:txBody>
      </p:sp>
      <p:sp>
        <p:nvSpPr>
          <p:cNvPr id="28" name="">
            <a:extLst xmlns:a="http://schemas.openxmlformats.org/drawingml/2006/main">
              <a:ext uri="{FF2B5EF4-FFF2-40B4-BE49-F238E27FC236}">
                <a16:creationId xmlns:a16="http://schemas.microsoft.com/office/drawing/2014/main" id="{6AB41991-BF0C-4C01-8809-133773978BC4}"/>
              </a:ext>
            </a:extLst>
          </p:cNvPr>
          <p:cNvSpPr>
            <a:spLocks xmlns:a="http://schemas.openxmlformats.org/drawingml/2006/main" noGrp="1"/>
          </p:cNvSpPr>
          <p:nvPr/>
        </p:nvSpPr>
        <p:spPr>
          <a:xfrm xmlns:a="http://schemas.openxmlformats.org/drawingml/2006/main">
            <a:off x="3105150" y="255270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dorsal / ventral</a:t>
            </a:r>
          </a:p>
          <a:p xmlns:a="http://schemas.openxmlformats.org/drawingml/2006/main">
            <a:pPr algn="l">
              <a:defRPr sz="825" b="0">
                <a:solidFill>
                  <a:srgbClr val="344146"/>
                </a:solidFill>
              </a:defRPr>
            </a:pPr>
            <a:r>
              <a:rPr sz="825" b="0">
                <a:solidFill>
                  <a:srgbClr val="344146"/>
                </a:solidFill>
              </a:rPr>
              <a:t>forebrain</a:t>
            </a:r>
          </a:p>
        </p:txBody>
      </p:sp>
      <p:sp>
        <p:nvSpPr>
          <p:cNvPr id="29" name="">
            <a:extLst xmlns:a="http://schemas.openxmlformats.org/drawingml/2006/main">
              <a:ext uri="{FF2B5EF4-FFF2-40B4-BE49-F238E27FC236}">
                <a16:creationId xmlns:a16="http://schemas.microsoft.com/office/drawing/2014/main" id="{F183C3E4-FE4A-4990-8D13-217E9A2630A0}"/>
              </a:ext>
            </a:extLst>
          </p:cNvPr>
          <p:cNvSpPr>
            <a:spLocks xmlns:a="http://schemas.openxmlformats.org/drawingml/2006/main" noGrp="1"/>
          </p:cNvSpPr>
          <p:nvPr/>
        </p:nvSpPr>
        <p:spPr>
          <a:xfrm xmlns:a="http://schemas.openxmlformats.org/drawingml/2006/main">
            <a:off x="7600950" y="19431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0" name="">
            <a:extLst xmlns:a="http://schemas.openxmlformats.org/drawingml/2006/main">
              <a:ext uri="{FF2B5EF4-FFF2-40B4-BE49-F238E27FC236}">
                <a16:creationId xmlns:a16="http://schemas.microsoft.com/office/drawing/2014/main" id="{6E217F74-478A-415A-A1FE-BD451F6A2F40}"/>
              </a:ext>
            </a:extLst>
          </p:cNvPr>
          <p:cNvSpPr>
            <a:spLocks xmlns:a="http://schemas.openxmlformats.org/drawingml/2006/main" noGrp="1"/>
          </p:cNvSpPr>
          <p:nvPr/>
        </p:nvSpPr>
        <p:spPr>
          <a:xfrm xmlns:a="http://schemas.openxmlformats.org/drawingml/2006/main">
            <a:off x="7648575" y="19907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253AA591-9C87-4821-AF51-C4453A330B65}"/>
              </a:ext>
            </a:extLst>
          </p:cNvPr>
          <p:cNvSpPr>
            <a:spLocks xmlns:a="http://schemas.openxmlformats.org/drawingml/2006/main" noGrp="1"/>
          </p:cNvSpPr>
          <p:nvPr/>
        </p:nvSpPr>
        <p:spPr>
          <a:xfrm xmlns:a="http://schemas.openxmlformats.org/drawingml/2006/main">
            <a:off x="7772400" y="2095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2" name="">
            <a:extLst xmlns:a="http://schemas.openxmlformats.org/drawingml/2006/main">
              <a:ext uri="{FF2B5EF4-FFF2-40B4-BE49-F238E27FC236}">
                <a16:creationId xmlns:a16="http://schemas.microsoft.com/office/drawing/2014/main" id="{C653E060-2E89-4CDB-9F3F-608EBD830495}"/>
              </a:ext>
            </a:extLst>
          </p:cNvPr>
          <p:cNvSpPr>
            <a:spLocks xmlns:a="http://schemas.openxmlformats.org/drawingml/2006/main" noGrp="1"/>
          </p:cNvSpPr>
          <p:nvPr/>
        </p:nvSpPr>
        <p:spPr>
          <a:xfrm xmlns:a="http://schemas.openxmlformats.org/drawingml/2006/main">
            <a:off x="7772400" y="23812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Fitzgerald 2024</a:t>
            </a:r>
          </a:p>
        </p:txBody>
      </p:sp>
      <p:sp>
        <p:nvSpPr>
          <p:cNvPr id="33" name="">
            <a:extLst xmlns:a="http://schemas.openxmlformats.org/drawingml/2006/main">
              <a:ext uri="{FF2B5EF4-FFF2-40B4-BE49-F238E27FC236}">
                <a16:creationId xmlns:a16="http://schemas.microsoft.com/office/drawing/2014/main" id="{382AC8AA-2478-42E0-8D44-4419C204346B}"/>
              </a:ext>
            </a:extLst>
          </p:cNvPr>
          <p:cNvSpPr>
            <a:spLocks xmlns:a="http://schemas.openxmlformats.org/drawingml/2006/main" noGrp="1"/>
          </p:cNvSpPr>
          <p:nvPr/>
        </p:nvSpPr>
        <p:spPr>
          <a:xfrm xmlns:a="http://schemas.openxmlformats.org/drawingml/2006/main">
            <a:off x="7772400" y="26289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semi-guided</a:t>
            </a:r>
          </a:p>
          <a:p xmlns:a="http://schemas.openxmlformats.org/drawingml/2006/main">
            <a:pPr algn="l">
              <a:defRPr sz="825" b="0">
                <a:solidFill>
                  <a:srgbClr val="344146"/>
                </a:solidFill>
              </a:defRPr>
            </a:pPr>
            <a:r>
              <a:rPr sz="825" b="0">
                <a:solidFill>
                  <a:srgbClr val="344146"/>
                </a:solidFill>
              </a:rPr>
              <a:t>cortical</a:t>
            </a:r>
          </a:p>
        </p:txBody>
      </p:sp>
      <p:sp>
        <p:nvSpPr>
          <p:cNvPr id="34" name="">
            <a:extLst xmlns:a="http://schemas.openxmlformats.org/drawingml/2006/main">
              <a:ext uri="{FF2B5EF4-FFF2-40B4-BE49-F238E27FC236}">
                <a16:creationId xmlns:a16="http://schemas.microsoft.com/office/drawing/2014/main" id="{A5A97EBF-040B-4B47-B7AE-78942B9162C5}"/>
              </a:ext>
            </a:extLst>
          </p:cNvPr>
          <p:cNvSpPr>
            <a:spLocks xmlns:a="http://schemas.openxmlformats.org/drawingml/2006/main" noGrp="1"/>
          </p:cNvSpPr>
          <p:nvPr/>
        </p:nvSpPr>
        <p:spPr>
          <a:xfrm xmlns:a="http://schemas.openxmlformats.org/drawingml/2006/main">
            <a:off x="9563100" y="2724150"/>
            <a:ext cx="16573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35" name="">
            <a:extLst xmlns:a="http://schemas.openxmlformats.org/drawingml/2006/main">
              <a:ext uri="{FF2B5EF4-FFF2-40B4-BE49-F238E27FC236}">
                <a16:creationId xmlns:a16="http://schemas.microsoft.com/office/drawing/2014/main" id="{FE10C075-CC77-41AD-9C5F-406A2A595B35}"/>
              </a:ext>
            </a:extLst>
          </p:cNvPr>
          <p:cNvSpPr>
            <a:spLocks xmlns:a="http://schemas.openxmlformats.org/drawingml/2006/main" noGrp="1"/>
          </p:cNvSpPr>
          <p:nvPr/>
        </p:nvSpPr>
        <p:spPr>
          <a:xfrm xmlns:a="http://schemas.openxmlformats.org/drawingml/2006/main">
            <a:off x="9610725" y="27717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978589DF-D7B1-4006-B34E-E827407C855B}"/>
              </a:ext>
            </a:extLst>
          </p:cNvPr>
          <p:cNvSpPr>
            <a:spLocks xmlns:a="http://schemas.openxmlformats.org/drawingml/2006/main" noGrp="1"/>
          </p:cNvSpPr>
          <p:nvPr/>
        </p:nvSpPr>
        <p:spPr>
          <a:xfrm xmlns:a="http://schemas.openxmlformats.org/drawingml/2006/main">
            <a:off x="9734550" y="28765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7" name="">
            <a:extLst xmlns:a="http://schemas.openxmlformats.org/drawingml/2006/main">
              <a:ext uri="{FF2B5EF4-FFF2-40B4-BE49-F238E27FC236}">
                <a16:creationId xmlns:a16="http://schemas.microsoft.com/office/drawing/2014/main" id="{D977B69E-201D-47CA-93DB-A29448EDEB06}"/>
              </a:ext>
            </a:extLst>
          </p:cNvPr>
          <p:cNvSpPr>
            <a:spLocks xmlns:a="http://schemas.openxmlformats.org/drawingml/2006/main" noGrp="1"/>
          </p:cNvSpPr>
          <p:nvPr/>
        </p:nvSpPr>
        <p:spPr>
          <a:xfrm xmlns:a="http://schemas.openxmlformats.org/drawingml/2006/main">
            <a:off x="9734550" y="3162300"/>
            <a:ext cx="1333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Zagare 2021</a:t>
            </a:r>
          </a:p>
        </p:txBody>
      </p:sp>
      <p:sp>
        <p:nvSpPr>
          <p:cNvPr id="38" name="">
            <a:extLst xmlns:a="http://schemas.openxmlformats.org/drawingml/2006/main">
              <a:ext uri="{FF2B5EF4-FFF2-40B4-BE49-F238E27FC236}">
                <a16:creationId xmlns:a16="http://schemas.microsoft.com/office/drawing/2014/main" id="{F118572C-3FC4-4E32-AAB9-766621F33413}"/>
              </a:ext>
            </a:extLst>
          </p:cNvPr>
          <p:cNvSpPr>
            <a:spLocks xmlns:a="http://schemas.openxmlformats.org/drawingml/2006/main" noGrp="1"/>
          </p:cNvSpPr>
          <p:nvPr/>
        </p:nvSpPr>
        <p:spPr>
          <a:xfrm xmlns:a="http://schemas.openxmlformats.org/drawingml/2006/main">
            <a:off x="9734550" y="3409950"/>
            <a:ext cx="13335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midbrain</a:t>
            </a:r>
          </a:p>
        </p:txBody>
      </p:sp>
      <p:sp>
        <p:nvSpPr>
          <p:cNvPr id="39" name="">
            <a:extLst xmlns:a="http://schemas.openxmlformats.org/drawingml/2006/main">
              <a:ext uri="{FF2B5EF4-FFF2-40B4-BE49-F238E27FC236}">
                <a16:creationId xmlns:a16="http://schemas.microsoft.com/office/drawing/2014/main" id="{1E44855E-E5C7-41D4-B3CB-6F8791697ABA}"/>
              </a:ext>
            </a:extLst>
          </p:cNvPr>
          <p:cNvSpPr>
            <a:spLocks xmlns:a="http://schemas.openxmlformats.org/drawingml/2006/main" noGrp="1"/>
          </p:cNvSpPr>
          <p:nvPr/>
        </p:nvSpPr>
        <p:spPr>
          <a:xfrm xmlns:a="http://schemas.openxmlformats.org/drawingml/2006/main">
            <a:off x="9467850" y="44767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0" name="">
            <a:extLst xmlns:a="http://schemas.openxmlformats.org/drawingml/2006/main">
              <a:ext uri="{FF2B5EF4-FFF2-40B4-BE49-F238E27FC236}">
                <a16:creationId xmlns:a16="http://schemas.microsoft.com/office/drawing/2014/main" id="{5081984D-48BB-4D50-8D18-7FD118EB6569}"/>
              </a:ext>
            </a:extLst>
          </p:cNvPr>
          <p:cNvSpPr>
            <a:spLocks xmlns:a="http://schemas.openxmlformats.org/drawingml/2006/main" noGrp="1"/>
          </p:cNvSpPr>
          <p:nvPr/>
        </p:nvSpPr>
        <p:spPr>
          <a:xfrm xmlns:a="http://schemas.openxmlformats.org/drawingml/2006/main">
            <a:off x="9515475" y="45243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1" name="">
            <a:extLst xmlns:a="http://schemas.openxmlformats.org/drawingml/2006/main">
              <a:ext uri="{FF2B5EF4-FFF2-40B4-BE49-F238E27FC236}">
                <a16:creationId xmlns:a16="http://schemas.microsoft.com/office/drawing/2014/main" id="{A63D93E0-FBBE-4108-916E-35114985C825}"/>
              </a:ext>
            </a:extLst>
          </p:cNvPr>
          <p:cNvSpPr>
            <a:spLocks xmlns:a="http://schemas.openxmlformats.org/drawingml/2006/main" noGrp="1"/>
          </p:cNvSpPr>
          <p:nvPr/>
        </p:nvSpPr>
        <p:spPr>
          <a:xfrm xmlns:a="http://schemas.openxmlformats.org/drawingml/2006/main">
            <a:off x="9639300" y="4629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2" name="">
            <a:extLst xmlns:a="http://schemas.openxmlformats.org/drawingml/2006/main">
              <a:ext uri="{FF2B5EF4-FFF2-40B4-BE49-F238E27FC236}">
                <a16:creationId xmlns:a16="http://schemas.microsoft.com/office/drawing/2014/main" id="{CC65BB16-78FD-4687-8E5D-D902E144FCA1}"/>
              </a:ext>
            </a:extLst>
          </p:cNvPr>
          <p:cNvSpPr>
            <a:spLocks xmlns:a="http://schemas.openxmlformats.org/drawingml/2006/main" noGrp="1"/>
          </p:cNvSpPr>
          <p:nvPr/>
        </p:nvSpPr>
        <p:spPr>
          <a:xfrm xmlns:a="http://schemas.openxmlformats.org/drawingml/2006/main">
            <a:off x="9639300" y="49149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Atamian 2024</a:t>
            </a:r>
          </a:p>
        </p:txBody>
      </p:sp>
      <p:sp>
        <p:nvSpPr>
          <p:cNvPr id="43" name="">
            <a:extLst xmlns:a="http://schemas.openxmlformats.org/drawingml/2006/main">
              <a:ext uri="{FF2B5EF4-FFF2-40B4-BE49-F238E27FC236}">
                <a16:creationId xmlns:a16="http://schemas.microsoft.com/office/drawing/2014/main" id="{BC697E51-820E-44BA-9AB3-9544AB00E718}"/>
              </a:ext>
            </a:extLst>
          </p:cNvPr>
          <p:cNvSpPr>
            <a:spLocks xmlns:a="http://schemas.openxmlformats.org/drawingml/2006/main" noGrp="1"/>
          </p:cNvSpPr>
          <p:nvPr/>
        </p:nvSpPr>
        <p:spPr>
          <a:xfrm xmlns:a="http://schemas.openxmlformats.org/drawingml/2006/main">
            <a:off x="9639300" y="51625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cerebellum</a:t>
            </a:r>
          </a:p>
        </p:txBody>
      </p:sp>
      <p:sp>
        <p:nvSpPr>
          <p:cNvPr id="44" name="">
            <a:extLst xmlns:a="http://schemas.openxmlformats.org/drawingml/2006/main">
              <a:ext uri="{FF2B5EF4-FFF2-40B4-BE49-F238E27FC236}">
                <a16:creationId xmlns:a16="http://schemas.microsoft.com/office/drawing/2014/main" id="{FC6876BD-DA9C-4606-9D39-E633CF2CF251}"/>
              </a:ext>
            </a:extLst>
          </p:cNvPr>
          <p:cNvSpPr>
            <a:spLocks xmlns:a="http://schemas.openxmlformats.org/drawingml/2006/main" noGrp="1"/>
          </p:cNvSpPr>
          <p:nvPr/>
        </p:nvSpPr>
        <p:spPr>
          <a:xfrm xmlns:a="http://schemas.openxmlformats.org/drawingml/2006/main">
            <a:off x="7105650" y="493395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45" name="">
            <a:extLst xmlns:a="http://schemas.openxmlformats.org/drawingml/2006/main">
              <a:ext uri="{FF2B5EF4-FFF2-40B4-BE49-F238E27FC236}">
                <a16:creationId xmlns:a16="http://schemas.microsoft.com/office/drawing/2014/main" id="{4DB284B9-BA32-46AA-8BD2-7E37124BE622}"/>
              </a:ext>
            </a:extLst>
          </p:cNvPr>
          <p:cNvSpPr>
            <a:spLocks xmlns:a="http://schemas.openxmlformats.org/drawingml/2006/main" noGrp="1"/>
          </p:cNvSpPr>
          <p:nvPr/>
        </p:nvSpPr>
        <p:spPr>
          <a:xfrm xmlns:a="http://schemas.openxmlformats.org/drawingml/2006/main">
            <a:off x="7153275" y="49815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1C46C24F-E6DC-4D44-96B0-FF4E26B4E991}"/>
              </a:ext>
            </a:extLst>
          </p:cNvPr>
          <p:cNvSpPr>
            <a:spLocks xmlns:a="http://schemas.openxmlformats.org/drawingml/2006/main" noGrp="1"/>
          </p:cNvSpPr>
          <p:nvPr/>
        </p:nvSpPr>
        <p:spPr>
          <a:xfrm xmlns:a="http://schemas.openxmlformats.org/drawingml/2006/main">
            <a:off x="7277100" y="50863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7" name="">
            <a:extLst xmlns:a="http://schemas.openxmlformats.org/drawingml/2006/main">
              <a:ext uri="{FF2B5EF4-FFF2-40B4-BE49-F238E27FC236}">
                <a16:creationId xmlns:a16="http://schemas.microsoft.com/office/drawing/2014/main" id="{AE4AD6D5-CA02-4E18-9C30-251B15C03726}"/>
              </a:ext>
            </a:extLst>
          </p:cNvPr>
          <p:cNvSpPr>
            <a:spLocks xmlns:a="http://schemas.openxmlformats.org/drawingml/2006/main" noGrp="1"/>
          </p:cNvSpPr>
          <p:nvPr/>
        </p:nvSpPr>
        <p:spPr>
          <a:xfrm xmlns:a="http://schemas.openxmlformats.org/drawingml/2006/main">
            <a:off x="7277100" y="537210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Pomeshchik 2020</a:t>
            </a:r>
          </a:p>
        </p:txBody>
      </p:sp>
      <p:sp>
        <p:nvSpPr>
          <p:cNvPr id="48" name="">
            <a:extLst xmlns:a="http://schemas.openxmlformats.org/drawingml/2006/main">
              <a:ext uri="{FF2B5EF4-FFF2-40B4-BE49-F238E27FC236}">
                <a16:creationId xmlns:a16="http://schemas.microsoft.com/office/drawing/2014/main" id="{4DE25325-CD49-4EA2-A80F-A7236A5F3B2E}"/>
              </a:ext>
            </a:extLst>
          </p:cNvPr>
          <p:cNvSpPr>
            <a:spLocks xmlns:a="http://schemas.openxmlformats.org/drawingml/2006/main" noGrp="1"/>
          </p:cNvSpPr>
          <p:nvPr/>
        </p:nvSpPr>
        <p:spPr>
          <a:xfrm xmlns:a="http://schemas.openxmlformats.org/drawingml/2006/main">
            <a:off x="7277100" y="561975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hippocampus</a:t>
            </a:r>
          </a:p>
        </p:txBody>
      </p:sp>
      <p:sp>
        <p:nvSpPr>
          <p:cNvPr id="49" name="">
            <a:extLst xmlns:a="http://schemas.openxmlformats.org/drawingml/2006/main">
              <a:ext uri="{FF2B5EF4-FFF2-40B4-BE49-F238E27FC236}">
                <a16:creationId xmlns:a16="http://schemas.microsoft.com/office/drawing/2014/main" id="{666D59E1-9ACC-485C-B326-1AC27D86344E}"/>
              </a:ext>
            </a:extLst>
          </p:cNvPr>
          <p:cNvSpPr>
            <a:spLocks xmlns:a="http://schemas.openxmlformats.org/drawingml/2006/main" noGrp="1"/>
          </p:cNvSpPr>
          <p:nvPr/>
        </p:nvSpPr>
        <p:spPr>
          <a:xfrm xmlns:a="http://schemas.openxmlformats.org/drawingml/2006/main">
            <a:off x="3276600" y="4953000"/>
            <a:ext cx="17335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0" name="">
            <a:extLst xmlns:a="http://schemas.openxmlformats.org/drawingml/2006/main">
              <a:ext uri="{FF2B5EF4-FFF2-40B4-BE49-F238E27FC236}">
                <a16:creationId xmlns:a16="http://schemas.microsoft.com/office/drawing/2014/main" id="{BE1C07BC-5D33-41EC-A484-C89647366BF9}"/>
              </a:ext>
            </a:extLst>
          </p:cNvPr>
          <p:cNvSpPr>
            <a:spLocks xmlns:a="http://schemas.openxmlformats.org/drawingml/2006/main" noGrp="1"/>
          </p:cNvSpPr>
          <p:nvPr/>
        </p:nvSpPr>
        <p:spPr>
          <a:xfrm xmlns:a="http://schemas.openxmlformats.org/drawingml/2006/main">
            <a:off x="3324225" y="500062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1" name="">
            <a:extLst xmlns:a="http://schemas.openxmlformats.org/drawingml/2006/main">
              <a:ext uri="{FF2B5EF4-FFF2-40B4-BE49-F238E27FC236}">
                <a16:creationId xmlns:a16="http://schemas.microsoft.com/office/drawing/2014/main" id="{367E2A4E-C9E3-4CB5-B468-1BC0B69973A5}"/>
              </a:ext>
            </a:extLst>
          </p:cNvPr>
          <p:cNvSpPr>
            <a:spLocks xmlns:a="http://schemas.openxmlformats.org/drawingml/2006/main" noGrp="1"/>
          </p:cNvSpPr>
          <p:nvPr/>
        </p:nvSpPr>
        <p:spPr>
          <a:xfrm xmlns:a="http://schemas.openxmlformats.org/drawingml/2006/main">
            <a:off x="3448050" y="51054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2" name="">
            <a:extLst xmlns:a="http://schemas.openxmlformats.org/drawingml/2006/main">
              <a:ext uri="{FF2B5EF4-FFF2-40B4-BE49-F238E27FC236}">
                <a16:creationId xmlns:a16="http://schemas.microsoft.com/office/drawing/2014/main" id="{D8000B4C-2689-4EA5-B15A-75D93A78147C}"/>
              </a:ext>
            </a:extLst>
          </p:cNvPr>
          <p:cNvSpPr>
            <a:spLocks xmlns:a="http://schemas.openxmlformats.org/drawingml/2006/main" noGrp="1"/>
          </p:cNvSpPr>
          <p:nvPr/>
        </p:nvSpPr>
        <p:spPr>
          <a:xfrm xmlns:a="http://schemas.openxmlformats.org/drawingml/2006/main">
            <a:off x="3448050" y="5391150"/>
            <a:ext cx="14097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Valiulahi 2021</a:t>
            </a:r>
          </a:p>
        </p:txBody>
      </p:sp>
      <p:sp>
        <p:nvSpPr>
          <p:cNvPr id="53" name="">
            <a:extLst xmlns:a="http://schemas.openxmlformats.org/drawingml/2006/main">
              <a:ext uri="{FF2B5EF4-FFF2-40B4-BE49-F238E27FC236}">
                <a16:creationId xmlns:a16="http://schemas.microsoft.com/office/drawing/2014/main" id="{0A3AF0DE-2E7D-4AC1-A1C3-B0B3BA659ACA}"/>
              </a:ext>
            </a:extLst>
          </p:cNvPr>
          <p:cNvSpPr>
            <a:spLocks xmlns:a="http://schemas.openxmlformats.org/drawingml/2006/main" noGrp="1"/>
          </p:cNvSpPr>
          <p:nvPr/>
        </p:nvSpPr>
        <p:spPr>
          <a:xfrm xmlns:a="http://schemas.openxmlformats.org/drawingml/2006/main">
            <a:off x="3448050" y="5638800"/>
            <a:ext cx="14097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hindbrain / 5-HT</a:t>
            </a:r>
          </a:p>
        </p:txBody>
      </p:sp>
      <p:sp>
        <p:nvSpPr>
          <p:cNvPr id="54" name="">
            <a:extLst xmlns:a="http://schemas.openxmlformats.org/drawingml/2006/main">
              <a:ext uri="{FF2B5EF4-FFF2-40B4-BE49-F238E27FC236}">
                <a16:creationId xmlns:a16="http://schemas.microsoft.com/office/drawing/2014/main" id="{05C3BDF2-5CB2-409C-BBDE-D9A92E3BBADE}"/>
              </a:ext>
            </a:extLst>
          </p:cNvPr>
          <p:cNvSpPr>
            <a:spLocks xmlns:a="http://schemas.openxmlformats.org/drawingml/2006/main" noGrp="1"/>
          </p:cNvSpPr>
          <p:nvPr/>
        </p:nvSpPr>
        <p:spPr>
          <a:xfrm xmlns:a="http://schemas.openxmlformats.org/drawingml/2006/main">
            <a:off x="1047750" y="4095750"/>
            <a:ext cx="1695450" cy="1066800"/>
          </a:xfrm>
          <a:prstGeom xmlns:a="http://schemas.openxmlformats.org/drawingml/2006/main" prst="roundRect">
            <a:avLst>
              <a:gd name="adj" fmla="val 7143"/>
            </a:avLst>
          </a:prstGeom>
          <a:solidFill xmlns:a="http://schemas.openxmlformats.org/drawingml/2006/main">
            <a:srgbClr val="FFFDF8"/>
          </a:solidFill>
          <a:ln xmlns:a="http://schemas.openxmlformats.org/drawingml/2006/main" w="10478">
            <a:solidFill>
              <a:srgbClr val="132024"/>
            </a:solidFill>
            <a:prstDash val="solid"/>
          </a:ln>
        </p:spPr>
      </p:sp>
      <p:sp>
        <p:nvSpPr>
          <p:cNvPr id="55" name="">
            <a:extLst xmlns:a="http://schemas.openxmlformats.org/drawingml/2006/main">
              <a:ext uri="{FF2B5EF4-FFF2-40B4-BE49-F238E27FC236}">
                <a16:creationId xmlns:a16="http://schemas.microsoft.com/office/drawing/2014/main" id="{64D262AA-E6F0-4018-B2FA-245244B106A7}"/>
              </a:ext>
            </a:extLst>
          </p:cNvPr>
          <p:cNvSpPr>
            <a:spLocks xmlns:a="http://schemas.openxmlformats.org/drawingml/2006/main" noGrp="1"/>
          </p:cNvSpPr>
          <p:nvPr/>
        </p:nvSpPr>
        <p:spPr>
          <a:xfrm xmlns:a="http://schemas.openxmlformats.org/drawingml/2006/main">
            <a:off x="1095375" y="4143375"/>
            <a:ext cx="47625" cy="971550"/>
          </a:xfrm>
          <a:prstGeom xmlns:a="http://schemas.openxmlformats.org/drawingml/2006/main" prst="rect">
            <a:avLst/>
          </a:prstGeom>
          <a:solidFill xmlns:a="http://schemas.openxmlformats.org/drawingml/2006/main">
            <a:srgbClr val="5C8F74"/>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F492311A-A9B0-4C6D-A4B2-6318BFE8EA81}"/>
              </a:ext>
            </a:extLst>
          </p:cNvPr>
          <p:cNvSpPr>
            <a:spLocks xmlns:a="http://schemas.openxmlformats.org/drawingml/2006/main" noGrp="1"/>
          </p:cNvSpPr>
          <p:nvPr/>
        </p:nvSpPr>
        <p:spPr>
          <a:xfrm xmlns:a="http://schemas.openxmlformats.org/drawingml/2006/main">
            <a:off x="1219200" y="4248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57" name="">
            <a:extLst xmlns:a="http://schemas.openxmlformats.org/drawingml/2006/main">
              <a:ext uri="{FF2B5EF4-FFF2-40B4-BE49-F238E27FC236}">
                <a16:creationId xmlns:a16="http://schemas.microsoft.com/office/drawing/2014/main" id="{009A82CD-E6C9-4B89-A83B-1DB3F49B0F3D}"/>
              </a:ext>
            </a:extLst>
          </p:cNvPr>
          <p:cNvSpPr>
            <a:spLocks xmlns:a="http://schemas.openxmlformats.org/drawingml/2006/main" noGrp="1"/>
          </p:cNvSpPr>
          <p:nvPr/>
        </p:nvSpPr>
        <p:spPr>
          <a:xfrm xmlns:a="http://schemas.openxmlformats.org/drawingml/2006/main">
            <a:off x="1219200" y="4533900"/>
            <a:ext cx="1371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Eura 2020</a:t>
            </a:r>
          </a:p>
        </p:txBody>
      </p:sp>
      <p:sp>
        <p:nvSpPr>
          <p:cNvPr id="58" name="">
            <a:extLst xmlns:a="http://schemas.openxmlformats.org/drawingml/2006/main">
              <a:ext uri="{FF2B5EF4-FFF2-40B4-BE49-F238E27FC236}">
                <a16:creationId xmlns:a16="http://schemas.microsoft.com/office/drawing/2014/main" id="{97D60F9E-BE36-444E-B7DF-742222E95A3C}"/>
              </a:ext>
            </a:extLst>
          </p:cNvPr>
          <p:cNvSpPr>
            <a:spLocks xmlns:a="http://schemas.openxmlformats.org/drawingml/2006/main" noGrp="1"/>
          </p:cNvSpPr>
          <p:nvPr/>
        </p:nvSpPr>
        <p:spPr>
          <a:xfrm xmlns:a="http://schemas.openxmlformats.org/drawingml/2006/main">
            <a:off x="1219200" y="4781550"/>
            <a:ext cx="1371600" cy="266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brainstem</a:t>
            </a:r>
          </a:p>
        </p:txBody>
      </p:sp>
      <p:sp>
        <p:nvSpPr>
          <p:cNvPr id="59" name="">
            <a:extLst xmlns:a="http://schemas.openxmlformats.org/drawingml/2006/main">
              <a:ext uri="{FF2B5EF4-FFF2-40B4-BE49-F238E27FC236}">
                <a16:creationId xmlns:a16="http://schemas.microsoft.com/office/drawing/2014/main" id="{7EE4BA6A-B072-45ED-B0CB-BB8572DF1B46}"/>
              </a:ext>
            </a:extLst>
          </p:cNvPr>
          <p:cNvSpPr>
            <a:spLocks xmlns:a="http://schemas.openxmlformats.org/drawingml/2006/main" noGrp="1"/>
          </p:cNvSpPr>
          <p:nvPr/>
        </p:nvSpPr>
        <p:spPr>
          <a:xfrm xmlns:a="http://schemas.openxmlformats.org/drawingml/2006/main" rot="-10176016">
            <a:off x="1747369" y="3138488"/>
            <a:ext cx="411573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0" name="">
            <a:extLst xmlns:a="http://schemas.openxmlformats.org/drawingml/2006/main">
              <a:ext uri="{FF2B5EF4-FFF2-40B4-BE49-F238E27FC236}">
                <a16:creationId xmlns:a16="http://schemas.microsoft.com/office/drawing/2014/main" id="{6DF4F8E3-2127-4E4A-8B33-8B721DDBBC19}"/>
              </a:ext>
            </a:extLst>
          </p:cNvPr>
          <p:cNvSpPr>
            <a:spLocks xmlns:a="http://schemas.openxmlformats.org/drawingml/2006/main" noGrp="1"/>
          </p:cNvSpPr>
          <p:nvPr/>
        </p:nvSpPr>
        <p:spPr>
          <a:xfrm xmlns:a="http://schemas.openxmlformats.org/drawingml/2006/main" rot="-9074423">
            <a:off x="3637345" y="2947988"/>
            <a:ext cx="23360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1" name="">
            <a:extLst xmlns:a="http://schemas.openxmlformats.org/drawingml/2006/main">
              <a:ext uri="{FF2B5EF4-FFF2-40B4-BE49-F238E27FC236}">
                <a16:creationId xmlns:a16="http://schemas.microsoft.com/office/drawing/2014/main" id="{FBD6A8EB-5A07-4E2E-84B1-CAED25F2C854}"/>
              </a:ext>
            </a:extLst>
          </p:cNvPr>
          <p:cNvSpPr>
            <a:spLocks xmlns:a="http://schemas.openxmlformats.org/drawingml/2006/main" noGrp="1"/>
          </p:cNvSpPr>
          <p:nvPr/>
        </p:nvSpPr>
        <p:spPr>
          <a:xfrm xmlns:a="http://schemas.openxmlformats.org/drawingml/2006/main" rot="-1299517">
            <a:off x="5729088" y="2986088"/>
            <a:ext cx="2838850"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2" name="">
            <a:extLst xmlns:a="http://schemas.openxmlformats.org/drawingml/2006/main">
              <a:ext uri="{FF2B5EF4-FFF2-40B4-BE49-F238E27FC236}">
                <a16:creationId xmlns:a16="http://schemas.microsoft.com/office/drawing/2014/main" id="{C289921E-3F3B-487F-A37F-1DC4F4227352}"/>
              </a:ext>
            </a:extLst>
          </p:cNvPr>
          <p:cNvSpPr>
            <a:spLocks xmlns:a="http://schemas.openxmlformats.org/drawingml/2006/main" noGrp="1"/>
          </p:cNvSpPr>
          <p:nvPr/>
        </p:nvSpPr>
        <p:spPr>
          <a:xfrm xmlns:a="http://schemas.openxmlformats.org/drawingml/2006/main" rot="-200725">
            <a:off x="5825406" y="3376613"/>
            <a:ext cx="45702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3" name="">
            <a:extLst xmlns:a="http://schemas.openxmlformats.org/drawingml/2006/main">
              <a:ext uri="{FF2B5EF4-FFF2-40B4-BE49-F238E27FC236}">
                <a16:creationId xmlns:a16="http://schemas.microsoft.com/office/drawing/2014/main" id="{B5F0A8B7-7D64-4F21-8195-442BBC70114C}"/>
              </a:ext>
            </a:extLst>
          </p:cNvPr>
          <p:cNvSpPr>
            <a:spLocks xmlns:a="http://schemas.openxmlformats.org/drawingml/2006/main" noGrp="1"/>
          </p:cNvSpPr>
          <p:nvPr/>
        </p:nvSpPr>
        <p:spPr>
          <a:xfrm xmlns:a="http://schemas.openxmlformats.org/drawingml/2006/main" rot="1095183">
            <a:off x="5709946" y="4252913"/>
            <a:ext cx="474403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4" name="">
            <a:extLst xmlns:a="http://schemas.openxmlformats.org/drawingml/2006/main">
              <a:ext uri="{FF2B5EF4-FFF2-40B4-BE49-F238E27FC236}">
                <a16:creationId xmlns:a16="http://schemas.microsoft.com/office/drawing/2014/main" id="{5469886D-9A5D-4E2F-90D3-209BDC87FAD7}"/>
              </a:ext>
            </a:extLst>
          </p:cNvPr>
          <p:cNvSpPr>
            <a:spLocks xmlns:a="http://schemas.openxmlformats.org/drawingml/2006/main" noGrp="1"/>
          </p:cNvSpPr>
          <p:nvPr/>
        </p:nvSpPr>
        <p:spPr>
          <a:xfrm xmlns:a="http://schemas.openxmlformats.org/drawingml/2006/main" rot="2531853">
            <a:off x="5454434" y="4481513"/>
            <a:ext cx="289285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5" name="">
            <a:extLst xmlns:a="http://schemas.openxmlformats.org/drawingml/2006/main">
              <a:ext uri="{FF2B5EF4-FFF2-40B4-BE49-F238E27FC236}">
                <a16:creationId xmlns:a16="http://schemas.microsoft.com/office/drawing/2014/main" id="{5433F1B9-25A3-4681-8F84-1DDC0B131EC1}"/>
              </a:ext>
            </a:extLst>
          </p:cNvPr>
          <p:cNvSpPr>
            <a:spLocks xmlns:a="http://schemas.openxmlformats.org/drawingml/2006/main" noGrp="1"/>
          </p:cNvSpPr>
          <p:nvPr/>
        </p:nvSpPr>
        <p:spPr>
          <a:xfrm xmlns:a="http://schemas.openxmlformats.org/drawingml/2006/main" rot="7840196">
            <a:off x="3692856" y="4491038"/>
            <a:ext cx="2586963"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6" name="">
            <a:extLst xmlns:a="http://schemas.openxmlformats.org/drawingml/2006/main">
              <a:ext uri="{FF2B5EF4-FFF2-40B4-BE49-F238E27FC236}">
                <a16:creationId xmlns:a16="http://schemas.microsoft.com/office/drawing/2014/main" id="{AB60C332-3BA6-4620-B57D-34DF2E047617}"/>
              </a:ext>
            </a:extLst>
          </p:cNvPr>
          <p:cNvSpPr>
            <a:spLocks xmlns:a="http://schemas.openxmlformats.org/drawingml/2006/main" noGrp="1"/>
          </p:cNvSpPr>
          <p:nvPr/>
        </p:nvSpPr>
        <p:spPr>
          <a:xfrm xmlns:a="http://schemas.openxmlformats.org/drawingml/2006/main" rot="9858687">
            <a:off x="1819364" y="4062413"/>
            <a:ext cx="4086047"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67" name="">
            <a:extLst xmlns:a="http://schemas.openxmlformats.org/drawingml/2006/main">
              <a:ext uri="{FF2B5EF4-FFF2-40B4-BE49-F238E27FC236}">
                <a16:creationId xmlns:a16="http://schemas.microsoft.com/office/drawing/2014/main" id="{58D5172B-9B6F-404E-8473-B3B08AB0E528}"/>
              </a:ext>
            </a:extLst>
          </p:cNvPr>
          <p:cNvSpPr>
            <a:spLocks xmlns:a="http://schemas.openxmlformats.org/drawingml/2006/main" noGrp="1"/>
          </p:cNvSpPr>
          <p:nvPr/>
        </p:nvSpPr>
        <p:spPr>
          <a:xfrm xmlns:a="http://schemas.openxmlformats.org/drawingml/2006/main">
            <a:off x="609600" y="6115050"/>
            <a:ext cx="12573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whole cerebral</a:t>
            </a:r>
          </a:p>
        </p:txBody>
      </p:sp>
      <p:sp>
        <p:nvSpPr>
          <p:cNvPr id="68" name="">
            <a:extLst xmlns:a="http://schemas.openxmlformats.org/drawingml/2006/main">
              <a:ext uri="{FF2B5EF4-FFF2-40B4-BE49-F238E27FC236}">
                <a16:creationId xmlns:a16="http://schemas.microsoft.com/office/drawing/2014/main" id="{BEA39ACB-1A37-4E19-AA62-9443009FBFA6}"/>
              </a:ext>
            </a:extLst>
          </p:cNvPr>
          <p:cNvSpPr>
            <a:spLocks xmlns:a="http://schemas.openxmlformats.org/drawingml/2006/main" noGrp="1"/>
          </p:cNvSpPr>
          <p:nvPr/>
        </p:nvSpPr>
        <p:spPr>
          <a:xfrm xmlns:a="http://schemas.openxmlformats.org/drawingml/2006/main">
            <a:off x="2000250" y="6115050"/>
            <a:ext cx="17145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forebrain / cortical</a:t>
            </a:r>
          </a:p>
        </p:txBody>
      </p:sp>
      <p:sp>
        <p:nvSpPr>
          <p:cNvPr id="69" name="">
            <a:extLst xmlns:a="http://schemas.openxmlformats.org/drawingml/2006/main">
              <a:ext uri="{FF2B5EF4-FFF2-40B4-BE49-F238E27FC236}">
                <a16:creationId xmlns:a16="http://schemas.microsoft.com/office/drawing/2014/main" id="{63283397-4C07-4A63-90FF-B593B531ED5B}"/>
              </a:ext>
            </a:extLst>
          </p:cNvPr>
          <p:cNvSpPr>
            <a:spLocks xmlns:a="http://schemas.openxmlformats.org/drawingml/2006/main" noGrp="1"/>
          </p:cNvSpPr>
          <p:nvPr/>
        </p:nvSpPr>
        <p:spPr>
          <a:xfrm xmlns:a="http://schemas.openxmlformats.org/drawingml/2006/main">
            <a:off x="3848100" y="6115050"/>
            <a:ext cx="1485900" cy="2667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posterior / niche</a:t>
            </a:r>
          </a:p>
        </p:txBody>
      </p:sp>
      <p:sp>
        <p:nvSpPr>
          <p:cNvPr id="70" name="">
            <a:extLst xmlns:a="http://schemas.openxmlformats.org/drawingml/2006/main">
              <a:ext uri="{FF2B5EF4-FFF2-40B4-BE49-F238E27FC236}">
                <a16:creationId xmlns:a16="http://schemas.microsoft.com/office/drawing/2014/main" id="{F0967354-21D5-4424-8689-435150DC7FAB}"/>
              </a:ext>
            </a:extLst>
          </p:cNvPr>
          <p:cNvSpPr>
            <a:spLocks xmlns:a="http://schemas.openxmlformats.org/drawingml/2006/main" noGrp="1"/>
          </p:cNvSpPr>
          <p:nvPr/>
        </p:nvSpPr>
        <p:spPr>
          <a:xfrm xmlns:a="http://schemas.openxmlformats.org/drawingml/2006/main">
            <a:off x="6915150" y="5905500"/>
            <a:ext cx="466725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71" name="">
            <a:extLst xmlns:a="http://schemas.openxmlformats.org/drawingml/2006/main">
              <a:ext uri="{FF2B5EF4-FFF2-40B4-BE49-F238E27FC236}">
                <a16:creationId xmlns:a16="http://schemas.microsoft.com/office/drawing/2014/main" id="{054785D3-32F8-42A3-A3C3-859705188FE4}"/>
              </a:ext>
            </a:extLst>
          </p:cNvPr>
          <p:cNvSpPr>
            <a:spLocks xmlns:a="http://schemas.openxmlformats.org/drawingml/2006/main" noGrp="1"/>
          </p:cNvSpPr>
          <p:nvPr/>
        </p:nvSpPr>
        <p:spPr>
          <a:xfrm xmlns:a="http://schemas.openxmlformats.org/drawingml/2006/main">
            <a:off x="6962775" y="5953125"/>
            <a:ext cx="57150" cy="457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72" name="">
            <a:extLst xmlns:a="http://schemas.openxmlformats.org/drawingml/2006/main">
              <a:ext uri="{FF2B5EF4-FFF2-40B4-BE49-F238E27FC236}">
                <a16:creationId xmlns:a16="http://schemas.microsoft.com/office/drawing/2014/main" id="{222B734B-39F4-4339-8DA9-789CF6C32028}"/>
              </a:ext>
            </a:extLst>
          </p:cNvPr>
          <p:cNvSpPr>
            <a:spLocks xmlns:a="http://schemas.openxmlformats.org/drawingml/2006/main" noGrp="1"/>
          </p:cNvSpPr>
          <p:nvPr/>
        </p:nvSpPr>
        <p:spPr>
          <a:xfrm xmlns:a="http://schemas.openxmlformats.org/drawingml/2006/main">
            <a:off x="7124700" y="6057900"/>
            <a:ext cx="42862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질문이 잘 풀어준 것: brain design 문제를 subregion selection 문제로 읽기 시작했다.</a:t>
            </a:r>
          </a:p>
        </p:txBody>
      </p:sp>
      <p:sp>
        <p:nvSpPr>
          <p:cNvPr id="73" name="">
            <a:extLst xmlns:a="http://schemas.openxmlformats.org/drawingml/2006/main">
              <a:ext uri="{FF2B5EF4-FFF2-40B4-BE49-F238E27FC236}">
                <a16:creationId xmlns:a16="http://schemas.microsoft.com/office/drawing/2014/main" id="{CD551C1D-D9F3-4847-B74E-77DD4EA7706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question note를 중심으로 source cluster가 확장되는 모습</a:t>
            </a:r>
          </a:p>
        </p:txBody>
      </p:sp>
    </p:spTree>
    <p:extLst>
      <p:ext uri="{BB962C8B-B14F-4D97-AF65-F5344CB8AC3E}">
        <p14:creationId xmlns:p14="http://schemas.microsoft.com/office/powerpoint/2010/main" val="311376420"/>
      </p:ext>
    </p:extLst>
  </p:cSld>
</p:sld>
</file>

<file path=ppt/slides/slide5.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29e59ab59594c65"/>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8DFB42F-9CA0-4646-AC82-86FC81F224D4}"/>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80485A3C-5F47-4265-8A9D-03FF4DF53974}"/>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AB7A3CC-19C9-4EC9-9EEA-FE236C63121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03C3AE54-34BA-4094-9624-A620DCDC14A2}"/>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109BB89-D6CE-4135-9B6D-E9D029AA9397}"/>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6C5261E8-A128-4735-9481-E4F023D4CAAF}"/>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6A0875DD-A20A-4A42-9B3A-918D0B3F919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FIRST ANSWER</a:t>
            </a:r>
          </a:p>
        </p:txBody>
      </p:sp>
      <p:sp>
        <p:nvSpPr>
          <p:cNvPr id="10" name="">
            <a:extLst xmlns:a="http://schemas.openxmlformats.org/drawingml/2006/main">
              <a:ext uri="{FF2B5EF4-FFF2-40B4-BE49-F238E27FC236}">
                <a16:creationId xmlns:a16="http://schemas.microsoft.com/office/drawing/2014/main" id="{AE7912AA-9BD9-4C74-A3F2-56CB641D3557}"/>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05 / 12</a:t>
            </a:r>
          </a:p>
        </p:txBody>
      </p:sp>
      <p:sp>
        <p:nvSpPr>
          <p:cNvPr id="11" name="">
            <a:extLst xmlns:a="http://schemas.openxmlformats.org/drawingml/2006/main">
              <a:ext uri="{FF2B5EF4-FFF2-40B4-BE49-F238E27FC236}">
                <a16:creationId xmlns:a16="http://schemas.microsoft.com/office/drawing/2014/main" id="{C2DC1DEA-2C4D-4ED3-B401-32FBC6722DDC}"/>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B1319827-9EA7-4E32-9508-E2799F65497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3A89235A-AF9A-4C4A-9DEB-C9CE87DE3030}"/>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1차 정리에서 얻은 답</a:t>
            </a:r>
          </a:p>
        </p:txBody>
      </p:sp>
      <p:sp>
        <p:nvSpPr>
          <p:cNvPr id="14" name="">
            <a:extLst xmlns:a="http://schemas.openxmlformats.org/drawingml/2006/main">
              <a:ext uri="{FF2B5EF4-FFF2-40B4-BE49-F238E27FC236}">
                <a16:creationId xmlns:a16="http://schemas.microsoft.com/office/drawing/2014/main" id="{C03245BC-4239-4344-9094-00CB5D0BA954}"/>
              </a:ext>
            </a:extLst>
          </p:cNvPr>
          <p:cNvSpPr>
            <a:spLocks xmlns:a="http://schemas.openxmlformats.org/drawingml/2006/main" noGrp="1"/>
          </p:cNvSpPr>
          <p:nvPr/>
        </p:nvSpPr>
        <p:spPr>
          <a:xfrm xmlns:a="http://schemas.openxmlformats.org/drawingml/2006/main">
            <a:off x="7429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FB994BC7-7190-49F7-9C5E-E79EB9CDCD6F}"/>
              </a:ext>
            </a:extLst>
          </p:cNvPr>
          <p:cNvSpPr>
            <a:spLocks xmlns:a="http://schemas.openxmlformats.org/drawingml/2006/main" noGrp="1"/>
          </p:cNvSpPr>
          <p:nvPr/>
        </p:nvSpPr>
        <p:spPr>
          <a:xfrm xmlns:a="http://schemas.openxmlformats.org/drawingml/2006/main">
            <a:off x="800100" y="2266950"/>
            <a:ext cx="32004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793632C9-DA3F-49C2-888A-620AC9DB7A8E}"/>
              </a:ext>
            </a:extLst>
          </p:cNvPr>
          <p:cNvSpPr>
            <a:spLocks xmlns:a="http://schemas.openxmlformats.org/drawingml/2006/main" noGrp="1"/>
          </p:cNvSpPr>
          <p:nvPr/>
        </p:nvSpPr>
        <p:spPr>
          <a:xfrm xmlns:a="http://schemas.openxmlformats.org/drawingml/2006/main">
            <a:off x="9525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broad cerebral baseline</a:t>
            </a:r>
          </a:p>
        </p:txBody>
      </p:sp>
      <p:sp>
        <p:nvSpPr>
          <p:cNvPr id="17" name="">
            <a:extLst xmlns:a="http://schemas.openxmlformats.org/drawingml/2006/main">
              <a:ext uri="{FF2B5EF4-FFF2-40B4-BE49-F238E27FC236}">
                <a16:creationId xmlns:a16="http://schemas.microsoft.com/office/drawing/2014/main" id="{E8ABEAED-F93A-495A-BEDD-8689C3267E40}"/>
              </a:ext>
            </a:extLst>
          </p:cNvPr>
          <p:cNvSpPr>
            <a:spLocks xmlns:a="http://schemas.openxmlformats.org/drawingml/2006/main" noGrp="1"/>
          </p:cNvSpPr>
          <p:nvPr/>
        </p:nvSpPr>
        <p:spPr>
          <a:xfrm xmlns:a="http://schemas.openxmlformats.org/drawingml/2006/main">
            <a:off x="9525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자가조직화 기반. regional diversity가</a:t>
            </a:r>
          </a:p>
          <a:p xmlns:a="http://schemas.openxmlformats.org/drawingml/2006/main">
            <a:pPr algn="l">
              <a:defRPr sz="1200" b="0">
                <a:solidFill>
                  <a:srgbClr val="132024"/>
                </a:solidFill>
              </a:defRPr>
            </a:pPr>
            <a:r>
              <a:rPr sz="1200" b="0">
                <a:solidFill>
                  <a:srgbClr val="132024"/>
                </a:solidFill>
              </a:rPr>
              <a:t>넓고 emergent architecture를 보기</a:t>
            </a:r>
          </a:p>
          <a:p xmlns:a="http://schemas.openxmlformats.org/drawingml/2006/main">
            <a:pPr algn="l">
              <a:defRPr sz="1200" b="0">
                <a:solidFill>
                  <a:srgbClr val="132024"/>
                </a:solidFill>
              </a:defRPr>
            </a:pPr>
            <a:r>
              <a:rPr sz="1200" b="0">
                <a:solidFill>
                  <a:srgbClr val="132024"/>
                </a:solidFill>
              </a:rPr>
              <a:t>좋지만, batch variability와 mixed</a:t>
            </a:r>
          </a:p>
          <a:p xmlns:a="http://schemas.openxmlformats.org/drawingml/2006/main">
            <a:pPr algn="l">
              <a:defRPr sz="1200" b="0">
                <a:solidFill>
                  <a:srgbClr val="132024"/>
                </a:solidFill>
              </a:defRPr>
            </a:pPr>
            <a:r>
              <a:rPr sz="1200" b="0">
                <a:solidFill>
                  <a:srgbClr val="132024"/>
                </a:solidFill>
              </a:rPr>
              <a:t>identity가 커진다. 대표 anchor:</a:t>
            </a:r>
          </a:p>
          <a:p xmlns:a="http://schemas.openxmlformats.org/drawingml/2006/main">
            <a:pPr algn="l">
              <a:defRPr sz="1200" b="0">
                <a:solidFill>
                  <a:srgbClr val="132024"/>
                </a:solidFill>
              </a:defRPr>
            </a:pPr>
            <a:r>
              <a:rPr sz="1200" b="0">
                <a:solidFill>
                  <a:srgbClr val="132024"/>
                </a:solidFill>
              </a:rPr>
              <a:t>Lancaster 2014.</a:t>
            </a:r>
          </a:p>
        </p:txBody>
      </p:sp>
      <p:sp>
        <p:nvSpPr>
          <p:cNvPr id="18" name="">
            <a:extLst xmlns:a="http://schemas.openxmlformats.org/drawingml/2006/main">
              <a:ext uri="{FF2B5EF4-FFF2-40B4-BE49-F238E27FC236}">
                <a16:creationId xmlns:a16="http://schemas.microsoft.com/office/drawing/2014/main" id="{326BA598-6F5A-418C-B9F4-AF8888976775}"/>
              </a:ext>
            </a:extLst>
          </p:cNvPr>
          <p:cNvSpPr>
            <a:spLocks xmlns:a="http://schemas.openxmlformats.org/drawingml/2006/main" noGrp="1"/>
          </p:cNvSpPr>
          <p:nvPr/>
        </p:nvSpPr>
        <p:spPr>
          <a:xfrm xmlns:a="http://schemas.openxmlformats.org/drawingml/2006/main">
            <a:off x="44386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5F36BAFD-148A-410B-B2CF-F22502874373}"/>
              </a:ext>
            </a:extLst>
          </p:cNvPr>
          <p:cNvSpPr>
            <a:spLocks xmlns:a="http://schemas.openxmlformats.org/drawingml/2006/main" noGrp="1"/>
          </p:cNvSpPr>
          <p:nvPr/>
        </p:nvSpPr>
        <p:spPr>
          <a:xfrm xmlns:a="http://schemas.openxmlformats.org/drawingml/2006/main">
            <a:off x="4495800" y="2266950"/>
            <a:ext cx="32004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381532CF-9238-44E3-A972-75AEBAEB256D}"/>
              </a:ext>
            </a:extLst>
          </p:cNvPr>
          <p:cNvSpPr>
            <a:spLocks xmlns:a="http://schemas.openxmlformats.org/drawingml/2006/main" noGrp="1"/>
          </p:cNvSpPr>
          <p:nvPr/>
        </p:nvSpPr>
        <p:spPr>
          <a:xfrm xmlns:a="http://schemas.openxmlformats.org/drawingml/2006/main">
            <a:off x="46482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forebrain / cortical control</a:t>
            </a:r>
          </a:p>
        </p:txBody>
      </p:sp>
      <p:sp>
        <p:nvSpPr>
          <p:cNvPr id="21" name="">
            <a:extLst xmlns:a="http://schemas.openxmlformats.org/drawingml/2006/main">
              <a:ext uri="{FF2B5EF4-FFF2-40B4-BE49-F238E27FC236}">
                <a16:creationId xmlns:a16="http://schemas.microsoft.com/office/drawing/2014/main" id="{A61D2A84-09A7-49A5-B4FB-1913C300A702}"/>
              </a:ext>
            </a:extLst>
          </p:cNvPr>
          <p:cNvSpPr>
            <a:spLocks xmlns:a="http://schemas.openxmlformats.org/drawingml/2006/main" noGrp="1"/>
          </p:cNvSpPr>
          <p:nvPr/>
        </p:nvSpPr>
        <p:spPr>
          <a:xfrm xmlns:a="http://schemas.openxmlformats.org/drawingml/2006/main">
            <a:off x="46482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dual SMAD 또는 semi-guided</a:t>
            </a:r>
          </a:p>
          <a:p xmlns:a="http://schemas.openxmlformats.org/drawingml/2006/main">
            <a:pPr algn="l">
              <a:defRPr sz="1200" b="0">
                <a:solidFill>
                  <a:srgbClr val="132024"/>
                </a:solidFill>
              </a:defRPr>
            </a:pPr>
            <a:r>
              <a:rPr sz="1200" b="0">
                <a:solidFill>
                  <a:srgbClr val="132024"/>
                </a:solidFill>
              </a:rPr>
              <a:t>control을 통해 cleaner regional</a:t>
            </a:r>
          </a:p>
          <a:p xmlns:a="http://schemas.openxmlformats.org/drawingml/2006/main">
            <a:pPr algn="l">
              <a:defRPr sz="1200" b="0">
                <a:solidFill>
                  <a:srgbClr val="132024"/>
                </a:solidFill>
              </a:defRPr>
            </a:pPr>
            <a:r>
              <a:rPr sz="1200" b="0">
                <a:solidFill>
                  <a:srgbClr val="132024"/>
                </a:solidFill>
              </a:rPr>
              <a:t>identity와 더 높은 재현성을 노린다. 대표</a:t>
            </a:r>
          </a:p>
          <a:p xmlns:a="http://schemas.openxmlformats.org/drawingml/2006/main">
            <a:pPr algn="l">
              <a:defRPr sz="1200" b="0">
                <a:solidFill>
                  <a:srgbClr val="132024"/>
                </a:solidFill>
              </a:defRPr>
            </a:pPr>
            <a:r>
              <a:rPr sz="1200" b="0">
                <a:solidFill>
                  <a:srgbClr val="132024"/>
                </a:solidFill>
              </a:rPr>
              <a:t>anchor: Sloan 2018,</a:t>
            </a:r>
          </a:p>
          <a:p xmlns:a="http://schemas.openxmlformats.org/drawingml/2006/main">
            <a:pPr algn="l">
              <a:defRPr sz="1200" b="0">
                <a:solidFill>
                  <a:srgbClr val="132024"/>
                </a:solidFill>
              </a:defRPr>
            </a:pPr>
            <a:r>
              <a:rPr sz="1200" b="0">
                <a:solidFill>
                  <a:srgbClr val="132024"/>
                </a:solidFill>
              </a:rPr>
              <a:t>Fitzgerald 2024, Ullah 2025.</a:t>
            </a:r>
          </a:p>
        </p:txBody>
      </p:sp>
      <p:sp>
        <p:nvSpPr>
          <p:cNvPr id="22" name="">
            <a:extLst xmlns:a="http://schemas.openxmlformats.org/drawingml/2006/main">
              <a:ext uri="{FF2B5EF4-FFF2-40B4-BE49-F238E27FC236}">
                <a16:creationId xmlns:a16="http://schemas.microsoft.com/office/drawing/2014/main" id="{868A69CE-22C8-4249-B894-B673AEA61337}"/>
              </a:ext>
            </a:extLst>
          </p:cNvPr>
          <p:cNvSpPr>
            <a:spLocks xmlns:a="http://schemas.openxmlformats.org/drawingml/2006/main" noGrp="1"/>
          </p:cNvSpPr>
          <p:nvPr/>
        </p:nvSpPr>
        <p:spPr>
          <a:xfrm xmlns:a="http://schemas.openxmlformats.org/drawingml/2006/main">
            <a:off x="8134350" y="2209800"/>
            <a:ext cx="3314700" cy="2781300"/>
          </a:xfrm>
          <a:prstGeom xmlns:a="http://schemas.openxmlformats.org/drawingml/2006/main" prst="roundRect">
            <a:avLst>
              <a:gd name="adj" fmla="val 2740"/>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7C350B84-2EAE-4325-B343-59689DBC848C}"/>
              </a:ext>
            </a:extLst>
          </p:cNvPr>
          <p:cNvSpPr>
            <a:spLocks xmlns:a="http://schemas.openxmlformats.org/drawingml/2006/main" noGrp="1"/>
          </p:cNvSpPr>
          <p:nvPr/>
        </p:nvSpPr>
        <p:spPr>
          <a:xfrm xmlns:a="http://schemas.openxmlformats.org/drawingml/2006/main">
            <a:off x="8191500" y="2266950"/>
            <a:ext cx="32004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3276E26E-4974-487C-AF09-7B98C0D49262}"/>
              </a:ext>
            </a:extLst>
          </p:cNvPr>
          <p:cNvSpPr>
            <a:spLocks xmlns:a="http://schemas.openxmlformats.org/drawingml/2006/main" noGrp="1"/>
          </p:cNvSpPr>
          <p:nvPr/>
        </p:nvSpPr>
        <p:spPr>
          <a:xfrm xmlns:a="http://schemas.openxmlformats.org/drawingml/2006/main">
            <a:off x="8343900" y="2400300"/>
            <a:ext cx="28956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posterior / niche specialization</a:t>
            </a:r>
          </a:p>
        </p:txBody>
      </p:sp>
      <p:sp>
        <p:nvSpPr>
          <p:cNvPr id="25" name="">
            <a:extLst xmlns:a="http://schemas.openxmlformats.org/drawingml/2006/main">
              <a:ext uri="{FF2B5EF4-FFF2-40B4-BE49-F238E27FC236}">
                <a16:creationId xmlns:a16="http://schemas.microsoft.com/office/drawing/2014/main" id="{9B4DFB25-C75D-4C99-A7AB-4BB80919DB1F}"/>
              </a:ext>
            </a:extLst>
          </p:cNvPr>
          <p:cNvSpPr>
            <a:spLocks xmlns:a="http://schemas.openxmlformats.org/drawingml/2006/main" noGrp="1"/>
          </p:cNvSpPr>
          <p:nvPr/>
        </p:nvSpPr>
        <p:spPr>
          <a:xfrm xmlns:a="http://schemas.openxmlformats.org/drawingml/2006/main">
            <a:off x="8343900" y="2819400"/>
            <a:ext cx="2895600" cy="2000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midbrain, brainstem,</a:t>
            </a:r>
          </a:p>
          <a:p xmlns:a="http://schemas.openxmlformats.org/drawingml/2006/main">
            <a:pPr algn="l">
              <a:defRPr sz="1200" b="0">
                <a:solidFill>
                  <a:srgbClr val="132024"/>
                </a:solidFill>
              </a:defRPr>
            </a:pPr>
            <a:r>
              <a:rPr sz="1200" b="0">
                <a:solidFill>
                  <a:srgbClr val="132024"/>
                </a:solidFill>
              </a:rPr>
              <a:t>hindbrain, hippocampus,</a:t>
            </a:r>
          </a:p>
          <a:p xmlns:a="http://schemas.openxmlformats.org/drawingml/2006/main">
            <a:pPr algn="l">
              <a:defRPr sz="1200" b="0">
                <a:solidFill>
                  <a:srgbClr val="132024"/>
                </a:solidFill>
              </a:defRPr>
            </a:pPr>
            <a:r>
              <a:rPr sz="1200" b="0">
                <a:solidFill>
                  <a:srgbClr val="132024"/>
                </a:solidFill>
              </a:rPr>
              <a:t>cerebellum처럼 질문 특이적인</a:t>
            </a:r>
          </a:p>
          <a:p xmlns:a="http://schemas.openxmlformats.org/drawingml/2006/main">
            <a:pPr algn="l">
              <a:defRPr sz="1200" b="0">
                <a:solidFill>
                  <a:srgbClr val="132024"/>
                </a:solidFill>
              </a:defRPr>
            </a:pPr>
            <a:r>
              <a:rPr sz="1200" b="0">
                <a:solidFill>
                  <a:srgbClr val="132024"/>
                </a:solidFill>
              </a:rPr>
              <a:t>posterior or niche branch로</a:t>
            </a:r>
          </a:p>
          <a:p xmlns:a="http://schemas.openxmlformats.org/drawingml/2006/main">
            <a:pPr algn="l">
              <a:defRPr sz="1200" b="0">
                <a:solidFill>
                  <a:srgbClr val="132024"/>
                </a:solidFill>
              </a:defRPr>
            </a:pPr>
            <a:r>
              <a:rPr sz="1200" b="0">
                <a:solidFill>
                  <a:srgbClr val="132024"/>
                </a:solidFill>
              </a:rPr>
              <a:t>간다. 대표 anchor: Zagare, Eura,</a:t>
            </a:r>
          </a:p>
          <a:p xmlns:a="http://schemas.openxmlformats.org/drawingml/2006/main">
            <a:pPr algn="l">
              <a:defRPr sz="1200" b="0">
                <a:solidFill>
                  <a:srgbClr val="132024"/>
                </a:solidFill>
              </a:defRPr>
            </a:pPr>
            <a:r>
              <a:rPr sz="1200" b="0">
                <a:solidFill>
                  <a:srgbClr val="132024"/>
                </a:solidFill>
              </a:rPr>
              <a:t>Pomeshchik, Atamian.</a:t>
            </a:r>
          </a:p>
        </p:txBody>
      </p:sp>
      <p:sp>
        <p:nvSpPr>
          <p:cNvPr id="26" name="">
            <a:extLst xmlns:a="http://schemas.openxmlformats.org/drawingml/2006/main">
              <a:ext uri="{FF2B5EF4-FFF2-40B4-BE49-F238E27FC236}">
                <a16:creationId xmlns:a16="http://schemas.microsoft.com/office/drawing/2014/main" id="{53B3B8B2-ACE3-4189-BC7C-23970644534D}"/>
              </a:ext>
            </a:extLst>
          </p:cNvPr>
          <p:cNvSpPr>
            <a:spLocks xmlns:a="http://schemas.openxmlformats.org/drawingml/2006/main" noGrp="1"/>
          </p:cNvSpPr>
          <p:nvPr/>
        </p:nvSpPr>
        <p:spPr>
          <a:xfrm xmlns:a="http://schemas.openxmlformats.org/drawingml/2006/main">
            <a:off x="857250" y="5353050"/>
            <a:ext cx="10572750" cy="704850"/>
          </a:xfrm>
          <a:prstGeom xmlns:a="http://schemas.openxmlformats.org/drawingml/2006/main" prst="roundRect">
            <a:avLst>
              <a:gd name="adj" fmla="val 10811"/>
            </a:avLst>
          </a:prstGeom>
          <a:solidFill xmlns:a="http://schemas.openxmlformats.org/drawingml/2006/main">
            <a:srgbClr val="F4E8C8"/>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A38AE0B8-BAAD-4148-9221-56368CC69B8A}"/>
              </a:ext>
            </a:extLst>
          </p:cNvPr>
          <p:cNvSpPr>
            <a:spLocks xmlns:a="http://schemas.openxmlformats.org/drawingml/2006/main" noGrp="1"/>
          </p:cNvSpPr>
          <p:nvPr/>
        </p:nvSpPr>
        <p:spPr>
          <a:xfrm xmlns:a="http://schemas.openxmlformats.org/drawingml/2006/main">
            <a:off x="904875" y="5400675"/>
            <a:ext cx="57150" cy="6096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6D468864-A74B-4B58-A182-770B723FBCB2}"/>
              </a:ext>
            </a:extLst>
          </p:cNvPr>
          <p:cNvSpPr>
            <a:spLocks xmlns:a="http://schemas.openxmlformats.org/drawingml/2006/main" noGrp="1"/>
          </p:cNvSpPr>
          <p:nvPr/>
        </p:nvSpPr>
        <p:spPr>
          <a:xfrm xmlns:a="http://schemas.openxmlformats.org/drawingml/2006/main">
            <a:off x="1066800" y="5505450"/>
            <a:ext cx="10191750" cy="438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1차 결론: 많은 brain organoid design 문제는 'brain vs brain'이 아니라 subregion selection 문제다.</a:t>
            </a:r>
          </a:p>
        </p:txBody>
      </p:sp>
      <p:sp>
        <p:nvSpPr>
          <p:cNvPr id="29" name="">
            <a:extLst xmlns:a="http://schemas.openxmlformats.org/drawingml/2006/main">
              <a:ext uri="{FF2B5EF4-FFF2-40B4-BE49-F238E27FC236}">
                <a16:creationId xmlns:a16="http://schemas.microsoft.com/office/drawing/2014/main" id="{B21FBAA6-8F40-44CB-980A-0050F2302BA3}"/>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subregion logic는 출발점으로 강력했지만, 아직 quality question을 충분히 설명하지 못했다.</a:t>
            </a:r>
          </a:p>
        </p:txBody>
      </p:sp>
    </p:spTree>
    <p:extLst>
      <p:ext uri="{BB962C8B-B14F-4D97-AF65-F5344CB8AC3E}">
        <p14:creationId xmlns:p14="http://schemas.microsoft.com/office/powerpoint/2010/main" val="1908229589"/>
      </p:ext>
    </p:extLst>
  </p:cSld>
</p:sld>
</file>

<file path=ppt/slides/slide6.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f8ad99d1a8745c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9F0977C2-42C1-4880-A998-206E6565BF4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1816F542-96DA-4B15-8C14-A9D64CB170F7}"/>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4B806AE-0834-4853-BEA8-BC1D2B975895}"/>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251CFA0A-BFDE-4ECA-808D-316C38023870}"/>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CB71084-1E93-42A8-9D0C-A40654ECE769}"/>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1FAC7D28-EC08-4287-8798-38BE74D816CD}"/>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8A5631E-DA51-4C25-B2E6-69D03C180F72}"/>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LIMITATION</a:t>
            </a:r>
          </a:p>
        </p:txBody>
      </p:sp>
      <p:sp>
        <p:nvSpPr>
          <p:cNvPr id="10" name="">
            <a:extLst xmlns:a="http://schemas.openxmlformats.org/drawingml/2006/main">
              <a:ext uri="{FF2B5EF4-FFF2-40B4-BE49-F238E27FC236}">
                <a16:creationId xmlns:a16="http://schemas.microsoft.com/office/drawing/2014/main" id="{22C76B1D-7F1B-44AB-AEAA-30E658CD6C74}"/>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06 / 12</a:t>
            </a:r>
          </a:p>
        </p:txBody>
      </p:sp>
      <p:sp>
        <p:nvSpPr>
          <p:cNvPr id="11" name="">
            <a:extLst xmlns:a="http://schemas.openxmlformats.org/drawingml/2006/main">
              <a:ext uri="{FF2B5EF4-FFF2-40B4-BE49-F238E27FC236}">
                <a16:creationId xmlns:a16="http://schemas.microsoft.com/office/drawing/2014/main" id="{20B07F4B-C85D-4F0A-A804-08C261425006}"/>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BE56CA7-E680-460D-BCE8-CFFED2DE7C0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68D5EB0-F9E5-4023-A10D-A36CCF415FBC}"/>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하지만 이 질문만으로는 부족했다</a:t>
            </a:r>
          </a:p>
        </p:txBody>
      </p:sp>
      <p:sp>
        <p:nvSpPr>
          <p:cNvPr id="14" name="">
            <a:extLst xmlns:a="http://schemas.openxmlformats.org/drawingml/2006/main">
              <a:ext uri="{FF2B5EF4-FFF2-40B4-BE49-F238E27FC236}">
                <a16:creationId xmlns:a16="http://schemas.microsoft.com/office/drawing/2014/main" id="{DBBF4DB4-BF92-48EA-9D98-E1D60EBEF4F4}"/>
              </a:ext>
            </a:extLst>
          </p:cNvPr>
          <p:cNvSpPr>
            <a:spLocks xmlns:a="http://schemas.openxmlformats.org/drawingml/2006/main" noGrp="1"/>
          </p:cNvSpPr>
          <p:nvPr/>
        </p:nvSpPr>
        <p:spPr>
          <a:xfrm xmlns:a="http://schemas.openxmlformats.org/drawingml/2006/main">
            <a:off x="800100" y="2133600"/>
            <a:ext cx="10591800" cy="971550"/>
          </a:xfrm>
          <a:prstGeom xmlns:a="http://schemas.openxmlformats.org/drawingml/2006/main" prst="roundRect">
            <a:avLst>
              <a:gd name="adj" fmla="val 7843"/>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32C9EC9-A9AA-4684-AAEA-753456FE8A60}"/>
              </a:ext>
            </a:extLst>
          </p:cNvPr>
          <p:cNvSpPr>
            <a:spLocks xmlns:a="http://schemas.openxmlformats.org/drawingml/2006/main" noGrp="1"/>
          </p:cNvSpPr>
          <p:nvPr/>
        </p:nvSpPr>
        <p:spPr>
          <a:xfrm xmlns:a="http://schemas.openxmlformats.org/drawingml/2006/main">
            <a:off x="847725" y="2181225"/>
            <a:ext cx="57150" cy="8763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5B6E6FB-09F8-46EA-8138-3FE2CFDA8CFF}"/>
              </a:ext>
            </a:extLst>
          </p:cNvPr>
          <p:cNvSpPr>
            <a:spLocks xmlns:a="http://schemas.openxmlformats.org/drawingml/2006/main" noGrp="1"/>
          </p:cNvSpPr>
          <p:nvPr/>
        </p:nvSpPr>
        <p:spPr>
          <a:xfrm xmlns:a="http://schemas.openxmlformats.org/drawingml/2006/main">
            <a:off x="1009650" y="2286000"/>
            <a:ext cx="10210800" cy="704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같은 forebrain branch 안에서도 어떤 protocol은 더 reproducible하고, 어떤 protocol은 primary fetal brain에 더 닮고, 어떤 protocol은 발달 timing 해석이 더 쉽다.</a:t>
            </a:r>
          </a:p>
        </p:txBody>
      </p:sp>
      <p:sp>
        <p:nvSpPr>
          <p:cNvPr id="17" name="">
            <a:extLst xmlns:a="http://schemas.openxmlformats.org/drawingml/2006/main">
              <a:ext uri="{FF2B5EF4-FFF2-40B4-BE49-F238E27FC236}">
                <a16:creationId xmlns:a16="http://schemas.microsoft.com/office/drawing/2014/main" id="{AC5E9173-2A5A-4DF7-9254-F6924658F072}"/>
              </a:ext>
            </a:extLst>
          </p:cNvPr>
          <p:cNvSpPr>
            <a:spLocks xmlns:a="http://schemas.openxmlformats.org/drawingml/2006/main" noGrp="1"/>
          </p:cNvSpPr>
          <p:nvPr/>
        </p:nvSpPr>
        <p:spPr>
          <a:xfrm xmlns:a="http://schemas.openxmlformats.org/drawingml/2006/main">
            <a:off x="8001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9CD082E5-3FD9-4863-A90B-1B7774F4D95B}"/>
              </a:ext>
            </a:extLst>
          </p:cNvPr>
          <p:cNvSpPr>
            <a:spLocks xmlns:a="http://schemas.openxmlformats.org/drawingml/2006/main" noGrp="1"/>
          </p:cNvSpPr>
          <p:nvPr/>
        </p:nvSpPr>
        <p:spPr>
          <a:xfrm xmlns:a="http://schemas.openxmlformats.org/drawingml/2006/main">
            <a:off x="857250" y="369570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B7016E13-23AA-495E-8C46-755630133615}"/>
              </a:ext>
            </a:extLst>
          </p:cNvPr>
          <p:cNvSpPr>
            <a:spLocks xmlns:a="http://schemas.openxmlformats.org/drawingml/2006/main" noGrp="1"/>
          </p:cNvSpPr>
          <p:nvPr/>
        </p:nvSpPr>
        <p:spPr>
          <a:xfrm xmlns:a="http://schemas.openxmlformats.org/drawingml/2006/main">
            <a:off x="10096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a:t>
            </a:r>
          </a:p>
        </p:txBody>
      </p:sp>
      <p:sp>
        <p:nvSpPr>
          <p:cNvPr id="20" name="">
            <a:extLst xmlns:a="http://schemas.openxmlformats.org/drawingml/2006/main">
              <a:ext uri="{FF2B5EF4-FFF2-40B4-BE49-F238E27FC236}">
                <a16:creationId xmlns:a16="http://schemas.microsoft.com/office/drawing/2014/main" id="{83BEEFD4-333D-4617-92A4-B1B00CDDEC38}"/>
              </a:ext>
            </a:extLst>
          </p:cNvPr>
          <p:cNvSpPr>
            <a:spLocks xmlns:a="http://schemas.openxmlformats.org/drawingml/2006/main" noGrp="1"/>
          </p:cNvSpPr>
          <p:nvPr/>
        </p:nvSpPr>
        <p:spPr>
          <a:xfrm xmlns:a="http://schemas.openxmlformats.org/drawingml/2006/main">
            <a:off x="10096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cell composition과 success</a:t>
            </a:r>
          </a:p>
          <a:p xmlns:a="http://schemas.openxmlformats.org/drawingml/2006/main">
            <a:pPr algn="l">
              <a:defRPr sz="1200" b="0">
                <a:solidFill>
                  <a:srgbClr val="132024"/>
                </a:solidFill>
              </a:defRPr>
            </a:pPr>
            <a:r>
              <a:rPr sz="1200" b="0">
                <a:solidFill>
                  <a:srgbClr val="132024"/>
                </a:solidFill>
              </a:rPr>
              <a:t>rate가 얼마나 안정적인가?</a:t>
            </a:r>
          </a:p>
        </p:txBody>
      </p:sp>
      <p:sp>
        <p:nvSpPr>
          <p:cNvPr id="21" name="">
            <a:extLst xmlns:a="http://schemas.openxmlformats.org/drawingml/2006/main">
              <a:ext uri="{FF2B5EF4-FFF2-40B4-BE49-F238E27FC236}">
                <a16:creationId xmlns:a16="http://schemas.microsoft.com/office/drawing/2014/main" id="{F88960FB-2334-443B-A63B-41A7D45B8BF4}"/>
              </a:ext>
            </a:extLst>
          </p:cNvPr>
          <p:cNvSpPr>
            <a:spLocks xmlns:a="http://schemas.openxmlformats.org/drawingml/2006/main" noGrp="1"/>
          </p:cNvSpPr>
          <p:nvPr/>
        </p:nvSpPr>
        <p:spPr>
          <a:xfrm xmlns:a="http://schemas.openxmlformats.org/drawingml/2006/main">
            <a:off x="451485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C5B61865-0735-4F7D-950E-A01985D11CCA}"/>
              </a:ext>
            </a:extLst>
          </p:cNvPr>
          <p:cNvSpPr>
            <a:spLocks xmlns:a="http://schemas.openxmlformats.org/drawingml/2006/main" noGrp="1"/>
          </p:cNvSpPr>
          <p:nvPr/>
        </p:nvSpPr>
        <p:spPr>
          <a:xfrm xmlns:a="http://schemas.openxmlformats.org/drawingml/2006/main">
            <a:off x="4572000" y="369570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E71C35B0-7652-45BD-9086-360A7705E6AB}"/>
              </a:ext>
            </a:extLst>
          </p:cNvPr>
          <p:cNvSpPr>
            <a:spLocks xmlns:a="http://schemas.openxmlformats.org/drawingml/2006/main" noGrp="1"/>
          </p:cNvSpPr>
          <p:nvPr/>
        </p:nvSpPr>
        <p:spPr>
          <a:xfrm xmlns:a="http://schemas.openxmlformats.org/drawingml/2006/main">
            <a:off x="472440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a:t>
            </a:r>
          </a:p>
        </p:txBody>
      </p:sp>
      <p:sp>
        <p:nvSpPr>
          <p:cNvPr id="24" name="">
            <a:extLst xmlns:a="http://schemas.openxmlformats.org/drawingml/2006/main">
              <a:ext uri="{FF2B5EF4-FFF2-40B4-BE49-F238E27FC236}">
                <a16:creationId xmlns:a16="http://schemas.microsoft.com/office/drawing/2014/main" id="{DC34EDE8-9647-4B33-AD83-B269EE100FC6}"/>
              </a:ext>
            </a:extLst>
          </p:cNvPr>
          <p:cNvSpPr>
            <a:spLocks xmlns:a="http://schemas.openxmlformats.org/drawingml/2006/main" noGrp="1"/>
          </p:cNvSpPr>
          <p:nvPr/>
        </p:nvSpPr>
        <p:spPr>
          <a:xfrm xmlns:a="http://schemas.openxmlformats.org/drawingml/2006/main">
            <a:off x="472440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organoid cell state가</a:t>
            </a:r>
          </a:p>
          <a:p xmlns:a="http://schemas.openxmlformats.org/drawingml/2006/main">
            <a:pPr algn="l">
              <a:defRPr sz="1200" b="0">
                <a:solidFill>
                  <a:srgbClr val="132024"/>
                </a:solidFill>
              </a:defRPr>
            </a:pPr>
            <a:r>
              <a:rPr sz="1200" b="0">
                <a:solidFill>
                  <a:srgbClr val="132024"/>
                </a:solidFill>
              </a:rPr>
              <a:t>primary fetal brain과 얼마나</a:t>
            </a:r>
          </a:p>
          <a:p xmlns:a="http://schemas.openxmlformats.org/drawingml/2006/main">
            <a:pPr algn="l">
              <a:defRPr sz="1200" b="0">
                <a:solidFill>
                  <a:srgbClr val="132024"/>
                </a:solidFill>
              </a:defRPr>
            </a:pPr>
            <a:r>
              <a:rPr sz="1200" b="0">
                <a:solidFill>
                  <a:srgbClr val="132024"/>
                </a:solidFill>
              </a:rPr>
              <a:t>가까운가?</a:t>
            </a:r>
          </a:p>
        </p:txBody>
      </p:sp>
      <p:sp>
        <p:nvSpPr>
          <p:cNvPr id="25" name="">
            <a:extLst xmlns:a="http://schemas.openxmlformats.org/drawingml/2006/main">
              <a:ext uri="{FF2B5EF4-FFF2-40B4-BE49-F238E27FC236}">
                <a16:creationId xmlns:a16="http://schemas.microsoft.com/office/drawing/2014/main" id="{6EAF2159-C976-4FEC-B8AB-94CFED0AA5D7}"/>
              </a:ext>
            </a:extLst>
          </p:cNvPr>
          <p:cNvSpPr>
            <a:spLocks xmlns:a="http://schemas.openxmlformats.org/drawingml/2006/main" noGrp="1"/>
          </p:cNvSpPr>
          <p:nvPr/>
        </p:nvSpPr>
        <p:spPr>
          <a:xfrm xmlns:a="http://schemas.openxmlformats.org/drawingml/2006/main">
            <a:off x="8229600" y="3638550"/>
            <a:ext cx="3143250" cy="1809750"/>
          </a:xfrm>
          <a:prstGeom xmlns:a="http://schemas.openxmlformats.org/drawingml/2006/main" prst="roundRect">
            <a:avLst>
              <a:gd name="adj" fmla="val 4211"/>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6" name="">
            <a:extLst xmlns:a="http://schemas.openxmlformats.org/drawingml/2006/main">
              <a:ext uri="{FF2B5EF4-FFF2-40B4-BE49-F238E27FC236}">
                <a16:creationId xmlns:a16="http://schemas.microsoft.com/office/drawing/2014/main" id="{1F31083E-5840-436E-B6D4-3B876DE5E768}"/>
              </a:ext>
            </a:extLst>
          </p:cNvPr>
          <p:cNvSpPr>
            <a:spLocks xmlns:a="http://schemas.openxmlformats.org/drawingml/2006/main" noGrp="1"/>
          </p:cNvSpPr>
          <p:nvPr/>
        </p:nvSpPr>
        <p:spPr>
          <a:xfrm xmlns:a="http://schemas.openxmlformats.org/drawingml/2006/main">
            <a:off x="8286750" y="3695700"/>
            <a:ext cx="302895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AC32B0BE-DE5D-4FF9-B858-10E5DB9D2598}"/>
              </a:ext>
            </a:extLst>
          </p:cNvPr>
          <p:cNvSpPr>
            <a:spLocks xmlns:a="http://schemas.openxmlformats.org/drawingml/2006/main" noGrp="1"/>
          </p:cNvSpPr>
          <p:nvPr/>
        </p:nvSpPr>
        <p:spPr>
          <a:xfrm xmlns:a="http://schemas.openxmlformats.org/drawingml/2006/main">
            <a:off x="8439150" y="382905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temporal mapping</a:t>
            </a:r>
          </a:p>
        </p:txBody>
      </p:sp>
      <p:sp>
        <p:nvSpPr>
          <p:cNvPr id="28" name="">
            <a:extLst xmlns:a="http://schemas.openxmlformats.org/drawingml/2006/main">
              <a:ext uri="{FF2B5EF4-FFF2-40B4-BE49-F238E27FC236}">
                <a16:creationId xmlns:a16="http://schemas.microsoft.com/office/drawing/2014/main" id="{07D64BF5-D088-4B9D-B4F3-189E9F5FE7BB}"/>
              </a:ext>
            </a:extLst>
          </p:cNvPr>
          <p:cNvSpPr>
            <a:spLocks xmlns:a="http://schemas.openxmlformats.org/drawingml/2006/main" noGrp="1"/>
          </p:cNvSpPr>
          <p:nvPr/>
        </p:nvSpPr>
        <p:spPr>
          <a:xfrm xmlns:a="http://schemas.openxmlformats.org/drawingml/2006/main">
            <a:off x="8439150" y="4248150"/>
            <a:ext cx="2724150" cy="1028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day 30, day 60 같은 culture</a:t>
            </a:r>
          </a:p>
          <a:p xmlns:a="http://schemas.openxmlformats.org/drawingml/2006/main">
            <a:pPr algn="l">
              <a:defRPr sz="1200" b="0">
                <a:solidFill>
                  <a:srgbClr val="132024"/>
                </a:solidFill>
              </a:defRPr>
            </a:pPr>
            <a:r>
              <a:rPr sz="1200" b="0">
                <a:solidFill>
                  <a:srgbClr val="132024"/>
                </a:solidFill>
              </a:rPr>
              <a:t>day가 실제 human developmental</a:t>
            </a:r>
          </a:p>
          <a:p xmlns:a="http://schemas.openxmlformats.org/drawingml/2006/main">
            <a:pPr algn="l">
              <a:defRPr sz="1200" b="0">
                <a:solidFill>
                  <a:srgbClr val="132024"/>
                </a:solidFill>
              </a:defRPr>
            </a:pPr>
            <a:r>
              <a:rPr sz="1200" b="0">
                <a:solidFill>
                  <a:srgbClr val="132024"/>
                </a:solidFill>
              </a:rPr>
              <a:t>stage와 어떻게 대응되는가?</a:t>
            </a:r>
          </a:p>
        </p:txBody>
      </p:sp>
      <p:sp>
        <p:nvSpPr>
          <p:cNvPr id="29" name="">
            <a:extLst xmlns:a="http://schemas.openxmlformats.org/drawingml/2006/main">
              <a:ext uri="{FF2B5EF4-FFF2-40B4-BE49-F238E27FC236}">
                <a16:creationId xmlns:a16="http://schemas.microsoft.com/office/drawing/2014/main" id="{BFC4F915-19FB-49A6-8EED-BA3E91DD4231}"/>
              </a:ext>
            </a:extLst>
          </p:cNvPr>
          <p:cNvSpPr>
            <a:spLocks xmlns:a="http://schemas.openxmlformats.org/drawingml/2006/main" noGrp="1"/>
          </p:cNvSpPr>
          <p:nvPr/>
        </p:nvSpPr>
        <p:spPr>
          <a:xfrm xmlns:a="http://schemas.openxmlformats.org/drawingml/2006/main">
            <a:off x="9810750" y="5543550"/>
            <a:ext cx="120015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Q1 -&gt; Q2</a:t>
            </a:r>
          </a:p>
        </p:txBody>
      </p:sp>
      <p:sp>
        <p:nvSpPr>
          <p:cNvPr id="30" name="">
            <a:extLst xmlns:a="http://schemas.openxmlformats.org/drawingml/2006/main">
              <a:ext uri="{FF2B5EF4-FFF2-40B4-BE49-F238E27FC236}">
                <a16:creationId xmlns:a16="http://schemas.microsoft.com/office/drawing/2014/main" id="{30A34E63-EC3A-4CEC-9C08-631A0599612C}"/>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한계 발견의 순간: region question만으로는 모델의 믿을 만함을 설명할 수 없었다.</a:t>
            </a:r>
          </a:p>
        </p:txBody>
      </p:sp>
    </p:spTree>
    <p:extLst>
      <p:ext uri="{BB962C8B-B14F-4D97-AF65-F5344CB8AC3E}">
        <p14:creationId xmlns:p14="http://schemas.microsoft.com/office/powerpoint/2010/main" val="448471026"/>
      </p:ext>
    </p:extLst>
  </p:cSld>
</p:sld>
</file>

<file path=ppt/slides/slide7.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d2b7887ebd74606"/>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A06564FF-1348-4116-A98C-0BCDA66EC08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67E2C77-6F2D-445D-89AD-80CE3251E1C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8D0BDBBF-8A63-4E22-843A-15260B64E7F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7F394D0A-4E02-4921-B157-41BAB85BD06B}"/>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8B4A0466-1C24-4D5F-8DCD-9D04E7B499B2}"/>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289F16A8-6A18-42DF-979B-2F156E11410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768F11F9-C320-4BB4-85C0-1ED0B99E518D}"/>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2</a:t>
            </a:r>
          </a:p>
        </p:txBody>
      </p:sp>
      <p:sp>
        <p:nvSpPr>
          <p:cNvPr id="10" name="">
            <a:extLst xmlns:a="http://schemas.openxmlformats.org/drawingml/2006/main">
              <a:ext uri="{FF2B5EF4-FFF2-40B4-BE49-F238E27FC236}">
                <a16:creationId xmlns:a16="http://schemas.microsoft.com/office/drawing/2014/main" id="{DE0BFAD4-309E-454D-89E0-431EBB8365A1}"/>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07 / 12</a:t>
            </a:r>
          </a:p>
        </p:txBody>
      </p:sp>
      <p:sp>
        <p:nvSpPr>
          <p:cNvPr id="11" name="">
            <a:extLst xmlns:a="http://schemas.openxmlformats.org/drawingml/2006/main">
              <a:ext uri="{FF2B5EF4-FFF2-40B4-BE49-F238E27FC236}">
                <a16:creationId xmlns:a16="http://schemas.microsoft.com/office/drawing/2014/main" id="{786861FC-1593-4522-83E6-4EE1A83E1A62}"/>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F973365A-29D9-4398-BFD3-23217288122D}"/>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D288E78C-B0C1-4853-A752-4DA4F8AD1B58}"/>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775" b="1">
                <a:solidFill>
                  <a:srgbClr val="132024"/>
                </a:solidFill>
              </a:defRPr>
            </a:pPr>
            <a:r>
              <a:rPr sz="2775" b="1">
                <a:solidFill>
                  <a:srgbClr val="132024"/>
                </a:solidFill>
              </a:rPr>
              <a:t>2차 질문: 발달정도·동기화 비교는</a:t>
            </a:r>
          </a:p>
          <a:p xmlns:a="http://schemas.openxmlformats.org/drawingml/2006/main">
            <a:pPr algn="l">
              <a:defRPr sz="2775" b="1">
                <a:solidFill>
                  <a:srgbClr val="132024"/>
                </a:solidFill>
              </a:defRPr>
            </a:pPr>
            <a:r>
              <a:rPr sz="2775" b="1">
                <a:solidFill>
                  <a:srgbClr val="132024"/>
                </a:solidFill>
              </a:rPr>
              <a:t>어느 수준의 세분화가 필요한가</a:t>
            </a:r>
          </a:p>
        </p:txBody>
      </p:sp>
      <p:sp>
        <p:nvSpPr>
          <p:cNvPr id="14" name="">
            <a:extLst xmlns:a="http://schemas.openxmlformats.org/drawingml/2006/main">
              <a:ext uri="{FF2B5EF4-FFF2-40B4-BE49-F238E27FC236}">
                <a16:creationId xmlns:a16="http://schemas.microsoft.com/office/drawing/2014/main" id="{06088249-37F0-431B-A508-824220E624E7}"/>
              </a:ext>
            </a:extLst>
          </p:cNvPr>
          <p:cNvSpPr>
            <a:spLocks xmlns:a="http://schemas.openxmlformats.org/drawingml/2006/main" noGrp="1"/>
          </p:cNvSpPr>
          <p:nvPr/>
        </p:nvSpPr>
        <p:spPr>
          <a:xfrm xmlns:a="http://schemas.openxmlformats.org/drawingml/2006/main">
            <a:off x="8362950" y="876300"/>
            <a:ext cx="1543050" cy="266700"/>
          </a:xfrm>
          <a:prstGeom xmlns:a="http://schemas.openxmlformats.org/drawingml/2006/main" prst="rect">
            <a:avLst/>
          </a:prstGeom>
          <a:solidFill xmlns:a="http://schemas.openxmlformats.org/drawingml/2006/main">
            <a:srgbClr val="F4E8C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7A5A14"/>
                </a:solidFill>
              </a:defRPr>
            </a:pPr>
            <a:r>
              <a:rPr sz="900" b="1">
                <a:solidFill>
                  <a:srgbClr val="7A5A14"/>
                </a:solidFill>
              </a:rPr>
              <a:t>Round 2-4 added</a:t>
            </a:r>
          </a:p>
        </p:txBody>
      </p:sp>
      <p:sp>
        <p:nvSpPr>
          <p:cNvPr id="15" name="">
            <a:extLst xmlns:a="http://schemas.openxmlformats.org/drawingml/2006/main">
              <a:ext uri="{FF2B5EF4-FFF2-40B4-BE49-F238E27FC236}">
                <a16:creationId xmlns:a16="http://schemas.microsoft.com/office/drawing/2014/main" id="{843EC3E2-407D-4E86-969D-6E016EEC4C91}"/>
              </a:ext>
            </a:extLst>
          </p:cNvPr>
          <p:cNvSpPr>
            <a:spLocks xmlns:a="http://schemas.openxmlformats.org/drawingml/2006/main" noGrp="1"/>
          </p:cNvSpPr>
          <p:nvPr/>
        </p:nvSpPr>
        <p:spPr>
          <a:xfrm xmlns:a="http://schemas.openxmlformats.org/drawingml/2006/main">
            <a:off x="4343400" y="2609850"/>
            <a:ext cx="3048000" cy="1181100"/>
          </a:xfrm>
          <a:prstGeom xmlns:a="http://schemas.openxmlformats.org/drawingml/2006/main" prst="roundRect">
            <a:avLst>
              <a:gd name="adj" fmla="val 6452"/>
            </a:avLst>
          </a:prstGeom>
          <a:solidFill xmlns:a="http://schemas.openxmlformats.org/drawingml/2006/main">
            <a:srgbClr val="DDF4E8"/>
          </a:solidFill>
          <a:ln xmlns:a="http://schemas.openxmlformats.org/drawingml/2006/main" w="10478">
            <a:solidFill>
              <a:srgbClr val="132024"/>
            </a:solidFill>
            <a:prstDash val="solid"/>
          </a:ln>
        </p:spPr>
      </p:sp>
      <p:sp>
        <p:nvSpPr>
          <p:cNvPr id="16" name="">
            <a:extLst xmlns:a="http://schemas.openxmlformats.org/drawingml/2006/main">
              <a:ext uri="{FF2B5EF4-FFF2-40B4-BE49-F238E27FC236}">
                <a16:creationId xmlns:a16="http://schemas.microsoft.com/office/drawing/2014/main" id="{B4D62313-DAA7-4992-BB4E-DC8CD6F2F31D}"/>
              </a:ext>
            </a:extLst>
          </p:cNvPr>
          <p:cNvSpPr>
            <a:spLocks xmlns:a="http://schemas.openxmlformats.org/drawingml/2006/main" noGrp="1"/>
          </p:cNvSpPr>
          <p:nvPr/>
        </p:nvSpPr>
        <p:spPr>
          <a:xfrm xmlns:a="http://schemas.openxmlformats.org/drawingml/2006/main">
            <a:off x="4391025" y="2657475"/>
            <a:ext cx="47625" cy="10858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17" name="">
            <a:extLst xmlns:a="http://schemas.openxmlformats.org/drawingml/2006/main">
              <a:ext uri="{FF2B5EF4-FFF2-40B4-BE49-F238E27FC236}">
                <a16:creationId xmlns:a16="http://schemas.microsoft.com/office/drawing/2014/main" id="{029CED18-8BF2-41E7-B26A-8AA561D68CFD}"/>
              </a:ext>
            </a:extLst>
          </p:cNvPr>
          <p:cNvSpPr>
            <a:spLocks xmlns:a="http://schemas.openxmlformats.org/drawingml/2006/main" noGrp="1"/>
          </p:cNvSpPr>
          <p:nvPr/>
        </p:nvSpPr>
        <p:spPr>
          <a:xfrm xmlns:a="http://schemas.openxmlformats.org/drawingml/2006/main">
            <a:off x="4514850" y="2762250"/>
            <a:ext cx="609600" cy="2286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query</a:t>
            </a:r>
          </a:p>
        </p:txBody>
      </p:sp>
      <p:sp>
        <p:nvSpPr>
          <p:cNvPr id="18" name="">
            <a:extLst xmlns:a="http://schemas.openxmlformats.org/drawingml/2006/main">
              <a:ext uri="{FF2B5EF4-FFF2-40B4-BE49-F238E27FC236}">
                <a16:creationId xmlns:a16="http://schemas.microsoft.com/office/drawing/2014/main" id="{823EBF75-ADA0-49E9-8CF0-A749E8861E3A}"/>
              </a:ext>
            </a:extLst>
          </p:cNvPr>
          <p:cNvSpPr>
            <a:spLocks xmlns:a="http://schemas.openxmlformats.org/drawingml/2006/main" noGrp="1"/>
          </p:cNvSpPr>
          <p:nvPr/>
        </p:nvSpPr>
        <p:spPr>
          <a:xfrm xmlns:a="http://schemas.openxmlformats.org/drawingml/2006/main">
            <a:off x="4514850" y="3048000"/>
            <a:ext cx="27241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Q2 | 발달정도·동기화 비교 프레임워크</a:t>
            </a:r>
          </a:p>
        </p:txBody>
      </p:sp>
      <p:sp>
        <p:nvSpPr>
          <p:cNvPr id="19" name="">
            <a:extLst xmlns:a="http://schemas.openxmlformats.org/drawingml/2006/main">
              <a:ext uri="{FF2B5EF4-FFF2-40B4-BE49-F238E27FC236}">
                <a16:creationId xmlns:a16="http://schemas.microsoft.com/office/drawing/2014/main" id="{B75419FC-584F-420A-A32B-F086CCB622B1}"/>
              </a:ext>
            </a:extLst>
          </p:cNvPr>
          <p:cNvSpPr>
            <a:spLocks xmlns:a="http://schemas.openxmlformats.org/drawingml/2006/main" noGrp="1"/>
          </p:cNvSpPr>
          <p:nvPr/>
        </p:nvSpPr>
        <p:spPr>
          <a:xfrm xmlns:a="http://schemas.openxmlformats.org/drawingml/2006/main">
            <a:off x="4514850" y="3295650"/>
            <a:ext cx="2724150" cy="3810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어느 수준의 세분화가 필요한가?</a:t>
            </a:r>
          </a:p>
        </p:txBody>
      </p:sp>
      <p:sp>
        <p:nvSpPr>
          <p:cNvPr id="20" name="">
            <a:extLst xmlns:a="http://schemas.openxmlformats.org/drawingml/2006/main">
              <a:ext uri="{FF2B5EF4-FFF2-40B4-BE49-F238E27FC236}">
                <a16:creationId xmlns:a16="http://schemas.microsoft.com/office/drawing/2014/main" id="{06A41DA2-900C-49DA-BF47-314EBC5DB802}"/>
              </a:ext>
            </a:extLst>
          </p:cNvPr>
          <p:cNvSpPr>
            <a:spLocks xmlns:a="http://schemas.openxmlformats.org/drawingml/2006/main" noGrp="1"/>
          </p:cNvSpPr>
          <p:nvPr/>
        </p:nvSpPr>
        <p:spPr>
          <a:xfrm xmlns:a="http://schemas.openxmlformats.org/drawingml/2006/main">
            <a:off x="971550" y="200025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1" name="">
            <a:extLst xmlns:a="http://schemas.openxmlformats.org/drawingml/2006/main">
              <a:ext uri="{FF2B5EF4-FFF2-40B4-BE49-F238E27FC236}">
                <a16:creationId xmlns:a16="http://schemas.microsoft.com/office/drawing/2014/main" id="{330D31A2-E3C2-41A3-B740-AFD499B583B2}"/>
              </a:ext>
            </a:extLst>
          </p:cNvPr>
          <p:cNvSpPr>
            <a:spLocks xmlns:a="http://schemas.openxmlformats.org/drawingml/2006/main" noGrp="1"/>
          </p:cNvSpPr>
          <p:nvPr/>
        </p:nvSpPr>
        <p:spPr>
          <a:xfrm xmlns:a="http://schemas.openxmlformats.org/drawingml/2006/main">
            <a:off x="1019175" y="2047875"/>
            <a:ext cx="47625" cy="10477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2" name="">
            <a:extLst xmlns:a="http://schemas.openxmlformats.org/drawingml/2006/main">
              <a:ext uri="{FF2B5EF4-FFF2-40B4-BE49-F238E27FC236}">
                <a16:creationId xmlns:a16="http://schemas.microsoft.com/office/drawing/2014/main" id="{086CB6A7-5C46-4B04-90A2-360BC4BA3001}"/>
              </a:ext>
            </a:extLst>
          </p:cNvPr>
          <p:cNvSpPr>
            <a:spLocks xmlns:a="http://schemas.openxmlformats.org/drawingml/2006/main" noGrp="1"/>
          </p:cNvSpPr>
          <p:nvPr/>
        </p:nvSpPr>
        <p:spPr>
          <a:xfrm xmlns:a="http://schemas.openxmlformats.org/drawingml/2006/main">
            <a:off x="1143000" y="21526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3" name="">
            <a:extLst xmlns:a="http://schemas.openxmlformats.org/drawingml/2006/main">
              <a:ext uri="{FF2B5EF4-FFF2-40B4-BE49-F238E27FC236}">
                <a16:creationId xmlns:a16="http://schemas.microsoft.com/office/drawing/2014/main" id="{0B57FDE3-C099-4EB5-8056-E729936F25C4}"/>
              </a:ext>
            </a:extLst>
          </p:cNvPr>
          <p:cNvSpPr>
            <a:spLocks xmlns:a="http://schemas.openxmlformats.org/drawingml/2006/main" noGrp="1"/>
          </p:cNvSpPr>
          <p:nvPr/>
        </p:nvSpPr>
        <p:spPr>
          <a:xfrm xmlns:a="http://schemas.openxmlformats.org/drawingml/2006/main">
            <a:off x="1143000" y="243840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Velasco 2019</a:t>
            </a:r>
          </a:p>
        </p:txBody>
      </p:sp>
      <p:sp>
        <p:nvSpPr>
          <p:cNvPr id="24" name="">
            <a:extLst xmlns:a="http://schemas.openxmlformats.org/drawingml/2006/main">
              <a:ext uri="{FF2B5EF4-FFF2-40B4-BE49-F238E27FC236}">
                <a16:creationId xmlns:a16="http://schemas.microsoft.com/office/drawing/2014/main" id="{F241C912-4B31-4E87-A31F-DE0FE59F1BAA}"/>
              </a:ext>
            </a:extLst>
          </p:cNvPr>
          <p:cNvSpPr>
            <a:spLocks xmlns:a="http://schemas.openxmlformats.org/drawingml/2006/main" noGrp="1"/>
          </p:cNvSpPr>
          <p:nvPr/>
        </p:nvSpPr>
        <p:spPr>
          <a:xfrm xmlns:a="http://schemas.openxmlformats.org/drawingml/2006/main">
            <a:off x="1143000" y="268605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within-protocol</a:t>
            </a:r>
          </a:p>
          <a:p xmlns:a="http://schemas.openxmlformats.org/drawingml/2006/main">
            <a:pPr algn="l">
              <a:defRPr sz="825" b="0">
                <a:solidFill>
                  <a:srgbClr val="344146"/>
                </a:solidFill>
              </a:defRPr>
            </a:pPr>
            <a:r>
              <a:rPr sz="825" b="0">
                <a:solidFill>
                  <a:srgbClr val="344146"/>
                </a:solidFill>
              </a:rPr>
              <a:t>reproducibility</a:t>
            </a:r>
          </a:p>
        </p:txBody>
      </p:sp>
      <p:sp>
        <p:nvSpPr>
          <p:cNvPr id="25" name="">
            <a:extLst xmlns:a="http://schemas.openxmlformats.org/drawingml/2006/main">
              <a:ext uri="{FF2B5EF4-FFF2-40B4-BE49-F238E27FC236}">
                <a16:creationId xmlns:a16="http://schemas.microsoft.com/office/drawing/2014/main" id="{CDD78B5E-3775-47BA-BFE9-BBEE1C03774E}"/>
              </a:ext>
            </a:extLst>
          </p:cNvPr>
          <p:cNvSpPr>
            <a:spLocks xmlns:a="http://schemas.openxmlformats.org/drawingml/2006/main" noGrp="1"/>
          </p:cNvSpPr>
          <p:nvPr/>
        </p:nvSpPr>
        <p:spPr>
          <a:xfrm xmlns:a="http://schemas.openxmlformats.org/drawingml/2006/main">
            <a:off x="1562100" y="3924300"/>
            <a:ext cx="1943100" cy="1143000"/>
          </a:xfrm>
          <a:prstGeom xmlns:a="http://schemas.openxmlformats.org/drawingml/2006/main" prst="roundRect">
            <a:avLst>
              <a:gd name="adj" fmla="val 6667"/>
            </a:avLst>
          </a:prstGeom>
          <a:solidFill xmlns:a="http://schemas.openxmlformats.org/drawingml/2006/main">
            <a:srgbClr val="FFFDF8"/>
          </a:solidFill>
          <a:ln xmlns:a="http://schemas.openxmlformats.org/drawingml/2006/main" w="10478">
            <a:solidFill>
              <a:srgbClr val="132024"/>
            </a:solidFill>
            <a:prstDash val="solid"/>
          </a:ln>
        </p:spPr>
      </p:sp>
      <p:sp>
        <p:nvSpPr>
          <p:cNvPr id="26" name="">
            <a:extLst xmlns:a="http://schemas.openxmlformats.org/drawingml/2006/main">
              <a:ext uri="{FF2B5EF4-FFF2-40B4-BE49-F238E27FC236}">
                <a16:creationId xmlns:a16="http://schemas.microsoft.com/office/drawing/2014/main" id="{0F9F2749-492D-4CA0-BF28-A6FDA3C1A4C3}"/>
              </a:ext>
            </a:extLst>
          </p:cNvPr>
          <p:cNvSpPr>
            <a:spLocks xmlns:a="http://schemas.openxmlformats.org/drawingml/2006/main" noGrp="1"/>
          </p:cNvSpPr>
          <p:nvPr/>
        </p:nvSpPr>
        <p:spPr>
          <a:xfrm xmlns:a="http://schemas.openxmlformats.org/drawingml/2006/main">
            <a:off x="1609725" y="3971925"/>
            <a:ext cx="47625" cy="10477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7" name="">
            <a:extLst xmlns:a="http://schemas.openxmlformats.org/drawingml/2006/main">
              <a:ext uri="{FF2B5EF4-FFF2-40B4-BE49-F238E27FC236}">
                <a16:creationId xmlns:a16="http://schemas.microsoft.com/office/drawing/2014/main" id="{48256A6B-EFAA-4D80-BB3C-0313C2C5707C}"/>
              </a:ext>
            </a:extLst>
          </p:cNvPr>
          <p:cNvSpPr>
            <a:spLocks xmlns:a="http://schemas.openxmlformats.org/drawingml/2006/main" noGrp="1"/>
          </p:cNvSpPr>
          <p:nvPr/>
        </p:nvSpPr>
        <p:spPr>
          <a:xfrm xmlns:a="http://schemas.openxmlformats.org/drawingml/2006/main">
            <a:off x="1733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8" name="">
            <a:extLst xmlns:a="http://schemas.openxmlformats.org/drawingml/2006/main">
              <a:ext uri="{FF2B5EF4-FFF2-40B4-BE49-F238E27FC236}">
                <a16:creationId xmlns:a16="http://schemas.microsoft.com/office/drawing/2014/main" id="{3B8E8555-6EAA-42C0-B18D-67B65517B887}"/>
              </a:ext>
            </a:extLst>
          </p:cNvPr>
          <p:cNvSpPr>
            <a:spLocks xmlns:a="http://schemas.openxmlformats.org/drawingml/2006/main" noGrp="1"/>
          </p:cNvSpPr>
          <p:nvPr/>
        </p:nvSpPr>
        <p:spPr>
          <a:xfrm xmlns:a="http://schemas.openxmlformats.org/drawingml/2006/main">
            <a:off x="1733550" y="4362450"/>
            <a:ext cx="161925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Yoon 2019</a:t>
            </a:r>
          </a:p>
        </p:txBody>
      </p:sp>
      <p:sp>
        <p:nvSpPr>
          <p:cNvPr id="29" name="">
            <a:extLst xmlns:a="http://schemas.openxmlformats.org/drawingml/2006/main">
              <a:ext uri="{FF2B5EF4-FFF2-40B4-BE49-F238E27FC236}">
                <a16:creationId xmlns:a16="http://schemas.microsoft.com/office/drawing/2014/main" id="{1459E4BB-CB19-4015-9514-D65C9C51DD2B}"/>
              </a:ext>
            </a:extLst>
          </p:cNvPr>
          <p:cNvSpPr>
            <a:spLocks xmlns:a="http://schemas.openxmlformats.org/drawingml/2006/main" noGrp="1"/>
          </p:cNvSpPr>
          <p:nvPr/>
        </p:nvSpPr>
        <p:spPr>
          <a:xfrm xmlns:a="http://schemas.openxmlformats.org/drawingml/2006/main">
            <a:off x="1733550" y="4610100"/>
            <a:ext cx="161925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cross-line</a:t>
            </a:r>
          </a:p>
          <a:p xmlns:a="http://schemas.openxmlformats.org/drawingml/2006/main">
            <a:pPr algn="l">
              <a:defRPr sz="825" b="0">
                <a:solidFill>
                  <a:srgbClr val="344146"/>
                </a:solidFill>
              </a:defRPr>
            </a:pPr>
            <a:r>
              <a:rPr sz="825" b="0">
                <a:solidFill>
                  <a:srgbClr val="344146"/>
                </a:solidFill>
              </a:rPr>
              <a:t>reliability</a:t>
            </a:r>
          </a:p>
        </p:txBody>
      </p:sp>
      <p:sp>
        <p:nvSpPr>
          <p:cNvPr id="30" name="">
            <a:extLst xmlns:a="http://schemas.openxmlformats.org/drawingml/2006/main">
              <a:ext uri="{FF2B5EF4-FFF2-40B4-BE49-F238E27FC236}">
                <a16:creationId xmlns:a16="http://schemas.microsoft.com/office/drawing/2014/main" id="{691D5B5B-A94D-4963-B6C8-45EB3791022F}"/>
              </a:ext>
            </a:extLst>
          </p:cNvPr>
          <p:cNvSpPr>
            <a:spLocks xmlns:a="http://schemas.openxmlformats.org/drawingml/2006/main" noGrp="1"/>
          </p:cNvSpPr>
          <p:nvPr/>
        </p:nvSpPr>
        <p:spPr>
          <a:xfrm xmlns:a="http://schemas.openxmlformats.org/drawingml/2006/main">
            <a:off x="8191500" y="15621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1" name="">
            <a:extLst xmlns:a="http://schemas.openxmlformats.org/drawingml/2006/main">
              <a:ext uri="{FF2B5EF4-FFF2-40B4-BE49-F238E27FC236}">
                <a16:creationId xmlns:a16="http://schemas.microsoft.com/office/drawing/2014/main" id="{204E33DA-B886-4A62-93FB-2F760807E911}"/>
              </a:ext>
            </a:extLst>
          </p:cNvPr>
          <p:cNvSpPr>
            <a:spLocks xmlns:a="http://schemas.openxmlformats.org/drawingml/2006/main" noGrp="1"/>
          </p:cNvSpPr>
          <p:nvPr/>
        </p:nvSpPr>
        <p:spPr>
          <a:xfrm xmlns:a="http://schemas.openxmlformats.org/drawingml/2006/main">
            <a:off x="8239125" y="1609725"/>
            <a:ext cx="47625" cy="11239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19848CE3-0AEC-4F6C-B243-F9F9A66387C8}"/>
              </a:ext>
            </a:extLst>
          </p:cNvPr>
          <p:cNvSpPr>
            <a:spLocks xmlns:a="http://schemas.openxmlformats.org/drawingml/2006/main" noGrp="1"/>
          </p:cNvSpPr>
          <p:nvPr/>
        </p:nvSpPr>
        <p:spPr>
          <a:xfrm xmlns:a="http://schemas.openxmlformats.org/drawingml/2006/main">
            <a:off x="8362950" y="17145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3" name="">
            <a:extLst xmlns:a="http://schemas.openxmlformats.org/drawingml/2006/main">
              <a:ext uri="{FF2B5EF4-FFF2-40B4-BE49-F238E27FC236}">
                <a16:creationId xmlns:a16="http://schemas.microsoft.com/office/drawing/2014/main" id="{3EC4C30C-8D2C-4196-830F-05D970703F1D}"/>
              </a:ext>
            </a:extLst>
          </p:cNvPr>
          <p:cNvSpPr>
            <a:spLocks xmlns:a="http://schemas.openxmlformats.org/drawingml/2006/main" noGrp="1"/>
          </p:cNvSpPr>
          <p:nvPr/>
        </p:nvSpPr>
        <p:spPr>
          <a:xfrm xmlns:a="http://schemas.openxmlformats.org/drawingml/2006/main">
            <a:off x="8362950" y="20002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Bhaduri 2020</a:t>
            </a:r>
          </a:p>
        </p:txBody>
      </p:sp>
      <p:sp>
        <p:nvSpPr>
          <p:cNvPr id="34" name="">
            <a:extLst xmlns:a="http://schemas.openxmlformats.org/drawingml/2006/main">
              <a:ext uri="{FF2B5EF4-FFF2-40B4-BE49-F238E27FC236}">
                <a16:creationId xmlns:a16="http://schemas.microsoft.com/office/drawing/2014/main" id="{EEDBCF0A-380B-4E95-A37A-42A08DA8D1D3}"/>
              </a:ext>
            </a:extLst>
          </p:cNvPr>
          <p:cNvSpPr>
            <a:spLocks xmlns:a="http://schemas.openxmlformats.org/drawingml/2006/main" noGrp="1"/>
          </p:cNvSpPr>
          <p:nvPr/>
        </p:nvSpPr>
        <p:spPr>
          <a:xfrm xmlns:a="http://schemas.openxmlformats.org/drawingml/2006/main">
            <a:off x="8362950" y="22479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fidelity versus</a:t>
            </a:r>
          </a:p>
          <a:p xmlns:a="http://schemas.openxmlformats.org/drawingml/2006/main">
            <a:pPr algn="l">
              <a:defRPr sz="825" b="0">
                <a:solidFill>
                  <a:srgbClr val="344146"/>
                </a:solidFill>
              </a:defRPr>
            </a:pPr>
            <a:r>
              <a:rPr sz="825" b="0">
                <a:solidFill>
                  <a:srgbClr val="344146"/>
                </a:solidFill>
              </a:rPr>
              <a:t>stress</a:t>
            </a:r>
          </a:p>
        </p:txBody>
      </p:sp>
      <p:sp>
        <p:nvSpPr>
          <p:cNvPr id="35" name="">
            <a:extLst xmlns:a="http://schemas.openxmlformats.org/drawingml/2006/main">
              <a:ext uri="{FF2B5EF4-FFF2-40B4-BE49-F238E27FC236}">
                <a16:creationId xmlns:a16="http://schemas.microsoft.com/office/drawing/2014/main" id="{22CD506D-F641-41DD-88DC-FCA00E9D8611}"/>
              </a:ext>
            </a:extLst>
          </p:cNvPr>
          <p:cNvSpPr>
            <a:spLocks xmlns:a="http://schemas.openxmlformats.org/drawingml/2006/main" noGrp="1"/>
          </p:cNvSpPr>
          <p:nvPr/>
        </p:nvSpPr>
        <p:spPr>
          <a:xfrm xmlns:a="http://schemas.openxmlformats.org/drawingml/2006/main">
            <a:off x="8858250" y="3200400"/>
            <a:ext cx="2038350" cy="1219200"/>
          </a:xfrm>
          <a:prstGeom xmlns:a="http://schemas.openxmlformats.org/drawingml/2006/main" prst="roundRect">
            <a:avLst>
              <a:gd name="adj" fmla="val 6250"/>
            </a:avLst>
          </a:prstGeom>
          <a:solidFill xmlns:a="http://schemas.openxmlformats.org/drawingml/2006/main">
            <a:srgbClr val="FFFDF8"/>
          </a:solidFill>
          <a:ln xmlns:a="http://schemas.openxmlformats.org/drawingml/2006/main" w="10478">
            <a:solidFill>
              <a:srgbClr val="132024"/>
            </a:solidFill>
            <a:prstDash val="solid"/>
          </a:ln>
        </p:spPr>
      </p:sp>
      <p:sp>
        <p:nvSpPr>
          <p:cNvPr id="36" name="">
            <a:extLst xmlns:a="http://schemas.openxmlformats.org/drawingml/2006/main">
              <a:ext uri="{FF2B5EF4-FFF2-40B4-BE49-F238E27FC236}">
                <a16:creationId xmlns:a16="http://schemas.microsoft.com/office/drawing/2014/main" id="{5920AE66-3884-451B-8F9D-1BAB4E3C3A2E}"/>
              </a:ext>
            </a:extLst>
          </p:cNvPr>
          <p:cNvSpPr>
            <a:spLocks xmlns:a="http://schemas.openxmlformats.org/drawingml/2006/main" noGrp="1"/>
          </p:cNvSpPr>
          <p:nvPr/>
        </p:nvSpPr>
        <p:spPr>
          <a:xfrm xmlns:a="http://schemas.openxmlformats.org/drawingml/2006/main">
            <a:off x="8905875" y="3248025"/>
            <a:ext cx="47625" cy="11239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7" name="">
            <a:extLst xmlns:a="http://schemas.openxmlformats.org/drawingml/2006/main">
              <a:ext uri="{FF2B5EF4-FFF2-40B4-BE49-F238E27FC236}">
                <a16:creationId xmlns:a16="http://schemas.microsoft.com/office/drawing/2014/main" id="{15403CA1-32C6-463B-9507-998239D9E13A}"/>
              </a:ext>
            </a:extLst>
          </p:cNvPr>
          <p:cNvSpPr>
            <a:spLocks xmlns:a="http://schemas.openxmlformats.org/drawingml/2006/main" noGrp="1"/>
          </p:cNvSpPr>
          <p:nvPr/>
        </p:nvSpPr>
        <p:spPr>
          <a:xfrm xmlns:a="http://schemas.openxmlformats.org/drawingml/2006/main">
            <a:off x="9029700" y="33528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8" name="">
            <a:extLst xmlns:a="http://schemas.openxmlformats.org/drawingml/2006/main">
              <a:ext uri="{FF2B5EF4-FFF2-40B4-BE49-F238E27FC236}">
                <a16:creationId xmlns:a16="http://schemas.microsoft.com/office/drawing/2014/main" id="{6F79E876-D539-4D5F-B7C4-42359F3752E2}"/>
              </a:ext>
            </a:extLst>
          </p:cNvPr>
          <p:cNvSpPr>
            <a:spLocks xmlns:a="http://schemas.openxmlformats.org/drawingml/2006/main" noGrp="1"/>
          </p:cNvSpPr>
          <p:nvPr/>
        </p:nvSpPr>
        <p:spPr>
          <a:xfrm xmlns:a="http://schemas.openxmlformats.org/drawingml/2006/main">
            <a:off x="9029700" y="3638550"/>
            <a:ext cx="1714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Kanton 2019</a:t>
            </a:r>
          </a:p>
        </p:txBody>
      </p:sp>
      <p:sp>
        <p:nvSpPr>
          <p:cNvPr id="39" name="">
            <a:extLst xmlns:a="http://schemas.openxmlformats.org/drawingml/2006/main">
              <a:ext uri="{FF2B5EF4-FFF2-40B4-BE49-F238E27FC236}">
                <a16:creationId xmlns:a16="http://schemas.microsoft.com/office/drawing/2014/main" id="{6562B66C-F791-416F-90F6-C51F50814C9F}"/>
              </a:ext>
            </a:extLst>
          </p:cNvPr>
          <p:cNvSpPr>
            <a:spLocks xmlns:a="http://schemas.openxmlformats.org/drawingml/2006/main" noGrp="1"/>
          </p:cNvSpPr>
          <p:nvPr/>
        </p:nvSpPr>
        <p:spPr>
          <a:xfrm xmlns:a="http://schemas.openxmlformats.org/drawingml/2006/main">
            <a:off x="9029700" y="3886200"/>
            <a:ext cx="1714500" cy="4191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temporal map</a:t>
            </a:r>
          </a:p>
        </p:txBody>
      </p:sp>
      <p:sp>
        <p:nvSpPr>
          <p:cNvPr id="40" name="">
            <a:extLst xmlns:a="http://schemas.openxmlformats.org/drawingml/2006/main">
              <a:ext uri="{FF2B5EF4-FFF2-40B4-BE49-F238E27FC236}">
                <a16:creationId xmlns:a16="http://schemas.microsoft.com/office/drawing/2014/main" id="{7E6AB907-563F-416C-81BC-7A1C2637B8C4}"/>
              </a:ext>
            </a:extLst>
          </p:cNvPr>
          <p:cNvSpPr>
            <a:spLocks xmlns:a="http://schemas.openxmlformats.org/drawingml/2006/main" noGrp="1"/>
          </p:cNvSpPr>
          <p:nvPr/>
        </p:nvSpPr>
        <p:spPr>
          <a:xfrm xmlns:a="http://schemas.openxmlformats.org/drawingml/2006/main">
            <a:off x="7981950" y="4857750"/>
            <a:ext cx="2419350" cy="1047750"/>
          </a:xfrm>
          <a:prstGeom xmlns:a="http://schemas.openxmlformats.org/drawingml/2006/main" prst="roundRect">
            <a:avLst>
              <a:gd name="adj" fmla="val 7273"/>
            </a:avLst>
          </a:prstGeom>
          <a:solidFill xmlns:a="http://schemas.openxmlformats.org/drawingml/2006/main">
            <a:srgbClr val="FFFDF8"/>
          </a:solidFill>
          <a:ln xmlns:a="http://schemas.openxmlformats.org/drawingml/2006/main" w="10478">
            <a:solidFill>
              <a:srgbClr val="132024"/>
            </a:solidFill>
            <a:prstDash val="solid"/>
          </a:ln>
        </p:spPr>
      </p:sp>
      <p:sp>
        <p:nvSpPr>
          <p:cNvPr id="41" name="">
            <a:extLst xmlns:a="http://schemas.openxmlformats.org/drawingml/2006/main">
              <a:ext uri="{FF2B5EF4-FFF2-40B4-BE49-F238E27FC236}">
                <a16:creationId xmlns:a16="http://schemas.microsoft.com/office/drawing/2014/main" id="{A4B501BC-938D-4FCB-B152-8B3100163BAB}"/>
              </a:ext>
            </a:extLst>
          </p:cNvPr>
          <p:cNvSpPr>
            <a:spLocks xmlns:a="http://schemas.openxmlformats.org/drawingml/2006/main" noGrp="1"/>
          </p:cNvSpPr>
          <p:nvPr/>
        </p:nvSpPr>
        <p:spPr>
          <a:xfrm xmlns:a="http://schemas.openxmlformats.org/drawingml/2006/main">
            <a:off x="8029575" y="4905375"/>
            <a:ext cx="47625" cy="95250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42" name="">
            <a:extLst xmlns:a="http://schemas.openxmlformats.org/drawingml/2006/main">
              <a:ext uri="{FF2B5EF4-FFF2-40B4-BE49-F238E27FC236}">
                <a16:creationId xmlns:a16="http://schemas.microsoft.com/office/drawing/2014/main" id="{FF491E50-0B03-4462-981B-23E38BFCF817}"/>
              </a:ext>
            </a:extLst>
          </p:cNvPr>
          <p:cNvSpPr>
            <a:spLocks xmlns:a="http://schemas.openxmlformats.org/drawingml/2006/main" noGrp="1"/>
          </p:cNvSpPr>
          <p:nvPr/>
        </p:nvSpPr>
        <p:spPr>
          <a:xfrm xmlns:a="http://schemas.openxmlformats.org/drawingml/2006/main">
            <a:off x="8153400" y="50101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3" name="">
            <a:extLst xmlns:a="http://schemas.openxmlformats.org/drawingml/2006/main">
              <a:ext uri="{FF2B5EF4-FFF2-40B4-BE49-F238E27FC236}">
                <a16:creationId xmlns:a16="http://schemas.microsoft.com/office/drawing/2014/main" id="{5464E2BA-EBB5-4466-B5B0-CD83CDE87DF7}"/>
              </a:ext>
            </a:extLst>
          </p:cNvPr>
          <p:cNvSpPr>
            <a:spLocks xmlns:a="http://schemas.openxmlformats.org/drawingml/2006/main" noGrp="1"/>
          </p:cNvSpPr>
          <p:nvPr/>
        </p:nvSpPr>
        <p:spPr>
          <a:xfrm xmlns:a="http://schemas.openxmlformats.org/drawingml/2006/main">
            <a:off x="8153400" y="5295900"/>
            <a:ext cx="2095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He 2024</a:t>
            </a:r>
          </a:p>
        </p:txBody>
      </p:sp>
      <p:sp>
        <p:nvSpPr>
          <p:cNvPr id="44" name="">
            <a:extLst xmlns:a="http://schemas.openxmlformats.org/drawingml/2006/main">
              <a:ext uri="{FF2B5EF4-FFF2-40B4-BE49-F238E27FC236}">
                <a16:creationId xmlns:a16="http://schemas.microsoft.com/office/drawing/2014/main" id="{63920550-CEED-4767-BF7F-E82E102E718B}"/>
              </a:ext>
            </a:extLst>
          </p:cNvPr>
          <p:cNvSpPr>
            <a:spLocks xmlns:a="http://schemas.openxmlformats.org/drawingml/2006/main" noGrp="1"/>
          </p:cNvSpPr>
          <p:nvPr/>
        </p:nvSpPr>
        <p:spPr>
          <a:xfrm xmlns:a="http://schemas.openxmlformats.org/drawingml/2006/main">
            <a:off x="8153400" y="5543550"/>
            <a:ext cx="209550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integrated atlas</a:t>
            </a:r>
          </a:p>
          <a:p xmlns:a="http://schemas.openxmlformats.org/drawingml/2006/main">
            <a:pPr algn="l">
              <a:defRPr sz="825" b="0">
                <a:solidFill>
                  <a:srgbClr val="344146"/>
                </a:solidFill>
              </a:defRPr>
            </a:pPr>
            <a:r>
              <a:rPr sz="825" b="0">
                <a:solidFill>
                  <a:srgbClr val="344146"/>
                </a:solidFill>
              </a:rPr>
              <a:t>alignment</a:t>
            </a:r>
          </a:p>
        </p:txBody>
      </p:sp>
      <p:sp>
        <p:nvSpPr>
          <p:cNvPr id="45" name="">
            <a:extLst xmlns:a="http://schemas.openxmlformats.org/drawingml/2006/main">
              <a:ext uri="{FF2B5EF4-FFF2-40B4-BE49-F238E27FC236}">
                <a16:creationId xmlns:a16="http://schemas.microsoft.com/office/drawing/2014/main" id="{0C10FABC-B120-4C5A-97C7-720D26E62A0A}"/>
              </a:ext>
            </a:extLst>
          </p:cNvPr>
          <p:cNvSpPr>
            <a:spLocks xmlns:a="http://schemas.openxmlformats.org/drawingml/2006/main" noGrp="1"/>
          </p:cNvSpPr>
          <p:nvPr/>
        </p:nvSpPr>
        <p:spPr>
          <a:xfrm xmlns:a="http://schemas.openxmlformats.org/drawingml/2006/main" rot="-10253933">
            <a:off x="1918083" y="2871788"/>
            <a:ext cx="397433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6" name="">
            <a:extLst xmlns:a="http://schemas.openxmlformats.org/drawingml/2006/main">
              <a:ext uri="{FF2B5EF4-FFF2-40B4-BE49-F238E27FC236}">
                <a16:creationId xmlns:a16="http://schemas.microsoft.com/office/drawing/2014/main" id="{7F875B4C-A895-41E0-BB9F-DC533D761AAD}"/>
              </a:ext>
            </a:extLst>
          </p:cNvPr>
          <p:cNvSpPr>
            <a:spLocks xmlns:a="http://schemas.openxmlformats.org/drawingml/2006/main" noGrp="1"/>
          </p:cNvSpPr>
          <p:nvPr/>
        </p:nvSpPr>
        <p:spPr>
          <a:xfrm xmlns:a="http://schemas.openxmlformats.org/drawingml/2006/main" rot="9525918">
            <a:off x="2412233" y="3833813"/>
            <a:ext cx="3576584"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7" name="">
            <a:extLst xmlns:a="http://schemas.openxmlformats.org/drawingml/2006/main">
              <a:ext uri="{FF2B5EF4-FFF2-40B4-BE49-F238E27FC236}">
                <a16:creationId xmlns:a16="http://schemas.microsoft.com/office/drawing/2014/main" id="{072048F9-B990-4644-BC8A-9AA5D1C207AB}"/>
              </a:ext>
            </a:extLst>
          </p:cNvPr>
          <p:cNvSpPr>
            <a:spLocks xmlns:a="http://schemas.openxmlformats.org/drawingml/2006/main" noGrp="1"/>
          </p:cNvSpPr>
          <p:nvPr/>
        </p:nvSpPr>
        <p:spPr>
          <a:xfrm xmlns:a="http://schemas.openxmlformats.org/drawingml/2006/main" rot="-1026164">
            <a:off x="5790058" y="2671763"/>
            <a:ext cx="3497958"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8" name="">
            <a:extLst xmlns:a="http://schemas.openxmlformats.org/drawingml/2006/main">
              <a:ext uri="{FF2B5EF4-FFF2-40B4-BE49-F238E27FC236}">
                <a16:creationId xmlns:a16="http://schemas.microsoft.com/office/drawing/2014/main" id="{83C34EE9-1F43-4332-A656-7B233F57CB75}"/>
              </a:ext>
            </a:extLst>
          </p:cNvPr>
          <p:cNvSpPr>
            <a:spLocks xmlns:a="http://schemas.openxmlformats.org/drawingml/2006/main" noGrp="1"/>
          </p:cNvSpPr>
          <p:nvPr/>
        </p:nvSpPr>
        <p:spPr>
          <a:xfrm xmlns:a="http://schemas.openxmlformats.org/drawingml/2006/main" rot="518632">
            <a:off x="5844365" y="3490913"/>
            <a:ext cx="4056096"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49" name="">
            <a:extLst xmlns:a="http://schemas.openxmlformats.org/drawingml/2006/main">
              <a:ext uri="{FF2B5EF4-FFF2-40B4-BE49-F238E27FC236}">
                <a16:creationId xmlns:a16="http://schemas.microsoft.com/office/drawing/2014/main" id="{9CBEC728-ED42-4A82-8345-9552D86192EF}"/>
              </a:ext>
            </a:extLst>
          </p:cNvPr>
          <p:cNvSpPr>
            <a:spLocks xmlns:a="http://schemas.openxmlformats.org/drawingml/2006/main" noGrp="1"/>
          </p:cNvSpPr>
          <p:nvPr/>
        </p:nvSpPr>
        <p:spPr>
          <a:xfrm xmlns:a="http://schemas.openxmlformats.org/drawingml/2006/main" rot="1996278">
            <a:off x="5541535" y="4276725"/>
            <a:ext cx="3975955" cy="28575"/>
          </a:xfrm>
          <a:prstGeom xmlns:a="http://schemas.openxmlformats.org/drawingml/2006/main" prst="rect">
            <a:avLst/>
          </a:prstGeom>
          <a:solidFill xmlns:a="http://schemas.openxmlformats.org/drawingml/2006/main">
            <a:srgbClr val="98A7AD"/>
          </a:solidFill>
          <a:ln xmlns:a="http://schemas.openxmlformats.org/drawingml/2006/main" w="0">
            <a:solidFill>
              <a:srgbClr val="000000">
                <a:alpha val="0"/>
              </a:srgbClr>
            </a:solidFill>
            <a:prstDash val="solid"/>
          </a:ln>
        </p:spPr>
      </p:sp>
      <p:sp>
        <p:nvSpPr>
          <p:cNvPr id="50" name="">
            <a:extLst xmlns:a="http://schemas.openxmlformats.org/drawingml/2006/main">
              <a:ext uri="{FF2B5EF4-FFF2-40B4-BE49-F238E27FC236}">
                <a16:creationId xmlns:a16="http://schemas.microsoft.com/office/drawing/2014/main" id="{5A2E8AFC-3793-4E34-A4D2-43D1F3E17A55}"/>
              </a:ext>
            </a:extLst>
          </p:cNvPr>
          <p:cNvSpPr>
            <a:spLocks xmlns:a="http://schemas.openxmlformats.org/drawingml/2006/main" noGrp="1"/>
          </p:cNvSpPr>
          <p:nvPr/>
        </p:nvSpPr>
        <p:spPr>
          <a:xfrm xmlns:a="http://schemas.openxmlformats.org/drawingml/2006/main">
            <a:off x="609600" y="6153150"/>
            <a:ext cx="171450" cy="171450"/>
          </a:xfrm>
          <a:prstGeom xmlns:a="http://schemas.openxmlformats.org/drawingml/2006/main" prst="roundRect">
            <a:avLst>
              <a:gd name="adj" fmla="val 44444"/>
            </a:avLst>
          </a:prstGeom>
          <a:solidFill xmlns:a="http://schemas.openxmlformats.org/drawingml/2006/main">
            <a:srgbClr val="DDF4E8"/>
          </a:solidFill>
          <a:ln xmlns:a="http://schemas.openxmlformats.org/drawingml/2006/main" w="9525">
            <a:solidFill>
              <a:srgbClr val="132024"/>
            </a:solidFill>
            <a:prstDash val="solid"/>
          </a:ln>
        </p:spPr>
      </p:sp>
      <p:sp>
        <p:nvSpPr>
          <p:cNvPr id="51" name="">
            <a:extLst xmlns:a="http://schemas.openxmlformats.org/drawingml/2006/main">
              <a:ext uri="{FF2B5EF4-FFF2-40B4-BE49-F238E27FC236}">
                <a16:creationId xmlns:a16="http://schemas.microsoft.com/office/drawing/2014/main" id="{010F8844-770E-4319-8906-71A3430E4BAA}"/>
              </a:ext>
            </a:extLst>
          </p:cNvPr>
          <p:cNvSpPr>
            <a:spLocks xmlns:a="http://schemas.openxmlformats.org/drawingml/2006/main" noGrp="1"/>
          </p:cNvSpPr>
          <p:nvPr/>
        </p:nvSpPr>
        <p:spPr>
          <a:xfrm xmlns:a="http://schemas.openxmlformats.org/drawingml/2006/main">
            <a:off x="87630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query note</a:t>
            </a:r>
          </a:p>
        </p:txBody>
      </p:sp>
      <p:sp>
        <p:nvSpPr>
          <p:cNvPr id="52" name="">
            <a:extLst xmlns:a="http://schemas.openxmlformats.org/drawingml/2006/main">
              <a:ext uri="{FF2B5EF4-FFF2-40B4-BE49-F238E27FC236}">
                <a16:creationId xmlns:a16="http://schemas.microsoft.com/office/drawing/2014/main" id="{DFBEF597-C654-4149-AAF3-343200BE5AFD}"/>
              </a:ext>
            </a:extLst>
          </p:cNvPr>
          <p:cNvSpPr>
            <a:spLocks xmlns:a="http://schemas.openxmlformats.org/drawingml/2006/main" noGrp="1"/>
          </p:cNvSpPr>
          <p:nvPr/>
        </p:nvSpPr>
        <p:spPr>
          <a:xfrm xmlns:a="http://schemas.openxmlformats.org/drawingml/2006/main">
            <a:off x="2038350" y="6153150"/>
            <a:ext cx="171450" cy="171450"/>
          </a:xfrm>
          <a:prstGeom xmlns:a="http://schemas.openxmlformats.org/drawingml/2006/main" prst="roundRect">
            <a:avLst>
              <a:gd name="adj" fmla="val 44444"/>
            </a:avLst>
          </a:prstGeom>
          <a:solidFill xmlns:a="http://schemas.openxmlformats.org/drawingml/2006/main">
            <a:srgbClr val="FFFDF8"/>
          </a:solidFill>
          <a:ln xmlns:a="http://schemas.openxmlformats.org/drawingml/2006/main" w="9525">
            <a:solidFill>
              <a:srgbClr val="132024"/>
            </a:solidFill>
            <a:prstDash val="solid"/>
          </a:ln>
        </p:spPr>
      </p:sp>
      <p:sp>
        <p:nvSpPr>
          <p:cNvPr id="53" name="">
            <a:extLst xmlns:a="http://schemas.openxmlformats.org/drawingml/2006/main">
              <a:ext uri="{FF2B5EF4-FFF2-40B4-BE49-F238E27FC236}">
                <a16:creationId xmlns:a16="http://schemas.microsoft.com/office/drawing/2014/main" id="{4BC6D6D1-AD32-4568-A423-6BEBD0013DA4}"/>
              </a:ext>
            </a:extLst>
          </p:cNvPr>
          <p:cNvSpPr>
            <a:spLocks xmlns:a="http://schemas.openxmlformats.org/drawingml/2006/main" noGrp="1"/>
          </p:cNvSpPr>
          <p:nvPr/>
        </p:nvSpPr>
        <p:spPr>
          <a:xfrm xmlns:a="http://schemas.openxmlformats.org/drawingml/2006/main">
            <a:off x="2305050" y="6143625"/>
            <a:ext cx="1524000" cy="2095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benchmark source</a:t>
            </a:r>
          </a:p>
        </p:txBody>
      </p:sp>
      <p:sp>
        <p:nvSpPr>
          <p:cNvPr id="54" name="">
            <a:extLst xmlns:a="http://schemas.openxmlformats.org/drawingml/2006/main">
              <a:ext uri="{FF2B5EF4-FFF2-40B4-BE49-F238E27FC236}">
                <a16:creationId xmlns:a16="http://schemas.microsoft.com/office/drawing/2014/main" id="{F9909AA2-985E-49C0-BA79-6764180ADD0A}"/>
              </a:ext>
            </a:extLst>
          </p:cNvPr>
          <p:cNvSpPr>
            <a:spLocks xmlns:a="http://schemas.openxmlformats.org/drawingml/2006/main" noGrp="1"/>
          </p:cNvSpPr>
          <p:nvPr/>
        </p:nvSpPr>
        <p:spPr>
          <a:xfrm xmlns:a="http://schemas.openxmlformats.org/drawingml/2006/main">
            <a:off x="6057900" y="5905500"/>
            <a:ext cx="5524500" cy="552450"/>
          </a:xfrm>
          <a:prstGeom xmlns:a="http://schemas.openxmlformats.org/drawingml/2006/main" prst="roundRect">
            <a:avLst>
              <a:gd name="adj" fmla="val 1379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55" name="">
            <a:extLst xmlns:a="http://schemas.openxmlformats.org/drawingml/2006/main">
              <a:ext uri="{FF2B5EF4-FFF2-40B4-BE49-F238E27FC236}">
                <a16:creationId xmlns:a16="http://schemas.microsoft.com/office/drawing/2014/main" id="{639E0E94-927C-435B-86AD-C11666BEDDBB}"/>
              </a:ext>
            </a:extLst>
          </p:cNvPr>
          <p:cNvSpPr>
            <a:spLocks xmlns:a="http://schemas.openxmlformats.org/drawingml/2006/main" noGrp="1"/>
          </p:cNvSpPr>
          <p:nvPr/>
        </p:nvSpPr>
        <p:spPr>
          <a:xfrm xmlns:a="http://schemas.openxmlformats.org/drawingml/2006/main">
            <a:off x="6105525" y="5953125"/>
            <a:ext cx="57150" cy="4572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56" name="">
            <a:extLst xmlns:a="http://schemas.openxmlformats.org/drawingml/2006/main">
              <a:ext uri="{FF2B5EF4-FFF2-40B4-BE49-F238E27FC236}">
                <a16:creationId xmlns:a16="http://schemas.microsoft.com/office/drawing/2014/main" id="{A6425D93-FF10-4AE7-9CC7-8B39AC38B3C5}"/>
              </a:ext>
            </a:extLst>
          </p:cNvPr>
          <p:cNvSpPr>
            <a:spLocks xmlns:a="http://schemas.openxmlformats.org/drawingml/2006/main" noGrp="1"/>
          </p:cNvSpPr>
          <p:nvPr/>
        </p:nvSpPr>
        <p:spPr>
          <a:xfrm xmlns:a="http://schemas.openxmlformats.org/drawingml/2006/main">
            <a:off x="6267450" y="6057900"/>
            <a:ext cx="51435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새 논문이 추가되면서 '더 많이 안다'가 아니라 '무엇을 따로 질문해야 하는가'가 바뀌었다.</a:t>
            </a:r>
          </a:p>
        </p:txBody>
      </p:sp>
      <p:sp>
        <p:nvSpPr>
          <p:cNvPr id="57" name="">
            <a:extLst xmlns:a="http://schemas.openxmlformats.org/drawingml/2006/main">
              <a:ext uri="{FF2B5EF4-FFF2-40B4-BE49-F238E27FC236}">
                <a16:creationId xmlns:a16="http://schemas.microsoft.com/office/drawing/2014/main" id="{D57EEF40-D496-482E-A658-BCFC7E139D7A}"/>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graph-style view: subregion map 위에 benchmark branch가 새로 얹힌 순간</a:t>
            </a:r>
          </a:p>
        </p:txBody>
      </p:sp>
    </p:spTree>
    <p:extLst>
      <p:ext uri="{BB962C8B-B14F-4D97-AF65-F5344CB8AC3E}">
        <p14:creationId xmlns:p14="http://schemas.microsoft.com/office/powerpoint/2010/main" val="1286943054"/>
      </p:ext>
    </p:extLst>
  </p:cSld>
</p:sld>
</file>

<file path=ppt/slides/slide8.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7907492fdcc441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EBCECFEB-BAE1-4047-A719-F9D245A3F623}"/>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F9E5E1"/>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9518692-F04D-44E7-BB72-FE49ADE53CE2}"/>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0C96497-32CB-46EB-9358-07ED7C62C24A}"/>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42EB4150-8A37-4902-95EC-C4AB2C969BD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D63694F7-3E9C-4AA2-A102-2D503E776B01}"/>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44050DC5-57FF-41A4-9920-F1C0141533E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1569"/>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03A505DE-4FCF-4EEF-96BB-22D83BEC3FCC}"/>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KEY TENSION</a:t>
            </a:r>
          </a:p>
        </p:txBody>
      </p:sp>
      <p:sp>
        <p:nvSpPr>
          <p:cNvPr id="10" name="">
            <a:extLst xmlns:a="http://schemas.openxmlformats.org/drawingml/2006/main">
              <a:ext uri="{FF2B5EF4-FFF2-40B4-BE49-F238E27FC236}">
                <a16:creationId xmlns:a16="http://schemas.microsoft.com/office/drawing/2014/main" id="{4E91D3B5-613F-4AD2-9B49-6BD7670BB379}"/>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08 / 12</a:t>
            </a:r>
          </a:p>
        </p:txBody>
      </p:sp>
      <p:sp>
        <p:nvSpPr>
          <p:cNvPr id="11" name="">
            <a:extLst xmlns:a="http://schemas.openxmlformats.org/drawingml/2006/main">
              <a:ext uri="{FF2B5EF4-FFF2-40B4-BE49-F238E27FC236}">
                <a16:creationId xmlns:a16="http://schemas.microsoft.com/office/drawing/2014/main" id="{D3CFDAC5-9954-489C-9D35-235ECA3527E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8CE8CD85-8AB8-49DF-8AFC-FE6F0B2AC5DC}"/>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61CAC047-80AF-43EC-9139-1ACB1168DF1F}"/>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재현성이 높다고</a:t>
            </a:r>
          </a:p>
          <a:p xmlns:a="http://schemas.openxmlformats.org/drawingml/2006/main">
            <a:pPr algn="l">
              <a:defRPr sz="2850" b="1">
                <a:solidFill>
                  <a:srgbClr val="132024"/>
                </a:solidFill>
              </a:defRPr>
            </a:pPr>
            <a:r>
              <a:rPr sz="2850" b="1">
                <a:solidFill>
                  <a:srgbClr val="132024"/>
                </a:solidFill>
              </a:rPr>
              <a:t>더 faithful한 것은 아니다</a:t>
            </a:r>
          </a:p>
        </p:txBody>
      </p:sp>
      <p:sp>
        <p:nvSpPr>
          <p:cNvPr id="14" name="">
            <a:extLst xmlns:a="http://schemas.openxmlformats.org/drawingml/2006/main">
              <a:ext uri="{FF2B5EF4-FFF2-40B4-BE49-F238E27FC236}">
                <a16:creationId xmlns:a16="http://schemas.microsoft.com/office/drawing/2014/main" id="{9C4FD56F-5E58-4873-8A6C-32828A1DF110}"/>
              </a:ext>
            </a:extLst>
          </p:cNvPr>
          <p:cNvSpPr>
            <a:spLocks xmlns:a="http://schemas.openxmlformats.org/drawingml/2006/main" noGrp="1"/>
          </p:cNvSpPr>
          <p:nvPr/>
        </p:nvSpPr>
        <p:spPr>
          <a:xfrm xmlns:a="http://schemas.openxmlformats.org/drawingml/2006/main">
            <a:off x="742950" y="2000250"/>
            <a:ext cx="10706100" cy="819150"/>
          </a:xfrm>
          <a:prstGeom xmlns:a="http://schemas.openxmlformats.org/drawingml/2006/main" prst="roundRect">
            <a:avLst>
              <a:gd name="adj" fmla="val 9302"/>
            </a:avLst>
          </a:prstGeom>
          <a:solidFill xmlns:a="http://schemas.openxmlformats.org/drawingml/2006/main">
            <a:srgbClr val="F7DDD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994627BF-470D-4FD0-B8D2-2E7963A4E651}"/>
              </a:ext>
            </a:extLst>
          </p:cNvPr>
          <p:cNvSpPr>
            <a:spLocks xmlns:a="http://schemas.openxmlformats.org/drawingml/2006/main" noGrp="1"/>
          </p:cNvSpPr>
          <p:nvPr/>
        </p:nvSpPr>
        <p:spPr>
          <a:xfrm xmlns:a="http://schemas.openxmlformats.org/drawingml/2006/main">
            <a:off x="790575" y="2047875"/>
            <a:ext cx="57150" cy="72390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0381D60-8070-42BA-A24C-4845B4647092}"/>
              </a:ext>
            </a:extLst>
          </p:cNvPr>
          <p:cNvSpPr>
            <a:spLocks xmlns:a="http://schemas.openxmlformats.org/drawingml/2006/main" noGrp="1"/>
          </p:cNvSpPr>
          <p:nvPr/>
        </p:nvSpPr>
        <p:spPr>
          <a:xfrm xmlns:a="http://schemas.openxmlformats.org/drawingml/2006/main">
            <a:off x="952500" y="2152650"/>
            <a:ext cx="103251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Velasco / Yoon이 보여준 것은 '잘 반복되는 cortical branch'이고, Bhaduri가 보여준 것은 '그 branch가 primary brain과 어디서 어긋나는가'이다.</a:t>
            </a:r>
          </a:p>
        </p:txBody>
      </p:sp>
      <p:sp>
        <p:nvSpPr>
          <p:cNvPr id="17" name="">
            <a:extLst xmlns:a="http://schemas.openxmlformats.org/drawingml/2006/main">
              <a:ext uri="{FF2B5EF4-FFF2-40B4-BE49-F238E27FC236}">
                <a16:creationId xmlns:a16="http://schemas.microsoft.com/office/drawing/2014/main" id="{5393955F-2214-459A-8714-80D95AF4C931}"/>
              </a:ext>
            </a:extLst>
          </p:cNvPr>
          <p:cNvSpPr>
            <a:spLocks xmlns:a="http://schemas.openxmlformats.org/drawingml/2006/main" noGrp="1"/>
          </p:cNvSpPr>
          <p:nvPr/>
        </p:nvSpPr>
        <p:spPr>
          <a:xfrm xmlns:a="http://schemas.openxmlformats.org/drawingml/2006/main">
            <a:off x="8763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8" name="">
            <a:extLst xmlns:a="http://schemas.openxmlformats.org/drawingml/2006/main">
              <a:ext uri="{FF2B5EF4-FFF2-40B4-BE49-F238E27FC236}">
                <a16:creationId xmlns:a16="http://schemas.microsoft.com/office/drawing/2014/main" id="{C485C26F-7378-49EB-A61F-E0E9BD2D8D00}"/>
              </a:ext>
            </a:extLst>
          </p:cNvPr>
          <p:cNvSpPr>
            <a:spLocks xmlns:a="http://schemas.openxmlformats.org/drawingml/2006/main" noGrp="1"/>
          </p:cNvSpPr>
          <p:nvPr/>
        </p:nvSpPr>
        <p:spPr>
          <a:xfrm xmlns:a="http://schemas.openxmlformats.org/drawingml/2006/main">
            <a:off x="933450" y="3333750"/>
            <a:ext cx="45148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9" name="">
            <a:extLst xmlns:a="http://schemas.openxmlformats.org/drawingml/2006/main">
              <a:ext uri="{FF2B5EF4-FFF2-40B4-BE49-F238E27FC236}">
                <a16:creationId xmlns:a16="http://schemas.microsoft.com/office/drawing/2014/main" id="{6F42EF5A-98B0-4B88-BEB6-3408FF0BA091}"/>
              </a:ext>
            </a:extLst>
          </p:cNvPr>
          <p:cNvSpPr>
            <a:spLocks xmlns:a="http://schemas.openxmlformats.org/drawingml/2006/main" noGrp="1"/>
          </p:cNvSpPr>
          <p:nvPr/>
        </p:nvSpPr>
        <p:spPr>
          <a:xfrm xmlns:a="http://schemas.openxmlformats.org/drawingml/2006/main">
            <a:off x="10858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reproducibility 쪽 질문</a:t>
            </a:r>
          </a:p>
        </p:txBody>
      </p:sp>
      <p:sp>
        <p:nvSpPr>
          <p:cNvPr id="20" name="">
            <a:extLst xmlns:a="http://schemas.openxmlformats.org/drawingml/2006/main">
              <a:ext uri="{FF2B5EF4-FFF2-40B4-BE49-F238E27FC236}">
                <a16:creationId xmlns:a16="http://schemas.microsoft.com/office/drawing/2014/main" id="{69E6B4B7-4724-451E-B358-DBBD0F17264B}"/>
              </a:ext>
            </a:extLst>
          </p:cNvPr>
          <p:cNvSpPr>
            <a:spLocks xmlns:a="http://schemas.openxmlformats.org/drawingml/2006/main" noGrp="1"/>
          </p:cNvSpPr>
          <p:nvPr/>
        </p:nvSpPr>
        <p:spPr>
          <a:xfrm xmlns:a="http://schemas.openxmlformats.org/drawingml/2006/main">
            <a:off x="10858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protocol을 여러 번 돌렸을 때</a:t>
            </a:r>
          </a:p>
          <a:p xmlns:a="http://schemas.openxmlformats.org/drawingml/2006/main">
            <a:pPr algn="l">
              <a:defRPr sz="1200" b="0">
                <a:solidFill>
                  <a:srgbClr val="132024"/>
                </a:solidFill>
              </a:defRPr>
            </a:pPr>
            <a:r>
              <a:rPr sz="1200" b="0">
                <a:solidFill>
                  <a:srgbClr val="132024"/>
                </a:solidFill>
              </a:rPr>
              <a:t>organoid-to-organoid variance가 얼마나 낮은가?</a:t>
            </a:r>
          </a:p>
          <a:p xmlns:a="http://schemas.openxmlformats.org/drawingml/2006/main">
            <a:pPr algn="l">
              <a:defRPr sz="1200" b="0">
                <a:solidFill>
                  <a:srgbClr val="132024"/>
                </a:solidFill>
              </a:defRPr>
            </a:pPr>
            <a:r>
              <a:rPr sz="1200" b="0">
                <a:solidFill>
                  <a:srgbClr val="132024"/>
                </a:solidFill>
              </a:rPr>
              <a:t>대표 anchor: Velasco 2019, Yoon 2019</a:t>
            </a:r>
          </a:p>
        </p:txBody>
      </p:sp>
      <p:sp>
        <p:nvSpPr>
          <p:cNvPr id="21" name="">
            <a:extLst xmlns:a="http://schemas.openxmlformats.org/drawingml/2006/main">
              <a:ext uri="{FF2B5EF4-FFF2-40B4-BE49-F238E27FC236}">
                <a16:creationId xmlns:a16="http://schemas.microsoft.com/office/drawing/2014/main" id="{932E77E7-F8C6-4E3F-93BE-B27CB3E38190}"/>
              </a:ext>
            </a:extLst>
          </p:cNvPr>
          <p:cNvSpPr>
            <a:spLocks xmlns:a="http://schemas.openxmlformats.org/drawingml/2006/main" noGrp="1"/>
          </p:cNvSpPr>
          <p:nvPr/>
        </p:nvSpPr>
        <p:spPr>
          <a:xfrm xmlns:a="http://schemas.openxmlformats.org/drawingml/2006/main">
            <a:off x="6667500" y="3276600"/>
            <a:ext cx="4629150" cy="2286000"/>
          </a:xfrm>
          <a:prstGeom xmlns:a="http://schemas.openxmlformats.org/drawingml/2006/main" prst="roundRect">
            <a:avLst>
              <a:gd name="adj" fmla="val 3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2" name="">
            <a:extLst xmlns:a="http://schemas.openxmlformats.org/drawingml/2006/main">
              <a:ext uri="{FF2B5EF4-FFF2-40B4-BE49-F238E27FC236}">
                <a16:creationId xmlns:a16="http://schemas.microsoft.com/office/drawing/2014/main" id="{D1C00CAD-F9FB-45F2-8DF6-15270B4018C6}"/>
              </a:ext>
            </a:extLst>
          </p:cNvPr>
          <p:cNvSpPr>
            <a:spLocks xmlns:a="http://schemas.openxmlformats.org/drawingml/2006/main" noGrp="1"/>
          </p:cNvSpPr>
          <p:nvPr/>
        </p:nvSpPr>
        <p:spPr>
          <a:xfrm xmlns:a="http://schemas.openxmlformats.org/drawingml/2006/main">
            <a:off x="6724650" y="3333750"/>
            <a:ext cx="45148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3" name="">
            <a:extLst xmlns:a="http://schemas.openxmlformats.org/drawingml/2006/main">
              <a:ext uri="{FF2B5EF4-FFF2-40B4-BE49-F238E27FC236}">
                <a16:creationId xmlns:a16="http://schemas.microsoft.com/office/drawing/2014/main" id="{BDF0BA20-C0EC-44CD-9791-0E0AD5FB22FA}"/>
              </a:ext>
            </a:extLst>
          </p:cNvPr>
          <p:cNvSpPr>
            <a:spLocks xmlns:a="http://schemas.openxmlformats.org/drawingml/2006/main" noGrp="1"/>
          </p:cNvSpPr>
          <p:nvPr/>
        </p:nvSpPr>
        <p:spPr>
          <a:xfrm xmlns:a="http://schemas.openxmlformats.org/drawingml/2006/main">
            <a:off x="6877050" y="3467100"/>
            <a:ext cx="42100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fidelity 쪽 질문</a:t>
            </a:r>
          </a:p>
        </p:txBody>
      </p:sp>
      <p:sp>
        <p:nvSpPr>
          <p:cNvPr id="24" name="">
            <a:extLst xmlns:a="http://schemas.openxmlformats.org/drawingml/2006/main">
              <a:ext uri="{FF2B5EF4-FFF2-40B4-BE49-F238E27FC236}">
                <a16:creationId xmlns:a16="http://schemas.microsoft.com/office/drawing/2014/main" id="{AEA41F58-B439-48AE-AF23-40812F8349E6}"/>
              </a:ext>
            </a:extLst>
          </p:cNvPr>
          <p:cNvSpPr>
            <a:spLocks xmlns:a="http://schemas.openxmlformats.org/drawingml/2006/main" noGrp="1"/>
          </p:cNvSpPr>
          <p:nvPr/>
        </p:nvSpPr>
        <p:spPr>
          <a:xfrm xmlns:a="http://schemas.openxmlformats.org/drawingml/2006/main">
            <a:off x="6877050" y="3886200"/>
            <a:ext cx="4210050" cy="1504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그 organoid cell state가 primary fetal</a:t>
            </a:r>
          </a:p>
          <a:p xmlns:a="http://schemas.openxmlformats.org/drawingml/2006/main">
            <a:pPr algn="l">
              <a:defRPr sz="1200" b="0">
                <a:solidFill>
                  <a:srgbClr val="132024"/>
                </a:solidFill>
              </a:defRPr>
            </a:pPr>
            <a:r>
              <a:rPr sz="1200" b="0">
                <a:solidFill>
                  <a:srgbClr val="132024"/>
                </a:solidFill>
              </a:rPr>
              <a:t>cortex와 얼마나 가까운가? stress-linked</a:t>
            </a:r>
          </a:p>
          <a:p xmlns:a="http://schemas.openxmlformats.org/drawingml/2006/main">
            <a:pPr algn="l">
              <a:defRPr sz="1200" b="0">
                <a:solidFill>
                  <a:srgbClr val="132024"/>
                </a:solidFill>
              </a:defRPr>
            </a:pPr>
            <a:r>
              <a:rPr sz="1200" b="0">
                <a:solidFill>
                  <a:srgbClr val="132024"/>
                </a:solidFill>
              </a:rPr>
              <a:t>divergence는 없는가? 대표 anchor: Bhaduri</a:t>
            </a:r>
          </a:p>
          <a:p xmlns:a="http://schemas.openxmlformats.org/drawingml/2006/main">
            <a:pPr algn="l">
              <a:defRPr sz="1200" b="0">
                <a:solidFill>
                  <a:srgbClr val="132024"/>
                </a:solidFill>
              </a:defRPr>
            </a:pPr>
            <a:r>
              <a:rPr sz="1200" b="0">
                <a:solidFill>
                  <a:srgbClr val="132024"/>
                </a:solidFill>
              </a:rPr>
              <a:t>2020, He 2024</a:t>
            </a:r>
          </a:p>
        </p:txBody>
      </p:sp>
      <p:sp>
        <p:nvSpPr>
          <p:cNvPr id="25" name="">
            <a:extLst xmlns:a="http://schemas.openxmlformats.org/drawingml/2006/main">
              <a:ext uri="{FF2B5EF4-FFF2-40B4-BE49-F238E27FC236}">
                <a16:creationId xmlns:a16="http://schemas.microsoft.com/office/drawing/2014/main" id="{AF3B37D5-E846-4A6A-BFA4-D7F69EF915D8}"/>
              </a:ext>
            </a:extLst>
          </p:cNvPr>
          <p:cNvSpPr>
            <a:spLocks xmlns:a="http://schemas.openxmlformats.org/drawingml/2006/main" noGrp="1"/>
          </p:cNvSpPr>
          <p:nvPr/>
        </p:nvSpPr>
        <p:spPr>
          <a:xfrm xmlns:a="http://schemas.openxmlformats.org/drawingml/2006/main">
            <a:off x="5581650" y="4343400"/>
            <a:ext cx="8572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6" name="">
            <a:extLst xmlns:a="http://schemas.openxmlformats.org/drawingml/2006/main">
              <a:ext uri="{FF2B5EF4-FFF2-40B4-BE49-F238E27FC236}">
                <a16:creationId xmlns:a16="http://schemas.microsoft.com/office/drawing/2014/main" id="{FD913233-8FDF-41B7-8506-071476041082}"/>
              </a:ext>
            </a:extLst>
          </p:cNvPr>
          <p:cNvSpPr>
            <a:spLocks xmlns:a="http://schemas.openxmlformats.org/drawingml/2006/main" noGrp="1"/>
          </p:cNvSpPr>
          <p:nvPr/>
        </p:nvSpPr>
        <p:spPr>
          <a:xfrm xmlns:a="http://schemas.openxmlformats.org/drawingml/2006/main">
            <a:off x="4457700" y="5753100"/>
            <a:ext cx="2552700" cy="266700"/>
          </a:xfrm>
          <a:prstGeom xmlns:a="http://schemas.openxmlformats.org/drawingml/2006/main" prst="rect">
            <a:avLst/>
          </a:prstGeom>
          <a:solidFill xmlns:a="http://schemas.openxmlformats.org/drawingml/2006/main">
            <a:srgbClr val="DDF4E8"/>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0F5B3F"/>
                </a:solidFill>
              </a:defRPr>
            </a:pPr>
            <a:r>
              <a:rPr sz="900" b="1">
                <a:solidFill>
                  <a:srgbClr val="0F5B3F"/>
                </a:solidFill>
              </a:rPr>
              <a:t>same region, different question</a:t>
            </a:r>
          </a:p>
        </p:txBody>
      </p:sp>
      <p:sp>
        <p:nvSpPr>
          <p:cNvPr id="27" name="">
            <a:extLst xmlns:a="http://schemas.openxmlformats.org/drawingml/2006/main">
              <a:ext uri="{FF2B5EF4-FFF2-40B4-BE49-F238E27FC236}">
                <a16:creationId xmlns:a16="http://schemas.microsoft.com/office/drawing/2014/main" id="{8ACAE309-7149-4A2E-BAB1-8D7EBE5EF725}"/>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이 구분이 있어야 5축 프레임워크가 단순 taxonomy가 아니라 실제 비교 도구가 된다.</a:t>
            </a:r>
          </a:p>
        </p:txBody>
      </p:sp>
    </p:spTree>
    <p:extLst>
      <p:ext uri="{BB962C8B-B14F-4D97-AF65-F5344CB8AC3E}">
        <p14:creationId xmlns:p14="http://schemas.microsoft.com/office/powerpoint/2010/main" val="671196923"/>
      </p:ext>
    </p:extLst>
  </p:cSld>
</p:sld>
</file>

<file path=ppt/slides/slide9.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1db6cc0b8e444dd"/>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37E93583-1522-4598-841A-EB636765C1C5}"/>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E8A2BD58-47D2-467D-9683-C1A44FFB0F00}"/>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47A7DFB9-1BE4-442F-9611-796DD53EA31B}"/>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508E146D-526E-46D5-8107-F465A14B4C05}"/>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B5A07D5C-A4F1-4F01-965A-5C419776387A}"/>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EDBA643C-F7B4-4A7F-ABB9-A170FF5504E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2353"/>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92D8CEB7-32B4-4050-B538-89EF9B6AB117}"/>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FRAMEWORK</a:t>
            </a:r>
          </a:p>
        </p:txBody>
      </p:sp>
      <p:sp>
        <p:nvSpPr>
          <p:cNvPr id="10" name="">
            <a:extLst xmlns:a="http://schemas.openxmlformats.org/drawingml/2006/main">
              <a:ext uri="{FF2B5EF4-FFF2-40B4-BE49-F238E27FC236}">
                <a16:creationId xmlns:a16="http://schemas.microsoft.com/office/drawing/2014/main" id="{6F709C5D-41E9-43C9-A120-45559BDD693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09 / 12</a:t>
            </a:r>
          </a:p>
        </p:txBody>
      </p:sp>
      <p:sp>
        <p:nvSpPr>
          <p:cNvPr id="11" name="">
            <a:extLst xmlns:a="http://schemas.openxmlformats.org/drawingml/2006/main">
              <a:ext uri="{FF2B5EF4-FFF2-40B4-BE49-F238E27FC236}">
                <a16:creationId xmlns:a16="http://schemas.microsoft.com/office/drawing/2014/main" id="{207181AE-9FDC-4117-B4CC-2AF59F83FB68}"/>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2900F7C5-E8CE-43F4-B49F-9D5002815441}"/>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4F4BE5B6-1F12-4F70-A046-4E8E9D09B31E}"/>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최종적으로 얻은 5축 프레임워크</a:t>
            </a:r>
          </a:p>
        </p:txBody>
      </p:sp>
      <p:sp>
        <p:nvSpPr>
          <p:cNvPr id="14" name="">
            <a:extLst xmlns:a="http://schemas.openxmlformats.org/drawingml/2006/main">
              <a:ext uri="{FF2B5EF4-FFF2-40B4-BE49-F238E27FC236}">
                <a16:creationId xmlns:a16="http://schemas.microsoft.com/office/drawing/2014/main" id="{B600317A-C6A2-449B-820B-4B0AEC172C86}"/>
              </a:ext>
            </a:extLst>
          </p:cNvPr>
          <p:cNvSpPr>
            <a:spLocks xmlns:a="http://schemas.openxmlformats.org/drawingml/2006/main" noGrp="1"/>
          </p:cNvSpPr>
          <p:nvPr/>
        </p:nvSpPr>
        <p:spPr>
          <a:xfrm xmlns:a="http://schemas.openxmlformats.org/drawingml/2006/main">
            <a:off x="6858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A2A2B636-90A7-4168-B489-682AFFB0B89B}"/>
              </a:ext>
            </a:extLst>
          </p:cNvPr>
          <p:cNvSpPr>
            <a:spLocks xmlns:a="http://schemas.openxmlformats.org/drawingml/2006/main" noGrp="1"/>
          </p:cNvSpPr>
          <p:nvPr/>
        </p:nvSpPr>
        <p:spPr>
          <a:xfrm xmlns:a="http://schemas.openxmlformats.org/drawingml/2006/main">
            <a:off x="742950" y="2152650"/>
            <a:ext cx="32385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446BAF00-EC77-4BA3-90A6-04D15AE72946}"/>
              </a:ext>
            </a:extLst>
          </p:cNvPr>
          <p:cNvSpPr>
            <a:spLocks xmlns:a="http://schemas.openxmlformats.org/drawingml/2006/main" noGrp="1"/>
          </p:cNvSpPr>
          <p:nvPr/>
        </p:nvSpPr>
        <p:spPr>
          <a:xfrm xmlns:a="http://schemas.openxmlformats.org/drawingml/2006/main">
            <a:off x="8953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1. region identity</a:t>
            </a:r>
          </a:p>
        </p:txBody>
      </p:sp>
      <p:sp>
        <p:nvSpPr>
          <p:cNvPr id="17" name="">
            <a:extLst xmlns:a="http://schemas.openxmlformats.org/drawingml/2006/main">
              <a:ext uri="{FF2B5EF4-FFF2-40B4-BE49-F238E27FC236}">
                <a16:creationId xmlns:a16="http://schemas.microsoft.com/office/drawing/2014/main" id="{6D309E83-0AF4-4B10-BDAD-A8262B3AF120}"/>
              </a:ext>
            </a:extLst>
          </p:cNvPr>
          <p:cNvSpPr>
            <a:spLocks xmlns:a="http://schemas.openxmlformats.org/drawingml/2006/main" noGrp="1"/>
          </p:cNvSpPr>
          <p:nvPr/>
        </p:nvSpPr>
        <p:spPr>
          <a:xfrm xmlns:a="http://schemas.openxmlformats.org/drawingml/2006/main">
            <a:off x="8953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어떤 brain region 또는 subregion을</a:t>
            </a:r>
          </a:p>
          <a:p xmlns:a="http://schemas.openxmlformats.org/drawingml/2006/main">
            <a:pPr algn="l">
              <a:defRPr sz="1200" b="0">
                <a:solidFill>
                  <a:srgbClr val="132024"/>
                </a:solidFill>
              </a:defRPr>
            </a:pPr>
            <a:r>
              <a:rPr sz="1200" b="0">
                <a:solidFill>
                  <a:srgbClr val="132024"/>
                </a:solidFill>
              </a:rPr>
              <a:t>만들고 있는가? anchor: Q1, Sloan,</a:t>
            </a:r>
          </a:p>
          <a:p xmlns:a="http://schemas.openxmlformats.org/drawingml/2006/main">
            <a:pPr algn="l">
              <a:defRPr sz="1200" b="0">
                <a:solidFill>
                  <a:srgbClr val="132024"/>
                </a:solidFill>
              </a:defRPr>
            </a:pPr>
            <a:r>
              <a:rPr sz="1200" b="0">
                <a:solidFill>
                  <a:srgbClr val="132024"/>
                </a:solidFill>
              </a:rPr>
              <a:t>Atamian</a:t>
            </a:r>
          </a:p>
        </p:txBody>
      </p:sp>
      <p:sp>
        <p:nvSpPr>
          <p:cNvPr id="18" name="">
            <a:extLst xmlns:a="http://schemas.openxmlformats.org/drawingml/2006/main">
              <a:ext uri="{FF2B5EF4-FFF2-40B4-BE49-F238E27FC236}">
                <a16:creationId xmlns:a16="http://schemas.microsoft.com/office/drawing/2014/main" id="{B0E2C8C1-5F47-4C46-9A73-6EECA8BDC322}"/>
              </a:ext>
            </a:extLst>
          </p:cNvPr>
          <p:cNvSpPr>
            <a:spLocks xmlns:a="http://schemas.openxmlformats.org/drawingml/2006/main" noGrp="1"/>
          </p:cNvSpPr>
          <p:nvPr/>
        </p:nvSpPr>
        <p:spPr>
          <a:xfrm xmlns:a="http://schemas.openxmlformats.org/drawingml/2006/main">
            <a:off x="44196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74F4D1F5-1DBB-4A14-9D5C-DA2F37225C81}"/>
              </a:ext>
            </a:extLst>
          </p:cNvPr>
          <p:cNvSpPr>
            <a:spLocks xmlns:a="http://schemas.openxmlformats.org/drawingml/2006/main" noGrp="1"/>
          </p:cNvSpPr>
          <p:nvPr/>
        </p:nvSpPr>
        <p:spPr>
          <a:xfrm xmlns:a="http://schemas.openxmlformats.org/drawingml/2006/main">
            <a:off x="4476750" y="2152650"/>
            <a:ext cx="32385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6E42B7B8-9CD5-4A48-B930-7CC9BBC1F721}"/>
              </a:ext>
            </a:extLst>
          </p:cNvPr>
          <p:cNvSpPr>
            <a:spLocks xmlns:a="http://schemas.openxmlformats.org/drawingml/2006/main" noGrp="1"/>
          </p:cNvSpPr>
          <p:nvPr/>
        </p:nvSpPr>
        <p:spPr>
          <a:xfrm xmlns:a="http://schemas.openxmlformats.org/drawingml/2006/main">
            <a:off x="46291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2. reproducibility</a:t>
            </a:r>
          </a:p>
        </p:txBody>
      </p:sp>
      <p:sp>
        <p:nvSpPr>
          <p:cNvPr id="21" name="">
            <a:extLst xmlns:a="http://schemas.openxmlformats.org/drawingml/2006/main">
              <a:ext uri="{FF2B5EF4-FFF2-40B4-BE49-F238E27FC236}">
                <a16:creationId xmlns:a16="http://schemas.microsoft.com/office/drawing/2014/main" id="{4C1E231D-1825-4205-933A-8E279B3ACF48}"/>
              </a:ext>
            </a:extLst>
          </p:cNvPr>
          <p:cNvSpPr>
            <a:spLocks xmlns:a="http://schemas.openxmlformats.org/drawingml/2006/main" noGrp="1"/>
          </p:cNvSpPr>
          <p:nvPr/>
        </p:nvSpPr>
        <p:spPr>
          <a:xfrm xmlns:a="http://schemas.openxmlformats.org/drawingml/2006/main">
            <a:off x="46291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같은 protocol 안에서 cell</a:t>
            </a:r>
          </a:p>
          <a:p xmlns:a="http://schemas.openxmlformats.org/drawingml/2006/main">
            <a:pPr algn="l">
              <a:defRPr sz="1200" b="0">
                <a:solidFill>
                  <a:srgbClr val="132024"/>
                </a:solidFill>
              </a:defRPr>
            </a:pPr>
            <a:r>
              <a:rPr sz="1200" b="0">
                <a:solidFill>
                  <a:srgbClr val="132024"/>
                </a:solidFill>
              </a:rPr>
              <a:t>composition variance가 얼마나</a:t>
            </a:r>
          </a:p>
          <a:p xmlns:a="http://schemas.openxmlformats.org/drawingml/2006/main">
            <a:pPr algn="l">
              <a:defRPr sz="1200" b="0">
                <a:solidFill>
                  <a:srgbClr val="132024"/>
                </a:solidFill>
              </a:defRPr>
            </a:pPr>
            <a:r>
              <a:rPr sz="1200" b="0">
                <a:solidFill>
                  <a:srgbClr val="132024"/>
                </a:solidFill>
              </a:rPr>
              <a:t>낮은가? anchor: Velasco, Yoon</a:t>
            </a:r>
          </a:p>
        </p:txBody>
      </p:sp>
      <p:sp>
        <p:nvSpPr>
          <p:cNvPr id="22" name="">
            <a:extLst xmlns:a="http://schemas.openxmlformats.org/drawingml/2006/main">
              <a:ext uri="{FF2B5EF4-FFF2-40B4-BE49-F238E27FC236}">
                <a16:creationId xmlns:a16="http://schemas.microsoft.com/office/drawing/2014/main" id="{BBD3F051-147A-4814-8654-84F96770726F}"/>
              </a:ext>
            </a:extLst>
          </p:cNvPr>
          <p:cNvSpPr>
            <a:spLocks xmlns:a="http://schemas.openxmlformats.org/drawingml/2006/main" noGrp="1"/>
          </p:cNvSpPr>
          <p:nvPr/>
        </p:nvSpPr>
        <p:spPr>
          <a:xfrm xmlns:a="http://schemas.openxmlformats.org/drawingml/2006/main">
            <a:off x="8153400" y="2095500"/>
            <a:ext cx="3352800" cy="1390650"/>
          </a:xfrm>
          <a:prstGeom xmlns:a="http://schemas.openxmlformats.org/drawingml/2006/main" prst="roundRect">
            <a:avLst>
              <a:gd name="adj" fmla="val 5479"/>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2BBE7E66-4487-4ABC-88AB-1A8882E8580D}"/>
              </a:ext>
            </a:extLst>
          </p:cNvPr>
          <p:cNvSpPr>
            <a:spLocks xmlns:a="http://schemas.openxmlformats.org/drawingml/2006/main" noGrp="1"/>
          </p:cNvSpPr>
          <p:nvPr/>
        </p:nvSpPr>
        <p:spPr>
          <a:xfrm xmlns:a="http://schemas.openxmlformats.org/drawingml/2006/main">
            <a:off x="8210550" y="2152650"/>
            <a:ext cx="32385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D846A6E3-3B87-46EE-8BF8-564430C4F01D}"/>
              </a:ext>
            </a:extLst>
          </p:cNvPr>
          <p:cNvSpPr>
            <a:spLocks xmlns:a="http://schemas.openxmlformats.org/drawingml/2006/main" noGrp="1"/>
          </p:cNvSpPr>
          <p:nvPr/>
        </p:nvSpPr>
        <p:spPr>
          <a:xfrm xmlns:a="http://schemas.openxmlformats.org/drawingml/2006/main">
            <a:off x="8362950" y="2286000"/>
            <a:ext cx="29337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3. fidelity</a:t>
            </a:r>
          </a:p>
        </p:txBody>
      </p:sp>
      <p:sp>
        <p:nvSpPr>
          <p:cNvPr id="25" name="">
            <a:extLst xmlns:a="http://schemas.openxmlformats.org/drawingml/2006/main">
              <a:ext uri="{FF2B5EF4-FFF2-40B4-BE49-F238E27FC236}">
                <a16:creationId xmlns:a16="http://schemas.microsoft.com/office/drawing/2014/main" id="{142747C3-2D70-40D7-8ACB-B511592DC291}"/>
              </a:ext>
            </a:extLst>
          </p:cNvPr>
          <p:cNvSpPr>
            <a:spLocks xmlns:a="http://schemas.openxmlformats.org/drawingml/2006/main" noGrp="1"/>
          </p:cNvSpPr>
          <p:nvPr/>
        </p:nvSpPr>
        <p:spPr>
          <a:xfrm xmlns:a="http://schemas.openxmlformats.org/drawingml/2006/main">
            <a:off x="8362950" y="2705100"/>
            <a:ext cx="2933700" cy="609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primary fetal brain과의</a:t>
            </a:r>
          </a:p>
          <a:p xmlns:a="http://schemas.openxmlformats.org/drawingml/2006/main">
            <a:pPr algn="l">
              <a:defRPr sz="1200" b="0">
                <a:solidFill>
                  <a:srgbClr val="132024"/>
                </a:solidFill>
              </a:defRPr>
            </a:pPr>
            <a:r>
              <a:rPr sz="1200" b="0">
                <a:solidFill>
                  <a:srgbClr val="132024"/>
                </a:solidFill>
              </a:rPr>
              <a:t>distance를 어떻게 볼 것인가? anchor:</a:t>
            </a:r>
          </a:p>
          <a:p xmlns:a="http://schemas.openxmlformats.org/drawingml/2006/main">
            <a:pPr algn="l">
              <a:defRPr sz="1200" b="0">
                <a:solidFill>
                  <a:srgbClr val="132024"/>
                </a:solidFill>
              </a:defRPr>
            </a:pPr>
            <a:r>
              <a:rPr sz="1200" b="0">
                <a:solidFill>
                  <a:srgbClr val="132024"/>
                </a:solidFill>
              </a:rPr>
              <a:t>Bhaduri, He</a:t>
            </a:r>
          </a:p>
        </p:txBody>
      </p:sp>
      <p:sp>
        <p:nvSpPr>
          <p:cNvPr id="26" name="">
            <a:extLst xmlns:a="http://schemas.openxmlformats.org/drawingml/2006/main">
              <a:ext uri="{FF2B5EF4-FFF2-40B4-BE49-F238E27FC236}">
                <a16:creationId xmlns:a16="http://schemas.microsoft.com/office/drawing/2014/main" id="{14EDBB0B-B688-403F-8977-80F835948139}"/>
              </a:ext>
            </a:extLst>
          </p:cNvPr>
          <p:cNvSpPr>
            <a:spLocks xmlns:a="http://schemas.openxmlformats.org/drawingml/2006/main" noGrp="1"/>
          </p:cNvSpPr>
          <p:nvPr/>
        </p:nvSpPr>
        <p:spPr>
          <a:xfrm xmlns:a="http://schemas.openxmlformats.org/drawingml/2006/main">
            <a:off x="13716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A2FA5E82-9C40-447B-90FA-BE6F9FA34FB4}"/>
              </a:ext>
            </a:extLst>
          </p:cNvPr>
          <p:cNvSpPr>
            <a:spLocks xmlns:a="http://schemas.openxmlformats.org/drawingml/2006/main" noGrp="1"/>
          </p:cNvSpPr>
          <p:nvPr/>
        </p:nvSpPr>
        <p:spPr>
          <a:xfrm xmlns:a="http://schemas.openxmlformats.org/drawingml/2006/main">
            <a:off x="1428750" y="3848100"/>
            <a:ext cx="4286250" cy="571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26605C0A-5379-4119-938B-D64BC2587FDA}"/>
              </a:ext>
            </a:extLst>
          </p:cNvPr>
          <p:cNvSpPr>
            <a:spLocks xmlns:a="http://schemas.openxmlformats.org/drawingml/2006/main" noGrp="1"/>
          </p:cNvSpPr>
          <p:nvPr/>
        </p:nvSpPr>
        <p:spPr>
          <a:xfrm xmlns:a="http://schemas.openxmlformats.org/drawingml/2006/main">
            <a:off x="15811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4. temporal mapping</a:t>
            </a:r>
          </a:p>
        </p:txBody>
      </p:sp>
      <p:sp>
        <p:nvSpPr>
          <p:cNvPr id="29" name="">
            <a:extLst xmlns:a="http://schemas.openxmlformats.org/drawingml/2006/main">
              <a:ext uri="{FF2B5EF4-FFF2-40B4-BE49-F238E27FC236}">
                <a16:creationId xmlns:a16="http://schemas.microsoft.com/office/drawing/2014/main" id="{8767F25F-8ACB-49A2-8AE8-2333BB8DFD0E}"/>
              </a:ext>
            </a:extLst>
          </p:cNvPr>
          <p:cNvSpPr>
            <a:spLocks xmlns:a="http://schemas.openxmlformats.org/drawingml/2006/main" noGrp="1"/>
          </p:cNvSpPr>
          <p:nvPr/>
        </p:nvSpPr>
        <p:spPr>
          <a:xfrm xmlns:a="http://schemas.openxmlformats.org/drawingml/2006/main">
            <a:off x="15811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culture day를 developmental stage로 어떻게</a:t>
            </a:r>
          </a:p>
          <a:p xmlns:a="http://schemas.openxmlformats.org/drawingml/2006/main">
            <a:pPr algn="l">
              <a:defRPr sz="1200" b="0">
                <a:solidFill>
                  <a:srgbClr val="132024"/>
                </a:solidFill>
              </a:defRPr>
            </a:pPr>
            <a:r>
              <a:rPr sz="1200" b="0">
                <a:solidFill>
                  <a:srgbClr val="132024"/>
                </a:solidFill>
              </a:rPr>
              <a:t>읽을 것인가? anchor: Kanton, Giandomenico</a:t>
            </a:r>
          </a:p>
        </p:txBody>
      </p:sp>
      <p:sp>
        <p:nvSpPr>
          <p:cNvPr id="30" name="">
            <a:extLst xmlns:a="http://schemas.openxmlformats.org/drawingml/2006/main">
              <a:ext uri="{FF2B5EF4-FFF2-40B4-BE49-F238E27FC236}">
                <a16:creationId xmlns:a16="http://schemas.microsoft.com/office/drawing/2014/main" id="{7A04B3B3-3697-4DB5-9B71-819C5E3CBA9B}"/>
              </a:ext>
            </a:extLst>
          </p:cNvPr>
          <p:cNvSpPr>
            <a:spLocks xmlns:a="http://schemas.openxmlformats.org/drawingml/2006/main" noGrp="1"/>
          </p:cNvSpPr>
          <p:nvPr/>
        </p:nvSpPr>
        <p:spPr>
          <a:xfrm xmlns:a="http://schemas.openxmlformats.org/drawingml/2006/main">
            <a:off x="6438900" y="3790950"/>
            <a:ext cx="4400550" cy="1428750"/>
          </a:xfrm>
          <a:prstGeom xmlns:a="http://schemas.openxmlformats.org/drawingml/2006/main" prst="roundRect">
            <a:avLst>
              <a:gd name="adj" fmla="val 5333"/>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31" name="">
            <a:extLst xmlns:a="http://schemas.openxmlformats.org/drawingml/2006/main">
              <a:ext uri="{FF2B5EF4-FFF2-40B4-BE49-F238E27FC236}">
                <a16:creationId xmlns:a16="http://schemas.microsoft.com/office/drawing/2014/main" id="{D452D033-54C7-4AC2-8390-87E7C8AD3999}"/>
              </a:ext>
            </a:extLst>
          </p:cNvPr>
          <p:cNvSpPr>
            <a:spLocks xmlns:a="http://schemas.openxmlformats.org/drawingml/2006/main" noGrp="1"/>
          </p:cNvSpPr>
          <p:nvPr/>
        </p:nvSpPr>
        <p:spPr>
          <a:xfrm xmlns:a="http://schemas.openxmlformats.org/drawingml/2006/main">
            <a:off x="6496050" y="3848100"/>
            <a:ext cx="4286250" cy="571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32" name="">
            <a:extLst xmlns:a="http://schemas.openxmlformats.org/drawingml/2006/main">
              <a:ext uri="{FF2B5EF4-FFF2-40B4-BE49-F238E27FC236}">
                <a16:creationId xmlns:a16="http://schemas.microsoft.com/office/drawing/2014/main" id="{1F16021D-005E-4557-8A34-85E41748BC40}"/>
              </a:ext>
            </a:extLst>
          </p:cNvPr>
          <p:cNvSpPr>
            <a:spLocks xmlns:a="http://schemas.openxmlformats.org/drawingml/2006/main" noGrp="1"/>
          </p:cNvSpPr>
          <p:nvPr/>
        </p:nvSpPr>
        <p:spPr>
          <a:xfrm xmlns:a="http://schemas.openxmlformats.org/drawingml/2006/main">
            <a:off x="6648450" y="3981450"/>
            <a:ext cx="39814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5. atlas alignment</a:t>
            </a:r>
          </a:p>
        </p:txBody>
      </p:sp>
      <p:sp>
        <p:nvSpPr>
          <p:cNvPr id="33" name="">
            <a:extLst xmlns:a="http://schemas.openxmlformats.org/drawingml/2006/main">
              <a:ext uri="{FF2B5EF4-FFF2-40B4-BE49-F238E27FC236}">
                <a16:creationId xmlns:a16="http://schemas.microsoft.com/office/drawing/2014/main" id="{C4DDF110-23CB-45A2-9304-EC2B02D01A9A}"/>
              </a:ext>
            </a:extLst>
          </p:cNvPr>
          <p:cNvSpPr>
            <a:spLocks xmlns:a="http://schemas.openxmlformats.org/drawingml/2006/main" noGrp="1"/>
          </p:cNvSpPr>
          <p:nvPr/>
        </p:nvSpPr>
        <p:spPr>
          <a:xfrm xmlns:a="http://schemas.openxmlformats.org/drawingml/2006/main">
            <a:off x="6648450" y="4400550"/>
            <a:ext cx="3981450" cy="6477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여러 protocol을 같은 reference atlas 좌표계에서</a:t>
            </a:r>
          </a:p>
          <a:p xmlns:a="http://schemas.openxmlformats.org/drawingml/2006/main">
            <a:pPr algn="l">
              <a:defRPr sz="1200" b="0">
                <a:solidFill>
                  <a:srgbClr val="132024"/>
                </a:solidFill>
              </a:defRPr>
            </a:pPr>
            <a:r>
              <a:rPr sz="1200" b="0">
                <a:solidFill>
                  <a:srgbClr val="132024"/>
                </a:solidFill>
              </a:rPr>
              <a:t>어떻게 정렬할 것인가? anchor: He 2024</a:t>
            </a:r>
          </a:p>
        </p:txBody>
      </p:sp>
      <p:sp>
        <p:nvSpPr>
          <p:cNvPr id="34" name="">
            <a:extLst xmlns:a="http://schemas.openxmlformats.org/drawingml/2006/main">
              <a:ext uri="{FF2B5EF4-FFF2-40B4-BE49-F238E27FC236}">
                <a16:creationId xmlns:a16="http://schemas.microsoft.com/office/drawing/2014/main" id="{000AE5DF-EA8D-4BD0-946E-9CEB2679AC84}"/>
              </a:ext>
            </a:extLst>
          </p:cNvPr>
          <p:cNvSpPr>
            <a:spLocks xmlns:a="http://schemas.openxmlformats.org/drawingml/2006/main" noGrp="1"/>
          </p:cNvSpPr>
          <p:nvPr/>
        </p:nvSpPr>
        <p:spPr>
          <a:xfrm xmlns:a="http://schemas.openxmlformats.org/drawingml/2006/main">
            <a:off x="2038350" y="5581650"/>
            <a:ext cx="8115300" cy="609600"/>
          </a:xfrm>
          <a:prstGeom xmlns:a="http://schemas.openxmlformats.org/drawingml/2006/main" prst="roundRect">
            <a:avLst>
              <a:gd name="adj" fmla="val 12500"/>
            </a:avLst>
          </a:prstGeom>
          <a:solidFill xmlns:a="http://schemas.openxmlformats.org/drawingml/2006/main">
            <a:srgbClr val="F7DDD8"/>
          </a:solidFill>
          <a:ln xmlns:a="http://schemas.openxmlformats.org/drawingml/2006/main" w="11430">
            <a:solidFill>
              <a:srgbClr val="132024"/>
            </a:solidFill>
            <a:prstDash val="solid"/>
          </a:ln>
        </p:spPr>
      </p:sp>
      <p:sp>
        <p:nvSpPr>
          <p:cNvPr id="35" name="">
            <a:extLst xmlns:a="http://schemas.openxmlformats.org/drawingml/2006/main">
              <a:ext uri="{FF2B5EF4-FFF2-40B4-BE49-F238E27FC236}">
                <a16:creationId xmlns:a16="http://schemas.microsoft.com/office/drawing/2014/main" id="{9FB62016-7B66-4504-8ECD-84B0966273E6}"/>
              </a:ext>
            </a:extLst>
          </p:cNvPr>
          <p:cNvSpPr>
            <a:spLocks xmlns:a="http://schemas.openxmlformats.org/drawingml/2006/main" noGrp="1"/>
          </p:cNvSpPr>
          <p:nvPr/>
        </p:nvSpPr>
        <p:spPr>
          <a:xfrm xmlns:a="http://schemas.openxmlformats.org/drawingml/2006/main">
            <a:off x="2085975" y="5629275"/>
            <a:ext cx="57150" cy="5143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6" name="">
            <a:extLst xmlns:a="http://schemas.openxmlformats.org/drawingml/2006/main">
              <a:ext uri="{FF2B5EF4-FFF2-40B4-BE49-F238E27FC236}">
                <a16:creationId xmlns:a16="http://schemas.microsoft.com/office/drawing/2014/main" id="{B01EBE91-1CFC-49FA-9DD8-F98B4E097D51}"/>
              </a:ext>
            </a:extLst>
          </p:cNvPr>
          <p:cNvSpPr>
            <a:spLocks xmlns:a="http://schemas.openxmlformats.org/drawingml/2006/main" noGrp="1"/>
          </p:cNvSpPr>
          <p:nvPr/>
        </p:nvSpPr>
        <p:spPr>
          <a:xfrm xmlns:a="http://schemas.openxmlformats.org/drawingml/2006/main">
            <a:off x="2247900" y="5734050"/>
            <a:ext cx="7734300" cy="3429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핵심 메시지: reproducibility와 fidelity는 같은 말이 아니다.</a:t>
            </a:r>
          </a:p>
        </p:txBody>
      </p:sp>
      <p:sp>
        <p:nvSpPr>
          <p:cNvPr id="37" name="">
            <a:extLst xmlns:a="http://schemas.openxmlformats.org/drawingml/2006/main">
              <a:ext uri="{FF2B5EF4-FFF2-40B4-BE49-F238E27FC236}">
                <a16:creationId xmlns:a16="http://schemas.microsoft.com/office/drawing/2014/main" id="{85A548BC-909D-4B73-883F-7B8FA7335611}"/>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5축은 서로 다른 benchmark question이며, 한 축의 강점이 다른 축의 답을 대신하지 않는다.</a:t>
            </a:r>
          </a:p>
        </p:txBody>
      </p:sp>
    </p:spTree>
    <p:extLst>
      <p:ext uri="{BB962C8B-B14F-4D97-AF65-F5344CB8AC3E}">
        <p14:creationId xmlns:p14="http://schemas.microsoft.com/office/powerpoint/2010/main" val="1114534989"/>
      </p:ext>
    </p:extLst>
  </p:cSld>
</p:sld>
</file>

<file path=ppt/slides/slide10.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24ef6cffc1642c7"/>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623F2AFF-CC7E-4AC0-AB3B-DC2829B510CE}"/>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7204AA75-EFC1-4ED5-82C5-B311E6946706}"/>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E6EDF1"/>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B7A9F4FF-0DEE-4649-9DA9-D9EE575F9178}"/>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F6F3F18B-4C9B-45DB-B551-EF438B2BA6C4}"/>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CEBD44D9-2D14-4AD0-B1D8-0707EDF91C88}"/>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D7B94C80-F256-424D-8F67-9A2F43606FD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5A4C472-5364-42FC-88A9-E5D599B6C190}"/>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QUESTION 3</a:t>
            </a:r>
          </a:p>
        </p:txBody>
      </p:sp>
      <p:sp>
        <p:nvSpPr>
          <p:cNvPr id="10" name="">
            <a:extLst xmlns:a="http://schemas.openxmlformats.org/drawingml/2006/main">
              <a:ext uri="{FF2B5EF4-FFF2-40B4-BE49-F238E27FC236}">
                <a16:creationId xmlns:a16="http://schemas.microsoft.com/office/drawing/2014/main" id="{719F0A68-7B70-4EBA-A9F4-74B048F7B9DE}"/>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10 / 12</a:t>
            </a:r>
          </a:p>
        </p:txBody>
      </p:sp>
      <p:sp>
        <p:nvSpPr>
          <p:cNvPr id="11" name="">
            <a:extLst xmlns:a="http://schemas.openxmlformats.org/drawingml/2006/main">
              <a:ext uri="{FF2B5EF4-FFF2-40B4-BE49-F238E27FC236}">
                <a16:creationId xmlns:a16="http://schemas.microsoft.com/office/drawing/2014/main" id="{FC83B0EE-043B-4647-9CF6-FFD79112508B}"/>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0E462C1B-0B47-45C5-B8D9-9CB360F41E59}"/>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000D2091-C43C-45E1-BB8F-87ACCF395DE7}"/>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다음 단계: 결국 무엇을</a:t>
            </a:r>
          </a:p>
          <a:p xmlns:a="http://schemas.openxmlformats.org/drawingml/2006/main">
            <a:pPr algn="l">
              <a:defRPr sz="2850" b="1">
                <a:solidFill>
                  <a:srgbClr val="132024"/>
                </a:solidFill>
              </a:defRPr>
            </a:pPr>
            <a:r>
              <a:rPr sz="2850" b="1">
                <a:solidFill>
                  <a:srgbClr val="132024"/>
                </a:solidFill>
              </a:rPr>
              <a:t>먼저 믿고 싶은가</a:t>
            </a:r>
          </a:p>
        </p:txBody>
      </p:sp>
      <p:sp>
        <p:nvSpPr>
          <p:cNvPr id="14" name="">
            <a:extLst xmlns:a="http://schemas.openxmlformats.org/drawingml/2006/main">
              <a:ext uri="{FF2B5EF4-FFF2-40B4-BE49-F238E27FC236}">
                <a16:creationId xmlns:a16="http://schemas.microsoft.com/office/drawing/2014/main" id="{A39A005D-642F-497E-BE84-298709F61668}"/>
              </a:ext>
            </a:extLst>
          </p:cNvPr>
          <p:cNvSpPr>
            <a:spLocks xmlns:a="http://schemas.openxmlformats.org/drawingml/2006/main" noGrp="1"/>
          </p:cNvSpPr>
          <p:nvPr/>
        </p:nvSpPr>
        <p:spPr>
          <a:xfrm xmlns:a="http://schemas.openxmlformats.org/drawingml/2006/main">
            <a:off x="628650" y="2076450"/>
            <a:ext cx="2857500" cy="3562350"/>
          </a:xfrm>
          <a:prstGeom xmlns:a="http://schemas.openxmlformats.org/drawingml/2006/main" prst="roundRect">
            <a:avLst>
              <a:gd name="adj" fmla="val 2667"/>
            </a:avLst>
          </a:prstGeom>
          <a:solidFill xmlns:a="http://schemas.openxmlformats.org/drawingml/2006/main">
            <a:srgbClr val="DDF4E8"/>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618071BB-5319-4D38-996E-0B0EBA6A44E2}"/>
              </a:ext>
            </a:extLst>
          </p:cNvPr>
          <p:cNvSpPr>
            <a:spLocks xmlns:a="http://schemas.openxmlformats.org/drawingml/2006/main" noGrp="1"/>
          </p:cNvSpPr>
          <p:nvPr/>
        </p:nvSpPr>
        <p:spPr>
          <a:xfrm xmlns:a="http://schemas.openxmlformats.org/drawingml/2006/main">
            <a:off x="685800" y="2133600"/>
            <a:ext cx="27432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5E1CD931-8B0F-4B6F-8E28-03C319472D9B}"/>
              </a:ext>
            </a:extLst>
          </p:cNvPr>
          <p:cNvSpPr>
            <a:spLocks xmlns:a="http://schemas.openxmlformats.org/drawingml/2006/main" noGrp="1"/>
          </p:cNvSpPr>
          <p:nvPr/>
        </p:nvSpPr>
        <p:spPr>
          <a:xfrm xmlns:a="http://schemas.openxmlformats.org/drawingml/2006/main">
            <a:off x="838200" y="2266950"/>
            <a:ext cx="2438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readout-first rule</a:t>
            </a:r>
          </a:p>
        </p:txBody>
      </p:sp>
      <p:sp>
        <p:nvSpPr>
          <p:cNvPr id="17" name="">
            <a:extLst xmlns:a="http://schemas.openxmlformats.org/drawingml/2006/main">
              <a:ext uri="{FF2B5EF4-FFF2-40B4-BE49-F238E27FC236}">
                <a16:creationId xmlns:a16="http://schemas.microsoft.com/office/drawing/2014/main" id="{6F562108-5CDD-4039-BB04-7B2341DF6AD0}"/>
              </a:ext>
            </a:extLst>
          </p:cNvPr>
          <p:cNvSpPr>
            <a:spLocks xmlns:a="http://schemas.openxmlformats.org/drawingml/2006/main" noGrp="1"/>
          </p:cNvSpPr>
          <p:nvPr/>
        </p:nvSpPr>
        <p:spPr>
          <a:xfrm xmlns:a="http://schemas.openxmlformats.org/drawingml/2006/main">
            <a:off x="838200" y="2686050"/>
            <a:ext cx="2438400" cy="27813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1. 먼저 가장 중요한 readout을</a:t>
            </a:r>
          </a:p>
          <a:p xmlns:a="http://schemas.openxmlformats.org/drawingml/2006/main">
            <a:pPr algn="l">
              <a:defRPr sz="1200" b="0">
                <a:solidFill>
                  <a:srgbClr val="132024"/>
                </a:solidFill>
              </a:defRPr>
            </a:pPr>
            <a:r>
              <a:rPr sz="1200" b="0">
                <a:solidFill>
                  <a:srgbClr val="132024"/>
                </a:solidFill>
              </a:rPr>
              <a:t>적는다. 2. 그 readout을 가장</a:t>
            </a:r>
          </a:p>
          <a:p xmlns:a="http://schemas.openxmlformats.org/drawingml/2006/main">
            <a:pPr algn="l">
              <a:defRPr sz="1200" b="0">
                <a:solidFill>
                  <a:srgbClr val="132024"/>
                </a:solidFill>
              </a:defRPr>
            </a:pPr>
            <a:r>
              <a:rPr sz="1200" b="0">
                <a:solidFill>
                  <a:srgbClr val="132024"/>
                </a:solidFill>
              </a:rPr>
              <a:t>직접적으로 최적화한 branch를 고른다.</a:t>
            </a:r>
          </a:p>
          <a:p xmlns:a="http://schemas.openxmlformats.org/drawingml/2006/main">
            <a:pPr algn="l">
              <a:defRPr sz="1200" b="0">
                <a:solidFill>
                  <a:srgbClr val="132024"/>
                </a:solidFill>
              </a:defRPr>
            </a:pPr>
            <a:r>
              <a:rPr sz="1200" b="0">
                <a:solidFill>
                  <a:srgbClr val="132024"/>
                </a:solidFill>
              </a:rPr>
              <a:t>3. region, benchmark,</a:t>
            </a:r>
          </a:p>
          <a:p xmlns:a="http://schemas.openxmlformats.org/drawingml/2006/main">
            <a:pPr algn="l">
              <a:defRPr sz="1200" b="0">
                <a:solidFill>
                  <a:srgbClr val="132024"/>
                </a:solidFill>
              </a:defRPr>
            </a:pPr>
            <a:r>
              <a:rPr sz="1200" b="0">
                <a:solidFill>
                  <a:srgbClr val="132024"/>
                </a:solidFill>
              </a:rPr>
              <a:t>host validation은 그다음 순서로</a:t>
            </a:r>
          </a:p>
          <a:p xmlns:a="http://schemas.openxmlformats.org/drawingml/2006/main">
            <a:pPr algn="l">
              <a:defRPr sz="1200" b="0">
                <a:solidFill>
                  <a:srgbClr val="132024"/>
                </a:solidFill>
              </a:defRPr>
            </a:pPr>
            <a:r>
              <a:rPr sz="1200" b="0">
                <a:solidFill>
                  <a:srgbClr val="132024"/>
                </a:solidFill>
              </a:rPr>
              <a:t>붙인다.</a:t>
            </a:r>
          </a:p>
        </p:txBody>
      </p:sp>
      <p:sp>
        <p:nvSpPr>
          <p:cNvPr id="18" name="">
            <a:extLst xmlns:a="http://schemas.openxmlformats.org/drawingml/2006/main">
              <a:ext uri="{FF2B5EF4-FFF2-40B4-BE49-F238E27FC236}">
                <a16:creationId xmlns:a16="http://schemas.microsoft.com/office/drawing/2014/main" id="{D4EA852D-A9E8-42AE-B16C-4A154163D93A}"/>
              </a:ext>
            </a:extLst>
          </p:cNvPr>
          <p:cNvSpPr>
            <a:spLocks xmlns:a="http://schemas.openxmlformats.org/drawingml/2006/main" noGrp="1"/>
          </p:cNvSpPr>
          <p:nvPr/>
        </p:nvSpPr>
        <p:spPr>
          <a:xfrm xmlns:a="http://schemas.openxmlformats.org/drawingml/2006/main">
            <a:off x="38481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19" name="">
            <a:extLst xmlns:a="http://schemas.openxmlformats.org/drawingml/2006/main">
              <a:ext uri="{FF2B5EF4-FFF2-40B4-BE49-F238E27FC236}">
                <a16:creationId xmlns:a16="http://schemas.microsoft.com/office/drawing/2014/main" id="{57DCBBD3-69D6-48D3-8E4A-595D04778CB9}"/>
              </a:ext>
            </a:extLst>
          </p:cNvPr>
          <p:cNvSpPr>
            <a:spLocks xmlns:a="http://schemas.openxmlformats.org/drawingml/2006/main" noGrp="1"/>
          </p:cNvSpPr>
          <p:nvPr/>
        </p:nvSpPr>
        <p:spPr>
          <a:xfrm xmlns:a="http://schemas.openxmlformats.org/drawingml/2006/main">
            <a:off x="3895725" y="2162175"/>
            <a:ext cx="47625" cy="11620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4A7EC523-EBD3-49E7-BA22-02A43D490ECF}"/>
              </a:ext>
            </a:extLst>
          </p:cNvPr>
          <p:cNvSpPr>
            <a:spLocks xmlns:a="http://schemas.openxmlformats.org/drawingml/2006/main" noGrp="1"/>
          </p:cNvSpPr>
          <p:nvPr/>
        </p:nvSpPr>
        <p:spPr>
          <a:xfrm xmlns:a="http://schemas.openxmlformats.org/drawingml/2006/main">
            <a:off x="40195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1" name="">
            <a:extLst xmlns:a="http://schemas.openxmlformats.org/drawingml/2006/main">
              <a:ext uri="{FF2B5EF4-FFF2-40B4-BE49-F238E27FC236}">
                <a16:creationId xmlns:a16="http://schemas.microsoft.com/office/drawing/2014/main" id="{D6A976FB-41E3-43D6-89A7-F29BE0943CF8}"/>
              </a:ext>
            </a:extLst>
          </p:cNvPr>
          <p:cNvSpPr>
            <a:spLocks xmlns:a="http://schemas.openxmlformats.org/drawingml/2006/main" noGrp="1"/>
          </p:cNvSpPr>
          <p:nvPr/>
        </p:nvSpPr>
        <p:spPr>
          <a:xfrm xmlns:a="http://schemas.openxmlformats.org/drawingml/2006/main">
            <a:off x="40195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composition</a:t>
            </a:r>
          </a:p>
        </p:txBody>
      </p:sp>
      <p:sp>
        <p:nvSpPr>
          <p:cNvPr id="22" name="">
            <a:extLst xmlns:a="http://schemas.openxmlformats.org/drawingml/2006/main">
              <a:ext uri="{FF2B5EF4-FFF2-40B4-BE49-F238E27FC236}">
                <a16:creationId xmlns:a16="http://schemas.microsoft.com/office/drawing/2014/main" id="{4007E99E-1559-4516-BBBE-B2E32D56753D}"/>
              </a:ext>
            </a:extLst>
          </p:cNvPr>
          <p:cNvSpPr>
            <a:spLocks xmlns:a="http://schemas.openxmlformats.org/drawingml/2006/main" noGrp="1"/>
          </p:cNvSpPr>
          <p:nvPr/>
        </p:nvSpPr>
        <p:spPr>
          <a:xfrm xmlns:a="http://schemas.openxmlformats.org/drawingml/2006/main">
            <a:off x="40195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stability</a:t>
            </a:r>
          </a:p>
          <a:p xmlns:a="http://schemas.openxmlformats.org/drawingml/2006/main">
            <a:pPr algn="l">
              <a:defRPr sz="825" b="0">
                <a:solidFill>
                  <a:srgbClr val="344146"/>
                </a:solidFill>
              </a:defRPr>
            </a:pPr>
            <a:r>
              <a:rPr sz="825" b="0">
                <a:solidFill>
                  <a:srgbClr val="344146"/>
                </a:solidFill>
              </a:rPr>
              <a:t>Velasco / Yoon</a:t>
            </a:r>
          </a:p>
        </p:txBody>
      </p:sp>
      <p:sp>
        <p:nvSpPr>
          <p:cNvPr id="23" name="">
            <a:extLst xmlns:a="http://schemas.openxmlformats.org/drawingml/2006/main">
              <a:ext uri="{FF2B5EF4-FFF2-40B4-BE49-F238E27FC236}">
                <a16:creationId xmlns:a16="http://schemas.microsoft.com/office/drawing/2014/main" id="{4CE63FCB-302A-4D6D-A56A-C51911049D08}"/>
              </a:ext>
            </a:extLst>
          </p:cNvPr>
          <p:cNvSpPr>
            <a:spLocks xmlns:a="http://schemas.openxmlformats.org/drawingml/2006/main" noGrp="1"/>
          </p:cNvSpPr>
          <p:nvPr/>
        </p:nvSpPr>
        <p:spPr>
          <a:xfrm xmlns:a="http://schemas.openxmlformats.org/drawingml/2006/main">
            <a:off x="657225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4" name="">
            <a:extLst xmlns:a="http://schemas.openxmlformats.org/drawingml/2006/main">
              <a:ext uri="{FF2B5EF4-FFF2-40B4-BE49-F238E27FC236}">
                <a16:creationId xmlns:a16="http://schemas.microsoft.com/office/drawing/2014/main" id="{B1F58676-E345-4A08-ABA0-567E2837CD8B}"/>
              </a:ext>
            </a:extLst>
          </p:cNvPr>
          <p:cNvSpPr>
            <a:spLocks xmlns:a="http://schemas.openxmlformats.org/drawingml/2006/main" noGrp="1"/>
          </p:cNvSpPr>
          <p:nvPr/>
        </p:nvSpPr>
        <p:spPr>
          <a:xfrm xmlns:a="http://schemas.openxmlformats.org/drawingml/2006/main">
            <a:off x="6619875" y="2162175"/>
            <a:ext cx="47625" cy="11620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5" name="">
            <a:extLst xmlns:a="http://schemas.openxmlformats.org/drawingml/2006/main">
              <a:ext uri="{FF2B5EF4-FFF2-40B4-BE49-F238E27FC236}">
                <a16:creationId xmlns:a16="http://schemas.microsoft.com/office/drawing/2014/main" id="{1D041E46-E249-4B52-BD30-D7EC3700AEFD}"/>
              </a:ext>
            </a:extLst>
          </p:cNvPr>
          <p:cNvSpPr>
            <a:spLocks xmlns:a="http://schemas.openxmlformats.org/drawingml/2006/main" noGrp="1"/>
          </p:cNvSpPr>
          <p:nvPr/>
        </p:nvSpPr>
        <p:spPr>
          <a:xfrm xmlns:a="http://schemas.openxmlformats.org/drawingml/2006/main">
            <a:off x="674370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26" name="">
            <a:extLst xmlns:a="http://schemas.openxmlformats.org/drawingml/2006/main">
              <a:ext uri="{FF2B5EF4-FFF2-40B4-BE49-F238E27FC236}">
                <a16:creationId xmlns:a16="http://schemas.microsoft.com/office/drawing/2014/main" id="{3E0A5A79-591F-4B72-8434-EB1891B9FB30}"/>
              </a:ext>
            </a:extLst>
          </p:cNvPr>
          <p:cNvSpPr>
            <a:spLocks xmlns:a="http://schemas.openxmlformats.org/drawingml/2006/main" noGrp="1"/>
          </p:cNvSpPr>
          <p:nvPr/>
        </p:nvSpPr>
        <p:spPr>
          <a:xfrm xmlns:a="http://schemas.openxmlformats.org/drawingml/2006/main">
            <a:off x="674370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fidelity</a:t>
            </a:r>
          </a:p>
        </p:txBody>
      </p:sp>
      <p:sp>
        <p:nvSpPr>
          <p:cNvPr id="27" name="">
            <a:extLst xmlns:a="http://schemas.openxmlformats.org/drawingml/2006/main">
              <a:ext uri="{FF2B5EF4-FFF2-40B4-BE49-F238E27FC236}">
                <a16:creationId xmlns:a16="http://schemas.microsoft.com/office/drawing/2014/main" id="{9F092E6A-A0CD-40CC-9E19-7D7BD6E7DB6B}"/>
              </a:ext>
            </a:extLst>
          </p:cNvPr>
          <p:cNvSpPr>
            <a:spLocks xmlns:a="http://schemas.openxmlformats.org/drawingml/2006/main" noGrp="1"/>
          </p:cNvSpPr>
          <p:nvPr/>
        </p:nvSpPr>
        <p:spPr>
          <a:xfrm xmlns:a="http://schemas.openxmlformats.org/drawingml/2006/main">
            <a:off x="674370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primary-like</a:t>
            </a:r>
          </a:p>
          <a:p xmlns:a="http://schemas.openxmlformats.org/drawingml/2006/main">
            <a:pPr algn="l">
              <a:defRPr sz="825" b="0">
                <a:solidFill>
                  <a:srgbClr val="344146"/>
                </a:solidFill>
              </a:defRPr>
            </a:pPr>
            <a:r>
              <a:rPr sz="825" b="0">
                <a:solidFill>
                  <a:srgbClr val="344146"/>
                </a:solidFill>
              </a:rPr>
              <a:t>Bhaduri / He</a:t>
            </a:r>
          </a:p>
        </p:txBody>
      </p:sp>
      <p:sp>
        <p:nvSpPr>
          <p:cNvPr id="28" name="">
            <a:extLst xmlns:a="http://schemas.openxmlformats.org/drawingml/2006/main">
              <a:ext uri="{FF2B5EF4-FFF2-40B4-BE49-F238E27FC236}">
                <a16:creationId xmlns:a16="http://schemas.microsoft.com/office/drawing/2014/main" id="{F428376F-D6E1-4201-90E1-A60C46786BC5}"/>
              </a:ext>
            </a:extLst>
          </p:cNvPr>
          <p:cNvSpPr>
            <a:spLocks xmlns:a="http://schemas.openxmlformats.org/drawingml/2006/main" noGrp="1"/>
          </p:cNvSpPr>
          <p:nvPr/>
        </p:nvSpPr>
        <p:spPr>
          <a:xfrm xmlns:a="http://schemas.openxmlformats.org/drawingml/2006/main">
            <a:off x="9296400" y="211455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29" name="">
            <a:extLst xmlns:a="http://schemas.openxmlformats.org/drawingml/2006/main">
              <a:ext uri="{FF2B5EF4-FFF2-40B4-BE49-F238E27FC236}">
                <a16:creationId xmlns:a16="http://schemas.microsoft.com/office/drawing/2014/main" id="{BAC12E30-6BBF-4FCB-85DD-EB2876A71351}"/>
              </a:ext>
            </a:extLst>
          </p:cNvPr>
          <p:cNvSpPr>
            <a:spLocks xmlns:a="http://schemas.openxmlformats.org/drawingml/2006/main" noGrp="1"/>
          </p:cNvSpPr>
          <p:nvPr/>
        </p:nvSpPr>
        <p:spPr>
          <a:xfrm xmlns:a="http://schemas.openxmlformats.org/drawingml/2006/main">
            <a:off x="9344025" y="2162175"/>
            <a:ext cx="47625" cy="1162050"/>
          </a:xfrm>
          <a:prstGeom xmlns:a="http://schemas.openxmlformats.org/drawingml/2006/main" prst="rect">
            <a:avLst/>
          </a:prstGeom>
          <a:solidFill xmlns:a="http://schemas.openxmlformats.org/drawingml/2006/main">
            <a:srgbClr val="517C95"/>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0BB3EB25-A308-4505-8069-150550964851}"/>
              </a:ext>
            </a:extLst>
          </p:cNvPr>
          <p:cNvSpPr>
            <a:spLocks xmlns:a="http://schemas.openxmlformats.org/drawingml/2006/main" noGrp="1"/>
          </p:cNvSpPr>
          <p:nvPr/>
        </p:nvSpPr>
        <p:spPr>
          <a:xfrm xmlns:a="http://schemas.openxmlformats.org/drawingml/2006/main">
            <a:off x="9467850" y="226695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1" name="">
            <a:extLst xmlns:a="http://schemas.openxmlformats.org/drawingml/2006/main">
              <a:ext uri="{FF2B5EF4-FFF2-40B4-BE49-F238E27FC236}">
                <a16:creationId xmlns:a16="http://schemas.microsoft.com/office/drawing/2014/main" id="{884B20DA-2E3C-4EF0-94B4-A62097EED93E}"/>
              </a:ext>
            </a:extLst>
          </p:cNvPr>
          <p:cNvSpPr>
            <a:spLocks xmlns:a="http://schemas.openxmlformats.org/drawingml/2006/main" noGrp="1"/>
          </p:cNvSpPr>
          <p:nvPr/>
        </p:nvSpPr>
        <p:spPr>
          <a:xfrm xmlns:a="http://schemas.openxmlformats.org/drawingml/2006/main">
            <a:off x="9467850" y="255270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timing</a:t>
            </a:r>
          </a:p>
        </p:txBody>
      </p:sp>
      <p:sp>
        <p:nvSpPr>
          <p:cNvPr id="32" name="">
            <a:extLst xmlns:a="http://schemas.openxmlformats.org/drawingml/2006/main">
              <a:ext uri="{FF2B5EF4-FFF2-40B4-BE49-F238E27FC236}">
                <a16:creationId xmlns:a16="http://schemas.microsoft.com/office/drawing/2014/main" id="{3DD76DCC-7E1B-414B-AEC4-5C1CF567093B}"/>
              </a:ext>
            </a:extLst>
          </p:cNvPr>
          <p:cNvSpPr>
            <a:spLocks xmlns:a="http://schemas.openxmlformats.org/drawingml/2006/main" noGrp="1"/>
          </p:cNvSpPr>
          <p:nvPr/>
        </p:nvSpPr>
        <p:spPr>
          <a:xfrm xmlns:a="http://schemas.openxmlformats.org/drawingml/2006/main">
            <a:off x="9467850" y="280035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maturation map</a:t>
            </a:r>
          </a:p>
          <a:p xmlns:a="http://schemas.openxmlformats.org/drawingml/2006/main">
            <a:pPr algn="l">
              <a:defRPr sz="825" b="0">
                <a:solidFill>
                  <a:srgbClr val="344146"/>
                </a:solidFill>
              </a:defRPr>
            </a:pPr>
            <a:r>
              <a:rPr sz="825" b="0">
                <a:solidFill>
                  <a:srgbClr val="344146"/>
                </a:solidFill>
              </a:rPr>
              <a:t>Kanton / Giandomenico</a:t>
            </a:r>
          </a:p>
        </p:txBody>
      </p:sp>
      <p:sp>
        <p:nvSpPr>
          <p:cNvPr id="33" name="">
            <a:extLst xmlns:a="http://schemas.openxmlformats.org/drawingml/2006/main">
              <a:ext uri="{FF2B5EF4-FFF2-40B4-BE49-F238E27FC236}">
                <a16:creationId xmlns:a16="http://schemas.microsoft.com/office/drawing/2014/main" id="{E91319EF-38C6-45BA-89BB-4FFC7ADE685C}"/>
              </a:ext>
            </a:extLst>
          </p:cNvPr>
          <p:cNvSpPr>
            <a:spLocks xmlns:a="http://schemas.openxmlformats.org/drawingml/2006/main" noGrp="1"/>
          </p:cNvSpPr>
          <p:nvPr/>
        </p:nvSpPr>
        <p:spPr>
          <a:xfrm xmlns:a="http://schemas.openxmlformats.org/drawingml/2006/main">
            <a:off x="38481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4" name="">
            <a:extLst xmlns:a="http://schemas.openxmlformats.org/drawingml/2006/main">
              <a:ext uri="{FF2B5EF4-FFF2-40B4-BE49-F238E27FC236}">
                <a16:creationId xmlns:a16="http://schemas.microsoft.com/office/drawing/2014/main" id="{BB5F76A5-F66A-4421-B3C4-0E5772F13C14}"/>
              </a:ext>
            </a:extLst>
          </p:cNvPr>
          <p:cNvSpPr>
            <a:spLocks xmlns:a="http://schemas.openxmlformats.org/drawingml/2006/main" noGrp="1"/>
          </p:cNvSpPr>
          <p:nvPr/>
        </p:nvSpPr>
        <p:spPr>
          <a:xfrm xmlns:a="http://schemas.openxmlformats.org/drawingml/2006/main">
            <a:off x="3895725" y="3971925"/>
            <a:ext cx="47625" cy="11620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35" name="">
            <a:extLst xmlns:a="http://schemas.openxmlformats.org/drawingml/2006/main">
              <a:ext uri="{FF2B5EF4-FFF2-40B4-BE49-F238E27FC236}">
                <a16:creationId xmlns:a16="http://schemas.microsoft.com/office/drawing/2014/main" id="{DB251601-555A-4362-8623-B3FD1AE0E768}"/>
              </a:ext>
            </a:extLst>
          </p:cNvPr>
          <p:cNvSpPr>
            <a:spLocks xmlns:a="http://schemas.openxmlformats.org/drawingml/2006/main" noGrp="1"/>
          </p:cNvSpPr>
          <p:nvPr/>
        </p:nvSpPr>
        <p:spPr>
          <a:xfrm xmlns:a="http://schemas.openxmlformats.org/drawingml/2006/main">
            <a:off x="40195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36" name="">
            <a:extLst xmlns:a="http://schemas.openxmlformats.org/drawingml/2006/main">
              <a:ext uri="{FF2B5EF4-FFF2-40B4-BE49-F238E27FC236}">
                <a16:creationId xmlns:a16="http://schemas.microsoft.com/office/drawing/2014/main" id="{1793DA0B-89FD-4F3E-B8D5-158D48C640EE}"/>
              </a:ext>
            </a:extLst>
          </p:cNvPr>
          <p:cNvSpPr>
            <a:spLocks xmlns:a="http://schemas.openxmlformats.org/drawingml/2006/main" noGrp="1"/>
          </p:cNvSpPr>
          <p:nvPr/>
        </p:nvSpPr>
        <p:spPr>
          <a:xfrm xmlns:a="http://schemas.openxmlformats.org/drawingml/2006/main">
            <a:off x="40195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MEA</a:t>
            </a:r>
          </a:p>
        </p:txBody>
      </p:sp>
      <p:sp>
        <p:nvSpPr>
          <p:cNvPr id="37" name="">
            <a:extLst xmlns:a="http://schemas.openxmlformats.org/drawingml/2006/main">
              <a:ext uri="{FF2B5EF4-FFF2-40B4-BE49-F238E27FC236}">
                <a16:creationId xmlns:a16="http://schemas.microsoft.com/office/drawing/2014/main" id="{53C14694-FC53-4A6C-B537-A0858096A52E}"/>
              </a:ext>
            </a:extLst>
          </p:cNvPr>
          <p:cNvSpPr>
            <a:spLocks xmlns:a="http://schemas.openxmlformats.org/drawingml/2006/main" noGrp="1"/>
          </p:cNvSpPr>
          <p:nvPr/>
        </p:nvSpPr>
        <p:spPr>
          <a:xfrm xmlns:a="http://schemas.openxmlformats.org/drawingml/2006/main">
            <a:off x="40195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oscillation</a:t>
            </a:r>
          </a:p>
          <a:p xmlns:a="http://schemas.openxmlformats.org/drawingml/2006/main">
            <a:pPr algn="l">
              <a:defRPr sz="825" b="0">
                <a:solidFill>
                  <a:srgbClr val="344146"/>
                </a:solidFill>
              </a:defRPr>
            </a:pPr>
            <a:r>
              <a:rPr sz="825" b="0">
                <a:solidFill>
                  <a:srgbClr val="344146"/>
                </a:solidFill>
              </a:rPr>
              <a:t>Fitzgerald</a:t>
            </a:r>
          </a:p>
        </p:txBody>
      </p:sp>
      <p:sp>
        <p:nvSpPr>
          <p:cNvPr id="38" name="">
            <a:extLst xmlns:a="http://schemas.openxmlformats.org/drawingml/2006/main">
              <a:ext uri="{FF2B5EF4-FFF2-40B4-BE49-F238E27FC236}">
                <a16:creationId xmlns:a16="http://schemas.microsoft.com/office/drawing/2014/main" id="{D7BAA1E0-7EEA-4CC0-BBFB-ADCE039FDE86}"/>
              </a:ext>
            </a:extLst>
          </p:cNvPr>
          <p:cNvSpPr>
            <a:spLocks xmlns:a="http://schemas.openxmlformats.org/drawingml/2006/main" noGrp="1"/>
          </p:cNvSpPr>
          <p:nvPr/>
        </p:nvSpPr>
        <p:spPr>
          <a:xfrm xmlns:a="http://schemas.openxmlformats.org/drawingml/2006/main">
            <a:off x="657225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39" name="">
            <a:extLst xmlns:a="http://schemas.openxmlformats.org/drawingml/2006/main">
              <a:ext uri="{FF2B5EF4-FFF2-40B4-BE49-F238E27FC236}">
                <a16:creationId xmlns:a16="http://schemas.microsoft.com/office/drawing/2014/main" id="{D28B03EA-6C2F-427A-8C05-17FCA9F12F67}"/>
              </a:ext>
            </a:extLst>
          </p:cNvPr>
          <p:cNvSpPr>
            <a:spLocks xmlns:a="http://schemas.openxmlformats.org/drawingml/2006/main" noGrp="1"/>
          </p:cNvSpPr>
          <p:nvPr/>
        </p:nvSpPr>
        <p:spPr>
          <a:xfrm xmlns:a="http://schemas.openxmlformats.org/drawingml/2006/main">
            <a:off x="6619875" y="3971925"/>
            <a:ext cx="47625" cy="1162050"/>
          </a:xfrm>
          <a:prstGeom xmlns:a="http://schemas.openxmlformats.org/drawingml/2006/main" prst="rect">
            <a:avLst/>
          </a:prstGeom>
          <a:solidFill xmlns:a="http://schemas.openxmlformats.org/drawingml/2006/main">
            <a:srgbClr val="0F5B3F"/>
          </a:solidFill>
          <a:ln xmlns:a="http://schemas.openxmlformats.org/drawingml/2006/main" w="0">
            <a:solidFill>
              <a:srgbClr val="000000">
                <a:alpha val="0"/>
              </a:srgbClr>
            </a:solidFill>
            <a:prstDash val="solid"/>
          </a:ln>
        </p:spPr>
      </p:sp>
      <p:sp>
        <p:nvSpPr>
          <p:cNvPr id="40" name="">
            <a:extLst xmlns:a="http://schemas.openxmlformats.org/drawingml/2006/main">
              <a:ext uri="{FF2B5EF4-FFF2-40B4-BE49-F238E27FC236}">
                <a16:creationId xmlns:a16="http://schemas.microsoft.com/office/drawing/2014/main" id="{77291D1D-910F-46C3-B472-3A9B4F565DAF}"/>
              </a:ext>
            </a:extLst>
          </p:cNvPr>
          <p:cNvSpPr>
            <a:spLocks xmlns:a="http://schemas.openxmlformats.org/drawingml/2006/main" noGrp="1"/>
          </p:cNvSpPr>
          <p:nvPr/>
        </p:nvSpPr>
        <p:spPr>
          <a:xfrm xmlns:a="http://schemas.openxmlformats.org/drawingml/2006/main">
            <a:off x="674370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1" name="">
            <a:extLst xmlns:a="http://schemas.openxmlformats.org/drawingml/2006/main">
              <a:ext uri="{FF2B5EF4-FFF2-40B4-BE49-F238E27FC236}">
                <a16:creationId xmlns:a16="http://schemas.microsoft.com/office/drawing/2014/main" id="{2246C00D-59EE-4051-8AF7-51BF38AC0A41}"/>
              </a:ext>
            </a:extLst>
          </p:cNvPr>
          <p:cNvSpPr>
            <a:spLocks xmlns:a="http://schemas.openxmlformats.org/drawingml/2006/main" noGrp="1"/>
          </p:cNvSpPr>
          <p:nvPr/>
        </p:nvSpPr>
        <p:spPr>
          <a:xfrm xmlns:a="http://schemas.openxmlformats.org/drawingml/2006/main">
            <a:off x="674370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host circuit</a:t>
            </a:r>
          </a:p>
        </p:txBody>
      </p:sp>
      <p:sp>
        <p:nvSpPr>
          <p:cNvPr id="42" name="">
            <a:extLst xmlns:a="http://schemas.openxmlformats.org/drawingml/2006/main">
              <a:ext uri="{FF2B5EF4-FFF2-40B4-BE49-F238E27FC236}">
                <a16:creationId xmlns:a16="http://schemas.microsoft.com/office/drawing/2014/main" id="{C977EB38-FD83-4A0F-83DB-EB02A3C88DC2}"/>
              </a:ext>
            </a:extLst>
          </p:cNvPr>
          <p:cNvSpPr>
            <a:spLocks xmlns:a="http://schemas.openxmlformats.org/drawingml/2006/main" noGrp="1"/>
          </p:cNvSpPr>
          <p:nvPr/>
        </p:nvSpPr>
        <p:spPr>
          <a:xfrm xmlns:a="http://schemas.openxmlformats.org/drawingml/2006/main">
            <a:off x="674370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integration</a:t>
            </a:r>
          </a:p>
          <a:p xmlns:a="http://schemas.openxmlformats.org/drawingml/2006/main">
            <a:pPr algn="l">
              <a:defRPr sz="825" b="0">
                <a:solidFill>
                  <a:srgbClr val="344146"/>
                </a:solidFill>
              </a:defRPr>
            </a:pPr>
            <a:r>
              <a:rPr sz="825" b="0">
                <a:solidFill>
                  <a:srgbClr val="344146"/>
                </a:solidFill>
              </a:rPr>
              <a:t>Kelley</a:t>
            </a:r>
          </a:p>
        </p:txBody>
      </p:sp>
      <p:sp>
        <p:nvSpPr>
          <p:cNvPr id="43" name="">
            <a:extLst xmlns:a="http://schemas.openxmlformats.org/drawingml/2006/main">
              <a:ext uri="{FF2B5EF4-FFF2-40B4-BE49-F238E27FC236}">
                <a16:creationId xmlns:a16="http://schemas.microsoft.com/office/drawing/2014/main" id="{F168BD5F-1630-4092-81B3-F1356D8222C4}"/>
              </a:ext>
            </a:extLst>
          </p:cNvPr>
          <p:cNvSpPr>
            <a:spLocks xmlns:a="http://schemas.openxmlformats.org/drawingml/2006/main" noGrp="1"/>
          </p:cNvSpPr>
          <p:nvPr/>
        </p:nvSpPr>
        <p:spPr>
          <a:xfrm xmlns:a="http://schemas.openxmlformats.org/drawingml/2006/main">
            <a:off x="9296400" y="3924300"/>
            <a:ext cx="2305050" cy="1257300"/>
          </a:xfrm>
          <a:prstGeom xmlns:a="http://schemas.openxmlformats.org/drawingml/2006/main" prst="roundRect">
            <a:avLst>
              <a:gd name="adj" fmla="val 6061"/>
            </a:avLst>
          </a:prstGeom>
          <a:solidFill xmlns:a="http://schemas.openxmlformats.org/drawingml/2006/main">
            <a:srgbClr val="FFFDF8"/>
          </a:solidFill>
          <a:ln xmlns:a="http://schemas.openxmlformats.org/drawingml/2006/main" w="10478">
            <a:solidFill>
              <a:srgbClr val="132024"/>
            </a:solidFill>
            <a:prstDash val="solid"/>
          </a:ln>
        </p:spPr>
      </p:sp>
      <p:sp>
        <p:nvSpPr>
          <p:cNvPr id="44" name="">
            <a:extLst xmlns:a="http://schemas.openxmlformats.org/drawingml/2006/main">
              <a:ext uri="{FF2B5EF4-FFF2-40B4-BE49-F238E27FC236}">
                <a16:creationId xmlns:a16="http://schemas.microsoft.com/office/drawing/2014/main" id="{0F1138DF-5D54-498E-AA5C-C6486FD7DFE7}"/>
              </a:ext>
            </a:extLst>
          </p:cNvPr>
          <p:cNvSpPr>
            <a:spLocks xmlns:a="http://schemas.openxmlformats.org/drawingml/2006/main" noGrp="1"/>
          </p:cNvSpPr>
          <p:nvPr/>
        </p:nvSpPr>
        <p:spPr>
          <a:xfrm xmlns:a="http://schemas.openxmlformats.org/drawingml/2006/main">
            <a:off x="9344025" y="3971925"/>
            <a:ext cx="47625" cy="1162050"/>
          </a:xfrm>
          <a:prstGeom xmlns:a="http://schemas.openxmlformats.org/drawingml/2006/main" prst="rect">
            <a:avLst/>
          </a:prstGeom>
          <a:solidFill xmlns:a="http://schemas.openxmlformats.org/drawingml/2006/main">
            <a:srgbClr val="7D6AA7"/>
          </a:solidFill>
          <a:ln xmlns:a="http://schemas.openxmlformats.org/drawingml/2006/main" w="0">
            <a:solidFill>
              <a:srgbClr val="000000">
                <a:alpha val="0"/>
              </a:srgbClr>
            </a:solidFill>
            <a:prstDash val="solid"/>
          </a:ln>
        </p:spPr>
      </p:sp>
      <p:sp>
        <p:nvSpPr>
          <p:cNvPr id="45" name="">
            <a:extLst xmlns:a="http://schemas.openxmlformats.org/drawingml/2006/main">
              <a:ext uri="{FF2B5EF4-FFF2-40B4-BE49-F238E27FC236}">
                <a16:creationId xmlns:a16="http://schemas.microsoft.com/office/drawing/2014/main" id="{19759746-2104-43DD-950B-8BC88684D74F}"/>
              </a:ext>
            </a:extLst>
          </p:cNvPr>
          <p:cNvSpPr>
            <a:spLocks xmlns:a="http://schemas.openxmlformats.org/drawingml/2006/main" noGrp="1"/>
          </p:cNvSpPr>
          <p:nvPr/>
        </p:nvSpPr>
        <p:spPr>
          <a:xfrm xmlns:a="http://schemas.openxmlformats.org/drawingml/2006/main">
            <a:off x="9467850" y="4076700"/>
            <a:ext cx="647700" cy="228600"/>
          </a:xfrm>
          <a:prstGeom xmlns:a="http://schemas.openxmlformats.org/drawingml/2006/main" prst="rect">
            <a:avLst/>
          </a:prstGeom>
          <a:solidFill xmlns:a="http://schemas.openxmlformats.org/drawingml/2006/main">
            <a:srgbClr val="DCE7EE"/>
          </a:solidFill>
          <a:ln xmlns:a="http://schemas.openxmlformats.org/drawingml/2006/main" w="9525">
            <a:solidFill>
              <a:srgbClr val="132024"/>
            </a:solidFill>
            <a:prstDash val="solid"/>
          </a:ln>
        </p:spPr>
        <p:txBody>
          <a:bodyPr xmlns:a="http://schemas.openxmlformats.org/drawingml/2006/main" lIns="0" tIns="0" rIns="0" bIns="0" anchor="ctr"/>
          <a:lstStyle xmlns:a="http://schemas.openxmlformats.org/drawingml/2006/main"/>
          <a:p xmlns:a="http://schemas.openxmlformats.org/drawingml/2006/main">
            <a:pPr algn="ctr">
              <a:defRPr sz="900" b="1">
                <a:solidFill>
                  <a:srgbClr val="274D63"/>
                </a:solidFill>
              </a:defRPr>
            </a:pPr>
            <a:r>
              <a:rPr sz="900" b="1">
                <a:solidFill>
                  <a:srgbClr val="274D63"/>
                </a:solidFill>
              </a:rPr>
              <a:t>source</a:t>
            </a:r>
          </a:p>
        </p:txBody>
      </p:sp>
      <p:sp>
        <p:nvSpPr>
          <p:cNvPr id="46" name="">
            <a:extLst xmlns:a="http://schemas.openxmlformats.org/drawingml/2006/main">
              <a:ext uri="{FF2B5EF4-FFF2-40B4-BE49-F238E27FC236}">
                <a16:creationId xmlns:a16="http://schemas.microsoft.com/office/drawing/2014/main" id="{133541D2-24CC-45CC-B259-09045F1202DF}"/>
              </a:ext>
            </a:extLst>
          </p:cNvPr>
          <p:cNvSpPr>
            <a:spLocks xmlns:a="http://schemas.openxmlformats.org/drawingml/2006/main" noGrp="1"/>
          </p:cNvSpPr>
          <p:nvPr/>
        </p:nvSpPr>
        <p:spPr>
          <a:xfrm xmlns:a="http://schemas.openxmlformats.org/drawingml/2006/main">
            <a:off x="9467850" y="4362450"/>
            <a:ext cx="19812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75" b="1">
                <a:solidFill>
                  <a:srgbClr val="132024"/>
                </a:solidFill>
              </a:defRPr>
            </a:pPr>
            <a:r>
              <a:rPr sz="1275" b="1">
                <a:solidFill>
                  <a:srgbClr val="132024"/>
                </a:solidFill>
              </a:rPr>
              <a:t>screening</a:t>
            </a:r>
          </a:p>
        </p:txBody>
      </p:sp>
      <p:sp>
        <p:nvSpPr>
          <p:cNvPr id="47" name="">
            <a:extLst xmlns:a="http://schemas.openxmlformats.org/drawingml/2006/main">
              <a:ext uri="{FF2B5EF4-FFF2-40B4-BE49-F238E27FC236}">
                <a16:creationId xmlns:a16="http://schemas.microsoft.com/office/drawing/2014/main" id="{B6113F9F-DB8E-4561-8F95-D0DA215308EC}"/>
              </a:ext>
            </a:extLst>
          </p:cNvPr>
          <p:cNvSpPr>
            <a:spLocks xmlns:a="http://schemas.openxmlformats.org/drawingml/2006/main" noGrp="1"/>
          </p:cNvSpPr>
          <p:nvPr/>
        </p:nvSpPr>
        <p:spPr>
          <a:xfrm xmlns:a="http://schemas.openxmlformats.org/drawingml/2006/main">
            <a:off x="9467850" y="4610100"/>
            <a:ext cx="1981200" cy="4572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825" b="0">
                <a:solidFill>
                  <a:srgbClr val="344146"/>
                </a:solidFill>
              </a:defRPr>
            </a:pPr>
            <a:r>
              <a:rPr sz="825" b="0">
                <a:solidFill>
                  <a:srgbClr val="344146"/>
                </a:solidFill>
              </a:rPr>
              <a:t>perturbation</a:t>
            </a:r>
          </a:p>
          <a:p xmlns:a="http://schemas.openxmlformats.org/drawingml/2006/main">
            <a:pPr algn="l">
              <a:defRPr sz="825" b="0">
                <a:solidFill>
                  <a:srgbClr val="344146"/>
                </a:solidFill>
              </a:defRPr>
            </a:pPr>
            <a:r>
              <a:rPr sz="825" b="0">
                <a:solidFill>
                  <a:srgbClr val="344146"/>
                </a:solidFill>
              </a:rPr>
              <a:t>Chen / Meng</a:t>
            </a:r>
          </a:p>
        </p:txBody>
      </p:sp>
      <p:sp>
        <p:nvSpPr>
          <p:cNvPr id="48" name="">
            <a:extLst xmlns:a="http://schemas.openxmlformats.org/drawingml/2006/main">
              <a:ext uri="{FF2B5EF4-FFF2-40B4-BE49-F238E27FC236}">
                <a16:creationId xmlns:a16="http://schemas.microsoft.com/office/drawing/2014/main" id="{16AF91F6-85A2-4A0D-B5CD-3F5C14F4DC6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최종 질문: 어느 region을 만들까? 보다 무엇을 먼저 믿고 싶은가?</a:t>
            </a:r>
          </a:p>
        </p:txBody>
      </p:sp>
    </p:spTree>
    <p:extLst>
      <p:ext uri="{BB962C8B-B14F-4D97-AF65-F5344CB8AC3E}">
        <p14:creationId xmlns:p14="http://schemas.microsoft.com/office/powerpoint/2010/main" val="1089379924"/>
      </p:ext>
    </p:extLst>
  </p:cSld>
</p:sld>
</file>

<file path=ppt/slides/slide11.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02569a7d8d44dfb"/>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024F02A7-94FD-4A54-B686-8B5736DB7C8A}"/>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FCD14E91-D61A-4599-9998-A104C630DD1F}"/>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600DC0BE-6E9F-4378-9F80-99288E71A35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C1933CF6-35AA-4C79-94B7-98E3F39B4C9C}"/>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E59D628C-83C0-4D35-9195-DB6E0211F423}"/>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79E34280-A68C-43F8-877E-811279204D9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3DE211F5-9452-4333-8CBD-A6917DDFC314}"/>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REVIEW WRITING</a:t>
            </a:r>
          </a:p>
        </p:txBody>
      </p:sp>
      <p:sp>
        <p:nvSpPr>
          <p:cNvPr id="10" name="">
            <a:extLst xmlns:a="http://schemas.openxmlformats.org/drawingml/2006/main">
              <a:ext uri="{FF2B5EF4-FFF2-40B4-BE49-F238E27FC236}">
                <a16:creationId xmlns:a16="http://schemas.microsoft.com/office/drawing/2014/main" id="{6B8F693F-398D-4508-8C04-310676F7CF8B}"/>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11 / 12</a:t>
            </a:r>
          </a:p>
        </p:txBody>
      </p:sp>
      <p:sp>
        <p:nvSpPr>
          <p:cNvPr id="11" name="">
            <a:extLst xmlns:a="http://schemas.openxmlformats.org/drawingml/2006/main">
              <a:ext uri="{FF2B5EF4-FFF2-40B4-BE49-F238E27FC236}">
                <a16:creationId xmlns:a16="http://schemas.microsoft.com/office/drawing/2014/main" id="{FF36470D-EDA4-4DAD-884D-44B8A522E2B9}"/>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73A2341A-B00F-41D1-AFF7-E18DAD5847BA}"/>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10DB85DB-E798-4FF5-8ABA-986CEEDDAA98}"/>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이 질문 체인이</a:t>
            </a:r>
          </a:p>
          <a:p xmlns:a="http://schemas.openxmlformats.org/drawingml/2006/main">
            <a:pPr algn="l">
              <a:defRPr sz="2850" b="1">
                <a:solidFill>
                  <a:srgbClr val="132024"/>
                </a:solidFill>
              </a:defRPr>
            </a:pPr>
            <a:r>
              <a:rPr sz="2850" b="1">
                <a:solidFill>
                  <a:srgbClr val="132024"/>
                </a:solidFill>
              </a:rPr>
              <a:t>리뷰 논문 구조에 준 영향</a:t>
            </a:r>
          </a:p>
        </p:txBody>
      </p:sp>
      <p:sp>
        <p:nvSpPr>
          <p:cNvPr id="14" name="">
            <a:extLst xmlns:a="http://schemas.openxmlformats.org/drawingml/2006/main">
              <a:ext uri="{FF2B5EF4-FFF2-40B4-BE49-F238E27FC236}">
                <a16:creationId xmlns:a16="http://schemas.microsoft.com/office/drawing/2014/main" id="{83DDCBDE-1CE0-4053-9BC2-A683219B70C0}"/>
              </a:ext>
            </a:extLst>
          </p:cNvPr>
          <p:cNvSpPr>
            <a:spLocks xmlns:a="http://schemas.openxmlformats.org/drawingml/2006/main" noGrp="1"/>
          </p:cNvSpPr>
          <p:nvPr/>
        </p:nvSpPr>
        <p:spPr>
          <a:xfrm xmlns:a="http://schemas.openxmlformats.org/drawingml/2006/main">
            <a:off x="70485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7293095A-6B90-4E83-8C7B-DB75DFB8B43D}"/>
              </a:ext>
            </a:extLst>
          </p:cNvPr>
          <p:cNvSpPr>
            <a:spLocks xmlns:a="http://schemas.openxmlformats.org/drawingml/2006/main" noGrp="1"/>
          </p:cNvSpPr>
          <p:nvPr/>
        </p:nvSpPr>
        <p:spPr>
          <a:xfrm xmlns:a="http://schemas.openxmlformats.org/drawingml/2006/main">
            <a:off x="762000" y="2266950"/>
            <a:ext cx="304800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E835AEEC-113B-4175-BC3B-FAAD1F7FA286}"/>
              </a:ext>
            </a:extLst>
          </p:cNvPr>
          <p:cNvSpPr>
            <a:spLocks xmlns:a="http://schemas.openxmlformats.org/drawingml/2006/main" noGrp="1"/>
          </p:cNvSpPr>
          <p:nvPr/>
        </p:nvSpPr>
        <p:spPr>
          <a:xfrm xmlns:a="http://schemas.openxmlformats.org/drawingml/2006/main">
            <a:off x="91440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1장</a:t>
            </a:r>
          </a:p>
        </p:txBody>
      </p:sp>
      <p:sp>
        <p:nvSpPr>
          <p:cNvPr id="17" name="">
            <a:extLst xmlns:a="http://schemas.openxmlformats.org/drawingml/2006/main">
              <a:ext uri="{FF2B5EF4-FFF2-40B4-BE49-F238E27FC236}">
                <a16:creationId xmlns:a16="http://schemas.microsoft.com/office/drawing/2014/main" id="{2E74AFA9-C5BE-4E6F-9DBF-A6289362A6B9}"/>
              </a:ext>
            </a:extLst>
          </p:cNvPr>
          <p:cNvSpPr>
            <a:spLocks xmlns:a="http://schemas.openxmlformats.org/drawingml/2006/main" noGrp="1"/>
          </p:cNvSpPr>
          <p:nvPr/>
        </p:nvSpPr>
        <p:spPr>
          <a:xfrm xmlns:a="http://schemas.openxmlformats.org/drawingml/2006/main">
            <a:off x="91440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brain organoid baseline</a:t>
            </a:r>
          </a:p>
          <a:p xmlns:a="http://schemas.openxmlformats.org/drawingml/2006/main">
            <a:pPr algn="l">
              <a:defRPr sz="1200" b="0">
                <a:solidFill>
                  <a:srgbClr val="132024"/>
                </a:solidFill>
              </a:defRPr>
            </a:pPr>
            <a:r>
              <a:rPr sz="1200" b="0">
                <a:solidFill>
                  <a:srgbClr val="132024"/>
                </a:solidFill>
              </a:rPr>
              <a:t>family whole cerebral -&gt;</a:t>
            </a:r>
          </a:p>
          <a:p xmlns:a="http://schemas.openxmlformats.org/drawingml/2006/main">
            <a:pPr algn="l">
              <a:defRPr sz="1200" b="0">
                <a:solidFill>
                  <a:srgbClr val="132024"/>
                </a:solidFill>
              </a:defRPr>
            </a:pPr>
            <a:r>
              <a:rPr sz="1200" b="0">
                <a:solidFill>
                  <a:srgbClr val="132024"/>
                </a:solidFill>
              </a:rPr>
              <a:t>forebrain / cortical -&gt;</a:t>
            </a:r>
          </a:p>
          <a:p xmlns:a="http://schemas.openxmlformats.org/drawingml/2006/main">
            <a:pPr algn="l">
              <a:defRPr sz="1200" b="0">
                <a:solidFill>
                  <a:srgbClr val="132024"/>
                </a:solidFill>
              </a:defRPr>
            </a:pPr>
            <a:r>
              <a:rPr sz="1200" b="0">
                <a:solidFill>
                  <a:srgbClr val="132024"/>
                </a:solidFill>
              </a:rPr>
              <a:t>posterior / niche routes</a:t>
            </a:r>
          </a:p>
        </p:txBody>
      </p:sp>
      <p:sp>
        <p:nvSpPr>
          <p:cNvPr id="18" name="">
            <a:extLst xmlns:a="http://schemas.openxmlformats.org/drawingml/2006/main">
              <a:ext uri="{FF2B5EF4-FFF2-40B4-BE49-F238E27FC236}">
                <a16:creationId xmlns:a16="http://schemas.microsoft.com/office/drawing/2014/main" id="{757387DE-C5A8-4912-80E6-3A718B059F53}"/>
              </a:ext>
            </a:extLst>
          </p:cNvPr>
          <p:cNvSpPr>
            <a:spLocks xmlns:a="http://schemas.openxmlformats.org/drawingml/2006/main" noGrp="1"/>
          </p:cNvSpPr>
          <p:nvPr/>
        </p:nvSpPr>
        <p:spPr>
          <a:xfrm xmlns:a="http://schemas.openxmlformats.org/drawingml/2006/main">
            <a:off x="400050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19" name="">
            <a:extLst xmlns:a="http://schemas.openxmlformats.org/drawingml/2006/main">
              <a:ext uri="{FF2B5EF4-FFF2-40B4-BE49-F238E27FC236}">
                <a16:creationId xmlns:a16="http://schemas.microsoft.com/office/drawing/2014/main" id="{16534786-5A0B-4B1C-AF92-A09120D140DA}"/>
              </a:ext>
            </a:extLst>
          </p:cNvPr>
          <p:cNvSpPr>
            <a:spLocks xmlns:a="http://schemas.openxmlformats.org/drawingml/2006/main" noGrp="1"/>
          </p:cNvSpPr>
          <p:nvPr/>
        </p:nvSpPr>
        <p:spPr>
          <a:xfrm xmlns:a="http://schemas.openxmlformats.org/drawingml/2006/main">
            <a:off x="4762500" y="2209800"/>
            <a:ext cx="31623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0" name="">
            <a:extLst xmlns:a="http://schemas.openxmlformats.org/drawingml/2006/main">
              <a:ext uri="{FF2B5EF4-FFF2-40B4-BE49-F238E27FC236}">
                <a16:creationId xmlns:a16="http://schemas.microsoft.com/office/drawing/2014/main" id="{91E0A471-DC98-4821-B7E6-B9345718BA62}"/>
              </a:ext>
            </a:extLst>
          </p:cNvPr>
          <p:cNvSpPr>
            <a:spLocks xmlns:a="http://schemas.openxmlformats.org/drawingml/2006/main" noGrp="1"/>
          </p:cNvSpPr>
          <p:nvPr/>
        </p:nvSpPr>
        <p:spPr>
          <a:xfrm xmlns:a="http://schemas.openxmlformats.org/drawingml/2006/main">
            <a:off x="4819650" y="2266950"/>
            <a:ext cx="304800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1" name="">
            <a:extLst xmlns:a="http://schemas.openxmlformats.org/drawingml/2006/main">
              <a:ext uri="{FF2B5EF4-FFF2-40B4-BE49-F238E27FC236}">
                <a16:creationId xmlns:a16="http://schemas.microsoft.com/office/drawing/2014/main" id="{6FD67013-6B8F-4367-9300-E3992435FD73}"/>
              </a:ext>
            </a:extLst>
          </p:cNvPr>
          <p:cNvSpPr>
            <a:spLocks xmlns:a="http://schemas.openxmlformats.org/drawingml/2006/main" noGrp="1"/>
          </p:cNvSpPr>
          <p:nvPr/>
        </p:nvSpPr>
        <p:spPr>
          <a:xfrm xmlns:a="http://schemas.openxmlformats.org/drawingml/2006/main">
            <a:off x="4972050" y="2400300"/>
            <a:ext cx="27432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2장</a:t>
            </a:r>
          </a:p>
        </p:txBody>
      </p:sp>
      <p:sp>
        <p:nvSpPr>
          <p:cNvPr id="22" name="">
            <a:extLst xmlns:a="http://schemas.openxmlformats.org/drawingml/2006/main">
              <a:ext uri="{FF2B5EF4-FFF2-40B4-BE49-F238E27FC236}">
                <a16:creationId xmlns:a16="http://schemas.microsoft.com/office/drawing/2014/main" id="{4FC787B4-9624-4ACA-8F51-8BF1B9BF08E3}"/>
              </a:ext>
            </a:extLst>
          </p:cNvPr>
          <p:cNvSpPr>
            <a:spLocks xmlns:a="http://schemas.openxmlformats.org/drawingml/2006/main" noGrp="1"/>
          </p:cNvSpPr>
          <p:nvPr/>
        </p:nvSpPr>
        <p:spPr>
          <a:xfrm xmlns:a="http://schemas.openxmlformats.org/drawingml/2006/main">
            <a:off x="4972050" y="2819400"/>
            <a:ext cx="27432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protocol benchmark axes</a:t>
            </a:r>
          </a:p>
          <a:p xmlns:a="http://schemas.openxmlformats.org/drawingml/2006/main">
            <a:pPr algn="l">
              <a:defRPr sz="1200" b="0">
                <a:solidFill>
                  <a:srgbClr val="132024"/>
                </a:solidFill>
              </a:defRPr>
            </a:pPr>
            <a:r>
              <a:rPr sz="1200" b="0">
                <a:solidFill>
                  <a:srgbClr val="132024"/>
                </a:solidFill>
              </a:rPr>
              <a:t>reproducibility, fidelity,</a:t>
            </a:r>
          </a:p>
          <a:p xmlns:a="http://schemas.openxmlformats.org/drawingml/2006/main">
            <a:pPr algn="l">
              <a:defRPr sz="1200" b="0">
                <a:solidFill>
                  <a:srgbClr val="132024"/>
                </a:solidFill>
              </a:defRPr>
            </a:pPr>
            <a:r>
              <a:rPr sz="1200" b="0">
                <a:solidFill>
                  <a:srgbClr val="132024"/>
                </a:solidFill>
              </a:rPr>
              <a:t>timing, atlas alignment</a:t>
            </a:r>
          </a:p>
        </p:txBody>
      </p:sp>
      <p:sp>
        <p:nvSpPr>
          <p:cNvPr id="23" name="">
            <a:extLst xmlns:a="http://schemas.openxmlformats.org/drawingml/2006/main">
              <a:ext uri="{FF2B5EF4-FFF2-40B4-BE49-F238E27FC236}">
                <a16:creationId xmlns:a16="http://schemas.microsoft.com/office/drawing/2014/main" id="{C2617551-BF59-4210-9337-63715BE8D4CF}"/>
              </a:ext>
            </a:extLst>
          </p:cNvPr>
          <p:cNvSpPr>
            <a:spLocks xmlns:a="http://schemas.openxmlformats.org/drawingml/2006/main" noGrp="1"/>
          </p:cNvSpPr>
          <p:nvPr/>
        </p:nvSpPr>
        <p:spPr>
          <a:xfrm xmlns:a="http://schemas.openxmlformats.org/drawingml/2006/main">
            <a:off x="8058150" y="3257550"/>
            <a:ext cx="704850" cy="228600"/>
          </a:xfrm>
          <a:prstGeom xmlns:a="http://schemas.openxmlformats.org/drawingml/2006/main" prst="rightArrow">
            <a:avLst/>
          </a:prstGeom>
          <a:solidFill xmlns:a="http://schemas.openxmlformats.org/drawingml/2006/main">
            <a:srgbClr val="F4E8C8"/>
          </a:solidFill>
          <a:ln xmlns:a="http://schemas.openxmlformats.org/drawingml/2006/main" w="9525">
            <a:solidFill>
              <a:srgbClr val="132024"/>
            </a:solidFill>
            <a:prstDash val="solid"/>
          </a:ln>
        </p:spPr>
      </p:sp>
      <p:sp>
        <p:nvSpPr>
          <p:cNvPr id="24" name="">
            <a:extLst xmlns:a="http://schemas.openxmlformats.org/drawingml/2006/main">
              <a:ext uri="{FF2B5EF4-FFF2-40B4-BE49-F238E27FC236}">
                <a16:creationId xmlns:a16="http://schemas.microsoft.com/office/drawing/2014/main" id="{65D195EE-9070-4C42-A770-037440E8F812}"/>
              </a:ext>
            </a:extLst>
          </p:cNvPr>
          <p:cNvSpPr>
            <a:spLocks xmlns:a="http://schemas.openxmlformats.org/drawingml/2006/main" noGrp="1"/>
          </p:cNvSpPr>
          <p:nvPr/>
        </p:nvSpPr>
        <p:spPr>
          <a:xfrm xmlns:a="http://schemas.openxmlformats.org/drawingml/2006/main">
            <a:off x="8820150" y="2209800"/>
            <a:ext cx="2667000" cy="2400300"/>
          </a:xfrm>
          <a:prstGeom xmlns:a="http://schemas.openxmlformats.org/drawingml/2006/main" prst="roundRect">
            <a:avLst>
              <a:gd name="adj" fmla="val 317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5" name="">
            <a:extLst xmlns:a="http://schemas.openxmlformats.org/drawingml/2006/main">
              <a:ext uri="{FF2B5EF4-FFF2-40B4-BE49-F238E27FC236}">
                <a16:creationId xmlns:a16="http://schemas.microsoft.com/office/drawing/2014/main" id="{1DEBD550-FB08-4A0A-B89E-031612C1EB96}"/>
              </a:ext>
            </a:extLst>
          </p:cNvPr>
          <p:cNvSpPr>
            <a:spLocks xmlns:a="http://schemas.openxmlformats.org/drawingml/2006/main" noGrp="1"/>
          </p:cNvSpPr>
          <p:nvPr/>
        </p:nvSpPr>
        <p:spPr>
          <a:xfrm xmlns:a="http://schemas.openxmlformats.org/drawingml/2006/main">
            <a:off x="8877300" y="2266950"/>
            <a:ext cx="25527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6" name="">
            <a:extLst xmlns:a="http://schemas.openxmlformats.org/drawingml/2006/main">
              <a:ext uri="{FF2B5EF4-FFF2-40B4-BE49-F238E27FC236}">
                <a16:creationId xmlns:a16="http://schemas.microsoft.com/office/drawing/2014/main" id="{AB60BCF1-CDA8-450C-9BCE-03CF44EB574E}"/>
              </a:ext>
            </a:extLst>
          </p:cNvPr>
          <p:cNvSpPr>
            <a:spLocks xmlns:a="http://schemas.openxmlformats.org/drawingml/2006/main" noGrp="1"/>
          </p:cNvSpPr>
          <p:nvPr/>
        </p:nvSpPr>
        <p:spPr>
          <a:xfrm xmlns:a="http://schemas.openxmlformats.org/drawingml/2006/main">
            <a:off x="9029700" y="2400300"/>
            <a:ext cx="22479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리뷰 3장</a:t>
            </a:r>
          </a:p>
        </p:txBody>
      </p:sp>
      <p:sp>
        <p:nvSpPr>
          <p:cNvPr id="27" name="">
            <a:extLst xmlns:a="http://schemas.openxmlformats.org/drawingml/2006/main">
              <a:ext uri="{FF2B5EF4-FFF2-40B4-BE49-F238E27FC236}">
                <a16:creationId xmlns:a16="http://schemas.microsoft.com/office/drawing/2014/main" id="{01B6E976-E079-4B94-9D63-7B13664E6B50}"/>
              </a:ext>
            </a:extLst>
          </p:cNvPr>
          <p:cNvSpPr>
            <a:spLocks xmlns:a="http://schemas.openxmlformats.org/drawingml/2006/main" noGrp="1"/>
          </p:cNvSpPr>
          <p:nvPr/>
        </p:nvSpPr>
        <p:spPr>
          <a:xfrm xmlns:a="http://schemas.openxmlformats.org/drawingml/2006/main">
            <a:off x="9029700" y="2819400"/>
            <a:ext cx="2247900" cy="16192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readout-first selection</a:t>
            </a:r>
          </a:p>
          <a:p xmlns:a="http://schemas.openxmlformats.org/drawingml/2006/main">
            <a:pPr algn="l">
              <a:defRPr sz="1200" b="0">
                <a:solidFill>
                  <a:srgbClr val="132024"/>
                </a:solidFill>
              </a:defRPr>
            </a:pPr>
            <a:r>
              <a:rPr sz="1200" b="0">
                <a:solidFill>
                  <a:srgbClr val="132024"/>
                </a:solidFill>
              </a:rPr>
              <a:t>rule MEA, host, atlas,</a:t>
            </a:r>
          </a:p>
          <a:p xmlns:a="http://schemas.openxmlformats.org/drawingml/2006/main">
            <a:pPr algn="l">
              <a:defRPr sz="1200" b="0">
                <a:solidFill>
                  <a:srgbClr val="132024"/>
                </a:solidFill>
              </a:defRPr>
            </a:pPr>
            <a:r>
              <a:rPr sz="1200" b="0">
                <a:solidFill>
                  <a:srgbClr val="132024"/>
                </a:solidFill>
              </a:rPr>
              <a:t>screening</a:t>
            </a:r>
          </a:p>
        </p:txBody>
      </p:sp>
      <p:sp>
        <p:nvSpPr>
          <p:cNvPr id="28" name="">
            <a:extLst xmlns:a="http://schemas.openxmlformats.org/drawingml/2006/main">
              <a:ext uri="{FF2B5EF4-FFF2-40B4-BE49-F238E27FC236}">
                <a16:creationId xmlns:a16="http://schemas.microsoft.com/office/drawing/2014/main" id="{AD992D86-75EB-4010-B7D2-6EABFFED092A}"/>
              </a:ext>
            </a:extLst>
          </p:cNvPr>
          <p:cNvSpPr>
            <a:spLocks xmlns:a="http://schemas.openxmlformats.org/drawingml/2006/main" noGrp="1"/>
          </p:cNvSpPr>
          <p:nvPr/>
        </p:nvSpPr>
        <p:spPr>
          <a:xfrm xmlns:a="http://schemas.openxmlformats.org/drawingml/2006/main">
            <a:off x="723900" y="5029200"/>
            <a:ext cx="10744200" cy="819150"/>
          </a:xfrm>
          <a:prstGeom xmlns:a="http://schemas.openxmlformats.org/drawingml/2006/main" prst="roundRect">
            <a:avLst>
              <a:gd name="adj" fmla="val 9302"/>
            </a:avLst>
          </a:prstGeom>
          <a:solidFill xmlns:a="http://schemas.openxmlformats.org/drawingml/2006/main">
            <a:srgbClr val="F4E8C8"/>
          </a:solidFill>
          <a:ln xmlns:a="http://schemas.openxmlformats.org/drawingml/2006/main" w="11430">
            <a:solidFill>
              <a:srgbClr val="132024"/>
            </a:solidFill>
            <a:prstDash val="solid"/>
          </a:ln>
        </p:spPr>
      </p:sp>
      <p:sp>
        <p:nvSpPr>
          <p:cNvPr id="29" name="">
            <a:extLst xmlns:a="http://schemas.openxmlformats.org/drawingml/2006/main">
              <a:ext uri="{FF2B5EF4-FFF2-40B4-BE49-F238E27FC236}">
                <a16:creationId xmlns:a16="http://schemas.microsoft.com/office/drawing/2014/main" id="{D7DBA247-5D5F-447C-9634-0E4C809D8C6D}"/>
              </a:ext>
            </a:extLst>
          </p:cNvPr>
          <p:cNvSpPr>
            <a:spLocks xmlns:a="http://schemas.openxmlformats.org/drawingml/2006/main" noGrp="1"/>
          </p:cNvSpPr>
          <p:nvPr/>
        </p:nvSpPr>
        <p:spPr>
          <a:xfrm xmlns:a="http://schemas.openxmlformats.org/drawingml/2006/main">
            <a:off x="771525" y="5076825"/>
            <a:ext cx="57150" cy="7239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0" name="">
            <a:extLst xmlns:a="http://schemas.openxmlformats.org/drawingml/2006/main">
              <a:ext uri="{FF2B5EF4-FFF2-40B4-BE49-F238E27FC236}">
                <a16:creationId xmlns:a16="http://schemas.microsoft.com/office/drawing/2014/main" id="{930A3888-3BC8-4C99-A0E0-4B165DF86433}"/>
              </a:ext>
            </a:extLst>
          </p:cNvPr>
          <p:cNvSpPr>
            <a:spLocks xmlns:a="http://schemas.openxmlformats.org/drawingml/2006/main" noGrp="1"/>
          </p:cNvSpPr>
          <p:nvPr/>
        </p:nvSpPr>
        <p:spPr>
          <a:xfrm xmlns:a="http://schemas.openxmlformats.org/drawingml/2006/main">
            <a:off x="933450" y="5181600"/>
            <a:ext cx="103632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즉 발표는 질문이 변한 과정을 보여주고, 리뷰 논문은 그 과정이 남긴 organizing principle을 글의 장 구조로 고정한다.</a:t>
            </a:r>
          </a:p>
        </p:txBody>
      </p:sp>
      <p:sp>
        <p:nvSpPr>
          <p:cNvPr id="31" name="">
            <a:extLst xmlns:a="http://schemas.openxmlformats.org/drawingml/2006/main">
              <a:ext uri="{FF2B5EF4-FFF2-40B4-BE49-F238E27FC236}">
                <a16:creationId xmlns:a16="http://schemas.microsoft.com/office/drawing/2014/main" id="{DAC37E43-FC2D-48A4-819A-2F97F0C2DC44}"/>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발표와 리뷰 논문이 따로 노는 것이 아니라, 같은 위키 체인의 서로 다른 출력물이라는 점을 보여준다.</a:t>
            </a:r>
          </a:p>
        </p:txBody>
      </p:sp>
    </p:spTree>
    <p:extLst>
      <p:ext uri="{BB962C8B-B14F-4D97-AF65-F5344CB8AC3E}">
        <p14:creationId xmlns:p14="http://schemas.microsoft.com/office/powerpoint/2010/main" val="1781088976"/>
      </p:ext>
    </p:extLst>
  </p:cSld>
</p:sld>
</file>

<file path=ppt/slides/slide12.xml><?xml version="1.0" encoding="utf-8"?>
<p:sld xmlns:p="http://schemas.openxmlformats.org/presentationml/2006/main">
  <p:cSld>
    <p:bg>
      <p:bgPr>
        <a:solidFill xmlns:a="http://schemas.openxmlformats.org/drawingml/2006/main">
          <a:srgbClr val="F7F1E7"/>
        </a:solidFill>
      </p:bgPr>
    </p:bg>
    <p:spTree>
      <p:nvGrpSpPr>
        <p:cNvPr id="1" name=""/>
        <p:cNvGrpSpPr/>
        <p:nvPr/>
      </p:nvGrpSpPr>
      <p:grpSpPr>
        <a:xfrm xmlns:a="http://schemas.openxmlformats.org/drawingml/2006/main"/>
      </p:grpSpPr>
      <p:sp>
        <p:nvSpPr>
          <p:cNvPr id="1" name="Slide Number Placeholder 5">
            <a:extLst xmlns:a="http://schemas.openxmlformats.org/drawingml/2006/main">
              <a:ext uri="{FF2B5EF4-FFF2-40B4-BE49-F238E27FC236}">
                <a16:creationId xmlns:a16="http://schemas.microsoft.com/office/drawing/2014/main" id="{11DAD1DA-DD27-4C25-AFB7-E057ACC56EC0}"/>
              </a:ext>
            </a:extLst>
          </p:cNvPr>
          <p:cNvSpPr>
            <a:spLocks xmlns:a="http://schemas.openxmlformats.org/drawingml/2006/main" noGrp="1"/>
          </p:cNvSpPr>
          <p:nvPr>
            <p:ph type="sldNum" idx="12"/>
          </p:nvPr>
        </p:nvSpPr>
        <p:spPr>
          <a:xfrm xmlns:a="http://schemas.openxmlformats.org/drawingml/2006/main">
            <a:off x="1524000" y="1122363"/>
            <a:ext cx="9144000" cy="2387600"/>
          </a:xfrm>
        </p:spPr>
        <p:txBody>
          <a:bodyPr xmlns:a="http://schemas.openxmlformats.org/drawingml/2006/main"/>
          <a:lstStyle xmlns:a="http://schemas.openxmlformats.org/drawingml/2006/main"/>
          <a:p xmlns:a="http://schemas.openxmlformats.org/drawingml/2006/main">
            <a:r>
              <a:t/>
            </a:r>
          </a:p>
        </p:txBody>
      </p:sp>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e02595e97b74128"/>
          <a:srcRect xmlns:a="http://schemas.openxmlformats.org/drawingml/2006/main" l="0" t="21875" r="0" b="21875"/>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7F53D66D-E3F3-4C3E-B061-D5C8F654B40C}"/>
              </a:ext>
            </a:extLst>
          </p:cNvPr>
          <p:cNvSpPr>
            <a:spLocks xmlns:a="http://schemas.openxmlformats.org/drawingml/2006/main" noGrp="1"/>
          </p:cNvSpPr>
          <p:nvPr/>
        </p:nvSpPr>
        <p:spPr>
          <a:xfrm xmlns:a="http://schemas.openxmlformats.org/drawingml/2006/main">
            <a:off x="7867650" y="781050"/>
            <a:ext cx="3638550" cy="3638550"/>
          </a:xfrm>
          <a:prstGeom xmlns:a="http://schemas.openxmlformats.org/drawingml/2006/main" prst="ellipse">
            <a:avLst/>
          </a:prstGeom>
          <a:solidFill xmlns:a="http://schemas.openxmlformats.org/drawingml/2006/main">
            <a:srgbClr val="E4F5EC"/>
          </a:solidFill>
          <a:ln xmlns:a="http://schemas.openxmlformats.org/drawingml/2006/main" w="0">
            <a:solidFill>
              <a:srgbClr val="000000">
                <a:alpha val="0"/>
              </a:srgbClr>
            </a:solidFill>
            <a:prstDash val="solid"/>
          </a:ln>
        </p:spPr>
      </p:sp>
      <p:sp>
        <p:nvSpPr>
          <p:cNvPr id="4" name="">
            <a:extLst xmlns:a="http://schemas.openxmlformats.org/drawingml/2006/main">
              <a:ext uri="{FF2B5EF4-FFF2-40B4-BE49-F238E27FC236}">
                <a16:creationId xmlns:a16="http://schemas.microsoft.com/office/drawing/2014/main" id="{33680555-CAD7-4C48-AAD8-238494A9B859}"/>
              </a:ext>
            </a:extLst>
          </p:cNvPr>
          <p:cNvSpPr>
            <a:spLocks xmlns:a="http://schemas.openxmlformats.org/drawingml/2006/main" noGrp="1"/>
          </p:cNvSpPr>
          <p:nvPr/>
        </p:nvSpPr>
        <p:spPr>
          <a:xfrm xmlns:a="http://schemas.openxmlformats.org/drawingml/2006/main">
            <a:off x="9220200" y="4152900"/>
            <a:ext cx="1962150" cy="1962150"/>
          </a:xfrm>
          <a:prstGeom xmlns:a="http://schemas.openxmlformats.org/drawingml/2006/main" prst="ellipse">
            <a:avLst/>
          </a:prstGeom>
          <a:solidFill xmlns:a="http://schemas.openxmlformats.org/drawingml/2006/main">
            <a:srgbClr val="F6EAD0"/>
          </a:solidFill>
          <a:ln xmlns:a="http://schemas.openxmlformats.org/drawingml/2006/main" w="0">
            <a:solidFill>
              <a:srgbClr val="000000">
                <a:alpha val="0"/>
              </a:srgbClr>
            </a:solidFill>
            <a:prstDash val="solid"/>
          </a:ln>
        </p:spPr>
      </p:sp>
      <p:sp>
        <p:nvSpPr>
          <p:cNvPr id="5" name="">
            <a:extLst xmlns:a="http://schemas.openxmlformats.org/drawingml/2006/main">
              <a:ext uri="{FF2B5EF4-FFF2-40B4-BE49-F238E27FC236}">
                <a16:creationId xmlns:a16="http://schemas.microsoft.com/office/drawing/2014/main" id="{1EAF1C36-53AD-4680-9978-657F3F7D7402}"/>
              </a:ext>
            </a:extLst>
          </p:cNvPr>
          <p:cNvSpPr>
            <a:spLocks xmlns:a="http://schemas.openxmlformats.org/drawingml/2006/main" noGrp="1"/>
          </p:cNvSpPr>
          <p:nvPr/>
        </p:nvSpPr>
        <p:spPr>
          <a:xfrm xmlns:a="http://schemas.openxmlformats.org/drawingml/2006/main">
            <a:off x="8534400" y="1409700"/>
            <a:ext cx="2457450" cy="1409700"/>
          </a:xfrm>
          <a:prstGeom xmlns:a="http://schemas.openxmlformats.org/drawingml/2006/main" prst="roundRect">
            <a:avLst>
              <a:gd name="adj" fmla="val 5405"/>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6" name="">
            <a:extLst xmlns:a="http://schemas.openxmlformats.org/drawingml/2006/main">
              <a:ext uri="{FF2B5EF4-FFF2-40B4-BE49-F238E27FC236}">
                <a16:creationId xmlns:a16="http://schemas.microsoft.com/office/drawing/2014/main" id="{81B2AC8D-3924-4194-8A8F-B6AB0C93505E}"/>
              </a:ext>
            </a:extLst>
          </p:cNvPr>
          <p:cNvSpPr>
            <a:spLocks xmlns:a="http://schemas.openxmlformats.org/drawingml/2006/main" noGrp="1"/>
          </p:cNvSpPr>
          <p:nvPr/>
        </p:nvSpPr>
        <p:spPr>
          <a:xfrm xmlns:a="http://schemas.openxmlformats.org/drawingml/2006/main">
            <a:off x="9010650" y="3067050"/>
            <a:ext cx="2152650" cy="1123950"/>
          </a:xfrm>
          <a:prstGeom xmlns:a="http://schemas.openxmlformats.org/drawingml/2006/main" prst="roundRect">
            <a:avLst>
              <a:gd name="adj" fmla="val 6780"/>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7" name="">
            <a:extLst xmlns:a="http://schemas.openxmlformats.org/drawingml/2006/main">
              <a:ext uri="{FF2B5EF4-FFF2-40B4-BE49-F238E27FC236}">
                <a16:creationId xmlns:a16="http://schemas.microsoft.com/office/drawing/2014/main" id="{0812CB29-5BD1-4027-B0DA-EB4885B8EF0F}"/>
              </a:ext>
            </a:extLst>
          </p:cNvPr>
          <p:cNvSpPr>
            <a:spLocks xmlns:a="http://schemas.openxmlformats.org/drawingml/2006/main" noGrp="1"/>
          </p:cNvSpPr>
          <p:nvPr/>
        </p:nvSpPr>
        <p:spPr>
          <a:xfrm xmlns:a="http://schemas.openxmlformats.org/drawingml/2006/main">
            <a:off x="8039100" y="4629150"/>
            <a:ext cx="2000250" cy="914400"/>
          </a:xfrm>
          <a:prstGeom xmlns:a="http://schemas.openxmlformats.org/drawingml/2006/main" prst="roundRect">
            <a:avLst>
              <a:gd name="adj" fmla="val 8333"/>
            </a:avLst>
          </a:prstGeom>
          <a:solidFill xmlns:a="http://schemas.openxmlformats.org/drawingml/2006/main">
            <a:srgbClr val="FFFDF8">
              <a:alpha val="96863"/>
            </a:srgbClr>
          </a:solidFill>
          <a:ln xmlns:a="http://schemas.openxmlformats.org/drawingml/2006/main" w="9525">
            <a:solidFill>
              <a:srgbClr val="132024"/>
            </a:solidFill>
            <a:prstDash val="solid"/>
          </a:ln>
        </p:spPr>
      </p:sp>
      <p:sp>
        <p:nvSpPr>
          <p:cNvPr id="8" name="">
            <a:extLst xmlns:a="http://schemas.openxmlformats.org/drawingml/2006/main">
              <a:ext uri="{FF2B5EF4-FFF2-40B4-BE49-F238E27FC236}">
                <a16:creationId xmlns:a16="http://schemas.microsoft.com/office/drawing/2014/main" id="{BC7B471B-E036-454B-941E-6EE2B7776F91}"/>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FFCF7">
              <a:alpha val="80000"/>
            </a:srgbClr>
          </a:solidFill>
          <a:ln xmlns:a="http://schemas.openxmlformats.org/drawingml/2006/main" w="0">
            <a:solidFill>
              <a:srgbClr val="000000">
                <a:alpha val="0"/>
              </a:srgbClr>
            </a:solidFill>
            <a:prstDash val="solid"/>
          </a:ln>
        </p:spPr>
      </p:sp>
      <p:sp>
        <p:nvSpPr>
          <p:cNvPr id="9" name="">
            <a:extLst xmlns:a="http://schemas.openxmlformats.org/drawingml/2006/main">
              <a:ext uri="{FF2B5EF4-FFF2-40B4-BE49-F238E27FC236}">
                <a16:creationId xmlns:a16="http://schemas.microsoft.com/office/drawing/2014/main" id="{B7B2CDE8-D13C-4D1E-BAF5-54CBF7266671}"/>
              </a:ext>
            </a:extLst>
          </p:cNvPr>
          <p:cNvSpPr>
            <a:spLocks xmlns:a="http://schemas.openxmlformats.org/drawingml/2006/main" noGrp="1"/>
          </p:cNvSpPr>
          <p:nvPr/>
        </p:nvSpPr>
        <p:spPr>
          <a:xfrm xmlns:a="http://schemas.openxmlformats.org/drawingml/2006/main">
            <a:off x="609600" y="323850"/>
            <a:ext cx="47625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75" b="1">
                <a:solidFill>
                  <a:srgbClr val="0F5B3F"/>
                </a:solidFill>
              </a:defRPr>
            </a:pPr>
            <a:r>
              <a:rPr sz="975" b="1">
                <a:solidFill>
                  <a:srgbClr val="0F5B3F"/>
                </a:solidFill>
              </a:rPr>
              <a:t>CLOSING</a:t>
            </a:r>
          </a:p>
        </p:txBody>
      </p:sp>
      <p:sp>
        <p:nvSpPr>
          <p:cNvPr id="10" name="">
            <a:extLst xmlns:a="http://schemas.openxmlformats.org/drawingml/2006/main">
              <a:ext uri="{FF2B5EF4-FFF2-40B4-BE49-F238E27FC236}">
                <a16:creationId xmlns:a16="http://schemas.microsoft.com/office/drawing/2014/main" id="{8AF36DA3-8200-427E-AE9C-6B1899BCB132}"/>
              </a:ext>
            </a:extLst>
          </p:cNvPr>
          <p:cNvSpPr>
            <a:spLocks xmlns:a="http://schemas.openxmlformats.org/drawingml/2006/main" noGrp="1"/>
          </p:cNvSpPr>
          <p:nvPr/>
        </p:nvSpPr>
        <p:spPr>
          <a:xfrm xmlns:a="http://schemas.openxmlformats.org/drawingml/2006/main">
            <a:off x="10610850" y="323850"/>
            <a:ext cx="990600" cy="2286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975" b="1">
                <a:solidFill>
                  <a:srgbClr val="0F5B3F"/>
                </a:solidFill>
              </a:defRPr>
            </a:pPr>
            <a:r>
              <a:rPr sz="975" b="1">
                <a:solidFill>
                  <a:srgbClr val="0F5B3F"/>
                </a:solidFill>
              </a:rPr>
              <a:t>12 / 12</a:t>
            </a:r>
          </a:p>
        </p:txBody>
      </p:sp>
      <p:sp>
        <p:nvSpPr>
          <p:cNvPr id="11" name="">
            <a:extLst xmlns:a="http://schemas.openxmlformats.org/drawingml/2006/main">
              <a:ext uri="{FF2B5EF4-FFF2-40B4-BE49-F238E27FC236}">
                <a16:creationId xmlns:a16="http://schemas.microsoft.com/office/drawing/2014/main" id="{070D3F0C-7DC8-4D23-BA65-CD3AD9EB5574}"/>
              </a:ext>
            </a:extLst>
          </p:cNvPr>
          <p:cNvSpPr>
            <a:spLocks xmlns:a="http://schemas.openxmlformats.org/drawingml/2006/main" noGrp="1"/>
          </p:cNvSpPr>
          <p:nvPr/>
        </p:nvSpPr>
        <p:spPr>
          <a:xfrm xmlns:a="http://schemas.openxmlformats.org/drawingml/2006/main">
            <a:off x="609600" y="609600"/>
            <a:ext cx="10972800" cy="19050"/>
          </a:xfrm>
          <a:prstGeom xmlns:a="http://schemas.openxmlformats.org/drawingml/2006/main" prst="rect">
            <a:avLst/>
          </a:prstGeom>
          <a:solidFill xmlns:a="http://schemas.openxmlformats.org/drawingml/2006/main">
            <a:srgbClr val="132024"/>
          </a:solidFill>
          <a:ln xmlns:a="http://schemas.openxmlformats.org/drawingml/2006/main" w="0">
            <a:solidFill>
              <a:srgbClr val="000000">
                <a:alpha val="0"/>
              </a:srgbClr>
            </a:solidFill>
            <a:prstDash val="solid"/>
          </a:ln>
        </p:spPr>
      </p:sp>
      <p:sp>
        <p:nvSpPr>
          <p:cNvPr id="12" name="">
            <a:extLst xmlns:a="http://schemas.openxmlformats.org/drawingml/2006/main">
              <a:ext uri="{FF2B5EF4-FFF2-40B4-BE49-F238E27FC236}">
                <a16:creationId xmlns:a16="http://schemas.microsoft.com/office/drawing/2014/main" id="{9F0074EE-6428-465B-8C7F-BAE1F8C17CDB}"/>
              </a:ext>
            </a:extLst>
          </p:cNvPr>
          <p:cNvSpPr>
            <a:spLocks xmlns:a="http://schemas.openxmlformats.org/drawingml/2006/main" noGrp="1"/>
          </p:cNvSpPr>
          <p:nvPr/>
        </p:nvSpPr>
        <p:spPr>
          <a:xfrm xmlns:a="http://schemas.openxmlformats.org/drawingml/2006/main">
            <a:off x="542925" y="542925"/>
            <a:ext cx="152400" cy="152400"/>
          </a:xfrm>
          <a:prstGeom xmlns:a="http://schemas.openxmlformats.org/drawingml/2006/main" prst="ellipse">
            <a:avLst/>
          </a:prstGeom>
          <a:solidFill xmlns:a="http://schemas.openxmlformats.org/drawingml/2006/main">
            <a:srgbClr val="1D9A69"/>
          </a:solidFill>
          <a:ln xmlns:a="http://schemas.openxmlformats.org/drawingml/2006/main" w="19050">
            <a:solidFill>
              <a:srgbClr val="132024"/>
            </a:solidFill>
            <a:prstDash val="solid"/>
          </a:ln>
        </p:spPr>
      </p:sp>
      <p:sp>
        <p:nvSpPr>
          <p:cNvPr id="13" name="">
            <a:extLst xmlns:a="http://schemas.openxmlformats.org/drawingml/2006/main">
              <a:ext uri="{FF2B5EF4-FFF2-40B4-BE49-F238E27FC236}">
                <a16:creationId xmlns:a16="http://schemas.microsoft.com/office/drawing/2014/main" id="{C66115A8-75B6-4F69-B8FD-740BA6B9C576}"/>
              </a:ext>
            </a:extLst>
          </p:cNvPr>
          <p:cNvSpPr>
            <a:spLocks xmlns:a="http://schemas.openxmlformats.org/drawingml/2006/main" noGrp="1"/>
          </p:cNvSpPr>
          <p:nvPr/>
        </p:nvSpPr>
        <p:spPr>
          <a:xfrm xmlns:a="http://schemas.openxmlformats.org/drawingml/2006/main">
            <a:off x="609600" y="838200"/>
            <a:ext cx="7239000" cy="11239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2850" b="1">
                <a:solidFill>
                  <a:srgbClr val="132024"/>
                </a:solidFill>
              </a:defRPr>
            </a:pPr>
            <a:r>
              <a:rPr sz="2850" b="1">
                <a:solidFill>
                  <a:srgbClr val="132024"/>
                </a:solidFill>
              </a:rPr>
              <a:t>결론과 토론</a:t>
            </a:r>
          </a:p>
        </p:txBody>
      </p:sp>
      <p:sp>
        <p:nvSpPr>
          <p:cNvPr id="14" name="">
            <a:extLst xmlns:a="http://schemas.openxmlformats.org/drawingml/2006/main">
              <a:ext uri="{FF2B5EF4-FFF2-40B4-BE49-F238E27FC236}">
                <a16:creationId xmlns:a16="http://schemas.microsoft.com/office/drawing/2014/main" id="{84A04D33-DE35-430E-BBD2-D329C7C25D98}"/>
              </a:ext>
            </a:extLst>
          </p:cNvPr>
          <p:cNvSpPr>
            <a:spLocks xmlns:a="http://schemas.openxmlformats.org/drawingml/2006/main" noGrp="1"/>
          </p:cNvSpPr>
          <p:nvPr/>
        </p:nvSpPr>
        <p:spPr>
          <a:xfrm xmlns:a="http://schemas.openxmlformats.org/drawingml/2006/main">
            <a:off x="7048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5" name="">
            <a:extLst xmlns:a="http://schemas.openxmlformats.org/drawingml/2006/main">
              <a:ext uri="{FF2B5EF4-FFF2-40B4-BE49-F238E27FC236}">
                <a16:creationId xmlns:a16="http://schemas.microsoft.com/office/drawing/2014/main" id="{4941AA70-50FC-4AB2-8B26-9053DAF2C4AA}"/>
              </a:ext>
            </a:extLst>
          </p:cNvPr>
          <p:cNvSpPr>
            <a:spLocks xmlns:a="http://schemas.openxmlformats.org/drawingml/2006/main" noGrp="1"/>
          </p:cNvSpPr>
          <p:nvPr/>
        </p:nvSpPr>
        <p:spPr>
          <a:xfrm xmlns:a="http://schemas.openxmlformats.org/drawingml/2006/main">
            <a:off x="762000" y="2152650"/>
            <a:ext cx="3028950" cy="5715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16" name="">
            <a:extLst xmlns:a="http://schemas.openxmlformats.org/drawingml/2006/main">
              <a:ext uri="{FF2B5EF4-FFF2-40B4-BE49-F238E27FC236}">
                <a16:creationId xmlns:a16="http://schemas.microsoft.com/office/drawing/2014/main" id="{9CD0976B-3D07-4751-BB17-4313839957AC}"/>
              </a:ext>
            </a:extLst>
          </p:cNvPr>
          <p:cNvSpPr>
            <a:spLocks xmlns:a="http://schemas.openxmlformats.org/drawingml/2006/main" noGrp="1"/>
          </p:cNvSpPr>
          <p:nvPr/>
        </p:nvSpPr>
        <p:spPr>
          <a:xfrm xmlns:a="http://schemas.openxmlformats.org/drawingml/2006/main">
            <a:off x="9144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1</a:t>
            </a:r>
          </a:p>
        </p:txBody>
      </p:sp>
      <p:sp>
        <p:nvSpPr>
          <p:cNvPr id="17" name="">
            <a:extLst xmlns:a="http://schemas.openxmlformats.org/drawingml/2006/main">
              <a:ext uri="{FF2B5EF4-FFF2-40B4-BE49-F238E27FC236}">
                <a16:creationId xmlns:a16="http://schemas.microsoft.com/office/drawing/2014/main" id="{A86DBF77-AB36-4D10-A742-3B29E5782D8C}"/>
              </a:ext>
            </a:extLst>
          </p:cNvPr>
          <p:cNvSpPr>
            <a:spLocks xmlns:a="http://schemas.openxmlformats.org/drawingml/2006/main" noGrp="1"/>
          </p:cNvSpPr>
          <p:nvPr/>
        </p:nvSpPr>
        <p:spPr>
          <a:xfrm xmlns:a="http://schemas.openxmlformats.org/drawingml/2006/main">
            <a:off x="9144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subregion comparison은 좋은</a:t>
            </a:r>
          </a:p>
          <a:p xmlns:a="http://schemas.openxmlformats.org/drawingml/2006/main">
            <a:pPr algn="l">
              <a:defRPr sz="1200" b="0">
                <a:solidFill>
                  <a:srgbClr val="132024"/>
                </a:solidFill>
              </a:defRPr>
            </a:pPr>
            <a:r>
              <a:rPr sz="1200" b="0">
                <a:solidFill>
                  <a:srgbClr val="132024"/>
                </a:solidFill>
              </a:rPr>
              <a:t>출발점이었다. 질문을 broad brain에서</a:t>
            </a:r>
          </a:p>
          <a:p xmlns:a="http://schemas.openxmlformats.org/drawingml/2006/main">
            <a:pPr algn="l">
              <a:defRPr sz="1200" b="0">
                <a:solidFill>
                  <a:srgbClr val="132024"/>
                </a:solidFill>
              </a:defRPr>
            </a:pPr>
            <a:r>
              <a:rPr sz="1200" b="0">
                <a:solidFill>
                  <a:srgbClr val="132024"/>
                </a:solidFill>
              </a:rPr>
              <a:t>subregion choice로 좁혀줬다.</a:t>
            </a:r>
          </a:p>
        </p:txBody>
      </p:sp>
      <p:sp>
        <p:nvSpPr>
          <p:cNvPr id="18" name="">
            <a:extLst xmlns:a="http://schemas.openxmlformats.org/drawingml/2006/main">
              <a:ext uri="{FF2B5EF4-FFF2-40B4-BE49-F238E27FC236}">
                <a16:creationId xmlns:a16="http://schemas.microsoft.com/office/drawing/2014/main" id="{3A569AD4-BA6C-4967-AED6-87CF8926DB53}"/>
              </a:ext>
            </a:extLst>
          </p:cNvPr>
          <p:cNvSpPr>
            <a:spLocks xmlns:a="http://schemas.openxmlformats.org/drawingml/2006/main" noGrp="1"/>
          </p:cNvSpPr>
          <p:nvPr/>
        </p:nvSpPr>
        <p:spPr>
          <a:xfrm xmlns:a="http://schemas.openxmlformats.org/drawingml/2006/main">
            <a:off x="4095750" y="2095500"/>
            <a:ext cx="314325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19" name="">
            <a:extLst xmlns:a="http://schemas.openxmlformats.org/drawingml/2006/main">
              <a:ext uri="{FF2B5EF4-FFF2-40B4-BE49-F238E27FC236}">
                <a16:creationId xmlns:a16="http://schemas.microsoft.com/office/drawing/2014/main" id="{F7FC9D16-8567-4FB2-9380-A2E38B0F4E32}"/>
              </a:ext>
            </a:extLst>
          </p:cNvPr>
          <p:cNvSpPr>
            <a:spLocks xmlns:a="http://schemas.openxmlformats.org/drawingml/2006/main" noGrp="1"/>
          </p:cNvSpPr>
          <p:nvPr/>
        </p:nvSpPr>
        <p:spPr>
          <a:xfrm xmlns:a="http://schemas.openxmlformats.org/drawingml/2006/main">
            <a:off x="4152900" y="2152650"/>
            <a:ext cx="3028950" cy="5715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20" name="">
            <a:extLst xmlns:a="http://schemas.openxmlformats.org/drawingml/2006/main">
              <a:ext uri="{FF2B5EF4-FFF2-40B4-BE49-F238E27FC236}">
                <a16:creationId xmlns:a16="http://schemas.microsoft.com/office/drawing/2014/main" id="{E71306CB-F701-457E-B306-37E7EB503021}"/>
              </a:ext>
            </a:extLst>
          </p:cNvPr>
          <p:cNvSpPr>
            <a:spLocks xmlns:a="http://schemas.openxmlformats.org/drawingml/2006/main" noGrp="1"/>
          </p:cNvSpPr>
          <p:nvPr/>
        </p:nvSpPr>
        <p:spPr>
          <a:xfrm xmlns:a="http://schemas.openxmlformats.org/drawingml/2006/main">
            <a:off x="4305300" y="2286000"/>
            <a:ext cx="272415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2</a:t>
            </a:r>
          </a:p>
        </p:txBody>
      </p:sp>
      <p:sp>
        <p:nvSpPr>
          <p:cNvPr id="21" name="">
            <a:extLst xmlns:a="http://schemas.openxmlformats.org/drawingml/2006/main">
              <a:ext uri="{FF2B5EF4-FFF2-40B4-BE49-F238E27FC236}">
                <a16:creationId xmlns:a16="http://schemas.microsoft.com/office/drawing/2014/main" id="{9B591EB6-1E6A-42F5-9948-9E50B4548137}"/>
              </a:ext>
            </a:extLst>
          </p:cNvPr>
          <p:cNvSpPr>
            <a:spLocks xmlns:a="http://schemas.openxmlformats.org/drawingml/2006/main" noGrp="1"/>
          </p:cNvSpPr>
          <p:nvPr/>
        </p:nvSpPr>
        <p:spPr>
          <a:xfrm xmlns:a="http://schemas.openxmlformats.org/drawingml/2006/main">
            <a:off x="4305300" y="2705100"/>
            <a:ext cx="272415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하지만 benchmark 축이 들어오자, 같은</a:t>
            </a:r>
          </a:p>
          <a:p xmlns:a="http://schemas.openxmlformats.org/drawingml/2006/main">
            <a:pPr algn="l">
              <a:defRPr sz="1200" b="0">
                <a:solidFill>
                  <a:srgbClr val="132024"/>
                </a:solidFill>
              </a:defRPr>
            </a:pPr>
            <a:r>
              <a:rPr sz="1200" b="0">
                <a:solidFill>
                  <a:srgbClr val="132024"/>
                </a:solidFill>
              </a:rPr>
              <a:t>region 안에서도 다른 질문이 생겼다.</a:t>
            </a:r>
          </a:p>
        </p:txBody>
      </p:sp>
      <p:sp>
        <p:nvSpPr>
          <p:cNvPr id="22" name="">
            <a:extLst xmlns:a="http://schemas.openxmlformats.org/drawingml/2006/main">
              <a:ext uri="{FF2B5EF4-FFF2-40B4-BE49-F238E27FC236}">
                <a16:creationId xmlns:a16="http://schemas.microsoft.com/office/drawing/2014/main" id="{D293AD78-B07C-4CBA-BB97-0F5AC346829E}"/>
              </a:ext>
            </a:extLst>
          </p:cNvPr>
          <p:cNvSpPr>
            <a:spLocks xmlns:a="http://schemas.openxmlformats.org/drawingml/2006/main" noGrp="1"/>
          </p:cNvSpPr>
          <p:nvPr/>
        </p:nvSpPr>
        <p:spPr>
          <a:xfrm xmlns:a="http://schemas.openxmlformats.org/drawingml/2006/main">
            <a:off x="7486650" y="2095500"/>
            <a:ext cx="4000500" cy="1676400"/>
          </a:xfrm>
          <a:prstGeom xmlns:a="http://schemas.openxmlformats.org/drawingml/2006/main" prst="roundRect">
            <a:avLst>
              <a:gd name="adj" fmla="val 4545"/>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3" name="">
            <a:extLst xmlns:a="http://schemas.openxmlformats.org/drawingml/2006/main">
              <a:ext uri="{FF2B5EF4-FFF2-40B4-BE49-F238E27FC236}">
                <a16:creationId xmlns:a16="http://schemas.microsoft.com/office/drawing/2014/main" id="{E4A67430-18BF-49F3-8E08-EB91734A3BE2}"/>
              </a:ext>
            </a:extLst>
          </p:cNvPr>
          <p:cNvSpPr>
            <a:spLocks xmlns:a="http://schemas.openxmlformats.org/drawingml/2006/main" noGrp="1"/>
          </p:cNvSpPr>
          <p:nvPr/>
        </p:nvSpPr>
        <p:spPr>
          <a:xfrm xmlns:a="http://schemas.openxmlformats.org/drawingml/2006/main">
            <a:off x="7543800" y="2152650"/>
            <a:ext cx="3886200" cy="57150"/>
          </a:xfrm>
          <a:prstGeom xmlns:a="http://schemas.openxmlformats.org/drawingml/2006/main" prst="rect">
            <a:avLst/>
          </a:prstGeom>
          <a:solidFill xmlns:a="http://schemas.openxmlformats.org/drawingml/2006/main">
            <a:srgbClr val="D66C60"/>
          </a:solidFill>
          <a:ln xmlns:a="http://schemas.openxmlformats.org/drawingml/2006/main" w="0">
            <a:solidFill>
              <a:srgbClr val="000000">
                <a:alpha val="0"/>
              </a:srgbClr>
            </a:solidFill>
            <a:prstDash val="solid"/>
          </a:ln>
        </p:spPr>
      </p:sp>
      <p:sp>
        <p:nvSpPr>
          <p:cNvPr id="24" name="">
            <a:extLst xmlns:a="http://schemas.openxmlformats.org/drawingml/2006/main">
              <a:ext uri="{FF2B5EF4-FFF2-40B4-BE49-F238E27FC236}">
                <a16:creationId xmlns:a16="http://schemas.microsoft.com/office/drawing/2014/main" id="{531C992F-3485-4D83-BCA7-886103207AD2}"/>
              </a:ext>
            </a:extLst>
          </p:cNvPr>
          <p:cNvSpPr>
            <a:spLocks xmlns:a="http://schemas.openxmlformats.org/drawingml/2006/main" noGrp="1"/>
          </p:cNvSpPr>
          <p:nvPr/>
        </p:nvSpPr>
        <p:spPr>
          <a:xfrm xmlns:a="http://schemas.openxmlformats.org/drawingml/2006/main">
            <a:off x="7696200" y="2286000"/>
            <a:ext cx="3581400" cy="2857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125" b="1">
                <a:solidFill>
                  <a:srgbClr val="0F5B3F"/>
                </a:solidFill>
              </a:defRPr>
            </a:pPr>
            <a:r>
              <a:rPr sz="1125" b="1">
                <a:solidFill>
                  <a:srgbClr val="0F5B3F"/>
                </a:solidFill>
              </a:rPr>
              <a:t>takeaway 3</a:t>
            </a:r>
          </a:p>
        </p:txBody>
      </p:sp>
      <p:sp>
        <p:nvSpPr>
          <p:cNvPr id="25" name="">
            <a:extLst xmlns:a="http://schemas.openxmlformats.org/drawingml/2006/main">
              <a:ext uri="{FF2B5EF4-FFF2-40B4-BE49-F238E27FC236}">
                <a16:creationId xmlns:a16="http://schemas.microsoft.com/office/drawing/2014/main" id="{84DFB4E9-A017-46D7-ADEC-47EFC76112CD}"/>
              </a:ext>
            </a:extLst>
          </p:cNvPr>
          <p:cNvSpPr>
            <a:spLocks xmlns:a="http://schemas.openxmlformats.org/drawingml/2006/main" noGrp="1"/>
          </p:cNvSpPr>
          <p:nvPr/>
        </p:nvSpPr>
        <p:spPr>
          <a:xfrm xmlns:a="http://schemas.openxmlformats.org/drawingml/2006/main">
            <a:off x="7696200" y="2705100"/>
            <a:ext cx="3581400" cy="895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00" b="0">
                <a:solidFill>
                  <a:srgbClr val="132024"/>
                </a:solidFill>
              </a:defRPr>
            </a:pPr>
            <a:r>
              <a:rPr sz="1200" b="0">
                <a:solidFill>
                  <a:srgbClr val="132024"/>
                </a:solidFill>
              </a:rPr>
              <a:t>최종적으로 protocol choice는 region</a:t>
            </a:r>
          </a:p>
          <a:p xmlns:a="http://schemas.openxmlformats.org/drawingml/2006/main">
            <a:pPr algn="l">
              <a:defRPr sz="1200" b="0">
                <a:solidFill>
                  <a:srgbClr val="132024"/>
                </a:solidFill>
              </a:defRPr>
            </a:pPr>
            <a:r>
              <a:rPr sz="1200" b="0">
                <a:solidFill>
                  <a:srgbClr val="132024"/>
                </a:solidFill>
              </a:rPr>
              <a:t>choice를 넘어 readout-first selection</a:t>
            </a:r>
          </a:p>
          <a:p xmlns:a="http://schemas.openxmlformats.org/drawingml/2006/main">
            <a:pPr algn="l">
              <a:defRPr sz="1200" b="0">
                <a:solidFill>
                  <a:srgbClr val="132024"/>
                </a:solidFill>
              </a:defRPr>
            </a:pPr>
            <a:r>
              <a:rPr sz="1200" b="0">
                <a:solidFill>
                  <a:srgbClr val="132024"/>
                </a:solidFill>
              </a:rPr>
              <a:t>rule로 이동했다.</a:t>
            </a:r>
          </a:p>
        </p:txBody>
      </p:sp>
      <p:sp>
        <p:nvSpPr>
          <p:cNvPr id="26" name="">
            <a:extLst xmlns:a="http://schemas.openxmlformats.org/drawingml/2006/main">
              <a:ext uri="{FF2B5EF4-FFF2-40B4-BE49-F238E27FC236}">
                <a16:creationId xmlns:a16="http://schemas.microsoft.com/office/drawing/2014/main" id="{7F19D017-AE81-4F02-A2EC-A9A8E016EF0E}"/>
              </a:ext>
            </a:extLst>
          </p:cNvPr>
          <p:cNvSpPr>
            <a:spLocks xmlns:a="http://schemas.openxmlformats.org/drawingml/2006/main" noGrp="1"/>
          </p:cNvSpPr>
          <p:nvPr/>
        </p:nvSpPr>
        <p:spPr>
          <a:xfrm xmlns:a="http://schemas.openxmlformats.org/drawingml/2006/main">
            <a:off x="704850" y="4095750"/>
            <a:ext cx="10782300" cy="819150"/>
          </a:xfrm>
          <a:prstGeom xmlns:a="http://schemas.openxmlformats.org/drawingml/2006/main" prst="roundRect">
            <a:avLst>
              <a:gd name="adj" fmla="val 9302"/>
            </a:avLst>
          </a:prstGeom>
          <a:solidFill xmlns:a="http://schemas.openxmlformats.org/drawingml/2006/main">
            <a:srgbClr val="FFFDF8">
              <a:alpha val="96863"/>
            </a:srgbClr>
          </a:solidFill>
          <a:ln xmlns:a="http://schemas.openxmlformats.org/drawingml/2006/main" w="11430">
            <a:solidFill>
              <a:srgbClr val="132024"/>
            </a:solidFill>
            <a:prstDash val="solid"/>
          </a:ln>
        </p:spPr>
      </p:sp>
      <p:sp>
        <p:nvSpPr>
          <p:cNvPr id="27" name="">
            <a:extLst xmlns:a="http://schemas.openxmlformats.org/drawingml/2006/main">
              <a:ext uri="{FF2B5EF4-FFF2-40B4-BE49-F238E27FC236}">
                <a16:creationId xmlns:a16="http://schemas.microsoft.com/office/drawing/2014/main" id="{AFDB7B60-BBB7-4F60-90FA-9CB49491A63E}"/>
              </a:ext>
            </a:extLst>
          </p:cNvPr>
          <p:cNvSpPr>
            <a:spLocks xmlns:a="http://schemas.openxmlformats.org/drawingml/2006/main" noGrp="1"/>
          </p:cNvSpPr>
          <p:nvPr/>
        </p:nvSpPr>
        <p:spPr>
          <a:xfrm xmlns:a="http://schemas.openxmlformats.org/drawingml/2006/main">
            <a:off x="752475" y="4143375"/>
            <a:ext cx="57150" cy="723900"/>
          </a:xfrm>
          <a:prstGeom xmlns:a="http://schemas.openxmlformats.org/drawingml/2006/main" prst="rect">
            <a:avLst/>
          </a:prstGeom>
          <a:solidFill xmlns:a="http://schemas.openxmlformats.org/drawingml/2006/main">
            <a:srgbClr val="1D9A69"/>
          </a:solidFill>
          <a:ln xmlns:a="http://schemas.openxmlformats.org/drawingml/2006/main" w="0">
            <a:solidFill>
              <a:srgbClr val="000000">
                <a:alpha val="0"/>
              </a:srgbClr>
            </a:solidFill>
            <a:prstDash val="solid"/>
          </a:ln>
        </p:spPr>
      </p:sp>
      <p:sp>
        <p:nvSpPr>
          <p:cNvPr id="28" name="">
            <a:extLst xmlns:a="http://schemas.openxmlformats.org/drawingml/2006/main">
              <a:ext uri="{FF2B5EF4-FFF2-40B4-BE49-F238E27FC236}">
                <a16:creationId xmlns:a16="http://schemas.microsoft.com/office/drawing/2014/main" id="{405407C2-B24C-41C6-A01A-108C8E038CF7}"/>
              </a:ext>
            </a:extLst>
          </p:cNvPr>
          <p:cNvSpPr>
            <a:spLocks xmlns:a="http://schemas.openxmlformats.org/drawingml/2006/main" noGrp="1"/>
          </p:cNvSpPr>
          <p:nvPr/>
        </p:nvSpPr>
        <p:spPr>
          <a:xfrm xmlns:a="http://schemas.openxmlformats.org/drawingml/2006/main">
            <a:off x="914400" y="4248150"/>
            <a:ext cx="10401300" cy="552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토론용 질문: 왜 reproducibility와 fidelity를 분리해야 하는가? 어느 축을 먼저 봐야 하는가? host validation은 언제 필요한가?</a:t>
            </a:r>
          </a:p>
        </p:txBody>
      </p:sp>
      <p:sp>
        <p:nvSpPr>
          <p:cNvPr id="29" name="">
            <a:extLst xmlns:a="http://schemas.openxmlformats.org/drawingml/2006/main">
              <a:ext uri="{FF2B5EF4-FFF2-40B4-BE49-F238E27FC236}">
                <a16:creationId xmlns:a16="http://schemas.microsoft.com/office/drawing/2014/main" id="{D371EF37-7057-490F-9E84-2D592D7D68E6}"/>
              </a:ext>
            </a:extLst>
          </p:cNvPr>
          <p:cNvSpPr>
            <a:spLocks xmlns:a="http://schemas.openxmlformats.org/drawingml/2006/main" noGrp="1"/>
          </p:cNvSpPr>
          <p:nvPr/>
        </p:nvSpPr>
        <p:spPr>
          <a:xfrm xmlns:a="http://schemas.openxmlformats.org/drawingml/2006/main">
            <a:off x="704850" y="5257800"/>
            <a:ext cx="10782300" cy="781050"/>
          </a:xfrm>
          <a:prstGeom xmlns:a="http://schemas.openxmlformats.org/drawingml/2006/main" prst="roundRect">
            <a:avLst>
              <a:gd name="adj" fmla="val 9756"/>
            </a:avLst>
          </a:prstGeom>
          <a:solidFill xmlns:a="http://schemas.openxmlformats.org/drawingml/2006/main">
            <a:srgbClr val="F4E8C8"/>
          </a:solidFill>
          <a:ln xmlns:a="http://schemas.openxmlformats.org/drawingml/2006/main" w="11430">
            <a:solidFill>
              <a:srgbClr val="132024"/>
            </a:solidFill>
            <a:prstDash val="solid"/>
          </a:ln>
        </p:spPr>
      </p:sp>
      <p:sp>
        <p:nvSpPr>
          <p:cNvPr id="30" name="">
            <a:extLst xmlns:a="http://schemas.openxmlformats.org/drawingml/2006/main">
              <a:ext uri="{FF2B5EF4-FFF2-40B4-BE49-F238E27FC236}">
                <a16:creationId xmlns:a16="http://schemas.microsoft.com/office/drawing/2014/main" id="{B6102812-2C9F-426B-84CC-9BF39CFBB990}"/>
              </a:ext>
            </a:extLst>
          </p:cNvPr>
          <p:cNvSpPr>
            <a:spLocks xmlns:a="http://schemas.openxmlformats.org/drawingml/2006/main" noGrp="1"/>
          </p:cNvSpPr>
          <p:nvPr/>
        </p:nvSpPr>
        <p:spPr>
          <a:xfrm xmlns:a="http://schemas.openxmlformats.org/drawingml/2006/main">
            <a:off x="752475" y="5305425"/>
            <a:ext cx="57150" cy="685800"/>
          </a:xfrm>
          <a:prstGeom xmlns:a="http://schemas.openxmlformats.org/drawingml/2006/main" prst="rect">
            <a:avLst/>
          </a:prstGeom>
          <a:solidFill xmlns:a="http://schemas.openxmlformats.org/drawingml/2006/main">
            <a:srgbClr val="C9972B"/>
          </a:solidFill>
          <a:ln xmlns:a="http://schemas.openxmlformats.org/drawingml/2006/main" w="0">
            <a:solidFill>
              <a:srgbClr val="000000">
                <a:alpha val="0"/>
              </a:srgbClr>
            </a:solidFill>
            <a:prstDash val="solid"/>
          </a:ln>
        </p:spPr>
      </p:sp>
      <p:sp>
        <p:nvSpPr>
          <p:cNvPr id="31" name="">
            <a:extLst xmlns:a="http://schemas.openxmlformats.org/drawingml/2006/main">
              <a:ext uri="{FF2B5EF4-FFF2-40B4-BE49-F238E27FC236}">
                <a16:creationId xmlns:a16="http://schemas.microsoft.com/office/drawing/2014/main" id="{6C46254E-FB68-4DE1-B6C8-056A76A81F4F}"/>
              </a:ext>
            </a:extLst>
          </p:cNvPr>
          <p:cNvSpPr>
            <a:spLocks xmlns:a="http://schemas.openxmlformats.org/drawingml/2006/main" noGrp="1"/>
          </p:cNvSpPr>
          <p:nvPr/>
        </p:nvSpPr>
        <p:spPr>
          <a:xfrm xmlns:a="http://schemas.openxmlformats.org/drawingml/2006/main">
            <a:off x="914400" y="5410200"/>
            <a:ext cx="10401300" cy="514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350" b="0">
                <a:solidFill>
                  <a:srgbClr val="132024"/>
                </a:solidFill>
              </a:defRPr>
            </a:pPr>
            <a:r>
              <a:rPr sz="1350" b="0">
                <a:solidFill>
                  <a:srgbClr val="132024"/>
                </a:solidFill>
              </a:rPr>
              <a:t>정리: 위키를 정리하자 질문이 바뀌었고, 질문이 바뀌자 비교 기준도 바뀌었다.</a:t>
            </a:r>
          </a:p>
        </p:txBody>
      </p:sp>
      <p:sp>
        <p:nvSpPr>
          <p:cNvPr id="32" name="">
            <a:extLst xmlns:a="http://schemas.openxmlformats.org/drawingml/2006/main">
              <a:ext uri="{FF2B5EF4-FFF2-40B4-BE49-F238E27FC236}">
                <a16:creationId xmlns:a16="http://schemas.microsoft.com/office/drawing/2014/main" id="{F7BEA0F5-E8C0-47E8-8B41-7B7EEBFFFD86}"/>
              </a:ext>
            </a:extLst>
          </p:cNvPr>
          <p:cNvSpPr>
            <a:spLocks xmlns:a="http://schemas.openxmlformats.org/drawingml/2006/main" noGrp="1"/>
          </p:cNvSpPr>
          <p:nvPr/>
        </p:nvSpPr>
        <p:spPr>
          <a:xfrm xmlns:a="http://schemas.openxmlformats.org/drawingml/2006/main">
            <a:off x="609600" y="6515100"/>
            <a:ext cx="85725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750" b="0">
                <a:solidFill>
                  <a:srgbClr val="6A767C"/>
                </a:solidFill>
              </a:defRPr>
            </a:pPr>
            <a:r>
              <a:rPr sz="750" b="0">
                <a:solidFill>
                  <a:srgbClr val="6A767C"/>
                </a:solidFill>
              </a:rPr>
              <a:t>Q&amp;A로 넘어가면 각 질문의 우선축과 validation 순서를 중심으로 답하면 된다.</a:t>
            </a:r>
          </a:p>
        </p:txBody>
      </p:sp>
    </p:spTree>
    <p:extLst>
      <p:ext uri="{BB962C8B-B14F-4D97-AF65-F5344CB8AC3E}">
        <p14:creationId xmlns:p14="http://schemas.microsoft.com/office/powerpoint/2010/main" val="193944337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2026-04-27T06:35:04.5180000Z</dcterms:created>
  <dcterms:modified xsi:type="dcterms:W3CDTF">2026-04-27T06:35:04.5180000Z</dcterms:modified>
</coreProperties>
</file>