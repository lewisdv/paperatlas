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6ea8de93654b62" /><Relationship Type="http://schemas.openxmlformats.org/officeDocument/2006/relationships/extended-properties" Target="/docProps/app.xml" Id="Rff1860b424374638" /><Relationship Type="http://schemas.openxmlformats.org/officeDocument/2006/relationships/officeDocument" Target="/ppt/presentation.xml" Id="Rc9c82af2a5c84c96" /></Relationships>
</file>

<file path=ppt/presentation.xml><?xml version="1.0" encoding="utf-8"?>
<p:presentation xmlns:p="http://schemas.openxmlformats.org/presentationml/2006/main">
  <p:sldMasterIdLst>
    <p:sldMasterId xmlns:r="http://schemas.openxmlformats.org/officeDocument/2006/relationships" id="2147483648" r:id="R42cd8106476044c2"/>
  </p:sldMasterIdLst>
  <p:notesMasterIdLst>
    <p:notesMasterId xmlns:r="http://schemas.openxmlformats.org/officeDocument/2006/relationships" r:id="R581d68f7b7bd4d37"/>
  </p:notesMasterIdLst>
  <p:sldIdLst>
    <p:sldId xmlns:r="http://schemas.openxmlformats.org/officeDocument/2006/relationships" id="256" r:id="Red2de704d0b343cf"/>
    <p:sldId xmlns:r="http://schemas.openxmlformats.org/officeDocument/2006/relationships" id="257" r:id="R323670421495409d"/>
    <p:sldId xmlns:r="http://schemas.openxmlformats.org/officeDocument/2006/relationships" id="258" r:id="Rdcc959b2d3044939"/>
    <p:sldId xmlns:r="http://schemas.openxmlformats.org/officeDocument/2006/relationships" id="259" r:id="R96bb5c60221342d4"/>
    <p:sldId xmlns:r="http://schemas.openxmlformats.org/officeDocument/2006/relationships" id="260" r:id="R9fa8cb2c731e42ff"/>
    <p:sldId xmlns:r="http://schemas.openxmlformats.org/officeDocument/2006/relationships" id="261" r:id="R959bf8efd2504c68"/>
    <p:sldId xmlns:r="http://schemas.openxmlformats.org/officeDocument/2006/relationships" id="262" r:id="R3ded1b02455a4e72"/>
    <p:sldId xmlns:r="http://schemas.openxmlformats.org/officeDocument/2006/relationships" id="263" r:id="R91b52064a5db4ffd"/>
    <p:sldId xmlns:r="http://schemas.openxmlformats.org/officeDocument/2006/relationships" id="264" r:id="Rb8443296857a4762"/>
    <p:sldId xmlns:r="http://schemas.openxmlformats.org/officeDocument/2006/relationships" id="265" r:id="Rdf33b4fc733c4d49"/>
    <p:sldId xmlns:r="http://schemas.openxmlformats.org/officeDocument/2006/relationships" id="266" r:id="R7626f40f07124a03"/>
    <p:sldId xmlns:r="http://schemas.openxmlformats.org/officeDocument/2006/relationships" id="267" r:id="R791628791b7842c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2cd8106476044c2" /><Relationship Type="http://schemas.openxmlformats.org/officeDocument/2006/relationships/theme" Target="/ppt/theme/theme1.xml" Id="Rb78e3e0fd4c7474a" /><Relationship Type="http://schemas.openxmlformats.org/officeDocument/2006/relationships/notesMaster" Target="/ppt/notesMasters/notesMaster1.xml" Id="R581d68f7b7bd4d37" /><Relationship Type="http://schemas.openxmlformats.org/officeDocument/2006/relationships/presProps" Target="/ppt/presProps.xml" Id="Rac5965fb925c4894" /><Relationship Type="http://schemas.openxmlformats.org/officeDocument/2006/relationships/viewProps" Target="/ppt/viewProps.xml" Id="Rbaa65ad709894ea7" /><Relationship Type="http://schemas.openxmlformats.org/officeDocument/2006/relationships/tableStyles" Target="/ppt/tableStyles.xml" Id="R59f537c2f9b74892" /><Relationship Type="http://schemas.openxmlformats.org/officeDocument/2006/relationships/slide" Target="/ppt/slides/slide1.xml" Id="Red2de704d0b343cf" /><Relationship Type="http://schemas.openxmlformats.org/officeDocument/2006/relationships/slide" Target="/ppt/slides/slide2.xml" Id="R323670421495409d" /><Relationship Type="http://schemas.openxmlformats.org/officeDocument/2006/relationships/slide" Target="/ppt/slides/slide3.xml" Id="Rdcc959b2d3044939" /><Relationship Type="http://schemas.openxmlformats.org/officeDocument/2006/relationships/slide" Target="/ppt/slides/slide4.xml" Id="R96bb5c60221342d4" /><Relationship Type="http://schemas.openxmlformats.org/officeDocument/2006/relationships/slide" Target="/ppt/slides/slide5.xml" Id="R9fa8cb2c731e42ff" /><Relationship Type="http://schemas.openxmlformats.org/officeDocument/2006/relationships/slide" Target="/ppt/slides/slide6.xml" Id="R959bf8efd2504c68" /><Relationship Type="http://schemas.openxmlformats.org/officeDocument/2006/relationships/slide" Target="/ppt/slides/slide7.xml" Id="R3ded1b02455a4e72" /><Relationship Type="http://schemas.openxmlformats.org/officeDocument/2006/relationships/slide" Target="/ppt/slides/slide8.xml" Id="R91b52064a5db4ffd" /><Relationship Type="http://schemas.openxmlformats.org/officeDocument/2006/relationships/slide" Target="/ppt/slides/slide9.xml" Id="Rb8443296857a4762" /><Relationship Type="http://schemas.openxmlformats.org/officeDocument/2006/relationships/slide" Target="/ppt/slides/slide10.xml" Id="Rdf33b4fc733c4d49" /><Relationship Type="http://schemas.openxmlformats.org/officeDocument/2006/relationships/slide" Target="/ppt/slides/slide11.xml" Id="R7626f40f07124a03" /><Relationship Type="http://schemas.openxmlformats.org/officeDocument/2006/relationships/slide" Target="/ppt/slides/slide12.xml" Id="R791628791b7842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835c1e8fdf314a8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1e65df73244c7a" /><Relationship Type="http://schemas.openxmlformats.org/officeDocument/2006/relationships/notesMaster" Target="/ppt/notesMasters/notesMaster1.xml" Id="R19f315590ca941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d1d3594e0c4547" /><Relationship Type="http://schemas.openxmlformats.org/officeDocument/2006/relationships/notesMaster" Target="/ppt/notesMasters/notesMaster1.xml" Id="R42c2d48550374f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ddffba8fce4be6" /><Relationship Type="http://schemas.openxmlformats.org/officeDocument/2006/relationships/notesMaster" Target="/ppt/notesMasters/notesMaster1.xml" Id="Rbcfe59c8896941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16054c93924885" /><Relationship Type="http://schemas.openxmlformats.org/officeDocument/2006/relationships/notesMaster" Target="/ppt/notesMasters/notesMaster1.xml" Id="R99738676dc8b4f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526984fe1e4d26" /><Relationship Type="http://schemas.openxmlformats.org/officeDocument/2006/relationships/notesMaster" Target="/ppt/notesMasters/notesMaster1.xml" Id="R23173701f8404c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78b7a026294687" /><Relationship Type="http://schemas.openxmlformats.org/officeDocument/2006/relationships/notesMaster" Target="/ppt/notesMasters/notesMaster1.xml" Id="R00737474fad142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186030ee9c4e86" /><Relationship Type="http://schemas.openxmlformats.org/officeDocument/2006/relationships/notesMaster" Target="/ppt/notesMasters/notesMaster1.xml" Id="R480ec3f8a06a4d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18640db1464c8c" /><Relationship Type="http://schemas.openxmlformats.org/officeDocument/2006/relationships/notesMaster" Target="/ppt/notesMasters/notesMaster1.xml" Id="R61cbd063bda548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13b0c4b9d846a7" /><Relationship Type="http://schemas.openxmlformats.org/officeDocument/2006/relationships/notesMaster" Target="/ppt/notesMasters/notesMaster1.xml" Id="R7a0a0f22e19b43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043d0a9d8bd4f29" /><Relationship Type="http://schemas.openxmlformats.org/officeDocument/2006/relationships/notesMaster" Target="/ppt/notesMasters/notesMaster1.xml" Id="R5f88aa7fb3334c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376612187845e1" /><Relationship Type="http://schemas.openxmlformats.org/officeDocument/2006/relationships/notesMaster" Target="/ppt/notesMasters/notesMaster1.xml" Id="Rb4b0336e5bd046e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2fe5621c964f70" /><Relationship Type="http://schemas.openxmlformats.org/officeDocument/2006/relationships/notesMaster" Target="/ppt/notesMasters/notesMaster1.xml" Id="Re66269b398f545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LLM-wiki 운영 방식을 짧게 소개한 뒤, 그 위에서 brain organoid 질문이 어떻게 정교해졌는지를 보여준다.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슬라이드에서는 문헌을 어떻게 구조화했는지 먼저 소개한다.</a:t>
            </a:r>
          </a:p>
          <a:p xmlns:a="http://schemas.openxmlformats.org/drawingml/2006/main">
            <a:r>
              <a:t>collections 단위로 주제를 분리하고, raw source와 wiki synthesis를 나눠서 질문 범위를 좁혔다.</a:t>
            </a:r>
          </a:p>
          <a:p xmlns:a="http://schemas.openxmlformats.org/drawingml/2006/main">
            <a:r>
              <a:t>그 결과 관련 없는 topic drift를 줄이고, 같은 주제 안에서 source, concept, query를 더 조밀하게 연결할 수 있었다.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Markdown wiki를 그대로 두지 않고 HTML site로 렌더링해 읽기 쉬운 탐색 계층을 따로 운영했다.</a:t>
            </a:r>
          </a:p>
          <a:p xmlns:a="http://schemas.openxmlformats.org/drawingml/2006/main">
            <a:r>
              <a:t>render_wiki_html.py는 collection site와 top-level hub를 만들고, localhost viewer는 검색과 태그 필터, 그래프 뷰를 제공한다.</a:t>
            </a:r>
          </a:p>
          <a:p xmlns:a="http://schemas.openxmlformats.org/drawingml/2006/main">
            <a:r>
              <a:t>또 GitHub Actions와 Pages를 붙여 원격에서도 같은 구조로 접근할 수 있게 했다.</a:t>
            </a:r>
          </a:p>
          <a:p xmlns:a="http://schemas.openxmlformats.org/drawingml/2006/main">
            <a:r>
              <a:t/>
            </a:r>
          </a:p>
          <a:p xmlns:a="http://schemas.openxmlformats.org/drawingml/2006/main">
            <a:r>
              <a:t>[Sources]</a:t>
            </a:r>
          </a:p>
          <a:p xmlns:a="http://schemas.openxmlformats.org/drawingml/2006/main">
            <a:r>
              <a:t>- collections/organoid/wiki/index.md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brain branch는 broad cerebral baseline에서 niche subregion까지 이어지고, 그 위에 benchmark 논문과 functional readout 논문이 덧붙는다.</a:t>
            </a:r>
          </a:p>
          <a:p xmlns:a="http://schemas.openxmlformats.org/drawingml/2006/main">
            <a:r>
              <a:t>그래서 단순 문헌 요약이 아니라 질문의 이동을 단계적으로 보여주기 좋다.</a:t>
            </a:r>
          </a:p>
          <a:p xmlns:a="http://schemas.openxmlformats.org/drawingml/2006/main">
            <a:r>
              <a:t>즉 workflow를 설명한 뒤 실제 branch 사례로 넘어가기에 가장 적합한 축이었다.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f6a963bd7049a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E984C53E-73FF-47C3-BCC4-CD33EEB688C4}"/>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445E72D9-EF75-47FD-90F3-2978A0053B3E}"/>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32BF8197-0EF5-405A-9788-3103C40335C2}"/>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C92BC197-5FDD-48EB-8886-4BD8BD7EA07A}"/>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E12CE447-476B-4BAE-A1FF-E669E79965E6}"/>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fce838d2a13b4af3" /><Relationship Type="http://schemas.openxmlformats.org/officeDocument/2006/relationships/slideLayout" Target="/ppt/slideLayouts/slideLayout2.xml" Id="R296c6e276f144e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FCA763A-768B-4E94-96C4-73A5DD2AF43D}"/>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6c6e276f144e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36f72c7ccd5d4b0f" /><Relationship Type="http://schemas.openxmlformats.org/officeDocument/2006/relationships/image" Target="/ppt/media/image.png" Id="Ra9dfebe3f5164d58" /><Relationship Type="http://schemas.openxmlformats.org/officeDocument/2006/relationships/notesSlide" Target="/ppt/notesSlides/notesSlide1.xml" Id="Re1b435e8a61f4d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dee5f934430240d6" /><Relationship Type="http://schemas.openxmlformats.org/officeDocument/2006/relationships/image" Target="/ppt/media/image2.png" Id="R7fdde2bcaa84465d" /><Relationship Type="http://schemas.openxmlformats.org/officeDocument/2006/relationships/notesSlide" Target="/ppt/notesSlides/notesSlide2.xml" Id="Rd057c64ed8b248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602e296d8354f5e" /><Relationship Type="http://schemas.openxmlformats.org/officeDocument/2006/relationships/image" Target="/ppt/media/image3.png" Id="R51662ef22ae54aae" /><Relationship Type="http://schemas.openxmlformats.org/officeDocument/2006/relationships/notesSlide" Target="/ppt/notesSlides/notesSlide3.xml" Id="R6019a4ddadf245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ed023603b24477f" /><Relationship Type="http://schemas.openxmlformats.org/officeDocument/2006/relationships/image" Target="/ppt/media/image4.png" Id="R203812fe74f849a7" /><Relationship Type="http://schemas.openxmlformats.org/officeDocument/2006/relationships/notesSlide" Target="/ppt/notesSlides/notesSlide4.xml" Id="R28b0b3370de44b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801091e941047a4" /><Relationship Type="http://schemas.openxmlformats.org/officeDocument/2006/relationships/image" Target="/ppt/media/image5.png" Id="R2336609a21444d95" /><Relationship Type="http://schemas.openxmlformats.org/officeDocument/2006/relationships/notesSlide" Target="/ppt/notesSlides/notesSlide5.xml" Id="R6771f53967c14b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82e0bab02af643c2" /><Relationship Type="http://schemas.openxmlformats.org/officeDocument/2006/relationships/image" Target="/ppt/media/image6.png" Id="R7af939c822d740e5" /><Relationship Type="http://schemas.openxmlformats.org/officeDocument/2006/relationships/notesSlide" Target="/ppt/notesSlides/notesSlide6.xml" Id="R29f23cbc4e204068"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9c40d2f2289645fb" /><Relationship Type="http://schemas.openxmlformats.org/officeDocument/2006/relationships/image" Target="/ppt/media/image7.png" Id="R269a7dfc5c2d45b8" /><Relationship Type="http://schemas.openxmlformats.org/officeDocument/2006/relationships/notesSlide" Target="/ppt/notesSlides/notesSlide7.xml" Id="Rae873670d09b4a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0e3e7159820e49d3" /><Relationship Type="http://schemas.openxmlformats.org/officeDocument/2006/relationships/image" Target="/ppt/media/image8.png" Id="Rce274e8403d24e64" /><Relationship Type="http://schemas.openxmlformats.org/officeDocument/2006/relationships/notesSlide" Target="/ppt/notesSlides/notesSlide8.xml" Id="R00d041c4706a4c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370cd000221a4550" /><Relationship Type="http://schemas.openxmlformats.org/officeDocument/2006/relationships/image" Target="/ppt/media/image9.png" Id="Rb81ea05725de443f" /><Relationship Type="http://schemas.openxmlformats.org/officeDocument/2006/relationships/notesSlide" Target="/ppt/notesSlides/notesSlide9.xml" Id="R4554b47f9c6a46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6f9dc1c4371484b" /><Relationship Type="http://schemas.openxmlformats.org/officeDocument/2006/relationships/image" Target="/ppt/media/image10.png" Id="Ra3610326cacf46f5" /><Relationship Type="http://schemas.openxmlformats.org/officeDocument/2006/relationships/notesSlide" Target="/ppt/notesSlides/notesSlide10.xml" Id="R7d0a7d7c7a0e4e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f676d50626c34eb1" /><Relationship Type="http://schemas.openxmlformats.org/officeDocument/2006/relationships/image" Target="/ppt/media/image11.png" Id="R5cf176069fa3486b" /><Relationship Type="http://schemas.openxmlformats.org/officeDocument/2006/relationships/notesSlide" Target="/ppt/notesSlides/notesSlide11.xml" Id="Rf276d31fae394d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4fd715f9fb8e4f7d" /><Relationship Type="http://schemas.openxmlformats.org/officeDocument/2006/relationships/image" Target="/ppt/media/image12.png" Id="Rf5fefd5a0f61438b" /><Relationship Type="http://schemas.openxmlformats.org/officeDocument/2006/relationships/notesSlide" Target="/ppt/notesSlides/notesSlide12.xml" Id="R26122247d0ee4e2e"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9dfebe3f5164d5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4F74158-27A2-4528-AC4C-F53A59EA411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EEDC98F-D4B7-41DC-9495-F1D2EA54EF5C}"/>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579073B7-8261-41B6-BB39-89AA8F6E11D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63E9C87-817A-4608-A097-A44E2F5EECD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5BB9787-7EB3-49F5-9063-4784F16F816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1864EFD-A2F6-4E52-8A1A-80D2BC0B88F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F2FE664-AAC2-4150-8EDB-E741797E735D}"/>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C7DEE1ED-F31A-4C6C-BC2A-E2FE26E2272C}"/>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CD481D7A-AE49-4EE4-87D2-3611EBB99977}"/>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230848AB-D272-4F06-9F6F-4D3E384BA491}"/>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LLM-wiki를 collection 단위로 운영한 뒤,</a:t>
            </a:r>
          </a:p>
          <a:p xmlns:a="http://schemas.openxmlformats.org/drawingml/2006/main">
            <a:pPr algn="l">
              <a:defRPr sz="1500" b="0">
                <a:solidFill>
                  <a:srgbClr val="344146"/>
                </a:solidFill>
              </a:defRPr>
            </a:pPr>
            <a:r>
              <a:rPr sz="1500" b="0">
                <a:solidFill>
                  <a:srgbClr val="344146"/>
                </a:solidFill>
              </a:rPr>
              <a:t>brain organoid 질문이 subregion 비교에서 readout-first rule로 어떻게 확장됐는지를 보여준다.</a:t>
            </a:r>
          </a:p>
        </p:txBody>
      </p:sp>
      <p:sp>
        <p:nvSpPr>
          <p:cNvPr id="13" name="">
            <a:extLst xmlns:a="http://schemas.openxmlformats.org/drawingml/2006/main">
              <a:ext uri="{FF2B5EF4-FFF2-40B4-BE49-F238E27FC236}">
                <a16:creationId xmlns:a16="http://schemas.microsoft.com/office/drawing/2014/main" id="{06E96802-70D9-4CCD-9004-65ED763DCC5A}"/>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9F67B23D-D9C9-48EB-B690-30376987F23D}"/>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2ABAA598-E3F6-4C3A-A2B5-65C58D494FF0}"/>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27029C60-BBC5-449D-BF37-4D44386C83AC}"/>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44814FFA-4386-4976-B345-64DEADC69202}"/>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03B62286-81A8-4E57-8F06-435F69C7F99A}"/>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B2DCEBFA-2603-4F8D-A026-729AA62772CF}"/>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48DF6715-AFE9-47FA-87BE-574D2C9E6F7A}"/>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27B8BA6C-A49A-4AC3-8C96-CE6D4850A50C}"/>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ADA6661D-6794-427D-BF38-E84D2B77B103}"/>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D82C0B55-E8E9-48F0-8C6E-8D413BDD0E9B}"/>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B45CC6DC-BCE5-4770-B7CC-B0C70AB0DDCD}"/>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4C5225BB-C083-4254-ACEE-E4820AA78B3A}"/>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53548352-02C0-4531-A017-4BFF9173D178}"/>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3A7FF1A6-4F9B-439A-9482-BFB5F921C164}"/>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FDD96450-04B1-4450-A255-B3F90ADAA3F0}"/>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59D1D6AD-61CE-48FC-B208-9E4AD8E88E72}"/>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3AF87737-3E64-43EF-924B-CB0DFA2A8243}"/>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094573C2-8358-42AC-B79A-0B5B3BACBD8A}"/>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10B01B08-299D-4619-ADAB-769A96531F33}"/>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A4EC46A9-F2EA-4861-8551-D7821DC9BE2D}"/>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D2E32441-4FC4-4E7F-A75E-93C7BD78577C}"/>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6997A693-E7FB-40F5-B2BE-20C1D425DAEC}"/>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7FE7DAD8-9073-48B5-8A00-C40BC6FAFA01}"/>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9D3A45F3-1CAF-4E19-9B61-33F037CB9E24}"/>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E59BAF55-3911-4E87-BEE5-0100242B8E3D}"/>
              </a:ext>
            </a:extLst>
          </p:cNvPr>
          <p:cNvSpPr>
            <a:spLocks xmlns:a="http://schemas.openxmlformats.org/drawingml/2006/main" noGrp="1"/>
          </p:cNvSpPr>
          <p:nvPr/>
        </p:nvSpPr>
        <p:spPr>
          <a:xfrm xmlns:a="http://schemas.openxmlformats.org/drawingml/2006/main">
            <a:off x="819150" y="5448300"/>
            <a:ext cx="9906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LLM-wiki</a:t>
            </a:r>
          </a:p>
        </p:txBody>
      </p:sp>
      <p:sp>
        <p:nvSpPr>
          <p:cNvPr id="39" name="">
            <a:extLst xmlns:a="http://schemas.openxmlformats.org/drawingml/2006/main">
              <a:ext uri="{FF2B5EF4-FFF2-40B4-BE49-F238E27FC236}">
                <a16:creationId xmlns:a16="http://schemas.microsoft.com/office/drawing/2014/main" id="{9B7431D5-B87A-421F-91A5-0F5DAD4EB2FF}"/>
              </a:ext>
            </a:extLst>
          </p:cNvPr>
          <p:cNvSpPr>
            <a:spLocks xmlns:a="http://schemas.openxmlformats.org/drawingml/2006/main" noGrp="1"/>
          </p:cNvSpPr>
          <p:nvPr/>
        </p:nvSpPr>
        <p:spPr>
          <a:xfrm xmlns:a="http://schemas.openxmlformats.org/drawingml/2006/main">
            <a:off x="1924050" y="5448300"/>
            <a:ext cx="12573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brain branch</a:t>
            </a:r>
          </a:p>
        </p:txBody>
      </p:sp>
      <p:sp>
        <p:nvSpPr>
          <p:cNvPr id="40" name="">
            <a:extLst xmlns:a="http://schemas.openxmlformats.org/drawingml/2006/main">
              <a:ext uri="{FF2B5EF4-FFF2-40B4-BE49-F238E27FC236}">
                <a16:creationId xmlns:a16="http://schemas.microsoft.com/office/drawing/2014/main" id="{C96E2656-8A07-45DE-B6F3-1226AD1B8CE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흐름: LLM-wiki 운영 -&gt; subregion 질문 -&gt; benchmark -&gt; readout-first rule</a:t>
            </a:r>
          </a:p>
        </p:txBody>
      </p:sp>
    </p:spTree>
    <p:extLst>
      <p:ext uri="{BB962C8B-B14F-4D97-AF65-F5344CB8AC3E}">
        <p14:creationId xmlns:p14="http://schemas.microsoft.com/office/powerpoint/2010/main" val="779714260"/>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fdde2bcaa84465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8A3BDA3-164C-4348-967A-15184903302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989BD80-9A48-4456-BFD6-5D50361B952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9F73437-AC02-4D5A-8E1F-7E3E10EF9F7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BD224AD-07FC-4280-A326-81AE245899D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3E4CD8B-ACEF-48A2-A82C-52B0F59A912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810F4EA-692C-4BFC-B5E8-3D32FB9E1BB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B014754-AD80-4A21-815C-E0EB354FF22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LLM-WIKI WORKFLOW</a:t>
            </a:r>
          </a:p>
        </p:txBody>
      </p:sp>
      <p:sp>
        <p:nvSpPr>
          <p:cNvPr id="10" name="">
            <a:extLst xmlns:a="http://schemas.openxmlformats.org/drawingml/2006/main">
              <a:ext uri="{FF2B5EF4-FFF2-40B4-BE49-F238E27FC236}">
                <a16:creationId xmlns:a16="http://schemas.microsoft.com/office/drawing/2014/main" id="{4C46C21C-1DA6-4AD7-A8D4-594B588FE72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12</a:t>
            </a:r>
          </a:p>
        </p:txBody>
      </p:sp>
      <p:sp>
        <p:nvSpPr>
          <p:cNvPr id="11" name="">
            <a:extLst xmlns:a="http://schemas.openxmlformats.org/drawingml/2006/main">
              <a:ext uri="{FF2B5EF4-FFF2-40B4-BE49-F238E27FC236}">
                <a16:creationId xmlns:a16="http://schemas.microsoft.com/office/drawing/2014/main" id="{96655942-F299-484D-B577-A2699FB22AC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0D40DFE-A5B5-4A93-BD11-A21FB5DB31A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31C6D8F-3120-4711-A56B-D6C5898A1D63}"/>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내가 LLM-wiki를</a:t>
            </a:r>
          </a:p>
          <a:p xmlns:a="http://schemas.openxmlformats.org/drawingml/2006/main">
            <a:pPr algn="l">
              <a:defRPr sz="2850" b="1">
                <a:solidFill>
                  <a:srgbClr val="132024"/>
                </a:solidFill>
              </a:defRPr>
            </a:pPr>
            <a:r>
              <a:rPr sz="2850" b="1">
                <a:solidFill>
                  <a:srgbClr val="132024"/>
                </a:solidFill>
              </a:rPr>
              <a:t>운영하는 방식</a:t>
            </a:r>
          </a:p>
        </p:txBody>
      </p:sp>
      <p:sp>
        <p:nvSpPr>
          <p:cNvPr id="14" name="">
            <a:extLst xmlns:a="http://schemas.openxmlformats.org/drawingml/2006/main">
              <a:ext uri="{FF2B5EF4-FFF2-40B4-BE49-F238E27FC236}">
                <a16:creationId xmlns:a16="http://schemas.microsoft.com/office/drawing/2014/main" id="{C693D743-A8BE-4AFC-8E1C-5A4957D736F0}"/>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F852EBA-8860-4B61-8325-F2F7BECD1C6F}"/>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D60B118E-E968-4552-A15E-2E27E9E9DE35}"/>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collection 단위로 질문 범위를 제한해 관련 없는 지식 혼입을 줄이고, 같은 주제 안에서 source와 해석을 더 조밀하게 쌓아갔다.</a:t>
            </a:r>
          </a:p>
        </p:txBody>
      </p:sp>
      <p:sp>
        <p:nvSpPr>
          <p:cNvPr id="17" name="">
            <a:extLst xmlns:a="http://schemas.openxmlformats.org/drawingml/2006/main">
              <a:ext uri="{FF2B5EF4-FFF2-40B4-BE49-F238E27FC236}">
                <a16:creationId xmlns:a16="http://schemas.microsoft.com/office/drawing/2014/main" id="{55C7226F-0481-4462-92D1-14C71601BF62}"/>
              </a:ext>
            </a:extLst>
          </p:cNvPr>
          <p:cNvSpPr>
            <a:spLocks xmlns:a="http://schemas.openxmlformats.org/drawingml/2006/main" noGrp="1"/>
          </p:cNvSpPr>
          <p:nvPr/>
        </p:nvSpPr>
        <p:spPr>
          <a:xfrm xmlns:a="http://schemas.openxmlformats.org/drawingml/2006/main">
            <a:off x="7239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7D529E99-A171-447D-9481-A2B956D8030A}"/>
              </a:ext>
            </a:extLst>
          </p:cNvPr>
          <p:cNvSpPr>
            <a:spLocks xmlns:a="http://schemas.openxmlformats.org/drawingml/2006/main" noGrp="1"/>
          </p:cNvSpPr>
          <p:nvPr/>
        </p:nvSpPr>
        <p:spPr>
          <a:xfrm xmlns:a="http://schemas.openxmlformats.org/drawingml/2006/main">
            <a:off x="781050" y="2781300"/>
            <a:ext cx="2286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D1828DA-6B7C-44F6-8AEF-F22F68E64F92}"/>
              </a:ext>
            </a:extLst>
          </p:cNvPr>
          <p:cNvSpPr>
            <a:spLocks xmlns:a="http://schemas.openxmlformats.org/drawingml/2006/main" noGrp="1"/>
          </p:cNvSpPr>
          <p:nvPr/>
        </p:nvSpPr>
        <p:spPr>
          <a:xfrm xmlns:a="http://schemas.openxmlformats.org/drawingml/2006/main">
            <a:off x="9334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collection 분리</a:t>
            </a:r>
          </a:p>
        </p:txBody>
      </p:sp>
      <p:sp>
        <p:nvSpPr>
          <p:cNvPr id="20" name="">
            <a:extLst xmlns:a="http://schemas.openxmlformats.org/drawingml/2006/main">
              <a:ext uri="{FF2B5EF4-FFF2-40B4-BE49-F238E27FC236}">
                <a16:creationId xmlns:a16="http://schemas.microsoft.com/office/drawing/2014/main" id="{3D6F4A8C-62E6-43C9-B993-F96F0ACF1F6F}"/>
              </a:ext>
            </a:extLst>
          </p:cNvPr>
          <p:cNvSpPr>
            <a:spLocks xmlns:a="http://schemas.openxmlformats.org/drawingml/2006/main" noGrp="1"/>
          </p:cNvSpPr>
          <p:nvPr/>
        </p:nvSpPr>
        <p:spPr>
          <a:xfrm xmlns:a="http://schemas.openxmlformats.org/drawingml/2006/main">
            <a:off x="9334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single-cell,</a:t>
            </a:r>
          </a:p>
          <a:p xmlns:a="http://schemas.openxmlformats.org/drawingml/2006/main">
            <a:pPr algn="l">
              <a:defRPr sz="1200" b="0">
                <a:solidFill>
                  <a:srgbClr val="132024"/>
                </a:solidFill>
              </a:defRPr>
            </a:pPr>
            <a:r>
              <a:rPr sz="1200" b="0">
                <a:solidFill>
                  <a:srgbClr val="132024"/>
                </a:solidFill>
              </a:rPr>
              <a:t>sequencing처럼</a:t>
            </a:r>
          </a:p>
          <a:p xmlns:a="http://schemas.openxmlformats.org/drawingml/2006/main">
            <a:pPr algn="l">
              <a:defRPr sz="1200" b="0">
                <a:solidFill>
                  <a:srgbClr val="132024"/>
                </a:solidFill>
              </a:defRPr>
            </a:pPr>
            <a:r>
              <a:rPr sz="1200" b="0">
                <a:solidFill>
                  <a:srgbClr val="132024"/>
                </a:solidFill>
              </a:rPr>
              <a:t>collection을 나눠</a:t>
            </a:r>
          </a:p>
          <a:p xmlns:a="http://schemas.openxmlformats.org/drawingml/2006/main">
            <a:pPr algn="l">
              <a:defRPr sz="1200" b="0">
                <a:solidFill>
                  <a:srgbClr val="132024"/>
                </a:solidFill>
              </a:defRPr>
            </a:pPr>
            <a:r>
              <a:rPr sz="1200" b="0">
                <a:solidFill>
                  <a:srgbClr val="132024"/>
                </a:solidFill>
              </a:rPr>
              <a:t>unrelated topic이 한 답변</a:t>
            </a:r>
          </a:p>
          <a:p xmlns:a="http://schemas.openxmlformats.org/drawingml/2006/main">
            <a:pPr algn="l">
              <a:defRPr sz="1200" b="0">
                <a:solidFill>
                  <a:srgbClr val="132024"/>
                </a:solidFill>
              </a:defRPr>
            </a:pPr>
            <a:r>
              <a:rPr sz="1200" b="0">
                <a:solidFill>
                  <a:srgbClr val="132024"/>
                </a:solidFill>
              </a:rPr>
              <a:t>안에 섞이지 않게 했다.</a:t>
            </a:r>
          </a:p>
        </p:txBody>
      </p:sp>
      <p:sp>
        <p:nvSpPr>
          <p:cNvPr id="21" name="">
            <a:extLst xmlns:a="http://schemas.openxmlformats.org/drawingml/2006/main">
              <a:ext uri="{FF2B5EF4-FFF2-40B4-BE49-F238E27FC236}">
                <a16:creationId xmlns:a16="http://schemas.microsoft.com/office/drawing/2014/main" id="{E14FD467-79BE-496D-990D-28AE914E00F0}"/>
              </a:ext>
            </a:extLst>
          </p:cNvPr>
          <p:cNvSpPr>
            <a:spLocks xmlns:a="http://schemas.openxmlformats.org/drawingml/2006/main" noGrp="1"/>
          </p:cNvSpPr>
          <p:nvPr/>
        </p:nvSpPr>
        <p:spPr>
          <a:xfrm xmlns:a="http://schemas.openxmlformats.org/drawingml/2006/main">
            <a:off x="33528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BBA4C57-1F54-4578-B8F9-0A3E6F400B24}"/>
              </a:ext>
            </a:extLst>
          </p:cNvPr>
          <p:cNvSpPr>
            <a:spLocks xmlns:a="http://schemas.openxmlformats.org/drawingml/2006/main" noGrp="1"/>
          </p:cNvSpPr>
          <p:nvPr/>
        </p:nvSpPr>
        <p:spPr>
          <a:xfrm xmlns:a="http://schemas.openxmlformats.org/drawingml/2006/main">
            <a:off x="3409950" y="2781300"/>
            <a:ext cx="2286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6F745D5-D36F-4F23-A539-691074D1BC26}"/>
              </a:ext>
            </a:extLst>
          </p:cNvPr>
          <p:cNvSpPr>
            <a:spLocks xmlns:a="http://schemas.openxmlformats.org/drawingml/2006/main" noGrp="1"/>
          </p:cNvSpPr>
          <p:nvPr/>
        </p:nvSpPr>
        <p:spPr>
          <a:xfrm xmlns:a="http://schemas.openxmlformats.org/drawingml/2006/main">
            <a:off x="35623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raw / wiki 분리</a:t>
            </a:r>
          </a:p>
        </p:txBody>
      </p:sp>
      <p:sp>
        <p:nvSpPr>
          <p:cNvPr id="24" name="">
            <a:extLst xmlns:a="http://schemas.openxmlformats.org/drawingml/2006/main">
              <a:ext uri="{FF2B5EF4-FFF2-40B4-BE49-F238E27FC236}">
                <a16:creationId xmlns:a16="http://schemas.microsoft.com/office/drawing/2014/main" id="{F439B610-1D93-41B8-BC76-81D853C99D89}"/>
              </a:ext>
            </a:extLst>
          </p:cNvPr>
          <p:cNvSpPr>
            <a:spLocks xmlns:a="http://schemas.openxmlformats.org/drawingml/2006/main" noGrp="1"/>
          </p:cNvSpPr>
          <p:nvPr/>
        </p:nvSpPr>
        <p:spPr>
          <a:xfrm xmlns:a="http://schemas.openxmlformats.org/drawingml/2006/main">
            <a:off x="35623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raw는 원본으로 남겨 두고,</a:t>
            </a:r>
          </a:p>
          <a:p xmlns:a="http://schemas.openxmlformats.org/drawingml/2006/main">
            <a:pPr algn="l">
              <a:defRPr sz="1200" b="0">
                <a:solidFill>
                  <a:srgbClr val="132024"/>
                </a:solidFill>
              </a:defRPr>
            </a:pPr>
            <a:r>
              <a:rPr sz="1200" b="0">
                <a:solidFill>
                  <a:srgbClr val="132024"/>
                </a:solidFill>
              </a:rPr>
              <a:t>wiki에서 source page와</a:t>
            </a:r>
          </a:p>
          <a:p xmlns:a="http://schemas.openxmlformats.org/drawingml/2006/main">
            <a:pPr algn="l">
              <a:defRPr sz="1200" b="0">
                <a:solidFill>
                  <a:srgbClr val="132024"/>
                </a:solidFill>
              </a:defRPr>
            </a:pPr>
            <a:r>
              <a:rPr sz="1200" b="0">
                <a:solidFill>
                  <a:srgbClr val="132024"/>
                </a:solidFill>
              </a:rPr>
              <a:t>concept page, query를</a:t>
            </a:r>
          </a:p>
          <a:p xmlns:a="http://schemas.openxmlformats.org/drawingml/2006/main">
            <a:pPr algn="l">
              <a:defRPr sz="1200" b="0">
                <a:solidFill>
                  <a:srgbClr val="132024"/>
                </a:solidFill>
              </a:defRPr>
            </a:pPr>
            <a:r>
              <a:rPr sz="1200" b="0">
                <a:solidFill>
                  <a:srgbClr val="132024"/>
                </a:solidFill>
              </a:rPr>
              <a:t>계속 갱신한다.</a:t>
            </a:r>
          </a:p>
        </p:txBody>
      </p:sp>
      <p:sp>
        <p:nvSpPr>
          <p:cNvPr id="25" name="">
            <a:extLst xmlns:a="http://schemas.openxmlformats.org/drawingml/2006/main">
              <a:ext uri="{FF2B5EF4-FFF2-40B4-BE49-F238E27FC236}">
                <a16:creationId xmlns:a16="http://schemas.microsoft.com/office/drawing/2014/main" id="{7F2D40E3-8D8D-4478-AA9B-E712EEEF84E8}"/>
              </a:ext>
            </a:extLst>
          </p:cNvPr>
          <p:cNvSpPr>
            <a:spLocks xmlns:a="http://schemas.openxmlformats.org/drawingml/2006/main" noGrp="1"/>
          </p:cNvSpPr>
          <p:nvPr/>
        </p:nvSpPr>
        <p:spPr>
          <a:xfrm xmlns:a="http://schemas.openxmlformats.org/drawingml/2006/main">
            <a:off x="59817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03450718-6289-4910-B027-ACB1BF949EB5}"/>
              </a:ext>
            </a:extLst>
          </p:cNvPr>
          <p:cNvSpPr>
            <a:spLocks xmlns:a="http://schemas.openxmlformats.org/drawingml/2006/main" noGrp="1"/>
          </p:cNvSpPr>
          <p:nvPr/>
        </p:nvSpPr>
        <p:spPr>
          <a:xfrm xmlns:a="http://schemas.openxmlformats.org/drawingml/2006/main">
            <a:off x="6038850" y="2781300"/>
            <a:ext cx="22860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1F33D46-6EA7-4768-83CB-FB59E8028736}"/>
              </a:ext>
            </a:extLst>
          </p:cNvPr>
          <p:cNvSpPr>
            <a:spLocks xmlns:a="http://schemas.openxmlformats.org/drawingml/2006/main" noGrp="1"/>
          </p:cNvSpPr>
          <p:nvPr/>
        </p:nvSpPr>
        <p:spPr>
          <a:xfrm xmlns:a="http://schemas.openxmlformats.org/drawingml/2006/main">
            <a:off x="61912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 범위 제한</a:t>
            </a:r>
          </a:p>
        </p:txBody>
      </p:sp>
      <p:sp>
        <p:nvSpPr>
          <p:cNvPr id="28" name="">
            <a:extLst xmlns:a="http://schemas.openxmlformats.org/drawingml/2006/main">
              <a:ext uri="{FF2B5EF4-FFF2-40B4-BE49-F238E27FC236}">
                <a16:creationId xmlns:a16="http://schemas.microsoft.com/office/drawing/2014/main" id="{FD1405D4-C34A-44D1-8976-61D9BAD8C899}"/>
              </a:ext>
            </a:extLst>
          </p:cNvPr>
          <p:cNvSpPr>
            <a:spLocks xmlns:a="http://schemas.openxmlformats.org/drawingml/2006/main" noGrp="1"/>
          </p:cNvSpPr>
          <p:nvPr/>
        </p:nvSpPr>
        <p:spPr>
          <a:xfrm xmlns:a="http://schemas.openxmlformats.org/drawingml/2006/main">
            <a:off x="61912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질문은 그</a:t>
            </a:r>
          </a:p>
          <a:p xmlns:a="http://schemas.openxmlformats.org/drawingml/2006/main">
            <a:pPr algn="l">
              <a:defRPr sz="1200" b="0">
                <a:solidFill>
                  <a:srgbClr val="132024"/>
                </a:solidFill>
              </a:defRPr>
            </a:pPr>
            <a:r>
              <a:rPr sz="1200" b="0">
                <a:solidFill>
                  <a:srgbClr val="132024"/>
                </a:solidFill>
              </a:rPr>
              <a:t>collection의 wiki와 raw만</a:t>
            </a:r>
          </a:p>
          <a:p xmlns:a="http://schemas.openxmlformats.org/drawingml/2006/main">
            <a:pPr algn="l">
              <a:defRPr sz="1200" b="0">
                <a:solidFill>
                  <a:srgbClr val="132024"/>
                </a:solidFill>
              </a:defRPr>
            </a:pPr>
            <a:r>
              <a:rPr sz="1200" b="0">
                <a:solidFill>
                  <a:srgbClr val="132024"/>
                </a:solidFill>
              </a:rPr>
              <a:t>쓰도록 해서 hallucination과</a:t>
            </a:r>
          </a:p>
          <a:p xmlns:a="http://schemas.openxmlformats.org/drawingml/2006/main">
            <a:pPr algn="l">
              <a:defRPr sz="1200" b="0">
                <a:solidFill>
                  <a:srgbClr val="132024"/>
                </a:solidFill>
              </a:defRPr>
            </a:pPr>
            <a:r>
              <a:rPr sz="1200" b="0">
                <a:solidFill>
                  <a:srgbClr val="132024"/>
                </a:solidFill>
              </a:rPr>
              <a:t>topic drift를 줄인다.</a:t>
            </a:r>
          </a:p>
        </p:txBody>
      </p:sp>
      <p:sp>
        <p:nvSpPr>
          <p:cNvPr id="29" name="">
            <a:extLst xmlns:a="http://schemas.openxmlformats.org/drawingml/2006/main">
              <a:ext uri="{FF2B5EF4-FFF2-40B4-BE49-F238E27FC236}">
                <a16:creationId xmlns:a16="http://schemas.microsoft.com/office/drawing/2014/main" id="{A74820F1-A166-48D9-8D42-A62CB801A981}"/>
              </a:ext>
            </a:extLst>
          </p:cNvPr>
          <p:cNvSpPr>
            <a:spLocks xmlns:a="http://schemas.openxmlformats.org/drawingml/2006/main" noGrp="1"/>
          </p:cNvSpPr>
          <p:nvPr/>
        </p:nvSpPr>
        <p:spPr>
          <a:xfrm xmlns:a="http://schemas.openxmlformats.org/drawingml/2006/main">
            <a:off x="86106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2D044B2C-CBCF-46A1-90E6-0974D3D021AC}"/>
              </a:ext>
            </a:extLst>
          </p:cNvPr>
          <p:cNvSpPr>
            <a:spLocks xmlns:a="http://schemas.openxmlformats.org/drawingml/2006/main" noGrp="1"/>
          </p:cNvSpPr>
          <p:nvPr/>
        </p:nvSpPr>
        <p:spPr>
          <a:xfrm xmlns:a="http://schemas.openxmlformats.org/drawingml/2006/main">
            <a:off x="8667750" y="2781300"/>
            <a:ext cx="22860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2A9465A-FB7E-4CD9-8208-574CCED5AA93}"/>
              </a:ext>
            </a:extLst>
          </p:cNvPr>
          <p:cNvSpPr>
            <a:spLocks xmlns:a="http://schemas.openxmlformats.org/drawingml/2006/main" noGrp="1"/>
          </p:cNvSpPr>
          <p:nvPr/>
        </p:nvSpPr>
        <p:spPr>
          <a:xfrm xmlns:a="http://schemas.openxmlformats.org/drawingml/2006/main">
            <a:off x="88201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지식 밀도 축적</a:t>
            </a:r>
          </a:p>
        </p:txBody>
      </p:sp>
      <p:sp>
        <p:nvSpPr>
          <p:cNvPr id="32" name="">
            <a:extLst xmlns:a="http://schemas.openxmlformats.org/drawingml/2006/main">
              <a:ext uri="{FF2B5EF4-FFF2-40B4-BE49-F238E27FC236}">
                <a16:creationId xmlns:a16="http://schemas.microsoft.com/office/drawing/2014/main" id="{4D46B4E7-F4E1-422D-950A-6C9082351D84}"/>
              </a:ext>
            </a:extLst>
          </p:cNvPr>
          <p:cNvSpPr>
            <a:spLocks xmlns:a="http://schemas.openxmlformats.org/drawingml/2006/main" noGrp="1"/>
          </p:cNvSpPr>
          <p:nvPr/>
        </p:nvSpPr>
        <p:spPr>
          <a:xfrm xmlns:a="http://schemas.openxmlformats.org/drawingml/2006/main">
            <a:off x="88201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source -&gt; concept -&gt;</a:t>
            </a:r>
          </a:p>
          <a:p xmlns:a="http://schemas.openxmlformats.org/drawingml/2006/main">
            <a:pPr algn="l">
              <a:defRPr sz="1200" b="0">
                <a:solidFill>
                  <a:srgbClr val="132024"/>
                </a:solidFill>
              </a:defRPr>
            </a:pPr>
            <a:r>
              <a:rPr sz="1200" b="0">
                <a:solidFill>
                  <a:srgbClr val="132024"/>
                </a:solidFill>
              </a:rPr>
              <a:t>query -&gt; synthesis가 같은</a:t>
            </a:r>
          </a:p>
          <a:p xmlns:a="http://schemas.openxmlformats.org/drawingml/2006/main">
            <a:pPr algn="l">
              <a:defRPr sz="1200" b="0">
                <a:solidFill>
                  <a:srgbClr val="132024"/>
                </a:solidFill>
              </a:defRPr>
            </a:pPr>
            <a:r>
              <a:rPr sz="1200" b="0">
                <a:solidFill>
                  <a:srgbClr val="132024"/>
                </a:solidFill>
              </a:rPr>
              <a:t>공간에 연결되면서 주제별 정보 밀도가</a:t>
            </a:r>
          </a:p>
          <a:p xmlns:a="http://schemas.openxmlformats.org/drawingml/2006/main">
            <a:pPr algn="l">
              <a:defRPr sz="1200" b="0">
                <a:solidFill>
                  <a:srgbClr val="132024"/>
                </a:solidFill>
              </a:defRPr>
            </a:pPr>
            <a:r>
              <a:rPr sz="1200" b="0">
                <a:solidFill>
                  <a:srgbClr val="132024"/>
                </a:solidFill>
              </a:rPr>
              <a:t>높아진다.</a:t>
            </a:r>
          </a:p>
        </p:txBody>
      </p:sp>
      <p:sp>
        <p:nvSpPr>
          <p:cNvPr id="33" name="">
            <a:extLst xmlns:a="http://schemas.openxmlformats.org/drawingml/2006/main">
              <a:ext uri="{FF2B5EF4-FFF2-40B4-BE49-F238E27FC236}">
                <a16:creationId xmlns:a16="http://schemas.microsoft.com/office/drawing/2014/main" id="{9212EB29-B888-49AC-889C-8ABD933A38A8}"/>
              </a:ext>
            </a:extLst>
          </p:cNvPr>
          <p:cNvSpPr>
            <a:spLocks xmlns:a="http://schemas.openxmlformats.org/drawingml/2006/main" noGrp="1"/>
          </p:cNvSpPr>
          <p:nvPr/>
        </p:nvSpPr>
        <p:spPr>
          <a:xfrm xmlns:a="http://schemas.openxmlformats.org/drawingml/2006/main">
            <a:off x="1314450" y="5334000"/>
            <a:ext cx="139065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raw/sources</a:t>
            </a:r>
          </a:p>
        </p:txBody>
      </p:sp>
      <p:sp>
        <p:nvSpPr>
          <p:cNvPr id="34" name="">
            <a:extLst xmlns:a="http://schemas.openxmlformats.org/drawingml/2006/main">
              <a:ext uri="{FF2B5EF4-FFF2-40B4-BE49-F238E27FC236}">
                <a16:creationId xmlns:a16="http://schemas.microsoft.com/office/drawing/2014/main" id="{ABDB2FF6-7079-425F-9BAE-AE7C9DDA8777}"/>
              </a:ext>
            </a:extLst>
          </p:cNvPr>
          <p:cNvSpPr>
            <a:spLocks xmlns:a="http://schemas.openxmlformats.org/drawingml/2006/main" noGrp="1"/>
          </p:cNvSpPr>
          <p:nvPr/>
        </p:nvSpPr>
        <p:spPr>
          <a:xfrm xmlns:a="http://schemas.openxmlformats.org/drawingml/2006/main">
            <a:off x="2781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A04A5203-CE74-4E6E-9BF6-E88886974334}"/>
              </a:ext>
            </a:extLst>
          </p:cNvPr>
          <p:cNvSpPr>
            <a:spLocks xmlns:a="http://schemas.openxmlformats.org/drawingml/2006/main" noGrp="1"/>
          </p:cNvSpPr>
          <p:nvPr/>
        </p:nvSpPr>
        <p:spPr>
          <a:xfrm xmlns:a="http://schemas.openxmlformats.org/drawingml/2006/main">
            <a:off x="3600450" y="5334000"/>
            <a:ext cx="139065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wiki/sources</a:t>
            </a:r>
          </a:p>
        </p:txBody>
      </p:sp>
      <p:sp>
        <p:nvSpPr>
          <p:cNvPr id="36" name="">
            <a:extLst xmlns:a="http://schemas.openxmlformats.org/drawingml/2006/main">
              <a:ext uri="{FF2B5EF4-FFF2-40B4-BE49-F238E27FC236}">
                <a16:creationId xmlns:a16="http://schemas.microsoft.com/office/drawing/2014/main" id="{CA8EDD70-14B4-409B-9F80-89A96BF5868A}"/>
              </a:ext>
            </a:extLst>
          </p:cNvPr>
          <p:cNvSpPr>
            <a:spLocks xmlns:a="http://schemas.openxmlformats.org/drawingml/2006/main" noGrp="1"/>
          </p:cNvSpPr>
          <p:nvPr/>
        </p:nvSpPr>
        <p:spPr>
          <a:xfrm xmlns:a="http://schemas.openxmlformats.org/drawingml/2006/main">
            <a:off x="5067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0E5997D5-4180-43F0-97E2-0DB2AA0D02B5}"/>
              </a:ext>
            </a:extLst>
          </p:cNvPr>
          <p:cNvSpPr>
            <a:spLocks xmlns:a="http://schemas.openxmlformats.org/drawingml/2006/main" noGrp="1"/>
          </p:cNvSpPr>
          <p:nvPr/>
        </p:nvSpPr>
        <p:spPr>
          <a:xfrm xmlns:a="http://schemas.openxmlformats.org/drawingml/2006/main">
            <a:off x="5905500" y="5334000"/>
            <a:ext cx="154305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 / entity</a:t>
            </a:r>
          </a:p>
        </p:txBody>
      </p:sp>
      <p:sp>
        <p:nvSpPr>
          <p:cNvPr id="38" name="">
            <a:extLst xmlns:a="http://schemas.openxmlformats.org/drawingml/2006/main">
              <a:ext uri="{FF2B5EF4-FFF2-40B4-BE49-F238E27FC236}">
                <a16:creationId xmlns:a16="http://schemas.microsoft.com/office/drawing/2014/main" id="{7FE86AE0-C9EB-47E4-B081-BAB93661FBAF}"/>
              </a:ext>
            </a:extLst>
          </p:cNvPr>
          <p:cNvSpPr>
            <a:spLocks xmlns:a="http://schemas.openxmlformats.org/drawingml/2006/main" noGrp="1"/>
          </p:cNvSpPr>
          <p:nvPr/>
        </p:nvSpPr>
        <p:spPr>
          <a:xfrm xmlns:a="http://schemas.openxmlformats.org/drawingml/2006/main">
            <a:off x="75438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837864E7-C0F5-4CEC-A310-A7B639444E6F}"/>
              </a:ext>
            </a:extLst>
          </p:cNvPr>
          <p:cNvSpPr>
            <a:spLocks xmlns:a="http://schemas.openxmlformats.org/drawingml/2006/main" noGrp="1"/>
          </p:cNvSpPr>
          <p:nvPr/>
        </p:nvSpPr>
        <p:spPr>
          <a:xfrm xmlns:a="http://schemas.openxmlformats.org/drawingml/2006/main">
            <a:off x="8362950" y="5334000"/>
            <a:ext cx="16954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query / synthesis</a:t>
            </a:r>
          </a:p>
        </p:txBody>
      </p:sp>
      <p:sp>
        <p:nvSpPr>
          <p:cNvPr id="40" name="">
            <a:extLst xmlns:a="http://schemas.openxmlformats.org/drawingml/2006/main">
              <a:ext uri="{FF2B5EF4-FFF2-40B4-BE49-F238E27FC236}">
                <a16:creationId xmlns:a16="http://schemas.microsoft.com/office/drawing/2014/main" id="{E00D854F-CF2F-410F-9E88-BE89E727DC5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운영 원리: topic boundary를 좁히고, 해석 가능한 지식을 같은 collection 안에 누적한다.</a:t>
            </a:r>
          </a:p>
        </p:txBody>
      </p:sp>
    </p:spTree>
    <p:extLst>
      <p:ext uri="{BB962C8B-B14F-4D97-AF65-F5344CB8AC3E}">
        <p14:creationId xmlns:p14="http://schemas.microsoft.com/office/powerpoint/2010/main" val="739240916"/>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662ef22ae54aa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6D18CE6-4C0D-4415-83B2-E2E382F332B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27D553A-B099-4940-86EB-C985A920995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09B5C03-9E5A-40F5-9DF2-E636B6A79CD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D2D13BD-DAE5-4A8A-9458-32C619A27A7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304AF91-058B-4E0F-B6D2-49B08A472EC4}"/>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48CFCE25-6705-4DEE-8C48-C3A7C7469D5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F662108-2B6A-449B-AFA7-8A54267A858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ACCESS LAYER</a:t>
            </a:r>
          </a:p>
        </p:txBody>
      </p:sp>
      <p:sp>
        <p:nvSpPr>
          <p:cNvPr id="10" name="">
            <a:extLst xmlns:a="http://schemas.openxmlformats.org/drawingml/2006/main">
              <a:ext uri="{FF2B5EF4-FFF2-40B4-BE49-F238E27FC236}">
                <a16:creationId xmlns:a16="http://schemas.microsoft.com/office/drawing/2014/main" id="{F504E3B5-79AF-4024-AF6E-5458E6B18A8E}"/>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12</a:t>
            </a:r>
          </a:p>
        </p:txBody>
      </p:sp>
      <p:sp>
        <p:nvSpPr>
          <p:cNvPr id="11" name="">
            <a:extLst xmlns:a="http://schemas.openxmlformats.org/drawingml/2006/main">
              <a:ext uri="{FF2B5EF4-FFF2-40B4-BE49-F238E27FC236}">
                <a16:creationId xmlns:a16="http://schemas.microsoft.com/office/drawing/2014/main" id="{86856388-A3C8-4670-B4AF-A32589215E7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0C7C468-F504-498A-A603-3DC259FC8E79}"/>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73F9E196-E330-4195-9685-A6BCFC0E0C08}"/>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Markdown wiki를</a:t>
            </a:r>
          </a:p>
          <a:p xmlns:a="http://schemas.openxmlformats.org/drawingml/2006/main">
            <a:pPr algn="l">
              <a:defRPr sz="2850" b="1">
                <a:solidFill>
                  <a:srgbClr val="132024"/>
                </a:solidFill>
              </a:defRPr>
            </a:pPr>
            <a:r>
              <a:rPr sz="2850" b="1">
                <a:solidFill>
                  <a:srgbClr val="132024"/>
                </a:solidFill>
              </a:rPr>
              <a:t>탐색 가능한 HTML로 열어두기</a:t>
            </a:r>
          </a:p>
        </p:txBody>
      </p:sp>
      <p:sp>
        <p:nvSpPr>
          <p:cNvPr id="14" name="">
            <a:extLst xmlns:a="http://schemas.openxmlformats.org/drawingml/2006/main">
              <a:ext uri="{FF2B5EF4-FFF2-40B4-BE49-F238E27FC236}">
                <a16:creationId xmlns:a16="http://schemas.microsoft.com/office/drawing/2014/main" id="{61750C2E-A4E9-4BC3-A538-E061671AEB77}"/>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929C17C-1BDE-42B6-9336-575A831E42EF}"/>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D04031E-401B-4CA0-8DFB-B238B5D04FF6}"/>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Markdown으로 저장한 위키를 정적 HTML로 렌더링하고, 로컬 뷰어와 GitHub Pages를 통해 계속 읽고 탐색할 수 있게 했다.</a:t>
            </a:r>
          </a:p>
        </p:txBody>
      </p:sp>
      <p:sp>
        <p:nvSpPr>
          <p:cNvPr id="17" name="">
            <a:extLst xmlns:a="http://schemas.openxmlformats.org/drawingml/2006/main">
              <a:ext uri="{FF2B5EF4-FFF2-40B4-BE49-F238E27FC236}">
                <a16:creationId xmlns:a16="http://schemas.microsoft.com/office/drawing/2014/main" id="{C4F5742D-965A-4DCD-B493-5CEAF49467BE}"/>
              </a:ext>
            </a:extLst>
          </p:cNvPr>
          <p:cNvSpPr>
            <a:spLocks xmlns:a="http://schemas.openxmlformats.org/drawingml/2006/main" noGrp="1"/>
          </p:cNvSpPr>
          <p:nvPr/>
        </p:nvSpPr>
        <p:spPr>
          <a:xfrm xmlns:a="http://schemas.openxmlformats.org/drawingml/2006/main">
            <a:off x="7048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162741C-46CA-41BE-B816-49B6E66429DB}"/>
              </a:ext>
            </a:extLst>
          </p:cNvPr>
          <p:cNvSpPr>
            <a:spLocks xmlns:a="http://schemas.openxmlformats.org/drawingml/2006/main" noGrp="1"/>
          </p:cNvSpPr>
          <p:nvPr/>
        </p:nvSpPr>
        <p:spPr>
          <a:xfrm xmlns:a="http://schemas.openxmlformats.org/drawingml/2006/main">
            <a:off x="762000" y="2781300"/>
            <a:ext cx="2438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606A782E-A49C-4693-9277-50BFD57FB61E}"/>
              </a:ext>
            </a:extLst>
          </p:cNvPr>
          <p:cNvSpPr>
            <a:spLocks xmlns:a="http://schemas.openxmlformats.org/drawingml/2006/main" noGrp="1"/>
          </p:cNvSpPr>
          <p:nvPr/>
        </p:nvSpPr>
        <p:spPr>
          <a:xfrm xmlns:a="http://schemas.openxmlformats.org/drawingml/2006/main">
            <a:off x="9144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static HTML render</a:t>
            </a:r>
          </a:p>
        </p:txBody>
      </p:sp>
      <p:sp>
        <p:nvSpPr>
          <p:cNvPr id="20" name="">
            <a:extLst xmlns:a="http://schemas.openxmlformats.org/drawingml/2006/main">
              <a:ext uri="{FF2B5EF4-FFF2-40B4-BE49-F238E27FC236}">
                <a16:creationId xmlns:a16="http://schemas.microsoft.com/office/drawing/2014/main" id="{AA64EA51-D710-4E0D-B864-0D5071399AE3}"/>
              </a:ext>
            </a:extLst>
          </p:cNvPr>
          <p:cNvSpPr>
            <a:spLocks xmlns:a="http://schemas.openxmlformats.org/drawingml/2006/main" noGrp="1"/>
          </p:cNvSpPr>
          <p:nvPr/>
        </p:nvSpPr>
        <p:spPr>
          <a:xfrm xmlns:a="http://schemas.openxmlformats.org/drawingml/2006/main">
            <a:off x="9144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Markdown wiki를</a:t>
            </a:r>
          </a:p>
          <a:p xmlns:a="http://schemas.openxmlformats.org/drawingml/2006/main">
            <a:pPr algn="l">
              <a:defRPr sz="1200" b="0">
                <a:solidFill>
                  <a:srgbClr val="132024"/>
                </a:solidFill>
              </a:defRPr>
            </a:pPr>
            <a:r>
              <a:rPr sz="1200" b="0">
                <a:solidFill>
                  <a:srgbClr val="132024"/>
                </a:solidFill>
              </a:rPr>
              <a:t>collection별 HTML site로</a:t>
            </a:r>
          </a:p>
          <a:p xmlns:a="http://schemas.openxmlformats.org/drawingml/2006/main">
            <a:pPr algn="l">
              <a:defRPr sz="1200" b="0">
                <a:solidFill>
                  <a:srgbClr val="132024"/>
                </a:solidFill>
              </a:defRPr>
            </a:pPr>
            <a:r>
              <a:rPr sz="1200" b="0">
                <a:solidFill>
                  <a:srgbClr val="132024"/>
                </a:solidFill>
              </a:rPr>
              <a:t>바꾸고, top-level hub도 함께</a:t>
            </a:r>
          </a:p>
          <a:p xmlns:a="http://schemas.openxmlformats.org/drawingml/2006/main">
            <a:pPr algn="l">
              <a:defRPr sz="1200" b="0">
                <a:solidFill>
                  <a:srgbClr val="132024"/>
                </a:solidFill>
              </a:defRPr>
            </a:pPr>
            <a:r>
              <a:rPr sz="1200" b="0">
                <a:solidFill>
                  <a:srgbClr val="132024"/>
                </a:solidFill>
              </a:rPr>
              <a:t>갱신한다.</a:t>
            </a:r>
          </a:p>
        </p:txBody>
      </p:sp>
      <p:sp>
        <p:nvSpPr>
          <p:cNvPr id="21" name="">
            <a:extLst xmlns:a="http://schemas.openxmlformats.org/drawingml/2006/main">
              <a:ext uri="{FF2B5EF4-FFF2-40B4-BE49-F238E27FC236}">
                <a16:creationId xmlns:a16="http://schemas.microsoft.com/office/drawing/2014/main" id="{7793E34E-76BB-4618-AFC5-43F94E6D8686}"/>
              </a:ext>
            </a:extLst>
          </p:cNvPr>
          <p:cNvSpPr>
            <a:spLocks xmlns:a="http://schemas.openxmlformats.org/drawingml/2006/main" noGrp="1"/>
          </p:cNvSpPr>
          <p:nvPr/>
        </p:nvSpPr>
        <p:spPr>
          <a:xfrm xmlns:a="http://schemas.openxmlformats.org/drawingml/2006/main">
            <a:off x="350520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93C03E04-D76C-43C3-AEC5-E844B2048548}"/>
              </a:ext>
            </a:extLst>
          </p:cNvPr>
          <p:cNvSpPr>
            <a:spLocks xmlns:a="http://schemas.openxmlformats.org/drawingml/2006/main" noGrp="1"/>
          </p:cNvSpPr>
          <p:nvPr/>
        </p:nvSpPr>
        <p:spPr>
          <a:xfrm xmlns:a="http://schemas.openxmlformats.org/drawingml/2006/main">
            <a:off x="3562350" y="2781300"/>
            <a:ext cx="2438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51EB596-1212-4A4D-BA74-DF3F94FAF25E}"/>
              </a:ext>
            </a:extLst>
          </p:cNvPr>
          <p:cNvSpPr>
            <a:spLocks xmlns:a="http://schemas.openxmlformats.org/drawingml/2006/main" noGrp="1"/>
          </p:cNvSpPr>
          <p:nvPr/>
        </p:nvSpPr>
        <p:spPr>
          <a:xfrm xmlns:a="http://schemas.openxmlformats.org/drawingml/2006/main">
            <a:off x="371475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local viewer</a:t>
            </a:r>
          </a:p>
        </p:txBody>
      </p:sp>
      <p:sp>
        <p:nvSpPr>
          <p:cNvPr id="24" name="">
            <a:extLst xmlns:a="http://schemas.openxmlformats.org/drawingml/2006/main">
              <a:ext uri="{FF2B5EF4-FFF2-40B4-BE49-F238E27FC236}">
                <a16:creationId xmlns:a16="http://schemas.microsoft.com/office/drawing/2014/main" id="{E979F6BC-0559-42C0-AE5E-5287E7977577}"/>
              </a:ext>
            </a:extLst>
          </p:cNvPr>
          <p:cNvSpPr>
            <a:spLocks xmlns:a="http://schemas.openxmlformats.org/drawingml/2006/main" noGrp="1"/>
          </p:cNvSpPr>
          <p:nvPr/>
        </p:nvSpPr>
        <p:spPr>
          <a:xfrm xmlns:a="http://schemas.openxmlformats.org/drawingml/2006/main">
            <a:off x="371475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localhost viewer에서 검색,</a:t>
            </a:r>
          </a:p>
          <a:p xmlns:a="http://schemas.openxmlformats.org/drawingml/2006/main">
            <a:pPr algn="l">
              <a:defRPr sz="1200" b="0">
                <a:solidFill>
                  <a:srgbClr val="132024"/>
                </a:solidFill>
              </a:defRPr>
            </a:pPr>
            <a:r>
              <a:rPr sz="1200" b="0">
                <a:solidFill>
                  <a:srgbClr val="132024"/>
                </a:solidFill>
              </a:rPr>
              <a:t>태그 필터, 그래프 뷰를 통해</a:t>
            </a:r>
          </a:p>
          <a:p xmlns:a="http://schemas.openxmlformats.org/drawingml/2006/main">
            <a:pPr algn="l">
              <a:defRPr sz="1200" b="0">
                <a:solidFill>
                  <a:srgbClr val="132024"/>
                </a:solidFill>
              </a:defRPr>
            </a:pPr>
            <a:r>
              <a:rPr sz="1200" b="0">
                <a:solidFill>
                  <a:srgbClr val="132024"/>
                </a:solidFill>
              </a:rPr>
              <a:t>collection 내부 페이지를 빠르게</a:t>
            </a:r>
          </a:p>
          <a:p xmlns:a="http://schemas.openxmlformats.org/drawingml/2006/main">
            <a:pPr algn="l">
              <a:defRPr sz="1200" b="0">
                <a:solidFill>
                  <a:srgbClr val="132024"/>
                </a:solidFill>
              </a:defRPr>
            </a:pPr>
            <a:r>
              <a:rPr sz="1200" b="0">
                <a:solidFill>
                  <a:srgbClr val="132024"/>
                </a:solidFill>
              </a:rPr>
              <a:t>탐색한다.</a:t>
            </a:r>
          </a:p>
        </p:txBody>
      </p:sp>
      <p:sp>
        <p:nvSpPr>
          <p:cNvPr id="25" name="">
            <a:extLst xmlns:a="http://schemas.openxmlformats.org/drawingml/2006/main">
              <a:ext uri="{FF2B5EF4-FFF2-40B4-BE49-F238E27FC236}">
                <a16:creationId xmlns:a16="http://schemas.microsoft.com/office/drawing/2014/main" id="{C133ADE3-D919-4773-B4BF-6D0CA3D4827D}"/>
              </a:ext>
            </a:extLst>
          </p:cNvPr>
          <p:cNvSpPr>
            <a:spLocks xmlns:a="http://schemas.openxmlformats.org/drawingml/2006/main" noGrp="1"/>
          </p:cNvSpPr>
          <p:nvPr/>
        </p:nvSpPr>
        <p:spPr>
          <a:xfrm xmlns:a="http://schemas.openxmlformats.org/drawingml/2006/main">
            <a:off x="63055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2B7DC544-7156-4D40-925B-CB8DFE86EC3E}"/>
              </a:ext>
            </a:extLst>
          </p:cNvPr>
          <p:cNvSpPr>
            <a:spLocks xmlns:a="http://schemas.openxmlformats.org/drawingml/2006/main" noGrp="1"/>
          </p:cNvSpPr>
          <p:nvPr/>
        </p:nvSpPr>
        <p:spPr>
          <a:xfrm xmlns:a="http://schemas.openxmlformats.org/drawingml/2006/main">
            <a:off x="6362700" y="2781300"/>
            <a:ext cx="2438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6A6C197D-466E-4AF4-8848-8EB9A9BE357A}"/>
              </a:ext>
            </a:extLst>
          </p:cNvPr>
          <p:cNvSpPr>
            <a:spLocks xmlns:a="http://schemas.openxmlformats.org/drawingml/2006/main" noGrp="1"/>
          </p:cNvSpPr>
          <p:nvPr/>
        </p:nvSpPr>
        <p:spPr>
          <a:xfrm xmlns:a="http://schemas.openxmlformats.org/drawingml/2006/main">
            <a:off x="65151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GitHub Pages</a:t>
            </a:r>
          </a:p>
        </p:txBody>
      </p:sp>
      <p:sp>
        <p:nvSpPr>
          <p:cNvPr id="28" name="">
            <a:extLst xmlns:a="http://schemas.openxmlformats.org/drawingml/2006/main">
              <a:ext uri="{FF2B5EF4-FFF2-40B4-BE49-F238E27FC236}">
                <a16:creationId xmlns:a16="http://schemas.microsoft.com/office/drawing/2014/main" id="{59DBB416-20FE-45FD-860A-979CED5079D1}"/>
              </a:ext>
            </a:extLst>
          </p:cNvPr>
          <p:cNvSpPr>
            <a:spLocks xmlns:a="http://schemas.openxmlformats.org/drawingml/2006/main" noGrp="1"/>
          </p:cNvSpPr>
          <p:nvPr/>
        </p:nvSpPr>
        <p:spPr>
          <a:xfrm xmlns:a="http://schemas.openxmlformats.org/drawingml/2006/main">
            <a:off x="65151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원격에서도 같은 구조로 읽을 수 있도록</a:t>
            </a:r>
          </a:p>
          <a:p xmlns:a="http://schemas.openxmlformats.org/drawingml/2006/main">
            <a:pPr algn="l">
              <a:defRPr sz="1200" b="0">
                <a:solidFill>
                  <a:srgbClr val="132024"/>
                </a:solidFill>
              </a:defRPr>
            </a:pPr>
            <a:r>
              <a:rPr sz="1200" b="0">
                <a:solidFill>
                  <a:srgbClr val="132024"/>
                </a:solidFill>
              </a:rPr>
              <a:t>public static site로</a:t>
            </a:r>
          </a:p>
          <a:p xmlns:a="http://schemas.openxmlformats.org/drawingml/2006/main">
            <a:pPr algn="l">
              <a:defRPr sz="1200" b="0">
                <a:solidFill>
                  <a:srgbClr val="132024"/>
                </a:solidFill>
              </a:defRPr>
            </a:pPr>
            <a:r>
              <a:rPr sz="1200" b="0">
                <a:solidFill>
                  <a:srgbClr val="132024"/>
                </a:solidFill>
              </a:rPr>
              <a:t>export하고 GitHub Pages에</a:t>
            </a:r>
          </a:p>
          <a:p xmlns:a="http://schemas.openxmlformats.org/drawingml/2006/main">
            <a:pPr algn="l">
              <a:defRPr sz="1200" b="0">
                <a:solidFill>
                  <a:srgbClr val="132024"/>
                </a:solidFill>
              </a:defRPr>
            </a:pPr>
            <a:r>
              <a:rPr sz="1200" b="0">
                <a:solidFill>
                  <a:srgbClr val="132024"/>
                </a:solidFill>
              </a:rPr>
              <a:t>배포한다.</a:t>
            </a:r>
          </a:p>
        </p:txBody>
      </p:sp>
      <p:sp>
        <p:nvSpPr>
          <p:cNvPr id="29" name="">
            <a:extLst xmlns:a="http://schemas.openxmlformats.org/drawingml/2006/main">
              <a:ext uri="{FF2B5EF4-FFF2-40B4-BE49-F238E27FC236}">
                <a16:creationId xmlns:a16="http://schemas.microsoft.com/office/drawing/2014/main" id="{FEEE00CC-6220-4594-9B9C-825F29C70903}"/>
              </a:ext>
            </a:extLst>
          </p:cNvPr>
          <p:cNvSpPr>
            <a:spLocks xmlns:a="http://schemas.openxmlformats.org/drawingml/2006/main" noGrp="1"/>
          </p:cNvSpPr>
          <p:nvPr/>
        </p:nvSpPr>
        <p:spPr>
          <a:xfrm xmlns:a="http://schemas.openxmlformats.org/drawingml/2006/main">
            <a:off x="9105900" y="2724150"/>
            <a:ext cx="23622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EE64DE0D-24A2-4C21-A8F0-A2FA4611A612}"/>
              </a:ext>
            </a:extLst>
          </p:cNvPr>
          <p:cNvSpPr>
            <a:spLocks xmlns:a="http://schemas.openxmlformats.org/drawingml/2006/main" noGrp="1"/>
          </p:cNvSpPr>
          <p:nvPr/>
        </p:nvSpPr>
        <p:spPr>
          <a:xfrm xmlns:a="http://schemas.openxmlformats.org/drawingml/2006/main">
            <a:off x="9163050" y="2781300"/>
            <a:ext cx="22479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ECE3605-E843-4848-B316-A9D7AA6373C3}"/>
              </a:ext>
            </a:extLst>
          </p:cNvPr>
          <p:cNvSpPr>
            <a:spLocks xmlns:a="http://schemas.openxmlformats.org/drawingml/2006/main" noGrp="1"/>
          </p:cNvSpPr>
          <p:nvPr/>
        </p:nvSpPr>
        <p:spPr>
          <a:xfrm xmlns:a="http://schemas.openxmlformats.org/drawingml/2006/main">
            <a:off x="9315450" y="2914650"/>
            <a:ext cx="19431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auto update</a:t>
            </a:r>
          </a:p>
        </p:txBody>
      </p:sp>
      <p:sp>
        <p:nvSpPr>
          <p:cNvPr id="32" name="">
            <a:extLst xmlns:a="http://schemas.openxmlformats.org/drawingml/2006/main">
              <a:ext uri="{FF2B5EF4-FFF2-40B4-BE49-F238E27FC236}">
                <a16:creationId xmlns:a16="http://schemas.microsoft.com/office/drawing/2014/main" id="{371C49AA-87C0-4BED-B39F-D268F60D0FD6}"/>
              </a:ext>
            </a:extLst>
          </p:cNvPr>
          <p:cNvSpPr>
            <a:spLocks xmlns:a="http://schemas.openxmlformats.org/drawingml/2006/main" noGrp="1"/>
          </p:cNvSpPr>
          <p:nvPr/>
        </p:nvSpPr>
        <p:spPr>
          <a:xfrm xmlns:a="http://schemas.openxmlformats.org/drawingml/2006/main">
            <a:off x="9315450" y="3333750"/>
            <a:ext cx="19431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watcher와 deploy</a:t>
            </a:r>
          </a:p>
          <a:p xmlns:a="http://schemas.openxmlformats.org/drawingml/2006/main">
            <a:pPr algn="l">
              <a:defRPr sz="1200" b="0">
                <a:solidFill>
                  <a:srgbClr val="132024"/>
                </a:solidFill>
              </a:defRPr>
            </a:pPr>
            <a:r>
              <a:rPr sz="1200" b="0">
                <a:solidFill>
                  <a:srgbClr val="132024"/>
                </a:solidFill>
              </a:rPr>
              <a:t>workflow를 붙여</a:t>
            </a:r>
          </a:p>
          <a:p xmlns:a="http://schemas.openxmlformats.org/drawingml/2006/main">
            <a:pPr algn="l">
              <a:defRPr sz="1200" b="0">
                <a:solidFill>
                  <a:srgbClr val="132024"/>
                </a:solidFill>
              </a:defRPr>
            </a:pPr>
            <a:r>
              <a:rPr sz="1200" b="0">
                <a:solidFill>
                  <a:srgbClr val="132024"/>
                </a:solidFill>
              </a:rPr>
              <a:t>collection 변경이 생기면</a:t>
            </a:r>
          </a:p>
          <a:p xmlns:a="http://schemas.openxmlformats.org/drawingml/2006/main">
            <a:pPr algn="l">
              <a:defRPr sz="1200" b="0">
                <a:solidFill>
                  <a:srgbClr val="132024"/>
                </a:solidFill>
              </a:defRPr>
            </a:pPr>
            <a:r>
              <a:rPr sz="1200" b="0">
                <a:solidFill>
                  <a:srgbClr val="132024"/>
                </a:solidFill>
              </a:rPr>
              <a:t>site도 함께 갱신되도록 만들었다.</a:t>
            </a:r>
          </a:p>
        </p:txBody>
      </p:sp>
      <p:sp>
        <p:nvSpPr>
          <p:cNvPr id="33" name="">
            <a:extLst xmlns:a="http://schemas.openxmlformats.org/drawingml/2006/main">
              <a:ext uri="{FF2B5EF4-FFF2-40B4-BE49-F238E27FC236}">
                <a16:creationId xmlns:a16="http://schemas.microsoft.com/office/drawing/2014/main" id="{F4725FEA-8A5A-42EF-92D3-8406C8F530E4}"/>
              </a:ext>
            </a:extLst>
          </p:cNvPr>
          <p:cNvSpPr>
            <a:spLocks xmlns:a="http://schemas.openxmlformats.org/drawingml/2006/main" noGrp="1"/>
          </p:cNvSpPr>
          <p:nvPr/>
        </p:nvSpPr>
        <p:spPr>
          <a:xfrm xmlns:a="http://schemas.openxmlformats.org/drawingml/2006/main">
            <a:off x="1143000" y="5334000"/>
            <a:ext cx="114300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wiki/*.md</a:t>
            </a:r>
          </a:p>
        </p:txBody>
      </p:sp>
      <p:sp>
        <p:nvSpPr>
          <p:cNvPr id="34" name="">
            <a:extLst xmlns:a="http://schemas.openxmlformats.org/drawingml/2006/main">
              <a:ext uri="{FF2B5EF4-FFF2-40B4-BE49-F238E27FC236}">
                <a16:creationId xmlns:a16="http://schemas.microsoft.com/office/drawing/2014/main" id="{CACA3172-57A6-4B6F-9265-36682497B6FD}"/>
              </a:ext>
            </a:extLst>
          </p:cNvPr>
          <p:cNvSpPr>
            <a:spLocks xmlns:a="http://schemas.openxmlformats.org/drawingml/2006/main" noGrp="1"/>
          </p:cNvSpPr>
          <p:nvPr/>
        </p:nvSpPr>
        <p:spPr>
          <a:xfrm xmlns:a="http://schemas.openxmlformats.org/drawingml/2006/main">
            <a:off x="24003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811D0E9F-DA18-4D91-AD54-031F0AECC8B9}"/>
              </a:ext>
            </a:extLst>
          </p:cNvPr>
          <p:cNvSpPr>
            <a:spLocks xmlns:a="http://schemas.openxmlformats.org/drawingml/2006/main" noGrp="1"/>
          </p:cNvSpPr>
          <p:nvPr/>
        </p:nvSpPr>
        <p:spPr>
          <a:xfrm xmlns:a="http://schemas.openxmlformats.org/drawingml/2006/main">
            <a:off x="3200400" y="5334000"/>
            <a:ext cx="114300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wiki_html</a:t>
            </a:r>
          </a:p>
        </p:txBody>
      </p:sp>
      <p:sp>
        <p:nvSpPr>
          <p:cNvPr id="36" name="">
            <a:extLst xmlns:a="http://schemas.openxmlformats.org/drawingml/2006/main">
              <a:ext uri="{FF2B5EF4-FFF2-40B4-BE49-F238E27FC236}">
                <a16:creationId xmlns:a16="http://schemas.microsoft.com/office/drawing/2014/main" id="{6ECDD42F-DE88-44B0-9A5D-0A25627B21EC}"/>
              </a:ext>
            </a:extLst>
          </p:cNvPr>
          <p:cNvSpPr>
            <a:spLocks xmlns:a="http://schemas.openxmlformats.org/drawingml/2006/main" noGrp="1"/>
          </p:cNvSpPr>
          <p:nvPr/>
        </p:nvSpPr>
        <p:spPr>
          <a:xfrm xmlns:a="http://schemas.openxmlformats.org/drawingml/2006/main">
            <a:off x="447675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373C9C87-4385-4867-B1EC-83D3736787B6}"/>
              </a:ext>
            </a:extLst>
          </p:cNvPr>
          <p:cNvSpPr>
            <a:spLocks xmlns:a="http://schemas.openxmlformats.org/drawingml/2006/main" noGrp="1"/>
          </p:cNvSpPr>
          <p:nvPr/>
        </p:nvSpPr>
        <p:spPr>
          <a:xfrm xmlns:a="http://schemas.openxmlformats.org/drawingml/2006/main">
            <a:off x="5295900" y="5334000"/>
            <a:ext cx="125730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local search</a:t>
            </a:r>
          </a:p>
        </p:txBody>
      </p:sp>
      <p:sp>
        <p:nvSpPr>
          <p:cNvPr id="38" name="">
            <a:extLst xmlns:a="http://schemas.openxmlformats.org/drawingml/2006/main">
              <a:ext uri="{FF2B5EF4-FFF2-40B4-BE49-F238E27FC236}">
                <a16:creationId xmlns:a16="http://schemas.microsoft.com/office/drawing/2014/main" id="{7846CE5A-71A4-49C8-ACFC-AF3EABD11329}"/>
              </a:ext>
            </a:extLst>
          </p:cNvPr>
          <p:cNvSpPr>
            <a:spLocks xmlns:a="http://schemas.openxmlformats.org/drawingml/2006/main" noGrp="1"/>
          </p:cNvSpPr>
          <p:nvPr/>
        </p:nvSpPr>
        <p:spPr>
          <a:xfrm xmlns:a="http://schemas.openxmlformats.org/drawingml/2006/main">
            <a:off x="66675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BFF65069-7B56-402A-AD83-ECCEB27D7199}"/>
              </a:ext>
            </a:extLst>
          </p:cNvPr>
          <p:cNvSpPr>
            <a:spLocks xmlns:a="http://schemas.openxmlformats.org/drawingml/2006/main" noGrp="1"/>
          </p:cNvSpPr>
          <p:nvPr/>
        </p:nvSpPr>
        <p:spPr>
          <a:xfrm xmlns:a="http://schemas.openxmlformats.org/drawingml/2006/main">
            <a:off x="7486650" y="5334000"/>
            <a:ext cx="13906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GitHub Pages</a:t>
            </a:r>
          </a:p>
        </p:txBody>
      </p:sp>
      <p:sp>
        <p:nvSpPr>
          <p:cNvPr id="40" name="">
            <a:extLst xmlns:a="http://schemas.openxmlformats.org/drawingml/2006/main">
              <a:ext uri="{FF2B5EF4-FFF2-40B4-BE49-F238E27FC236}">
                <a16:creationId xmlns:a16="http://schemas.microsoft.com/office/drawing/2014/main" id="{68752777-C132-4F5F-B011-8B16558D1E8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접근 계층: Markdown wiki를 읽기 쉬운 site로 바꿔 검색, 탐색, 공유가 가능하도록 했다.</a:t>
            </a:r>
          </a:p>
        </p:txBody>
      </p:sp>
    </p:spTree>
    <p:extLst>
      <p:ext uri="{BB962C8B-B14F-4D97-AF65-F5344CB8AC3E}">
        <p14:creationId xmlns:p14="http://schemas.microsoft.com/office/powerpoint/2010/main" val="1394357154"/>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03812fe74f849a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11CAA33-5EA0-4A45-BCD5-8CD7D73E354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3F14A8D-B64A-4829-8A9F-5BB5C4DFAF7F}"/>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537B1EB2-451A-4699-8250-C8FE5928B42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CD9E060-CC3C-4AA6-8C91-985578BE034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D8143B9-7917-460C-8DD4-4EF606227B9D}"/>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DCC7253-DECC-4808-9FD7-B2AB2C2BD34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3ECED39-FF42-49A5-AC22-BAC2957C606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BRAIN</a:t>
            </a:r>
          </a:p>
        </p:txBody>
      </p:sp>
      <p:sp>
        <p:nvSpPr>
          <p:cNvPr id="10" name="">
            <a:extLst xmlns:a="http://schemas.openxmlformats.org/drawingml/2006/main">
              <a:ext uri="{FF2B5EF4-FFF2-40B4-BE49-F238E27FC236}">
                <a16:creationId xmlns:a16="http://schemas.microsoft.com/office/drawing/2014/main" id="{592907F2-785B-4EC2-B2BF-F4B07AD6AF2E}"/>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12</a:t>
            </a:r>
          </a:p>
        </p:txBody>
      </p:sp>
      <p:sp>
        <p:nvSpPr>
          <p:cNvPr id="11" name="">
            <a:extLst xmlns:a="http://schemas.openxmlformats.org/drawingml/2006/main">
              <a:ext uri="{FF2B5EF4-FFF2-40B4-BE49-F238E27FC236}">
                <a16:creationId xmlns:a16="http://schemas.microsoft.com/office/drawing/2014/main" id="{91E2F72D-F54C-412A-8549-A9C859033B0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2338E28-16F0-4DBF-86BF-C8D14CBAF63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FD86669-4F43-43EA-9945-A2F643F0B993}"/>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organoid collection에서</a:t>
            </a:r>
          </a:p>
          <a:p xmlns:a="http://schemas.openxmlformats.org/drawingml/2006/main">
            <a:pPr algn="l">
              <a:defRPr sz="2850" b="1">
                <a:solidFill>
                  <a:srgbClr val="132024"/>
                </a:solidFill>
              </a:defRPr>
            </a:pPr>
            <a:r>
              <a:rPr sz="2850" b="1">
                <a:solidFill>
                  <a:srgbClr val="132024"/>
                </a:solidFill>
              </a:rPr>
              <a:t>brain branch를 발표 사례로 골랐나</a:t>
            </a:r>
          </a:p>
        </p:txBody>
      </p:sp>
      <p:sp>
        <p:nvSpPr>
          <p:cNvPr id="14" name="">
            <a:extLst xmlns:a="http://schemas.openxmlformats.org/drawingml/2006/main">
              <a:ext uri="{FF2B5EF4-FFF2-40B4-BE49-F238E27FC236}">
                <a16:creationId xmlns:a16="http://schemas.microsoft.com/office/drawing/2014/main" id="{E5E94A83-2065-44D3-A5C2-9C047A0E988D}"/>
              </a:ext>
            </a:extLst>
          </p:cNvPr>
          <p:cNvSpPr>
            <a:spLocks xmlns:a="http://schemas.openxmlformats.org/drawingml/2006/main" noGrp="1"/>
          </p:cNvSpPr>
          <p:nvPr/>
        </p:nvSpPr>
        <p:spPr>
          <a:xfrm xmlns:a="http://schemas.openxmlformats.org/drawingml/2006/main">
            <a:off x="70485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5D1AF7E6-B777-4AD9-84FE-B4FE92E28301}"/>
              </a:ext>
            </a:extLst>
          </p:cNvPr>
          <p:cNvSpPr>
            <a:spLocks xmlns:a="http://schemas.openxmlformats.org/drawingml/2006/main" noGrp="1"/>
          </p:cNvSpPr>
          <p:nvPr/>
        </p:nvSpPr>
        <p:spPr>
          <a:xfrm xmlns:a="http://schemas.openxmlformats.org/drawingml/2006/main">
            <a:off x="762000" y="236220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1F5BC5D-67F4-476F-BC39-49042DD35074}"/>
              </a:ext>
            </a:extLst>
          </p:cNvPr>
          <p:cNvSpPr>
            <a:spLocks xmlns:a="http://schemas.openxmlformats.org/drawingml/2006/main" noGrp="1"/>
          </p:cNvSpPr>
          <p:nvPr/>
        </p:nvSpPr>
        <p:spPr>
          <a:xfrm xmlns:a="http://schemas.openxmlformats.org/drawingml/2006/main">
            <a:off x="91440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protocol family가 보인다</a:t>
            </a:r>
          </a:p>
        </p:txBody>
      </p:sp>
      <p:sp>
        <p:nvSpPr>
          <p:cNvPr id="17" name="">
            <a:extLst xmlns:a="http://schemas.openxmlformats.org/drawingml/2006/main">
              <a:ext uri="{FF2B5EF4-FFF2-40B4-BE49-F238E27FC236}">
                <a16:creationId xmlns:a16="http://schemas.microsoft.com/office/drawing/2014/main" id="{77FB79B9-2473-4358-9082-124A81237859}"/>
              </a:ext>
            </a:extLst>
          </p:cNvPr>
          <p:cNvSpPr>
            <a:spLocks xmlns:a="http://schemas.openxmlformats.org/drawingml/2006/main" noGrp="1"/>
          </p:cNvSpPr>
          <p:nvPr/>
        </p:nvSpPr>
        <p:spPr>
          <a:xfrm xmlns:a="http://schemas.openxmlformats.org/drawingml/2006/main">
            <a:off x="91440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posterior/niche가 한 branch</a:t>
            </a:r>
          </a:p>
          <a:p xmlns:a="http://schemas.openxmlformats.org/drawingml/2006/main">
            <a:pPr algn="l">
              <a:defRPr sz="1200" b="0">
                <a:solidFill>
                  <a:srgbClr val="132024"/>
                </a:solidFill>
              </a:defRPr>
            </a:pPr>
            <a:r>
              <a:rPr sz="1200" b="0">
                <a:solidFill>
                  <a:srgbClr val="132024"/>
                </a:solidFill>
              </a:rPr>
              <a:t>안에서 연속적으로 정리된다.</a:t>
            </a:r>
          </a:p>
        </p:txBody>
      </p:sp>
      <p:sp>
        <p:nvSpPr>
          <p:cNvPr id="18" name="">
            <a:extLst xmlns:a="http://schemas.openxmlformats.org/drawingml/2006/main">
              <a:ext uri="{FF2B5EF4-FFF2-40B4-BE49-F238E27FC236}">
                <a16:creationId xmlns:a16="http://schemas.microsoft.com/office/drawing/2014/main" id="{5DB06B90-B995-4AF4-8BD0-D9B3B05C8E1C}"/>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32E8CFD5-D802-40C9-819E-DA20FE63DDB4}"/>
              </a:ext>
            </a:extLst>
          </p:cNvPr>
          <p:cNvSpPr>
            <a:spLocks xmlns:a="http://schemas.openxmlformats.org/drawingml/2006/main" noGrp="1"/>
          </p:cNvSpPr>
          <p:nvPr/>
        </p:nvSpPr>
        <p:spPr>
          <a:xfrm xmlns:a="http://schemas.openxmlformats.org/drawingml/2006/main">
            <a:off x="476250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176DF6F3-4529-4CE9-AC4D-EF47822FCDDA}"/>
              </a:ext>
            </a:extLst>
          </p:cNvPr>
          <p:cNvSpPr>
            <a:spLocks xmlns:a="http://schemas.openxmlformats.org/drawingml/2006/main" noGrp="1"/>
          </p:cNvSpPr>
          <p:nvPr/>
        </p:nvSpPr>
        <p:spPr>
          <a:xfrm xmlns:a="http://schemas.openxmlformats.org/drawingml/2006/main">
            <a:off x="4819650" y="236220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CB87B3A2-1056-4F58-A51C-3279C0E47B8E}"/>
              </a:ext>
            </a:extLst>
          </p:cNvPr>
          <p:cNvSpPr>
            <a:spLocks xmlns:a="http://schemas.openxmlformats.org/drawingml/2006/main" noGrp="1"/>
          </p:cNvSpPr>
          <p:nvPr/>
        </p:nvSpPr>
        <p:spPr>
          <a:xfrm xmlns:a="http://schemas.openxmlformats.org/drawingml/2006/main">
            <a:off x="497205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benchmark가 붙는다</a:t>
            </a:r>
          </a:p>
        </p:txBody>
      </p:sp>
      <p:sp>
        <p:nvSpPr>
          <p:cNvPr id="22" name="">
            <a:extLst xmlns:a="http://schemas.openxmlformats.org/drawingml/2006/main">
              <a:ext uri="{FF2B5EF4-FFF2-40B4-BE49-F238E27FC236}">
                <a16:creationId xmlns:a16="http://schemas.microsoft.com/office/drawing/2014/main" id="{08F41C24-A61E-4E29-A5E6-2BA8885CC5CF}"/>
              </a:ext>
            </a:extLst>
          </p:cNvPr>
          <p:cNvSpPr>
            <a:spLocks xmlns:a="http://schemas.openxmlformats.org/drawingml/2006/main" noGrp="1"/>
          </p:cNvSpPr>
          <p:nvPr/>
        </p:nvSpPr>
        <p:spPr>
          <a:xfrm xmlns:a="http://schemas.openxmlformats.org/drawingml/2006/main">
            <a:off x="497205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branch 안에서도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 따로</a:t>
            </a:r>
          </a:p>
          <a:p xmlns:a="http://schemas.openxmlformats.org/drawingml/2006/main">
            <a:pPr algn="l">
              <a:defRPr sz="1200" b="0">
                <a:solidFill>
                  <a:srgbClr val="132024"/>
                </a:solidFill>
              </a:defRPr>
            </a:pPr>
            <a:r>
              <a:rPr sz="1200" b="0">
                <a:solidFill>
                  <a:srgbClr val="132024"/>
                </a:solidFill>
              </a:rPr>
              <a:t>볼 수 있다.</a:t>
            </a:r>
          </a:p>
        </p:txBody>
      </p:sp>
      <p:sp>
        <p:nvSpPr>
          <p:cNvPr id="23" name="">
            <a:extLst xmlns:a="http://schemas.openxmlformats.org/drawingml/2006/main">
              <a:ext uri="{FF2B5EF4-FFF2-40B4-BE49-F238E27FC236}">
                <a16:creationId xmlns:a16="http://schemas.microsoft.com/office/drawing/2014/main" id="{E06257DF-BEAB-4C74-8AC9-5A2013CC2BA4}"/>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CB9F27A0-B788-4E48-B211-5C69678C4EBF}"/>
              </a:ext>
            </a:extLst>
          </p:cNvPr>
          <p:cNvSpPr>
            <a:spLocks xmlns:a="http://schemas.openxmlformats.org/drawingml/2006/main" noGrp="1"/>
          </p:cNvSpPr>
          <p:nvPr/>
        </p:nvSpPr>
        <p:spPr>
          <a:xfrm xmlns:a="http://schemas.openxmlformats.org/drawingml/2006/main">
            <a:off x="8820150" y="2305050"/>
            <a:ext cx="26670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FFA7F26A-DAC4-4B2C-98E2-9BB2A1DCF1F7}"/>
              </a:ext>
            </a:extLst>
          </p:cNvPr>
          <p:cNvSpPr>
            <a:spLocks xmlns:a="http://schemas.openxmlformats.org/drawingml/2006/main" noGrp="1"/>
          </p:cNvSpPr>
          <p:nvPr/>
        </p:nvSpPr>
        <p:spPr>
          <a:xfrm xmlns:a="http://schemas.openxmlformats.org/drawingml/2006/main">
            <a:off x="8877300" y="236220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AD189B84-D955-48CA-ACF3-4F182B28DD04}"/>
              </a:ext>
            </a:extLst>
          </p:cNvPr>
          <p:cNvSpPr>
            <a:spLocks xmlns:a="http://schemas.openxmlformats.org/drawingml/2006/main" noGrp="1"/>
          </p:cNvSpPr>
          <p:nvPr/>
        </p:nvSpPr>
        <p:spPr>
          <a:xfrm xmlns:a="http://schemas.openxmlformats.org/drawingml/2006/main">
            <a:off x="9029700" y="249555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readout로 닫힌다</a:t>
            </a:r>
          </a:p>
        </p:txBody>
      </p:sp>
      <p:sp>
        <p:nvSpPr>
          <p:cNvPr id="27" name="">
            <a:extLst xmlns:a="http://schemas.openxmlformats.org/drawingml/2006/main">
              <a:ext uri="{FF2B5EF4-FFF2-40B4-BE49-F238E27FC236}">
                <a16:creationId xmlns:a16="http://schemas.microsoft.com/office/drawing/2014/main" id="{9773D69F-FB95-46A1-8BA6-67BE6BD506F9}"/>
              </a:ext>
            </a:extLst>
          </p:cNvPr>
          <p:cNvSpPr>
            <a:spLocks xmlns:a="http://schemas.openxmlformats.org/drawingml/2006/main" noGrp="1"/>
          </p:cNvSpPr>
          <p:nvPr/>
        </p:nvSpPr>
        <p:spPr>
          <a:xfrm xmlns:a="http://schemas.openxmlformats.org/drawingml/2006/main">
            <a:off x="9029700" y="2914650"/>
            <a:ext cx="22479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결국 protocol choice가</a:t>
            </a:r>
          </a:p>
          <a:p xmlns:a="http://schemas.openxmlformats.org/drawingml/2006/main">
            <a:pPr algn="l">
              <a:defRPr sz="1200" b="0">
                <a:solidFill>
                  <a:srgbClr val="132024"/>
                </a:solidFill>
              </a:defRPr>
            </a:pPr>
            <a:r>
              <a:rPr sz="1200" b="0">
                <a:solidFill>
                  <a:srgbClr val="132024"/>
                </a:solidFill>
              </a:rPr>
              <a:t>readout-first rule로</a:t>
            </a:r>
          </a:p>
          <a:p xmlns:a="http://schemas.openxmlformats.org/drawingml/2006/main">
            <a:pPr algn="l">
              <a:defRPr sz="1200" b="0">
                <a:solidFill>
                  <a:srgbClr val="132024"/>
                </a:solidFill>
              </a:defRPr>
            </a:pPr>
            <a:r>
              <a:rPr sz="1200" b="0">
                <a:solidFill>
                  <a:srgbClr val="132024"/>
                </a:solidFill>
              </a:rPr>
              <a:t>이동하면서 발표의 결론을 만들 수 있다.</a:t>
            </a:r>
          </a:p>
        </p:txBody>
      </p:sp>
      <p:sp>
        <p:nvSpPr>
          <p:cNvPr id="28" name="">
            <a:extLst xmlns:a="http://schemas.openxmlformats.org/drawingml/2006/main">
              <a:ext uri="{FF2B5EF4-FFF2-40B4-BE49-F238E27FC236}">
                <a16:creationId xmlns:a16="http://schemas.microsoft.com/office/drawing/2014/main" id="{62A27BF9-1237-42CF-9155-DC39A8C12A42}"/>
              </a:ext>
            </a:extLst>
          </p:cNvPr>
          <p:cNvSpPr>
            <a:spLocks xmlns:a="http://schemas.openxmlformats.org/drawingml/2006/main" noGrp="1"/>
          </p:cNvSpPr>
          <p:nvPr/>
        </p:nvSpPr>
        <p:spPr>
          <a:xfrm xmlns:a="http://schemas.openxmlformats.org/drawingml/2006/main">
            <a:off x="723900" y="5029200"/>
            <a:ext cx="107442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8440B62C-4558-4FCC-BD2F-1EB153B31AF9}"/>
              </a:ext>
            </a:extLst>
          </p:cNvPr>
          <p:cNvSpPr>
            <a:spLocks xmlns:a="http://schemas.openxmlformats.org/drawingml/2006/main" noGrp="1"/>
          </p:cNvSpPr>
          <p:nvPr/>
        </p:nvSpPr>
        <p:spPr>
          <a:xfrm xmlns:a="http://schemas.openxmlformats.org/drawingml/2006/main">
            <a:off x="771525" y="50768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2035AB98-EAA3-4B06-B2C4-7250E2064B2C}"/>
              </a:ext>
            </a:extLst>
          </p:cNvPr>
          <p:cNvSpPr>
            <a:spLocks xmlns:a="http://schemas.openxmlformats.org/drawingml/2006/main" noGrp="1"/>
          </p:cNvSpPr>
          <p:nvPr/>
        </p:nvSpPr>
        <p:spPr>
          <a:xfrm xmlns:a="http://schemas.openxmlformats.org/drawingml/2006/main">
            <a:off x="933450" y="5181600"/>
            <a:ext cx="103632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brain branch는 protocol family -&gt; benchmark -&gt; readout이 한 흐름으로 이어져, 질문이 이동하는 과정을 가장 선명하게 보여준다.</a:t>
            </a:r>
          </a:p>
        </p:txBody>
      </p:sp>
      <p:sp>
        <p:nvSpPr>
          <p:cNvPr id="31" name="">
            <a:extLst xmlns:a="http://schemas.openxmlformats.org/drawingml/2006/main">
              <a:ext uri="{FF2B5EF4-FFF2-40B4-BE49-F238E27FC236}">
                <a16:creationId xmlns:a16="http://schemas.microsoft.com/office/drawing/2014/main" id="{12C1452E-2D2F-47A5-B221-D2DB671FED7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그래서 organoid collection 전체 중에서도 brain branch가 발표 사례로 가장 적합했다.</a:t>
            </a:r>
          </a:p>
        </p:txBody>
      </p:sp>
    </p:spTree>
    <p:extLst>
      <p:ext uri="{BB962C8B-B14F-4D97-AF65-F5344CB8AC3E}">
        <p14:creationId xmlns:p14="http://schemas.microsoft.com/office/powerpoint/2010/main" val="1908421148"/>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336609a21444d9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0CA5D47-C4E0-4A8E-8F69-C675713A3AF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76A70C4-38AD-493B-9C7F-C6403F2118F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11F7184-FC2F-4DBB-8C82-917A76F8F6E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EC8B7CF-629E-44AA-AECD-58D981B218F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BB2938C-FEAD-4422-A33A-D017EA94013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35D0A677-A012-44A0-B3D6-652C23B24A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9D9D992-C308-4EA1-83A8-EB0E015C483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01DCC677-AA51-4D35-BB4E-13D1D82E347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12</a:t>
            </a:r>
          </a:p>
        </p:txBody>
      </p:sp>
      <p:sp>
        <p:nvSpPr>
          <p:cNvPr id="11" name="">
            <a:extLst xmlns:a="http://schemas.openxmlformats.org/drawingml/2006/main">
              <a:ext uri="{FF2B5EF4-FFF2-40B4-BE49-F238E27FC236}">
                <a16:creationId xmlns:a16="http://schemas.microsoft.com/office/drawing/2014/main" id="{39F1F3A0-C083-46D8-A510-D8B1F79F8BD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F4AF19C-DA5C-4241-BD5C-B7468ECC4917}"/>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EE212F1-B5A8-499F-9A81-0FDB54EBA1CE}"/>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1차 질문: 어떤 brain subregion</a:t>
            </a:r>
          </a:p>
          <a:p xmlns:a="http://schemas.openxmlformats.org/drawingml/2006/main">
            <a:pPr algn="l">
              <a:defRPr sz="2700" b="1">
                <a:solidFill>
                  <a:srgbClr val="132024"/>
                </a:solidFill>
              </a:defRPr>
            </a:pPr>
            <a:r>
              <a:rPr sz="2700" b="1">
                <a:solidFill>
                  <a:srgbClr val="132024"/>
                </a:solidFill>
              </a:rPr>
              <a:t>프로토콜을 비교해야 하는가</a:t>
            </a:r>
          </a:p>
        </p:txBody>
      </p:sp>
      <p:sp>
        <p:nvSpPr>
          <p:cNvPr id="14" name="">
            <a:extLst xmlns:a="http://schemas.openxmlformats.org/drawingml/2006/main">
              <a:ext uri="{FF2B5EF4-FFF2-40B4-BE49-F238E27FC236}">
                <a16:creationId xmlns:a16="http://schemas.microsoft.com/office/drawing/2014/main" id="{10C24E03-0283-4611-A45D-9A49F134D6FB}"/>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3098BCC-4D2E-4D15-94C7-C16B708EEDC8}"/>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433C0D1-C0D1-4A68-8C20-E1098E813F80}"/>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출발 질문</a:t>
            </a:r>
          </a:p>
        </p:txBody>
      </p:sp>
      <p:sp>
        <p:nvSpPr>
          <p:cNvPr id="17" name="">
            <a:extLst xmlns:a="http://schemas.openxmlformats.org/drawingml/2006/main">
              <a:ext uri="{FF2B5EF4-FFF2-40B4-BE49-F238E27FC236}">
                <a16:creationId xmlns:a16="http://schemas.microsoft.com/office/drawing/2014/main" id="{C79CCD4C-46FD-4391-B582-342048F8FD7A}"/>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forebrain,</a:t>
            </a:r>
          </a:p>
          <a:p xmlns:a="http://schemas.openxmlformats.org/drawingml/2006/main">
            <a:pPr algn="l">
              <a:defRPr sz="1200" b="0">
                <a:solidFill>
                  <a:srgbClr val="132024"/>
                </a:solidFill>
              </a:defRPr>
            </a:pPr>
            <a:r>
              <a:rPr sz="1200" b="0">
                <a:solidFill>
                  <a:srgbClr val="132024"/>
                </a:solidFill>
              </a:rPr>
              <a:t>posterior/niche 중 어떤 branch가</a:t>
            </a:r>
          </a:p>
          <a:p xmlns:a="http://schemas.openxmlformats.org/drawingml/2006/main">
            <a:pPr algn="l">
              <a:defRPr sz="1200" b="0">
                <a:solidFill>
                  <a:srgbClr val="132024"/>
                </a:solidFill>
              </a:defRPr>
            </a:pPr>
            <a:r>
              <a:rPr sz="1200" b="0">
                <a:solidFill>
                  <a:srgbClr val="132024"/>
                </a:solidFill>
              </a:rPr>
              <a:t>맞는가?</a:t>
            </a:r>
          </a:p>
        </p:txBody>
      </p:sp>
      <p:sp>
        <p:nvSpPr>
          <p:cNvPr id="18" name="">
            <a:extLst xmlns:a="http://schemas.openxmlformats.org/drawingml/2006/main">
              <a:ext uri="{FF2B5EF4-FFF2-40B4-BE49-F238E27FC236}">
                <a16:creationId xmlns:a16="http://schemas.microsoft.com/office/drawing/2014/main" id="{23A9897D-91C4-44BE-A66D-D0DCC8E9195A}"/>
              </a:ext>
            </a:extLst>
          </p:cNvPr>
          <p:cNvSpPr>
            <a:spLocks xmlns:a="http://schemas.openxmlformats.org/drawingml/2006/main" noGrp="1"/>
          </p:cNvSpPr>
          <p:nvPr/>
        </p:nvSpPr>
        <p:spPr>
          <a:xfrm xmlns:a="http://schemas.openxmlformats.org/drawingml/2006/main">
            <a:off x="685800" y="36385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A1CCE9CF-910F-4EFB-93C6-C104BDDFC8D7}"/>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E2CB9F38-CB71-4C30-8CAD-67A4A0FE182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D930F14A-BC8E-4E9C-8E51-23631C186561}"/>
              </a:ext>
            </a:extLst>
          </p:cNvPr>
          <p:cNvSpPr>
            <a:spLocks xmlns:a="http://schemas.openxmlformats.org/drawingml/2006/main" noGrp="1"/>
          </p:cNvSpPr>
          <p:nvPr/>
        </p:nvSpPr>
        <p:spPr>
          <a:xfrm xmlns:a="http://schemas.openxmlformats.org/drawingml/2006/main">
            <a:off x="895350" y="42481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Lancaster, Sloan,</a:t>
            </a:r>
          </a:p>
          <a:p xmlns:a="http://schemas.openxmlformats.org/drawingml/2006/main">
            <a:pPr algn="l">
              <a:defRPr sz="1200" b="0">
                <a:solidFill>
                  <a:srgbClr val="132024"/>
                </a:solidFill>
              </a:defRPr>
            </a:pPr>
            <a:r>
              <a:rPr sz="1200" b="0">
                <a:solidFill>
                  <a:srgbClr val="132024"/>
                </a:solidFill>
              </a:rPr>
              <a:t>Fitzgerald, Zagare 등 주요</a:t>
            </a:r>
          </a:p>
          <a:p xmlns:a="http://schemas.openxmlformats.org/drawingml/2006/main">
            <a:pPr algn="l">
              <a:defRPr sz="1200" b="0">
                <a:solidFill>
                  <a:srgbClr val="132024"/>
                </a:solidFill>
              </a:defRPr>
            </a:pPr>
            <a:r>
              <a:rPr sz="1200" b="0">
                <a:solidFill>
                  <a:srgbClr val="132024"/>
                </a:solidFill>
              </a:rPr>
              <a:t>protocol paper</a:t>
            </a:r>
          </a:p>
        </p:txBody>
      </p:sp>
      <p:sp>
        <p:nvSpPr>
          <p:cNvPr id="22" name="">
            <a:extLst xmlns:a="http://schemas.openxmlformats.org/drawingml/2006/main">
              <a:ext uri="{FF2B5EF4-FFF2-40B4-BE49-F238E27FC236}">
                <a16:creationId xmlns:a16="http://schemas.microsoft.com/office/drawing/2014/main" id="{0C8A54C4-EC7C-41D7-B062-0564E6D3D345}"/>
              </a:ext>
            </a:extLst>
          </p:cNvPr>
          <p:cNvSpPr>
            <a:spLocks xmlns:a="http://schemas.openxmlformats.org/drawingml/2006/main" noGrp="1"/>
          </p:cNvSpPr>
          <p:nvPr/>
        </p:nvSpPr>
        <p:spPr>
          <a:xfrm xmlns:a="http://schemas.openxmlformats.org/drawingml/2006/main">
            <a:off x="685800" y="5162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F944F62-B7A9-4C76-80E5-136515B698F0}"/>
              </a:ext>
            </a:extLst>
          </p:cNvPr>
          <p:cNvSpPr>
            <a:spLocks xmlns:a="http://schemas.openxmlformats.org/drawingml/2006/main" noGrp="1"/>
          </p:cNvSpPr>
          <p:nvPr/>
        </p:nvSpPr>
        <p:spPr>
          <a:xfrm xmlns:a="http://schemas.openxmlformats.org/drawingml/2006/main">
            <a:off x="742950" y="52197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9A341710-5718-4153-91E2-9447732121C3}"/>
              </a:ext>
            </a:extLst>
          </p:cNvPr>
          <p:cNvSpPr>
            <a:spLocks xmlns:a="http://schemas.openxmlformats.org/drawingml/2006/main" noGrp="1"/>
          </p:cNvSpPr>
          <p:nvPr/>
        </p:nvSpPr>
        <p:spPr>
          <a:xfrm xmlns:a="http://schemas.openxmlformats.org/drawingml/2006/main">
            <a:off x="895350" y="5353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1차 해석</a:t>
            </a:r>
          </a:p>
        </p:txBody>
      </p:sp>
      <p:sp>
        <p:nvSpPr>
          <p:cNvPr id="25" name="">
            <a:extLst xmlns:a="http://schemas.openxmlformats.org/drawingml/2006/main">
              <a:ext uri="{FF2B5EF4-FFF2-40B4-BE49-F238E27FC236}">
                <a16:creationId xmlns:a16="http://schemas.microsoft.com/office/drawing/2014/main" id="{AC5A20A5-9A6B-4FE6-9B2B-52D6C7B9299E}"/>
              </a:ext>
            </a:extLst>
          </p:cNvPr>
          <p:cNvSpPr>
            <a:spLocks xmlns:a="http://schemas.openxmlformats.org/drawingml/2006/main" noGrp="1"/>
          </p:cNvSpPr>
          <p:nvPr/>
        </p:nvSpPr>
        <p:spPr>
          <a:xfrm xmlns:a="http://schemas.openxmlformats.org/drawingml/2006/main">
            <a:off x="895350" y="5772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1차 결론: 우선 subregion</a:t>
            </a:r>
          </a:p>
          <a:p xmlns:a="http://schemas.openxmlformats.org/drawingml/2006/main">
            <a:pPr algn="l">
              <a:defRPr sz="1200" b="0">
                <a:solidFill>
                  <a:srgbClr val="132024"/>
                </a:solidFill>
              </a:defRPr>
            </a:pPr>
            <a:r>
              <a:rPr sz="1200" b="0">
                <a:solidFill>
                  <a:srgbClr val="132024"/>
                </a:solidFill>
              </a:rPr>
              <a:t>selection 문제로 읽었다.</a:t>
            </a:r>
          </a:p>
        </p:txBody>
      </p:sp>
      <p:sp>
        <p:nvSpPr>
          <p:cNvPr id="26" name="">
            <a:extLst xmlns:a="http://schemas.openxmlformats.org/drawingml/2006/main">
              <a:ext uri="{FF2B5EF4-FFF2-40B4-BE49-F238E27FC236}">
                <a16:creationId xmlns:a16="http://schemas.microsoft.com/office/drawing/2014/main" id="{02225F26-2534-43B4-8E02-C5B10FC2461D}"/>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F3A20F7-7166-4626-AF4C-F6B974A6FD88}"/>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16D284DE-607A-40C1-B78A-98BF6414C63C}"/>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4DD2F103-22B9-4905-8DD9-B667DF5142FC}"/>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10481A7D-810F-4083-8058-5DB035718985}"/>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47C24B9F-5584-4FFF-88F6-4AD081A1F027}"/>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collections/organoid/wiki/queries/20260408_174047_brain-subregion-protocol-comparison.md</a:t>
            </a:r>
          </a:p>
        </p:txBody>
      </p:sp>
      <p:sp>
        <p:nvSpPr>
          <p:cNvPr id="32" name="">
            <a:extLst xmlns:a="http://schemas.openxmlformats.org/drawingml/2006/main">
              <a:ext uri="{FF2B5EF4-FFF2-40B4-BE49-F238E27FC236}">
                <a16:creationId xmlns:a16="http://schemas.microsoft.com/office/drawing/2014/main" id="{5E234A58-F897-42F0-B49F-C3B3886FD69F}"/>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Q1 here</a:t>
            </a:r>
          </a:p>
        </p:txBody>
      </p:sp>
      <p:sp>
        <p:nvSpPr>
          <p:cNvPr id="33" name="">
            <a:extLst xmlns:a="http://schemas.openxmlformats.org/drawingml/2006/main">
              <a:ext uri="{FF2B5EF4-FFF2-40B4-BE49-F238E27FC236}">
                <a16:creationId xmlns:a16="http://schemas.microsoft.com/office/drawing/2014/main" id="{1B9D13BC-ACB0-4CD9-9184-DDADDA4174A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Q1 query note의 Obsidian local graph를 삽입하면 된다.</a:t>
            </a:r>
          </a:p>
        </p:txBody>
      </p:sp>
    </p:spTree>
    <p:extLst>
      <p:ext uri="{BB962C8B-B14F-4D97-AF65-F5344CB8AC3E}">
        <p14:creationId xmlns:p14="http://schemas.microsoft.com/office/powerpoint/2010/main" val="1981200296"/>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af939c822d740e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6ABB4A3-709F-4CFF-8E7B-0B8343E00882}"/>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E68818B-5A51-4D94-B4DC-086B41846A7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20C6A25-FD81-423E-B678-F09496111C7F}"/>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BD4A9D5-7F40-4935-A1BD-EE28A951771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2202ED4-8414-4CCF-B662-9A2EEA900B9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A60DBA4-F83A-4E70-8601-073DC52695C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2385720-2918-4945-9480-0AD3A024E58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9EDEED1D-4B84-478A-88E2-06CA363DD60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12</a:t>
            </a:r>
          </a:p>
        </p:txBody>
      </p:sp>
      <p:sp>
        <p:nvSpPr>
          <p:cNvPr id="11" name="">
            <a:extLst xmlns:a="http://schemas.openxmlformats.org/drawingml/2006/main">
              <a:ext uri="{FF2B5EF4-FFF2-40B4-BE49-F238E27FC236}">
                <a16:creationId xmlns:a16="http://schemas.microsoft.com/office/drawing/2014/main" id="{AFE0D3B6-3486-4DE0-A9F8-8AF0A65064A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1AF5ED5-902D-4828-8E53-3BAABDCED27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55737C5-A7C9-44BC-9638-F0DD2970C5D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 질문은 subregion selection으로</a:t>
            </a:r>
          </a:p>
          <a:p xmlns:a="http://schemas.openxmlformats.org/drawingml/2006/main">
            <a:pPr algn="l">
              <a:defRPr sz="2850" b="1">
                <a:solidFill>
                  <a:srgbClr val="132024"/>
                </a:solidFill>
              </a:defRPr>
            </a:pPr>
            <a:r>
              <a:rPr sz="2850" b="1">
                <a:solidFill>
                  <a:srgbClr val="132024"/>
                </a:solidFill>
              </a:rPr>
              <a:t>정리될 수 있었다</a:t>
            </a:r>
          </a:p>
        </p:txBody>
      </p:sp>
      <p:sp>
        <p:nvSpPr>
          <p:cNvPr id="14" name="">
            <a:extLst xmlns:a="http://schemas.openxmlformats.org/drawingml/2006/main">
              <a:ext uri="{FF2B5EF4-FFF2-40B4-BE49-F238E27FC236}">
                <a16:creationId xmlns:a16="http://schemas.microsoft.com/office/drawing/2014/main" id="{D7EE6A33-0C3F-400E-A348-2C6FA08BBE74}"/>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FD8B4411-8D49-4D0F-A7A6-4D1871B03831}"/>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769FC0FD-A793-430A-A358-C7F7B4094FA3}"/>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2C37BAFF-B46A-4AAF-BD09-787DA4F490AB}"/>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CF839CA2-73CE-47CE-9FE4-363B0CECE580}"/>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49292B6F-41CD-49CB-8EFB-FB2CF3AEF941}"/>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F739D388-3C6B-4C7E-ADF8-CC296E3415F4}"/>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BE7FED42-3CD0-42CC-91DC-CE8C61DFF20D}"/>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D57D7BFF-43C3-426F-BF4E-60C4BEBCAD61}"/>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435B6FBC-5AB2-4FF0-8084-6D11D3E91BFB}"/>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5C214DA-F06A-431F-8136-276DC2F21F75}"/>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BEFE507B-A861-412D-A502-45441CDD598B}"/>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8E1980B6-AA43-4C8C-9EA0-08BFA8931FBF}"/>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1BCBDE02-712D-4135-9DFC-9A49072B768A}"/>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D367BCA0-3C63-4F9E-A93F-71A59454B15B}"/>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A02BEB14-A4DE-48AB-BDA2-53F2C740846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1262752408"/>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69a7dfc5c2d45b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6818D23-B15D-45D3-91C3-6EC89210A6B2}"/>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1743759-0C0B-473B-913F-9E911D5C28A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C12B079-E22C-4C5F-9B56-2CFB12C4CC5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13C69E6-4859-456C-AEEA-F29410A66050}"/>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2DD8F25-174A-4274-8FE3-040759AC5DDD}"/>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41953D7-B75B-47A3-BBA8-7C150D8D347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8BC78A3-27CE-4AA5-8A29-CA353E81967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9155F077-AD21-46F6-AADC-609B3646D8C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12</a:t>
            </a:r>
          </a:p>
        </p:txBody>
      </p:sp>
      <p:sp>
        <p:nvSpPr>
          <p:cNvPr id="11" name="">
            <a:extLst xmlns:a="http://schemas.openxmlformats.org/drawingml/2006/main">
              <a:ext uri="{FF2B5EF4-FFF2-40B4-BE49-F238E27FC236}">
                <a16:creationId xmlns:a16="http://schemas.microsoft.com/office/drawing/2014/main" id="{B4AADD52-C3BE-4CB3-95F0-BF794213F42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A933734-6B89-4C0C-8D34-DB324689A0C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98ADF0E-E3A7-4E0B-B0BB-54344DAD257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같은 subregion이어도</a:t>
            </a:r>
          </a:p>
          <a:p xmlns:a="http://schemas.openxmlformats.org/drawingml/2006/main">
            <a:pPr algn="l">
              <a:defRPr sz="2850" b="1">
                <a:solidFill>
                  <a:srgbClr val="132024"/>
                </a:solidFill>
              </a:defRPr>
            </a:pPr>
            <a:r>
              <a:rPr sz="2850" b="1">
                <a:solidFill>
                  <a:srgbClr val="132024"/>
                </a:solidFill>
              </a:rPr>
              <a:t>같은 모델은 아니었다</a:t>
            </a:r>
          </a:p>
        </p:txBody>
      </p:sp>
      <p:sp>
        <p:nvSpPr>
          <p:cNvPr id="14" name="">
            <a:extLst xmlns:a="http://schemas.openxmlformats.org/drawingml/2006/main">
              <a:ext uri="{FF2B5EF4-FFF2-40B4-BE49-F238E27FC236}">
                <a16:creationId xmlns:a16="http://schemas.microsoft.com/office/drawing/2014/main" id="{C5D288F8-147B-4287-8449-E30D8090C15E}"/>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F94D1A6-6670-415A-A016-CAE08EF1A11F}"/>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2C358938-31CA-412F-9F3C-C7311E38B0F7}"/>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784DCA01-9A89-4543-B3DB-990F24A91D43}"/>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7D2725EE-FF75-4014-B06C-6B8A0F2F50C2}"/>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93D5E45-AC07-486B-AD4B-91C6E9955B6E}"/>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7E4077C2-8818-4729-9F63-902AFD12E6D9}"/>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0DFE64DF-5A1D-46F2-8E80-FAF3026DD5E8}"/>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3324517A-759D-4354-8E55-BDA95BC489EB}"/>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87901807-40CE-49FC-B2E6-E4357D6EFC97}"/>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DD53FCA9-6302-4A69-A545-47EB4ED2825E}"/>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FF503D38-B0F1-4CC8-9AE4-19C82CD60729}"/>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24702C47-6650-4A42-9B5D-41B779CDA719}"/>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D054D9D2-02FF-475F-9B61-7823E7C2B6DA}"/>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18EE8F0E-1BCF-463D-BB1C-F9658FA37535}"/>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02EBD374-0999-498D-84E1-09049394767D}"/>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598F1EA4-3123-48D2-AF91-5089EA0F182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768761511"/>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e274e8403d24e6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A23B219-1FDC-421B-A3A6-64ABD1CBE6A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74A005E-E8ED-4469-9794-57228C88943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A2B3121-D3E5-47CB-994D-BFA93004F5EF}"/>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EFCBF658-7ADE-45E5-BD97-62E313A9554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806656D-238C-456E-A5FB-7FDA4B94D16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2B2ED55-5B5C-4352-AE3F-7C04459E60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5A91ABC1-5415-43D7-BC18-C7D4E22B19D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DFE9AC40-4785-42AF-9F7A-688AB1249C0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12</a:t>
            </a:r>
          </a:p>
        </p:txBody>
      </p:sp>
      <p:sp>
        <p:nvSpPr>
          <p:cNvPr id="11" name="">
            <a:extLst xmlns:a="http://schemas.openxmlformats.org/drawingml/2006/main">
              <a:ext uri="{FF2B5EF4-FFF2-40B4-BE49-F238E27FC236}">
                <a16:creationId xmlns:a16="http://schemas.microsoft.com/office/drawing/2014/main" id="{3BDD6A73-E0B0-4FCC-BE22-0FC1B528C5F5}"/>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9C987E3-7886-4931-826A-FFD357BE7838}"/>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7EFDC21-BD97-4906-ADA6-C2714EDEE16D}"/>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2차 질문: region 말고</a:t>
            </a:r>
          </a:p>
          <a:p xmlns:a="http://schemas.openxmlformats.org/drawingml/2006/main">
            <a:pPr algn="l">
              <a:defRPr sz="2700" b="1">
                <a:solidFill>
                  <a:srgbClr val="132024"/>
                </a:solidFill>
              </a:defRPr>
            </a:pPr>
            <a:r>
              <a:rPr sz="2700" b="1">
                <a:solidFill>
                  <a:srgbClr val="132024"/>
                </a:solidFill>
              </a:rPr>
              <a:t>무엇을 따로 benchmark해야 하는가</a:t>
            </a:r>
          </a:p>
        </p:txBody>
      </p:sp>
      <p:sp>
        <p:nvSpPr>
          <p:cNvPr id="14" name="">
            <a:extLst xmlns:a="http://schemas.openxmlformats.org/drawingml/2006/main">
              <a:ext uri="{FF2B5EF4-FFF2-40B4-BE49-F238E27FC236}">
                <a16:creationId xmlns:a16="http://schemas.microsoft.com/office/drawing/2014/main" id="{24B9D0DA-A1F4-41E4-A89C-95330AEB1DCC}"/>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C824847-677B-48B5-9F34-A421429AA0D5}"/>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E1A3FA7-525A-4E31-91F1-86350AE785DD}"/>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새로 붙은 질문</a:t>
            </a:r>
          </a:p>
        </p:txBody>
      </p:sp>
      <p:sp>
        <p:nvSpPr>
          <p:cNvPr id="17" name="">
            <a:extLst xmlns:a="http://schemas.openxmlformats.org/drawingml/2006/main">
              <a:ext uri="{FF2B5EF4-FFF2-40B4-BE49-F238E27FC236}">
                <a16:creationId xmlns:a16="http://schemas.microsoft.com/office/drawing/2014/main" id="{9AC9B2E5-95BF-4770-B7E9-1A8959D2274E}"/>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cortical branch라도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timing을 따로 물어야 하지 않는가?</a:t>
            </a:r>
          </a:p>
        </p:txBody>
      </p:sp>
      <p:sp>
        <p:nvSpPr>
          <p:cNvPr id="18" name="">
            <a:extLst xmlns:a="http://schemas.openxmlformats.org/drawingml/2006/main">
              <a:ext uri="{FF2B5EF4-FFF2-40B4-BE49-F238E27FC236}">
                <a16:creationId xmlns:a16="http://schemas.microsoft.com/office/drawing/2014/main" id="{9DFAB654-CA3E-40CA-899D-6375A353E31F}"/>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BD6EAD98-AE58-4C3A-8EEB-CE8AC3316800}"/>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16892F0C-0EDA-4E4A-B102-FA246BC4141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B6B531BA-7A49-4A0D-B0ED-CDBF5E7CD6E7}"/>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Yoon, Bhaduri,</a:t>
            </a:r>
          </a:p>
          <a:p xmlns:a="http://schemas.openxmlformats.org/drawingml/2006/main">
            <a:pPr algn="l">
              <a:defRPr sz="1200" b="0">
                <a:solidFill>
                  <a:srgbClr val="132024"/>
                </a:solidFill>
              </a:defRPr>
            </a:pPr>
            <a:r>
              <a:rPr sz="1200" b="0">
                <a:solidFill>
                  <a:srgbClr val="132024"/>
                </a:solidFill>
              </a:rPr>
              <a:t>Kanton, He</a:t>
            </a:r>
          </a:p>
        </p:txBody>
      </p:sp>
      <p:sp>
        <p:nvSpPr>
          <p:cNvPr id="22" name="">
            <a:extLst xmlns:a="http://schemas.openxmlformats.org/drawingml/2006/main">
              <a:ext uri="{FF2B5EF4-FFF2-40B4-BE49-F238E27FC236}">
                <a16:creationId xmlns:a16="http://schemas.microsoft.com/office/drawing/2014/main" id="{562B0672-1921-4DE5-BEF8-298143783999}"/>
              </a:ext>
            </a:extLst>
          </p:cNvPr>
          <p:cNvSpPr>
            <a:spLocks xmlns:a="http://schemas.openxmlformats.org/drawingml/2006/main" noGrp="1"/>
          </p:cNvSpPr>
          <p:nvPr/>
        </p:nvSpPr>
        <p:spPr>
          <a:xfrm xmlns:a="http://schemas.openxmlformats.org/drawingml/2006/main">
            <a:off x="685800" y="49720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19512C37-FEC4-4201-8F13-0EA9F1542DB7}"/>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4BB9A12-4E8D-4D4B-A7BC-54E06DEE4C1B}"/>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질문의 변화</a:t>
            </a:r>
          </a:p>
        </p:txBody>
      </p:sp>
      <p:sp>
        <p:nvSpPr>
          <p:cNvPr id="25" name="">
            <a:extLst xmlns:a="http://schemas.openxmlformats.org/drawingml/2006/main">
              <a:ext uri="{FF2B5EF4-FFF2-40B4-BE49-F238E27FC236}">
                <a16:creationId xmlns:a16="http://schemas.microsoft.com/office/drawing/2014/main" id="{59139619-2F79-4016-AC4C-7133824505A6}"/>
              </a:ext>
            </a:extLst>
          </p:cNvPr>
          <p:cNvSpPr>
            <a:spLocks xmlns:a="http://schemas.openxmlformats.org/drawingml/2006/main" noGrp="1"/>
          </p:cNvSpPr>
          <p:nvPr/>
        </p:nvSpPr>
        <p:spPr>
          <a:xfrm xmlns:a="http://schemas.openxmlformats.org/drawingml/2006/main">
            <a:off x="895350" y="55816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map 위에 benchmark</a:t>
            </a:r>
          </a:p>
          <a:p xmlns:a="http://schemas.openxmlformats.org/drawingml/2006/main">
            <a:pPr algn="l">
              <a:defRPr sz="1200" b="0">
                <a:solidFill>
                  <a:srgbClr val="132024"/>
                </a:solidFill>
              </a:defRPr>
            </a:pPr>
            <a:r>
              <a:rPr sz="1200" b="0">
                <a:solidFill>
                  <a:srgbClr val="132024"/>
                </a:solidFill>
              </a:rPr>
              <a:t>axis가 덧붙으면서 비교 기준이 완전히 달라졌다.</a:t>
            </a:r>
          </a:p>
        </p:txBody>
      </p:sp>
      <p:sp>
        <p:nvSpPr>
          <p:cNvPr id="26" name="">
            <a:extLst xmlns:a="http://schemas.openxmlformats.org/drawingml/2006/main">
              <a:ext uri="{FF2B5EF4-FFF2-40B4-BE49-F238E27FC236}">
                <a16:creationId xmlns:a16="http://schemas.microsoft.com/office/drawing/2014/main" id="{D63F14EB-D6D6-4A99-8D40-B9E8CAB1AEC8}"/>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A4CFE49-BEFD-43B2-AB48-FA924D6A0A42}"/>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CDB9CC04-AC8C-40E1-AC6A-95EB544FF7DC}"/>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CA1DCFD2-3529-4B0B-9C3A-FB93082EA81B}"/>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DAFAD79D-C3B3-408D-A469-889BA5D7C32E}"/>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F7878BAA-B863-471A-B790-4B38C3E23F59}"/>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collections/organoid/wiki/queries/20260409_brain-protocol-maturation-synchronization.md</a:t>
            </a:r>
          </a:p>
        </p:txBody>
      </p:sp>
      <p:sp>
        <p:nvSpPr>
          <p:cNvPr id="32" name="">
            <a:extLst xmlns:a="http://schemas.openxmlformats.org/drawingml/2006/main">
              <a:ext uri="{FF2B5EF4-FFF2-40B4-BE49-F238E27FC236}">
                <a16:creationId xmlns:a16="http://schemas.microsoft.com/office/drawing/2014/main" id="{59BD7354-D222-4042-8006-85271BE459A0}"/>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Q2 here</a:t>
            </a:r>
          </a:p>
        </p:txBody>
      </p:sp>
      <p:sp>
        <p:nvSpPr>
          <p:cNvPr id="33" name="">
            <a:extLst xmlns:a="http://schemas.openxmlformats.org/drawingml/2006/main">
              <a:ext uri="{FF2B5EF4-FFF2-40B4-BE49-F238E27FC236}">
                <a16:creationId xmlns:a16="http://schemas.microsoft.com/office/drawing/2014/main" id="{FC2BDAFD-AAA5-46D4-82A6-1D417BBA2E9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Q2 query note의 Obsidian local graph를 삽입하면 된다.</a:t>
            </a:r>
          </a:p>
        </p:txBody>
      </p:sp>
    </p:spTree>
    <p:extLst>
      <p:ext uri="{BB962C8B-B14F-4D97-AF65-F5344CB8AC3E}">
        <p14:creationId xmlns:p14="http://schemas.microsoft.com/office/powerpoint/2010/main" val="968263222"/>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81ea05725de443f"/>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95BBB47-9165-4794-8BEB-BC0ADD34FB9F}"/>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2306754F-0257-49FF-97D6-C311E98B1F6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38C9EE0-BB03-4B18-AA48-AF191A3916B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A0E4700-6338-46A4-9FA9-E898E2D7AAE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34931C99-AD58-4211-8B11-9F498A613F7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DA7DC33-B406-46DE-843A-1B722FAA09A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6511CF3-1DF8-4365-9A13-255833BD7E8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0CA5DE55-61FB-47BB-9797-CDB6589C6CD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12</a:t>
            </a:r>
          </a:p>
        </p:txBody>
      </p:sp>
      <p:sp>
        <p:nvSpPr>
          <p:cNvPr id="11" name="">
            <a:extLst xmlns:a="http://schemas.openxmlformats.org/drawingml/2006/main">
              <a:ext uri="{FF2B5EF4-FFF2-40B4-BE49-F238E27FC236}">
                <a16:creationId xmlns:a16="http://schemas.microsoft.com/office/drawing/2014/main" id="{F9C8BDA7-52E6-49D2-B818-005F10B4492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744AFA6-9497-4453-870C-1C93ACDABAB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31D58EF-7466-4155-86A5-11239B066E2E}"/>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가장 중요한 분리:</a:t>
            </a:r>
          </a:p>
          <a:p xmlns:a="http://schemas.openxmlformats.org/drawingml/2006/main">
            <a:pPr algn="l">
              <a:defRPr sz="2850" b="1">
                <a:solidFill>
                  <a:srgbClr val="132024"/>
                </a:solidFill>
              </a:defRPr>
            </a:pPr>
            <a:r>
              <a:rPr sz="2850" b="1">
                <a:solidFill>
                  <a:srgbClr val="132024"/>
                </a:solidFill>
              </a:rPr>
              <a:t>reproducibility와 fidelity</a:t>
            </a:r>
          </a:p>
        </p:txBody>
      </p:sp>
      <p:sp>
        <p:nvSpPr>
          <p:cNvPr id="14" name="">
            <a:extLst xmlns:a="http://schemas.openxmlformats.org/drawingml/2006/main">
              <a:ext uri="{FF2B5EF4-FFF2-40B4-BE49-F238E27FC236}">
                <a16:creationId xmlns:a16="http://schemas.microsoft.com/office/drawing/2014/main" id="{C2F618B4-53D2-428A-9E28-A0F3DB479C1A}"/>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E1ED32DC-6210-47FC-83CA-E57265B7B235}"/>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D4CE18C-93F9-4CE3-A78B-0BE093C9725A}"/>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5C1AB72A-419C-451F-8133-6D0F90D3DF65}"/>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DB6D2E87-E2BA-4A9A-AF5F-1E0B6CFB5F8E}"/>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497C5D2-B7F2-48C1-A5A7-759C9AD3BF16}"/>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F1FF67FF-5A4A-4072-96F5-D90B52AE6C62}"/>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B5A243F3-05FB-4B35-AEFD-CCF5D0F7ABF6}"/>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8A55DFF6-FB71-46DC-89FF-1E32DA57AFFE}"/>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EF10AEB4-1C3B-4C2B-A386-03DF92A7C68B}"/>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FC18C74D-FF3E-494B-859E-B2D21F23C0A6}"/>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E3255291-28D7-4ABA-8B45-913F6713D761}"/>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62AAF860-CAF6-4A7E-9EA2-C37C24A37EE8}"/>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BF47C9D9-149A-4356-B9C0-77EEC2E1F71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1174361897"/>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3610326cacf46f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956BC0F-7971-4457-B954-C616E28E1611}"/>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264BAB2-84B6-436D-9ADE-5F056143205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A0C9BFF-D65E-45A2-AAEE-7940D739C0A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A1AD432-EEAB-4DF4-AEFD-71C6415C77D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897191F-1EAD-47B0-B702-9837419DE286}"/>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435DCA43-07B6-437F-9C7C-CA5352376EB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578DF86-6C0A-4230-9442-B1147A9F18E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11797080-E472-456C-A2A4-EC0D82BF21B0}"/>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12</a:t>
            </a:r>
          </a:p>
        </p:txBody>
      </p:sp>
      <p:sp>
        <p:nvSpPr>
          <p:cNvPr id="11" name="">
            <a:extLst xmlns:a="http://schemas.openxmlformats.org/drawingml/2006/main">
              <a:ext uri="{FF2B5EF4-FFF2-40B4-BE49-F238E27FC236}">
                <a16:creationId xmlns:a16="http://schemas.microsoft.com/office/drawing/2014/main" id="{DCDEAAA6-FFE8-440D-BC2A-BA2400BD1EF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4FB6497-5B6B-4142-AE33-1EE6824D0EA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E0BEA8A-627A-4540-BCEA-70E1601824CD}"/>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그래서 protocol 비교는</a:t>
            </a:r>
          </a:p>
          <a:p xmlns:a="http://schemas.openxmlformats.org/drawingml/2006/main">
            <a:pPr algn="l">
              <a:defRPr sz="2850" b="1">
                <a:solidFill>
                  <a:srgbClr val="132024"/>
                </a:solidFill>
              </a:defRPr>
            </a:pPr>
            <a:r>
              <a:rPr sz="2850" b="1">
                <a:solidFill>
                  <a:srgbClr val="132024"/>
                </a:solidFill>
              </a:rPr>
              <a:t>5개의 축으로 나뉘었다</a:t>
            </a:r>
          </a:p>
        </p:txBody>
      </p:sp>
      <p:sp>
        <p:nvSpPr>
          <p:cNvPr id="14" name="">
            <a:extLst xmlns:a="http://schemas.openxmlformats.org/drawingml/2006/main">
              <a:ext uri="{FF2B5EF4-FFF2-40B4-BE49-F238E27FC236}">
                <a16:creationId xmlns:a16="http://schemas.microsoft.com/office/drawing/2014/main" id="{0D9F5C67-4D06-4962-A02B-B2DEF6DC2560}"/>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B2797F29-3082-43BF-B39D-FDFFE6B8BB25}"/>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344D1EF-2EFB-42A1-9C0F-FBC7AEAAC878}"/>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134246AF-1392-4DEA-B373-5DFB9F63C18F}"/>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05A4C597-E516-4A1F-9E0F-D4B3C77B9D65}"/>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928F6EA5-D76F-4F52-8F71-511BABC6F66B}"/>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F60EDD69-CC40-4599-A732-C1B1CFE4C1F5}"/>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ED1A6053-2448-4E1E-BC07-BAF4259885DD}"/>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C04640D6-015F-421B-8D4F-679660949209}"/>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62AC9757-2935-48B4-AA79-596C940503D5}"/>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1390366-C997-4E8F-B848-5FDC44871B44}"/>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9B8CC9E8-2B7F-4D23-B0D1-F401AD4A03FB}"/>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FC3D7DDE-3C37-4E31-BB70-4120809DC8C9}"/>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82BB3830-8E41-425C-AB6A-6AA71DDF621C}"/>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1CD61796-2E2D-4AD9-9348-2F2702DBD5B9}"/>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417128D8-4258-44EE-A4FA-A1066AE49B91}"/>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C52394EC-0670-41A7-87D0-E98B185B7BD7}"/>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3CB55DB7-AA4C-45E9-A3A1-6E62EF679DF0}"/>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501F7918-CC4F-4F09-B056-6678F6EE6443}"/>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5606EC4B-786F-41D0-9800-8F542662B54E}"/>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1907A304-3B5E-4AEB-B074-176A3ECD9632}"/>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ABC98EFA-7954-40F8-BB58-72C960AF46DE}"/>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DA6A8A0E-8013-43D4-92A1-C2EAEEA45CAE}"/>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9485E434-3817-461A-935C-BF8263B9751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782805291"/>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cf176069fa3486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5FE0591-4EBF-456F-8AC7-839659264A1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3E1A65E-7774-444E-9A39-67D67554D12B}"/>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1880B04-6F7E-4879-BB47-32E946BAF024}"/>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B584B2F-A9FC-4A16-B060-B73EF2BAD8EE}"/>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A52FBEFA-C7EF-482C-8527-3799D8585AD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2E7140B-585D-4EEE-8070-FA653D212B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F1BFB32-E0E7-4507-81E2-5529271D5CD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ABBD20BE-7227-4841-9AC6-7A1470A28E5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12</a:t>
            </a:r>
          </a:p>
        </p:txBody>
      </p:sp>
      <p:sp>
        <p:nvSpPr>
          <p:cNvPr id="11" name="">
            <a:extLst xmlns:a="http://schemas.openxmlformats.org/drawingml/2006/main">
              <a:ext uri="{FF2B5EF4-FFF2-40B4-BE49-F238E27FC236}">
                <a16:creationId xmlns:a16="http://schemas.microsoft.com/office/drawing/2014/main" id="{2B893AD9-81D5-4D8A-B47C-BB10191F034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C0F4889B-3840-4689-AE10-00199D88CD74}"/>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7BA2165B-E9EF-46D6-A41D-A8D9A5FCCC53}"/>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3차 질문: region보다</a:t>
            </a:r>
          </a:p>
          <a:p xmlns:a="http://schemas.openxmlformats.org/drawingml/2006/main">
            <a:pPr algn="l">
              <a:defRPr sz="2700" b="1">
                <a:solidFill>
                  <a:srgbClr val="132024"/>
                </a:solidFill>
              </a:defRPr>
            </a:pPr>
            <a:r>
              <a:rPr sz="2700" b="1">
                <a:solidFill>
                  <a:srgbClr val="132024"/>
                </a:solidFill>
              </a:rPr>
              <a:t>readout을 먼저 적어야 하는가</a:t>
            </a:r>
          </a:p>
        </p:txBody>
      </p:sp>
      <p:sp>
        <p:nvSpPr>
          <p:cNvPr id="14" name="">
            <a:extLst xmlns:a="http://schemas.openxmlformats.org/drawingml/2006/main">
              <a:ext uri="{FF2B5EF4-FFF2-40B4-BE49-F238E27FC236}">
                <a16:creationId xmlns:a16="http://schemas.microsoft.com/office/drawing/2014/main" id="{C1B5517D-02D5-42B3-B174-D5CA690E9283}"/>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A1E0697-767B-4998-9C26-C7ACFB0011E8}"/>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F525599-6856-4836-894C-3722D0C14D9E}"/>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최종 선택 규칙</a:t>
            </a:r>
          </a:p>
        </p:txBody>
      </p:sp>
      <p:sp>
        <p:nvSpPr>
          <p:cNvPr id="17" name="">
            <a:extLst xmlns:a="http://schemas.openxmlformats.org/drawingml/2006/main">
              <a:ext uri="{FF2B5EF4-FFF2-40B4-BE49-F238E27FC236}">
                <a16:creationId xmlns:a16="http://schemas.microsoft.com/office/drawing/2014/main" id="{BF7D4763-7271-4AB9-8D3C-B622AB701222}"/>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먼저 가장 중요한 readout을 적고, 그</a:t>
            </a:r>
          </a:p>
          <a:p xmlns:a="http://schemas.openxmlformats.org/drawingml/2006/main">
            <a:pPr algn="l">
              <a:defRPr sz="1200" b="0">
                <a:solidFill>
                  <a:srgbClr val="132024"/>
                </a:solidFill>
              </a:defRPr>
            </a:pPr>
            <a:r>
              <a:rPr sz="1200" b="0">
                <a:solidFill>
                  <a:srgbClr val="132024"/>
                </a:solidFill>
              </a:rPr>
              <a:t>readout을 가장 직접적으로 뒷받침하는</a:t>
            </a:r>
          </a:p>
          <a:p xmlns:a="http://schemas.openxmlformats.org/drawingml/2006/main">
            <a:pPr algn="l">
              <a:defRPr sz="1200" b="0">
                <a:solidFill>
                  <a:srgbClr val="132024"/>
                </a:solidFill>
              </a:defRPr>
            </a:pPr>
            <a:r>
              <a:rPr sz="1200" b="0">
                <a:solidFill>
                  <a:srgbClr val="132024"/>
                </a:solidFill>
              </a:rPr>
              <a:t>branch를 고른다.</a:t>
            </a:r>
          </a:p>
        </p:txBody>
      </p:sp>
      <p:sp>
        <p:nvSpPr>
          <p:cNvPr id="18" name="">
            <a:extLst xmlns:a="http://schemas.openxmlformats.org/drawingml/2006/main">
              <a:ext uri="{FF2B5EF4-FFF2-40B4-BE49-F238E27FC236}">
                <a16:creationId xmlns:a16="http://schemas.microsoft.com/office/drawing/2014/main" id="{E0D65D5E-B585-4054-B53B-00D146C2C58E}"/>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A84996C3-66B5-44EF-9CC8-367026EC2707}"/>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85F01DB-35A1-4E7A-95B2-B6F415815E88}"/>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readout 묶음</a:t>
            </a:r>
          </a:p>
        </p:txBody>
      </p:sp>
      <p:sp>
        <p:nvSpPr>
          <p:cNvPr id="21" name="">
            <a:extLst xmlns:a="http://schemas.openxmlformats.org/drawingml/2006/main">
              <a:ext uri="{FF2B5EF4-FFF2-40B4-BE49-F238E27FC236}">
                <a16:creationId xmlns:a16="http://schemas.microsoft.com/office/drawing/2014/main" id="{8A89806E-05DB-4813-97B8-D077B3BDC34B}"/>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stability, fidelity/atlas,</a:t>
            </a:r>
          </a:p>
          <a:p xmlns:a="http://schemas.openxmlformats.org/drawingml/2006/main">
            <a:pPr algn="l">
              <a:defRPr sz="1200" b="0">
                <a:solidFill>
                  <a:srgbClr val="132024"/>
                </a:solidFill>
              </a:defRPr>
            </a:pPr>
            <a:r>
              <a:rPr sz="1200" b="0">
                <a:solidFill>
                  <a:srgbClr val="132024"/>
                </a:solidFill>
              </a:rPr>
              <a:t>function, host, screening</a:t>
            </a:r>
          </a:p>
        </p:txBody>
      </p:sp>
      <p:sp>
        <p:nvSpPr>
          <p:cNvPr id="22" name="">
            <a:extLst xmlns:a="http://schemas.openxmlformats.org/drawingml/2006/main">
              <a:ext uri="{FF2B5EF4-FFF2-40B4-BE49-F238E27FC236}">
                <a16:creationId xmlns:a16="http://schemas.microsoft.com/office/drawing/2014/main" id="{080179DE-3D04-4C22-85C0-155F7E46CAD0}"/>
              </a:ext>
            </a:extLst>
          </p:cNvPr>
          <p:cNvSpPr>
            <a:spLocks xmlns:a="http://schemas.openxmlformats.org/drawingml/2006/main" noGrp="1"/>
          </p:cNvSpPr>
          <p:nvPr/>
        </p:nvSpPr>
        <p:spPr>
          <a:xfrm xmlns:a="http://schemas.openxmlformats.org/drawingml/2006/main">
            <a:off x="685800" y="4972050"/>
            <a:ext cx="3200400" cy="1200150"/>
          </a:xfrm>
          <a:prstGeom xmlns:a="http://schemas.openxmlformats.org/drawingml/2006/main" prst="roundRect">
            <a:avLst>
              <a:gd name="adj" fmla="val 634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12685967-B6B6-4D18-9B10-C0378A607448}"/>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688BE405-ADA1-4032-B931-01AA03C0AD52}"/>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anchor</a:t>
            </a:r>
          </a:p>
        </p:txBody>
      </p:sp>
      <p:sp>
        <p:nvSpPr>
          <p:cNvPr id="25" name="">
            <a:extLst xmlns:a="http://schemas.openxmlformats.org/drawingml/2006/main">
              <a:ext uri="{FF2B5EF4-FFF2-40B4-BE49-F238E27FC236}">
                <a16:creationId xmlns:a16="http://schemas.microsoft.com/office/drawing/2014/main" id="{B6195A30-CA7F-4D81-93B2-2D66CE07777A}"/>
              </a:ext>
            </a:extLst>
          </p:cNvPr>
          <p:cNvSpPr>
            <a:spLocks xmlns:a="http://schemas.openxmlformats.org/drawingml/2006/main" noGrp="1"/>
          </p:cNvSpPr>
          <p:nvPr/>
        </p:nvSpPr>
        <p:spPr>
          <a:xfrm xmlns:a="http://schemas.openxmlformats.org/drawingml/2006/main">
            <a:off x="895350" y="5581650"/>
            <a:ext cx="2781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Bhaduri, He,</a:t>
            </a:r>
          </a:p>
          <a:p xmlns:a="http://schemas.openxmlformats.org/drawingml/2006/main">
            <a:pPr algn="l">
              <a:defRPr sz="1200" b="0">
                <a:solidFill>
                  <a:srgbClr val="132024"/>
                </a:solidFill>
              </a:defRPr>
            </a:pPr>
            <a:r>
              <a:rPr sz="1200" b="0">
                <a:solidFill>
                  <a:srgbClr val="132024"/>
                </a:solidFill>
              </a:rPr>
              <a:t>Fitzgerald, Kelley, Chen 등</a:t>
            </a:r>
          </a:p>
        </p:txBody>
      </p:sp>
      <p:sp>
        <p:nvSpPr>
          <p:cNvPr id="26" name="">
            <a:extLst xmlns:a="http://schemas.openxmlformats.org/drawingml/2006/main">
              <a:ext uri="{FF2B5EF4-FFF2-40B4-BE49-F238E27FC236}">
                <a16:creationId xmlns:a16="http://schemas.microsoft.com/office/drawing/2014/main" id="{72192983-648D-47BB-89BB-4E240B79DC4C}"/>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15700A4B-6841-4F61-8C83-D0565F51BD5B}"/>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6746FB12-B3CC-4939-B356-0B8EB84236B0}"/>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B9B22DEA-F9E3-4D78-B9CA-C1F46244C4AB}"/>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98FC0606-F49D-4CF5-9171-A2D513400360}"/>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49E0466E-BD81-4330-B3F8-3FC897C2CBB5}"/>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collections/organoid/wiki/queries/20260420_172825_brain-functional-readout-selection.md</a:t>
            </a:r>
          </a:p>
        </p:txBody>
      </p:sp>
      <p:sp>
        <p:nvSpPr>
          <p:cNvPr id="32" name="">
            <a:extLst xmlns:a="http://schemas.openxmlformats.org/drawingml/2006/main">
              <a:ext uri="{FF2B5EF4-FFF2-40B4-BE49-F238E27FC236}">
                <a16:creationId xmlns:a16="http://schemas.microsoft.com/office/drawing/2014/main" id="{B88DE70F-B4F5-445F-AB6B-D3A5D6D704E8}"/>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Q3 here</a:t>
            </a:r>
          </a:p>
        </p:txBody>
      </p:sp>
      <p:sp>
        <p:nvSpPr>
          <p:cNvPr id="33" name="">
            <a:extLst xmlns:a="http://schemas.openxmlformats.org/drawingml/2006/main">
              <a:ext uri="{FF2B5EF4-FFF2-40B4-BE49-F238E27FC236}">
                <a16:creationId xmlns:a16="http://schemas.microsoft.com/office/drawing/2014/main" id="{3C86D310-FF81-48EB-A668-1085D89C7EF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Q3 query note의 Obsidian local graph를 삽입하면 된다.</a:t>
            </a:r>
          </a:p>
        </p:txBody>
      </p:sp>
    </p:spTree>
    <p:extLst>
      <p:ext uri="{BB962C8B-B14F-4D97-AF65-F5344CB8AC3E}">
        <p14:creationId xmlns:p14="http://schemas.microsoft.com/office/powerpoint/2010/main" val="1334124735"/>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12CE447-476B-4BAE-A1FF-E669E79965E6}"/>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fefd5a0f61438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384C98C-857B-44F1-8730-842DD6CF534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D674D4FC-FFC7-4ABB-9406-1E580C6EA1C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420D122-7475-4611-8B91-7969E183BC8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F714CD26-F999-4CFC-BF53-65E57786D88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2D6D254-8613-4E69-9273-8735EA4E55E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591ADF7-41AF-41F4-9340-7444EB809B0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9DC9BC4-0E6C-4EE2-BC5A-436B80B9535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7CE02FFF-EEEA-40A7-A81C-C67523107C9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12</a:t>
            </a:r>
          </a:p>
        </p:txBody>
      </p:sp>
      <p:sp>
        <p:nvSpPr>
          <p:cNvPr id="11" name="">
            <a:extLst xmlns:a="http://schemas.openxmlformats.org/drawingml/2006/main">
              <a:ext uri="{FF2B5EF4-FFF2-40B4-BE49-F238E27FC236}">
                <a16:creationId xmlns:a16="http://schemas.microsoft.com/office/drawing/2014/main" id="{5501C4DE-1AB1-49EE-8F4D-EEE3056FB8D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94F14CF-00C9-4026-86A4-3BB98A44D8D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D74C4C6-B265-47A0-86B9-465FA1616555}"/>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정리: 좋은 질문은</a:t>
            </a:r>
          </a:p>
          <a:p xmlns:a="http://schemas.openxmlformats.org/drawingml/2006/main">
            <a:pPr algn="l">
              <a:defRPr sz="2850" b="1">
                <a:solidFill>
                  <a:srgbClr val="132024"/>
                </a:solidFill>
              </a:defRPr>
            </a:pPr>
            <a:r>
              <a:rPr sz="2850" b="1">
                <a:solidFill>
                  <a:srgbClr val="132024"/>
                </a:solidFill>
              </a:rPr>
              <a:t>위키를 정리하면서 생겨났다</a:t>
            </a:r>
          </a:p>
        </p:txBody>
      </p:sp>
      <p:sp>
        <p:nvSpPr>
          <p:cNvPr id="14" name="">
            <a:extLst xmlns:a="http://schemas.openxmlformats.org/drawingml/2006/main">
              <a:ext uri="{FF2B5EF4-FFF2-40B4-BE49-F238E27FC236}">
                <a16:creationId xmlns:a16="http://schemas.microsoft.com/office/drawing/2014/main" id="{FC204420-6ADF-4D67-994B-BA6B4007DDDE}"/>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209A18E-E9B6-45DD-A455-1ED8AE0E0ADE}"/>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3114F34-ECD2-47AE-9750-7EFCD885A2A2}"/>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E9762C3E-5BFE-4E89-9858-4F96FCA60DA1}"/>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단위의 LLM-wiki 운영은</a:t>
            </a:r>
          </a:p>
          <a:p xmlns:a="http://schemas.openxmlformats.org/drawingml/2006/main">
            <a:pPr algn="l">
              <a:defRPr sz="1200" b="0">
                <a:solidFill>
                  <a:srgbClr val="132024"/>
                </a:solidFill>
              </a:defRPr>
            </a:pPr>
            <a:r>
              <a:rPr sz="1200" b="0">
                <a:solidFill>
                  <a:srgbClr val="132024"/>
                </a:solidFill>
              </a:rPr>
              <a:t>질문 범위를 좁히고 문헌 해석을 더 조밀하게 쌓게</a:t>
            </a:r>
          </a:p>
          <a:p xmlns:a="http://schemas.openxmlformats.org/drawingml/2006/main">
            <a:pPr algn="l">
              <a:defRPr sz="1200" b="0">
                <a:solidFill>
                  <a:srgbClr val="132024"/>
                </a:solidFill>
              </a:defRPr>
            </a:pPr>
            <a:r>
              <a:rPr sz="1200" b="0">
                <a:solidFill>
                  <a:srgbClr val="132024"/>
                </a:solidFill>
              </a:rPr>
              <a:t>해줬다.</a:t>
            </a:r>
          </a:p>
        </p:txBody>
      </p:sp>
      <p:sp>
        <p:nvSpPr>
          <p:cNvPr id="18" name="">
            <a:extLst xmlns:a="http://schemas.openxmlformats.org/drawingml/2006/main">
              <a:ext uri="{FF2B5EF4-FFF2-40B4-BE49-F238E27FC236}">
                <a16:creationId xmlns:a16="http://schemas.microsoft.com/office/drawing/2014/main" id="{70B5254B-ACCD-4D1C-9F67-2AA61F079F11}"/>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4B43475D-2D26-4759-86E7-44C3E684D0B3}"/>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82723D2-9D1C-41E6-B378-B4726A082954}"/>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3FD1B59D-F125-4B43-BE10-F3573BCFE656}"/>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branch에서는 질문이</a:t>
            </a:r>
          </a:p>
          <a:p xmlns:a="http://schemas.openxmlformats.org/drawingml/2006/main">
            <a:pPr algn="l">
              <a:defRPr sz="1200" b="0">
                <a:solidFill>
                  <a:srgbClr val="132024"/>
                </a:solidFill>
              </a:defRPr>
            </a:pPr>
            <a:r>
              <a:rPr sz="1200" b="0">
                <a:solidFill>
                  <a:srgbClr val="132024"/>
                </a:solidFill>
              </a:rPr>
              <a:t>subregion selection에서</a:t>
            </a:r>
          </a:p>
          <a:p xmlns:a="http://schemas.openxmlformats.org/drawingml/2006/main">
            <a:pPr algn="l">
              <a:defRPr sz="1200" b="0">
                <a:solidFill>
                  <a:srgbClr val="132024"/>
                </a:solidFill>
              </a:defRPr>
            </a:pPr>
            <a:r>
              <a:rPr sz="1200" b="0">
                <a:solidFill>
                  <a:srgbClr val="132024"/>
                </a:solidFill>
              </a:rPr>
              <a:t>benchmark question으로 확장됐다.</a:t>
            </a:r>
          </a:p>
        </p:txBody>
      </p:sp>
      <p:sp>
        <p:nvSpPr>
          <p:cNvPr id="22" name="">
            <a:extLst xmlns:a="http://schemas.openxmlformats.org/drawingml/2006/main">
              <a:ext uri="{FF2B5EF4-FFF2-40B4-BE49-F238E27FC236}">
                <a16:creationId xmlns:a16="http://schemas.microsoft.com/office/drawing/2014/main" id="{EE253744-BD0D-4069-894C-EA795F9ECD3E}"/>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D707A71-4E3F-46E1-9732-88E0B9141339}"/>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7282EE9B-4BF9-44D8-8AEF-641926AABD04}"/>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CFA31F5B-056A-422E-95CB-57290A037C35}"/>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12E5A192-4B27-4910-8DD0-684A70251EF5}"/>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08D5E5B2-93AF-452B-A5F3-944FA8AAA5C1}"/>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929C73F-2793-418F-BEE5-39B8C6370CCB}"/>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어떤 readout을 먼저 적어야 하는가? host validation은 언제 필요한가?</a:t>
            </a:r>
          </a:p>
        </p:txBody>
      </p:sp>
      <p:sp>
        <p:nvSpPr>
          <p:cNvPr id="29" name="">
            <a:extLst xmlns:a="http://schemas.openxmlformats.org/drawingml/2006/main">
              <a:ext uri="{FF2B5EF4-FFF2-40B4-BE49-F238E27FC236}">
                <a16:creationId xmlns:a16="http://schemas.microsoft.com/office/drawing/2014/main" id="{BB262265-C31E-47B6-9962-D26263C9AE0A}"/>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3ADDA5AA-8322-4516-9F4C-BCDA73BF404D}"/>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1B1CFEB-7923-4272-A48D-63C5016A8136}"/>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좋은 질문은 더 많은 논문을 나열해서가 아니라, 위키를 정리하면서 비교 기준을 다시 세울 때 생겨났다.</a:t>
            </a:r>
          </a:p>
        </p:txBody>
      </p:sp>
      <p:sp>
        <p:nvSpPr>
          <p:cNvPr id="32" name="">
            <a:extLst xmlns:a="http://schemas.openxmlformats.org/drawingml/2006/main">
              <a:ext uri="{FF2B5EF4-FFF2-40B4-BE49-F238E27FC236}">
                <a16:creationId xmlns:a16="http://schemas.microsoft.com/office/drawing/2014/main" id="{9ED95CE8-3833-4EDB-8C64-4EC18ED3975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LLM-wiki 운영 방식이 질문의 정교화와 발표의 구조를 함께 만들었다.</a:t>
            </a:r>
          </a:p>
        </p:txBody>
      </p:sp>
    </p:spTree>
    <p:extLst>
      <p:ext uri="{BB962C8B-B14F-4D97-AF65-F5344CB8AC3E}">
        <p14:creationId xmlns:p14="http://schemas.microsoft.com/office/powerpoint/2010/main" val="8125842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2026-04-27T07:08:17.6850000Z</dcterms:created>
  <dcterms:modified xsi:type="dcterms:W3CDTF">2026-04-27T07:08:17.6850000Z</dcterms:modified>
</coreProperties>
</file>