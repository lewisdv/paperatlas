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4aeeae929449be" /><Relationship Type="http://schemas.openxmlformats.org/officeDocument/2006/relationships/extended-properties" Target="/docProps/app.xml" Id="Rad38ef3ab8174048" /><Relationship Type="http://schemas.openxmlformats.org/officeDocument/2006/relationships/officeDocument" Target="/ppt/presentation.xml" Id="R13cb0ec6c7d645bf" /></Relationships>
</file>

<file path=ppt/presentation.xml><?xml version="1.0" encoding="utf-8"?>
<p:presentation xmlns:p="http://schemas.openxmlformats.org/presentationml/2006/main">
  <p:sldMasterIdLst>
    <p:sldMasterId xmlns:r="http://schemas.openxmlformats.org/officeDocument/2006/relationships" id="2147483648" r:id="R8c0caf5a97114da0"/>
  </p:sldMasterIdLst>
  <p:notesMasterIdLst>
    <p:notesMasterId xmlns:r="http://schemas.openxmlformats.org/officeDocument/2006/relationships" r:id="Reb0f0dab47ec4045"/>
  </p:notesMasterIdLst>
  <p:sldIdLst>
    <p:sldId xmlns:r="http://schemas.openxmlformats.org/officeDocument/2006/relationships" id="256" r:id="Re36c11e160294ea9"/>
    <p:sldId xmlns:r="http://schemas.openxmlformats.org/officeDocument/2006/relationships" id="257" r:id="Rd7cadffd0aef4f28"/>
    <p:sldId xmlns:r="http://schemas.openxmlformats.org/officeDocument/2006/relationships" id="258" r:id="R330a00bbdd7b45c1"/>
    <p:sldId xmlns:r="http://schemas.openxmlformats.org/officeDocument/2006/relationships" id="259" r:id="R5eb0c892070647cc"/>
    <p:sldId xmlns:r="http://schemas.openxmlformats.org/officeDocument/2006/relationships" id="260" r:id="Rb8cb1ee50c814577"/>
    <p:sldId xmlns:r="http://schemas.openxmlformats.org/officeDocument/2006/relationships" id="261" r:id="Rb50b8793c8614a6a"/>
    <p:sldId xmlns:r="http://schemas.openxmlformats.org/officeDocument/2006/relationships" id="262" r:id="Ra3626d69efc34d6b"/>
    <p:sldId xmlns:r="http://schemas.openxmlformats.org/officeDocument/2006/relationships" id="263" r:id="Rf5ef0e083a494444"/>
    <p:sldId xmlns:r="http://schemas.openxmlformats.org/officeDocument/2006/relationships" id="264" r:id="R84d1a7591a9448f1"/>
    <p:sldId xmlns:r="http://schemas.openxmlformats.org/officeDocument/2006/relationships" id="265" r:id="Rb98ea558c6ee4fc2"/>
    <p:sldId xmlns:r="http://schemas.openxmlformats.org/officeDocument/2006/relationships" id="266" r:id="R043f1a3b23a94b74"/>
    <p:sldId xmlns:r="http://schemas.openxmlformats.org/officeDocument/2006/relationships" id="267" r:id="R92b33bed6f824d6f"/>
    <p:sldId xmlns:r="http://schemas.openxmlformats.org/officeDocument/2006/relationships" id="268" r:id="R7e155083d9cb452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8c0caf5a97114da0" /><Relationship Type="http://schemas.openxmlformats.org/officeDocument/2006/relationships/theme" Target="/ppt/theme/theme1.xml" Id="R18849ff6ce9c419a" /><Relationship Type="http://schemas.openxmlformats.org/officeDocument/2006/relationships/notesMaster" Target="/ppt/notesMasters/notesMaster1.xml" Id="Reb0f0dab47ec4045" /><Relationship Type="http://schemas.openxmlformats.org/officeDocument/2006/relationships/presProps" Target="/ppt/presProps.xml" Id="R7f88e728a2134daa" /><Relationship Type="http://schemas.openxmlformats.org/officeDocument/2006/relationships/viewProps" Target="/ppt/viewProps.xml" Id="R69e7b8fdfc1e4395" /><Relationship Type="http://schemas.openxmlformats.org/officeDocument/2006/relationships/tableStyles" Target="/ppt/tableStyles.xml" Id="Rf8cd86b558c2460c" /><Relationship Type="http://schemas.openxmlformats.org/officeDocument/2006/relationships/slide" Target="/ppt/slides/slide1.xml" Id="Re36c11e160294ea9" /><Relationship Type="http://schemas.openxmlformats.org/officeDocument/2006/relationships/slide" Target="/ppt/slides/slide2.xml" Id="Rd7cadffd0aef4f28" /><Relationship Type="http://schemas.openxmlformats.org/officeDocument/2006/relationships/slide" Target="/ppt/slides/slide3.xml" Id="R330a00bbdd7b45c1" /><Relationship Type="http://schemas.openxmlformats.org/officeDocument/2006/relationships/slide" Target="/ppt/slides/slide4.xml" Id="R5eb0c892070647cc" /><Relationship Type="http://schemas.openxmlformats.org/officeDocument/2006/relationships/slide" Target="/ppt/slides/slide5.xml" Id="Rb8cb1ee50c814577" /><Relationship Type="http://schemas.openxmlformats.org/officeDocument/2006/relationships/slide" Target="/ppt/slides/slide6.xml" Id="Rb50b8793c8614a6a" /><Relationship Type="http://schemas.openxmlformats.org/officeDocument/2006/relationships/slide" Target="/ppt/slides/slide7.xml" Id="Ra3626d69efc34d6b" /><Relationship Type="http://schemas.openxmlformats.org/officeDocument/2006/relationships/slide" Target="/ppt/slides/slide8.xml" Id="Rf5ef0e083a494444" /><Relationship Type="http://schemas.openxmlformats.org/officeDocument/2006/relationships/slide" Target="/ppt/slides/slide9.xml" Id="R84d1a7591a9448f1" /><Relationship Type="http://schemas.openxmlformats.org/officeDocument/2006/relationships/slide" Target="/ppt/slides/slide10.xml" Id="Rb98ea558c6ee4fc2" /><Relationship Type="http://schemas.openxmlformats.org/officeDocument/2006/relationships/slide" Target="/ppt/slides/slide11.xml" Id="R043f1a3b23a94b74" /><Relationship Type="http://schemas.openxmlformats.org/officeDocument/2006/relationships/slide" Target="/ppt/slides/slide12.xml" Id="R92b33bed6f824d6f" /><Relationship Type="http://schemas.openxmlformats.org/officeDocument/2006/relationships/slide" Target="/ppt/slides/slide13.xml" Id="R7e155083d9cb45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50aa5a34ad8941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e14217273a4ee1" /><Relationship Type="http://schemas.openxmlformats.org/officeDocument/2006/relationships/notesMaster" Target="/ppt/notesMasters/notesMaster1.xml" Id="R65013d1d557d41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5690274352448d" /><Relationship Type="http://schemas.openxmlformats.org/officeDocument/2006/relationships/notesMaster" Target="/ppt/notesMasters/notesMaster1.xml" Id="Redffd0e97bab43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2428f965074870" /><Relationship Type="http://schemas.openxmlformats.org/officeDocument/2006/relationships/notesMaster" Target="/ppt/notesMasters/notesMaster1.xml" Id="Rbfefc5106baa43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201690ac154761" /><Relationship Type="http://schemas.openxmlformats.org/officeDocument/2006/relationships/notesMaster" Target="/ppt/notesMasters/notesMaster1.xml" Id="R0a74743a1b5444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142b01f9e24cfe" /><Relationship Type="http://schemas.openxmlformats.org/officeDocument/2006/relationships/notesMaster" Target="/ppt/notesMasters/notesMaster1.xml" Id="Rb6c1c128e5c446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7ffa2b7e714b15" /><Relationship Type="http://schemas.openxmlformats.org/officeDocument/2006/relationships/notesMaster" Target="/ppt/notesMasters/notesMaster1.xml" Id="Ref12e0f35db34a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969ea4b5fc49b8" /><Relationship Type="http://schemas.openxmlformats.org/officeDocument/2006/relationships/notesMaster" Target="/ppt/notesMasters/notesMaster1.xml" Id="Reecbec44e0514b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976e3717834780" /><Relationship Type="http://schemas.openxmlformats.org/officeDocument/2006/relationships/notesMaster" Target="/ppt/notesMasters/notesMaster1.xml" Id="Rf70420bc75764e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5bab8cc2fa42d6" /><Relationship Type="http://schemas.openxmlformats.org/officeDocument/2006/relationships/notesMaster" Target="/ppt/notesMasters/notesMaster1.xml" Id="Rf2454f221e2548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b79c51e9634fba" /><Relationship Type="http://schemas.openxmlformats.org/officeDocument/2006/relationships/notesMaster" Target="/ppt/notesMasters/notesMaster1.xml" Id="Rc5b6e1e5499e4e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788075719e4017" /><Relationship Type="http://schemas.openxmlformats.org/officeDocument/2006/relationships/notesMaster" Target="/ppt/notesMasters/notesMaster1.xml" Id="R3c55574dece649d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36c182548e64094" /><Relationship Type="http://schemas.openxmlformats.org/officeDocument/2006/relationships/notesMaster" Target="/ppt/notesMasters/notesMaster1.xml" Id="R6f260c94cd5b46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f3d1e19cff490e" /><Relationship Type="http://schemas.openxmlformats.org/officeDocument/2006/relationships/notesMaster" Target="/ppt/notesMasters/notesMaster1.xml" Id="R5e9ee5fd2c934f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LLM-wiki 운영 방식을 짧게 소개한 뒤, 그 위에서 brain organoid 질문이 어떻게 정교해졌는지를 보여준다.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슬라이드에서는 문헌을 어떻게 구조화했는지 먼저 소개한다.</a:t>
            </a:r>
          </a:p>
          <a:p xmlns:a="http://schemas.openxmlformats.org/drawingml/2006/main">
            <a:r>
              <a:t>collections 단위로 주제를 분리하고, raw source와 wiki synthesis를 나눠서 질문 범위를 좁혔다.</a:t>
            </a:r>
          </a:p>
          <a:p xmlns:a="http://schemas.openxmlformats.org/drawingml/2006/main">
            <a:r>
              <a:t>그 결과 관련 없는 topic drift를 줄이고, 같은 주제 안에서 source, concept, query를 더 조밀하게 연결할 수 있었다.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Markdown wiki를 그대로 두지 않고 HTML site로 렌더링해 읽기 쉬운 탐색 계층을 따로 운영했다.</a:t>
            </a:r>
          </a:p>
          <a:p xmlns:a="http://schemas.openxmlformats.org/drawingml/2006/main">
            <a:r>
              <a:t>render_wiki_html.py는 collection site와 top-level hub를 만들고, localhost viewer는 검색과 태그 필터, 그래프 뷰를 제공한다.</a:t>
            </a:r>
          </a:p>
          <a:p xmlns:a="http://schemas.openxmlformats.org/drawingml/2006/main">
            <a:r>
              <a:t>또 GitHub Actions와 Pages를 붙여 원격에서도 같은 구조로 접근할 수 있게 했다.</a:t>
            </a:r>
          </a:p>
          <a:p xmlns:a="http://schemas.openxmlformats.org/drawingml/2006/main">
            <a:r>
              <a:t/>
            </a:r>
          </a:p>
          <a:p xmlns:a="http://schemas.openxmlformats.org/drawingml/2006/main">
            <a:r>
              <a:t>[Sources]</a:t>
            </a:r>
          </a:p>
          <a:p xmlns:a="http://schemas.openxmlformats.org/drawingml/2006/main">
            <a:r>
              <a:t>- collections/organoid/wiki/index.md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brain branch는 broad cerebral baseline에서 niche subregion까지 이어지고, 그 위에 benchmark 논문과 functional readout 논문이 덧붙는다.</a:t>
            </a:r>
          </a:p>
          <a:p xmlns:a="http://schemas.openxmlformats.org/drawingml/2006/main">
            <a:r>
              <a:t>그래서 단순 문헌 요약이 아니라 질문의 이동을 단계적으로 보여주기 좋다.</a:t>
            </a:r>
          </a:p>
          <a:p xmlns:a="http://schemas.openxmlformats.org/drawingml/2006/main">
            <a:r>
              <a:t>즉 workflow를 설명한 뒤 실제 branch 사례로 넘어가기에 가장 적합한 축이었다.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발표의 마지막 부분에서 review paper writing과 직접 연결해 주는 역할을 한다.</a:t>
            </a:r>
          </a:p>
          <a:p xmlns:a="http://schemas.openxmlformats.org/drawingml/2006/main">
            <a:r>
              <a:t>핵심은 논문을 하나씩 나열하는 리뷰가 아니라, 질문이 이동한 순서대로 chapter를 세우는 것이다.</a:t>
            </a:r>
          </a:p>
          <a:p xmlns:a="http://schemas.openxmlformats.org/drawingml/2006/main">
            <a:r>
              <a:t>즉 protocol family에서 시작해 benchmark axes로 확장하고, 마지막에는 readout-first selection rule로 정리하는 구조가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7740b23fab244e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EE9B9336-AD92-4E55-B0BB-DD5E2816FCBC}"/>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108D341E-060A-4618-ADBA-B356B00E0DDA}"/>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7E04374C-0BA8-4393-8B67-C9C826C2D1C9}"/>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AA600E7D-EC07-43CF-9AB7-09DBCABA4EC7}"/>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EDD0F201-AE24-4D54-ACE2-5F86EBC94A0A}"/>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f47841f09b64b3e" /><Relationship Type="http://schemas.openxmlformats.org/officeDocument/2006/relationships/slideLayout" Target="/ppt/slideLayouts/slideLayout2.xml" Id="Re3cc46a66fa84b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B824CBC-E7A4-4DB2-8E5A-64395DD95FEC}"/>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cc46a66fa84b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c43f041ed498469f" /><Relationship Type="http://schemas.openxmlformats.org/officeDocument/2006/relationships/image" Target="/ppt/media/image.png" Id="Rc9d8b1b674214625" /><Relationship Type="http://schemas.openxmlformats.org/officeDocument/2006/relationships/notesSlide" Target="/ppt/notesSlides/notesSlide1.xml" Id="R4002d28eaede43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474a3504ae3e44ec" /><Relationship Type="http://schemas.openxmlformats.org/officeDocument/2006/relationships/image" Target="/ppt/media/image2.png" Id="R196df9a9724245e5" /><Relationship Type="http://schemas.openxmlformats.org/officeDocument/2006/relationships/notesSlide" Target="/ppt/notesSlides/notesSlide2.xml" Id="Rc7c01a65288147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9902cc997ca41ab" /><Relationship Type="http://schemas.openxmlformats.org/officeDocument/2006/relationships/image" Target="/ppt/media/image3.png" Id="R0e4ab859c7e04766" /><Relationship Type="http://schemas.openxmlformats.org/officeDocument/2006/relationships/notesSlide" Target="/ppt/notesSlides/notesSlide3.xml" Id="Rdc38a0c3946e49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cdc252067b5b4549" /><Relationship Type="http://schemas.openxmlformats.org/officeDocument/2006/relationships/image" Target="/ppt/media/image4.png" Id="Rca2df88beb9c4ec9" /><Relationship Type="http://schemas.openxmlformats.org/officeDocument/2006/relationships/notesSlide" Target="/ppt/notesSlides/notesSlide4.xml" Id="Rc194e743d43243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2f2ad109d7d646de" /><Relationship Type="http://schemas.openxmlformats.org/officeDocument/2006/relationships/image" Target="/ppt/media/image5.png" Id="R10774a2cb35a4e07" /><Relationship Type="http://schemas.openxmlformats.org/officeDocument/2006/relationships/notesSlide" Target="/ppt/notesSlides/notesSlide5.xml" Id="R9fbe90b03a7a42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93686eb0ff84822" /><Relationship Type="http://schemas.openxmlformats.org/officeDocument/2006/relationships/image" Target="/ppt/media/image6.png" Id="R4e943559d2844855" /><Relationship Type="http://schemas.openxmlformats.org/officeDocument/2006/relationships/notesSlide" Target="/ppt/notesSlides/notesSlide6.xml" Id="R9953adb070864f0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37189c06a1ba4df8" /><Relationship Type="http://schemas.openxmlformats.org/officeDocument/2006/relationships/image" Target="/ppt/media/image7.png" Id="Rd07f2a5f1105435e" /><Relationship Type="http://schemas.openxmlformats.org/officeDocument/2006/relationships/notesSlide" Target="/ppt/notesSlides/notesSlide7.xml" Id="R16f9048009c84e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d92a085dbf1e4f6b" /><Relationship Type="http://schemas.openxmlformats.org/officeDocument/2006/relationships/image" Target="/ppt/media/image8.png" Id="R670a0e88972c488d" /><Relationship Type="http://schemas.openxmlformats.org/officeDocument/2006/relationships/notesSlide" Target="/ppt/notesSlides/notesSlide8.xml" Id="R56d34811ef8e41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68cd516614342e7" /><Relationship Type="http://schemas.openxmlformats.org/officeDocument/2006/relationships/image" Target="/ppt/media/image9.png" Id="Rda8acc5a3962427c" /><Relationship Type="http://schemas.openxmlformats.org/officeDocument/2006/relationships/notesSlide" Target="/ppt/notesSlides/notesSlide9.xml" Id="R0272f3030c4f4ee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d59fe2d9ea74550" /><Relationship Type="http://schemas.openxmlformats.org/officeDocument/2006/relationships/image" Target="/ppt/media/image10.png" Id="R8f4c2bb4e8704639" /><Relationship Type="http://schemas.openxmlformats.org/officeDocument/2006/relationships/notesSlide" Target="/ppt/notesSlides/notesSlide10.xml" Id="R2ebe7746752040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d007529cdd12480c" /><Relationship Type="http://schemas.openxmlformats.org/officeDocument/2006/relationships/image" Target="/ppt/media/image11.png" Id="Rcd428b96d8954bce" /><Relationship Type="http://schemas.openxmlformats.org/officeDocument/2006/relationships/notesSlide" Target="/ppt/notesSlides/notesSlide11.xml" Id="R418b03bef8d04f7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840e7af4bdc4832" /><Relationship Type="http://schemas.openxmlformats.org/officeDocument/2006/relationships/image" Target="/ppt/media/image12.png" Id="R08dc4e269b4745ba" /><Relationship Type="http://schemas.openxmlformats.org/officeDocument/2006/relationships/notesSlide" Target="/ppt/notesSlides/notesSlide12.xml" Id="R344e60cdc7b54b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8a3d8886c7064204" /><Relationship Type="http://schemas.openxmlformats.org/officeDocument/2006/relationships/image" Target="/ppt/media/image13.png" Id="R5122b89414fe408d" /><Relationship Type="http://schemas.openxmlformats.org/officeDocument/2006/relationships/notesSlide" Target="/ppt/notesSlides/notesSlide13.xml" Id="R152bffbaef7446a7"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9d8b1b67421462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BC667C0-2691-4077-A853-D10E740581B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08AFF53D-38B8-4E1D-85BC-B9BF6C89138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C1EF796-016B-45F3-A5B1-DCFA8799972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F7BA109-4507-41F0-B2C5-6764820D21C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5E7B2D89-4324-48EA-B2A7-54E5C4AF4ED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58CD09DD-1C24-487A-8F0D-62BEF407F7B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996FB239-2886-4DEA-BB76-2BDC4DFF9BEE}"/>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B4E252F1-4E10-4D69-9E59-2590BB59722C}"/>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8CDE208E-A9A5-4C8A-A3FF-D2E396A3B0ED}"/>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BA8C877C-855E-4A66-9290-7A378B6FAAFC}"/>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LLM-wiki를 collection 단위로 운영한 뒤,</a:t>
            </a:r>
          </a:p>
          <a:p xmlns:a="http://schemas.openxmlformats.org/drawingml/2006/main">
            <a:pPr algn="l">
              <a:defRPr sz="1500" b="0">
                <a:solidFill>
                  <a:srgbClr val="344146"/>
                </a:solidFill>
              </a:defRPr>
            </a:pPr>
            <a:r>
              <a:rPr sz="1500" b="0">
                <a:solidFill>
                  <a:srgbClr val="344146"/>
                </a:solidFill>
              </a:rPr>
              <a:t>brain organoid 질문이 subregion 비교에서 readout-first rule로 어떻게 확장됐는지를 보여준다.</a:t>
            </a:r>
          </a:p>
        </p:txBody>
      </p:sp>
      <p:sp>
        <p:nvSpPr>
          <p:cNvPr id="13" name="">
            <a:extLst xmlns:a="http://schemas.openxmlformats.org/drawingml/2006/main">
              <a:ext uri="{FF2B5EF4-FFF2-40B4-BE49-F238E27FC236}">
                <a16:creationId xmlns:a16="http://schemas.microsoft.com/office/drawing/2014/main" id="{20208BCD-522C-401E-9462-2E62A49C15C0}"/>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AA89B5D2-5596-40A6-8269-2D61A93FF174}"/>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226B9A8A-D3A5-4B3F-BA3D-1302A5B99144}"/>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0BDEBC5C-195B-409B-98D9-ABDAEC7B759E}"/>
              </a:ext>
            </a:extLst>
          </p:cNvPr>
          <p:cNvSpPr>
            <a:spLocks xmlns:a="http://schemas.openxmlformats.org/drawingml/2006/main" noGrp="1"/>
          </p:cNvSpPr>
          <p:nvPr/>
        </p:nvSpPr>
        <p:spPr>
          <a:xfrm xmlns:a="http://schemas.openxmlformats.org/drawingml/2006/main">
            <a:off x="8067675" y="1247775"/>
            <a:ext cx="47625" cy="10096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231F3E7E-E906-4357-A8AF-9251C3730681}"/>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963FDB44-B527-4C30-B471-41676F15861E}"/>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1C0978A5-38F9-440E-BC7A-9692AF80CFCD}"/>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F78AD037-8C18-466C-8445-E0F801A8F2C2}"/>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5FF779EA-D611-4D73-A81C-35817CC1072A}"/>
              </a:ext>
            </a:extLst>
          </p:cNvPr>
          <p:cNvSpPr>
            <a:spLocks xmlns:a="http://schemas.openxmlformats.org/drawingml/2006/main" noGrp="1"/>
          </p:cNvSpPr>
          <p:nvPr/>
        </p:nvSpPr>
        <p:spPr>
          <a:xfrm xmlns:a="http://schemas.openxmlformats.org/drawingml/2006/main">
            <a:off x="9344025" y="2714625"/>
            <a:ext cx="47625" cy="1009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51C74B1E-A6FA-4FB2-A41C-5B908254C2E4}"/>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FF8A330B-936D-4762-BC8C-C9A5CDD4F1B3}"/>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2BA80424-8163-46CB-A1A9-780A0331BBA4}"/>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2B141C4A-9773-433A-A4B7-63FB7D4B6899}"/>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C9396F0A-8BF6-4DF2-B60B-1C06272709F4}"/>
              </a:ext>
            </a:extLst>
          </p:cNvPr>
          <p:cNvSpPr>
            <a:spLocks xmlns:a="http://schemas.openxmlformats.org/drawingml/2006/main" noGrp="1"/>
          </p:cNvSpPr>
          <p:nvPr/>
        </p:nvSpPr>
        <p:spPr>
          <a:xfrm xmlns:a="http://schemas.openxmlformats.org/drawingml/2006/main">
            <a:off x="8048625" y="4238625"/>
            <a:ext cx="47625" cy="10096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F436F3B-6A5D-4D81-BC82-92AE9B7480D9}"/>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230AE716-6A7A-4DE4-9BDD-229903FC4D87}"/>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18878B55-CD42-47D8-866F-CC5B92277377}"/>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1682B77D-6A66-4037-AA92-B490EEEA2BC1}"/>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48B6F8D9-BC55-47DB-A9C0-37A9407BE514}"/>
              </a:ext>
            </a:extLst>
          </p:cNvPr>
          <p:cNvSpPr>
            <a:spLocks xmlns:a="http://schemas.openxmlformats.org/drawingml/2006/main" noGrp="1"/>
          </p:cNvSpPr>
          <p:nvPr/>
        </p:nvSpPr>
        <p:spPr>
          <a:xfrm xmlns:a="http://schemas.openxmlformats.org/drawingml/2006/main">
            <a:off x="7439025" y="2657475"/>
            <a:ext cx="47625" cy="8953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207BDFC5-5A5C-487F-AA79-8384E9D8CA2B}"/>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A29302B8-6088-4B18-AD3D-04512E708277}"/>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6BFEB4BB-3F72-41F0-946B-4531E99C5556}"/>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E659ED19-82AE-4F12-845C-46E49E7C94DC}"/>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EFDF3EA9-B55E-455E-813B-435951FF3A34}"/>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714D8E1F-71AB-41E4-AF98-4CC050FDB2AC}"/>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2A9166CB-15A2-40C2-9621-817BF5FC3278}"/>
              </a:ext>
            </a:extLst>
          </p:cNvPr>
          <p:cNvSpPr>
            <a:spLocks xmlns:a="http://schemas.openxmlformats.org/drawingml/2006/main" noGrp="1"/>
          </p:cNvSpPr>
          <p:nvPr/>
        </p:nvSpPr>
        <p:spPr>
          <a:xfrm xmlns:a="http://schemas.openxmlformats.org/drawingml/2006/main">
            <a:off x="819150" y="5448300"/>
            <a:ext cx="9906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LLM-wiki</a:t>
            </a:r>
          </a:p>
        </p:txBody>
      </p:sp>
      <p:sp>
        <p:nvSpPr>
          <p:cNvPr id="39" name="">
            <a:extLst xmlns:a="http://schemas.openxmlformats.org/drawingml/2006/main">
              <a:ext uri="{FF2B5EF4-FFF2-40B4-BE49-F238E27FC236}">
                <a16:creationId xmlns:a16="http://schemas.microsoft.com/office/drawing/2014/main" id="{EC2288C8-2AEC-42A5-9DBA-F90393FEBE20}"/>
              </a:ext>
            </a:extLst>
          </p:cNvPr>
          <p:cNvSpPr>
            <a:spLocks xmlns:a="http://schemas.openxmlformats.org/drawingml/2006/main" noGrp="1"/>
          </p:cNvSpPr>
          <p:nvPr/>
        </p:nvSpPr>
        <p:spPr>
          <a:xfrm xmlns:a="http://schemas.openxmlformats.org/drawingml/2006/main">
            <a:off x="1924050" y="5448300"/>
            <a:ext cx="12573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brain branch</a:t>
            </a:r>
          </a:p>
        </p:txBody>
      </p:sp>
      <p:sp>
        <p:nvSpPr>
          <p:cNvPr id="40" name="">
            <a:extLst xmlns:a="http://schemas.openxmlformats.org/drawingml/2006/main">
              <a:ext uri="{FF2B5EF4-FFF2-40B4-BE49-F238E27FC236}">
                <a16:creationId xmlns:a16="http://schemas.microsoft.com/office/drawing/2014/main" id="{1402C814-783C-4990-AAAD-E0AB371F0EC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흐름: LLM-wiki 운영 -&gt; subregion 질문 -&gt; benchmark -&gt; readout-first rule</a:t>
            </a:r>
          </a:p>
        </p:txBody>
      </p:sp>
    </p:spTree>
    <p:extLst>
      <p:ext uri="{BB962C8B-B14F-4D97-AF65-F5344CB8AC3E}">
        <p14:creationId xmlns:p14="http://schemas.microsoft.com/office/powerpoint/2010/main" val="990912654"/>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6df9a9724245e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A8F9D90-C27E-4645-AEF8-9992D973790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74CF358-2D06-4203-9030-0F7EF28AB6B3}"/>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31BA5368-B0D3-4FB2-BD54-BE1765DE3DAF}"/>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2C48E2C9-2719-4B7D-92E0-9838188A65A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46204A9-EC19-457A-80F0-BBF8BBE1A65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5D9FE5C-176A-4C1F-8BD6-9D264119EF0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F451C9A4-F610-490D-9144-C31BB773A1D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LLM-WIKI WORKFLOW</a:t>
            </a:r>
          </a:p>
        </p:txBody>
      </p:sp>
      <p:sp>
        <p:nvSpPr>
          <p:cNvPr id="10" name="">
            <a:extLst xmlns:a="http://schemas.openxmlformats.org/drawingml/2006/main">
              <a:ext uri="{FF2B5EF4-FFF2-40B4-BE49-F238E27FC236}">
                <a16:creationId xmlns:a16="http://schemas.microsoft.com/office/drawing/2014/main" id="{89691D54-6E59-4476-B5D3-BBE84079C5A5}"/>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13</a:t>
            </a:r>
          </a:p>
        </p:txBody>
      </p:sp>
      <p:sp>
        <p:nvSpPr>
          <p:cNvPr id="11" name="">
            <a:extLst xmlns:a="http://schemas.openxmlformats.org/drawingml/2006/main">
              <a:ext uri="{FF2B5EF4-FFF2-40B4-BE49-F238E27FC236}">
                <a16:creationId xmlns:a16="http://schemas.microsoft.com/office/drawing/2014/main" id="{8D2E236C-8873-4DEC-8D0B-ACB3EEA8260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721ACCC-E807-4DC4-9A8D-D23B40DCB7D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544AA15-E11D-4A83-8C14-9991A2E874AB}"/>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내가 LLM-wiki를</a:t>
            </a:r>
          </a:p>
          <a:p xmlns:a="http://schemas.openxmlformats.org/drawingml/2006/main">
            <a:pPr algn="l">
              <a:defRPr sz="2850" b="1">
                <a:solidFill>
                  <a:srgbClr val="132024"/>
                </a:solidFill>
              </a:defRPr>
            </a:pPr>
            <a:r>
              <a:rPr sz="2850" b="1">
                <a:solidFill>
                  <a:srgbClr val="132024"/>
                </a:solidFill>
              </a:rPr>
              <a:t>운영하는 방식</a:t>
            </a:r>
          </a:p>
        </p:txBody>
      </p:sp>
      <p:sp>
        <p:nvSpPr>
          <p:cNvPr id="14" name="">
            <a:extLst xmlns:a="http://schemas.openxmlformats.org/drawingml/2006/main">
              <a:ext uri="{FF2B5EF4-FFF2-40B4-BE49-F238E27FC236}">
                <a16:creationId xmlns:a16="http://schemas.microsoft.com/office/drawing/2014/main" id="{EC6D6B09-2DBB-4B81-BAED-AA515A6E977C}"/>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A0F00F60-DD95-4106-988E-C7A5D316B101}"/>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25F2CD0-4559-4783-8AF0-8DD7C60D3FD8}"/>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collection 단위로 질문 범위를 제한해 관련 없는 지식 혼입을 줄이고, 같은 주제 안에서 source와 해석을 더 조밀하게 쌓아갔다.</a:t>
            </a:r>
          </a:p>
        </p:txBody>
      </p:sp>
      <p:sp>
        <p:nvSpPr>
          <p:cNvPr id="17" name="">
            <a:extLst xmlns:a="http://schemas.openxmlformats.org/drawingml/2006/main">
              <a:ext uri="{FF2B5EF4-FFF2-40B4-BE49-F238E27FC236}">
                <a16:creationId xmlns:a16="http://schemas.microsoft.com/office/drawing/2014/main" id="{B28F14AC-F36D-4A07-B8CC-D4AEBAB1F7E9}"/>
              </a:ext>
            </a:extLst>
          </p:cNvPr>
          <p:cNvSpPr>
            <a:spLocks xmlns:a="http://schemas.openxmlformats.org/drawingml/2006/main" noGrp="1"/>
          </p:cNvSpPr>
          <p:nvPr/>
        </p:nvSpPr>
        <p:spPr>
          <a:xfrm xmlns:a="http://schemas.openxmlformats.org/drawingml/2006/main">
            <a:off x="7239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CAB426E9-8EAE-4C1B-82D6-6AA61561A642}"/>
              </a:ext>
            </a:extLst>
          </p:cNvPr>
          <p:cNvSpPr>
            <a:spLocks xmlns:a="http://schemas.openxmlformats.org/drawingml/2006/main" noGrp="1"/>
          </p:cNvSpPr>
          <p:nvPr/>
        </p:nvSpPr>
        <p:spPr>
          <a:xfrm xmlns:a="http://schemas.openxmlformats.org/drawingml/2006/main">
            <a:off x="781050" y="2781300"/>
            <a:ext cx="2286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96EC01C-1FC1-4276-8243-F20962A1F131}"/>
              </a:ext>
            </a:extLst>
          </p:cNvPr>
          <p:cNvSpPr>
            <a:spLocks xmlns:a="http://schemas.openxmlformats.org/drawingml/2006/main" noGrp="1"/>
          </p:cNvSpPr>
          <p:nvPr/>
        </p:nvSpPr>
        <p:spPr>
          <a:xfrm xmlns:a="http://schemas.openxmlformats.org/drawingml/2006/main">
            <a:off x="9334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collection 분리</a:t>
            </a:r>
          </a:p>
        </p:txBody>
      </p:sp>
      <p:sp>
        <p:nvSpPr>
          <p:cNvPr id="20" name="">
            <a:extLst xmlns:a="http://schemas.openxmlformats.org/drawingml/2006/main">
              <a:ext uri="{FF2B5EF4-FFF2-40B4-BE49-F238E27FC236}">
                <a16:creationId xmlns:a16="http://schemas.microsoft.com/office/drawing/2014/main" id="{D03FD563-BF49-4A1E-B438-FCD71BB4484E}"/>
              </a:ext>
            </a:extLst>
          </p:cNvPr>
          <p:cNvSpPr>
            <a:spLocks xmlns:a="http://schemas.openxmlformats.org/drawingml/2006/main" noGrp="1"/>
          </p:cNvSpPr>
          <p:nvPr/>
        </p:nvSpPr>
        <p:spPr>
          <a:xfrm xmlns:a="http://schemas.openxmlformats.org/drawingml/2006/main">
            <a:off x="9334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single-cell,</a:t>
            </a:r>
          </a:p>
          <a:p xmlns:a="http://schemas.openxmlformats.org/drawingml/2006/main">
            <a:pPr algn="l">
              <a:defRPr sz="1200" b="0">
                <a:solidFill>
                  <a:srgbClr val="132024"/>
                </a:solidFill>
              </a:defRPr>
            </a:pPr>
            <a:r>
              <a:rPr sz="1200" b="0">
                <a:solidFill>
                  <a:srgbClr val="132024"/>
                </a:solidFill>
              </a:rPr>
              <a:t>sequencing처럼</a:t>
            </a:r>
          </a:p>
          <a:p xmlns:a="http://schemas.openxmlformats.org/drawingml/2006/main">
            <a:pPr algn="l">
              <a:defRPr sz="1200" b="0">
                <a:solidFill>
                  <a:srgbClr val="132024"/>
                </a:solidFill>
              </a:defRPr>
            </a:pPr>
            <a:r>
              <a:rPr sz="1200" b="0">
                <a:solidFill>
                  <a:srgbClr val="132024"/>
                </a:solidFill>
              </a:rPr>
              <a:t>collection을 나눠</a:t>
            </a:r>
          </a:p>
          <a:p xmlns:a="http://schemas.openxmlformats.org/drawingml/2006/main">
            <a:pPr algn="l">
              <a:defRPr sz="1200" b="0">
                <a:solidFill>
                  <a:srgbClr val="132024"/>
                </a:solidFill>
              </a:defRPr>
            </a:pPr>
            <a:r>
              <a:rPr sz="1200" b="0">
                <a:solidFill>
                  <a:srgbClr val="132024"/>
                </a:solidFill>
              </a:rPr>
              <a:t>unrelated topic이 한 답변</a:t>
            </a:r>
          </a:p>
          <a:p xmlns:a="http://schemas.openxmlformats.org/drawingml/2006/main">
            <a:pPr algn="l">
              <a:defRPr sz="1200" b="0">
                <a:solidFill>
                  <a:srgbClr val="132024"/>
                </a:solidFill>
              </a:defRPr>
            </a:pPr>
            <a:r>
              <a:rPr sz="1200" b="0">
                <a:solidFill>
                  <a:srgbClr val="132024"/>
                </a:solidFill>
              </a:rPr>
              <a:t>안에 섞이지 않게 했다.</a:t>
            </a:r>
          </a:p>
        </p:txBody>
      </p:sp>
      <p:sp>
        <p:nvSpPr>
          <p:cNvPr id="21" name="">
            <a:extLst xmlns:a="http://schemas.openxmlformats.org/drawingml/2006/main">
              <a:ext uri="{FF2B5EF4-FFF2-40B4-BE49-F238E27FC236}">
                <a16:creationId xmlns:a16="http://schemas.microsoft.com/office/drawing/2014/main" id="{D5E99507-C584-40FD-AD19-59BD06F12915}"/>
              </a:ext>
            </a:extLst>
          </p:cNvPr>
          <p:cNvSpPr>
            <a:spLocks xmlns:a="http://schemas.openxmlformats.org/drawingml/2006/main" noGrp="1"/>
          </p:cNvSpPr>
          <p:nvPr/>
        </p:nvSpPr>
        <p:spPr>
          <a:xfrm xmlns:a="http://schemas.openxmlformats.org/drawingml/2006/main">
            <a:off x="33528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E8C35D4C-F31D-4527-B4D0-F870FC2842FB}"/>
              </a:ext>
            </a:extLst>
          </p:cNvPr>
          <p:cNvSpPr>
            <a:spLocks xmlns:a="http://schemas.openxmlformats.org/drawingml/2006/main" noGrp="1"/>
          </p:cNvSpPr>
          <p:nvPr/>
        </p:nvSpPr>
        <p:spPr>
          <a:xfrm xmlns:a="http://schemas.openxmlformats.org/drawingml/2006/main">
            <a:off x="3409950" y="2781300"/>
            <a:ext cx="2286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95485084-D726-42DA-A12F-2D4E2745E63A}"/>
              </a:ext>
            </a:extLst>
          </p:cNvPr>
          <p:cNvSpPr>
            <a:spLocks xmlns:a="http://schemas.openxmlformats.org/drawingml/2006/main" noGrp="1"/>
          </p:cNvSpPr>
          <p:nvPr/>
        </p:nvSpPr>
        <p:spPr>
          <a:xfrm xmlns:a="http://schemas.openxmlformats.org/drawingml/2006/main">
            <a:off x="35623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raw / wiki 분리</a:t>
            </a:r>
          </a:p>
        </p:txBody>
      </p:sp>
      <p:sp>
        <p:nvSpPr>
          <p:cNvPr id="24" name="">
            <a:extLst xmlns:a="http://schemas.openxmlformats.org/drawingml/2006/main">
              <a:ext uri="{FF2B5EF4-FFF2-40B4-BE49-F238E27FC236}">
                <a16:creationId xmlns:a16="http://schemas.microsoft.com/office/drawing/2014/main" id="{54B89DD8-C39A-4922-8D8C-DC764E4F293F}"/>
              </a:ext>
            </a:extLst>
          </p:cNvPr>
          <p:cNvSpPr>
            <a:spLocks xmlns:a="http://schemas.openxmlformats.org/drawingml/2006/main" noGrp="1"/>
          </p:cNvSpPr>
          <p:nvPr/>
        </p:nvSpPr>
        <p:spPr>
          <a:xfrm xmlns:a="http://schemas.openxmlformats.org/drawingml/2006/main">
            <a:off x="35623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raw는 원본으로 남겨 두고,</a:t>
            </a:r>
          </a:p>
          <a:p xmlns:a="http://schemas.openxmlformats.org/drawingml/2006/main">
            <a:pPr algn="l">
              <a:defRPr sz="1200" b="0">
                <a:solidFill>
                  <a:srgbClr val="132024"/>
                </a:solidFill>
              </a:defRPr>
            </a:pPr>
            <a:r>
              <a:rPr sz="1200" b="0">
                <a:solidFill>
                  <a:srgbClr val="132024"/>
                </a:solidFill>
              </a:rPr>
              <a:t>wiki에서 source page와</a:t>
            </a:r>
          </a:p>
          <a:p xmlns:a="http://schemas.openxmlformats.org/drawingml/2006/main">
            <a:pPr algn="l">
              <a:defRPr sz="1200" b="0">
                <a:solidFill>
                  <a:srgbClr val="132024"/>
                </a:solidFill>
              </a:defRPr>
            </a:pPr>
            <a:r>
              <a:rPr sz="1200" b="0">
                <a:solidFill>
                  <a:srgbClr val="132024"/>
                </a:solidFill>
              </a:rPr>
              <a:t>concept page, query를</a:t>
            </a:r>
          </a:p>
          <a:p xmlns:a="http://schemas.openxmlformats.org/drawingml/2006/main">
            <a:pPr algn="l">
              <a:defRPr sz="1200" b="0">
                <a:solidFill>
                  <a:srgbClr val="132024"/>
                </a:solidFill>
              </a:defRPr>
            </a:pPr>
            <a:r>
              <a:rPr sz="1200" b="0">
                <a:solidFill>
                  <a:srgbClr val="132024"/>
                </a:solidFill>
              </a:rPr>
              <a:t>계속 갱신한다.</a:t>
            </a:r>
          </a:p>
        </p:txBody>
      </p:sp>
      <p:sp>
        <p:nvSpPr>
          <p:cNvPr id="25" name="">
            <a:extLst xmlns:a="http://schemas.openxmlformats.org/drawingml/2006/main">
              <a:ext uri="{FF2B5EF4-FFF2-40B4-BE49-F238E27FC236}">
                <a16:creationId xmlns:a16="http://schemas.microsoft.com/office/drawing/2014/main" id="{B3947442-52DD-47A7-BA4F-0267CD1C49F3}"/>
              </a:ext>
            </a:extLst>
          </p:cNvPr>
          <p:cNvSpPr>
            <a:spLocks xmlns:a="http://schemas.openxmlformats.org/drawingml/2006/main" noGrp="1"/>
          </p:cNvSpPr>
          <p:nvPr/>
        </p:nvSpPr>
        <p:spPr>
          <a:xfrm xmlns:a="http://schemas.openxmlformats.org/drawingml/2006/main">
            <a:off x="59817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3FA93942-62CD-4853-94B0-428C0702EFE4}"/>
              </a:ext>
            </a:extLst>
          </p:cNvPr>
          <p:cNvSpPr>
            <a:spLocks xmlns:a="http://schemas.openxmlformats.org/drawingml/2006/main" noGrp="1"/>
          </p:cNvSpPr>
          <p:nvPr/>
        </p:nvSpPr>
        <p:spPr>
          <a:xfrm xmlns:a="http://schemas.openxmlformats.org/drawingml/2006/main">
            <a:off x="6038850" y="2781300"/>
            <a:ext cx="22860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47B48FB8-6B9F-4721-99DB-3C68DD781FF8}"/>
              </a:ext>
            </a:extLst>
          </p:cNvPr>
          <p:cNvSpPr>
            <a:spLocks xmlns:a="http://schemas.openxmlformats.org/drawingml/2006/main" noGrp="1"/>
          </p:cNvSpPr>
          <p:nvPr/>
        </p:nvSpPr>
        <p:spPr>
          <a:xfrm xmlns:a="http://schemas.openxmlformats.org/drawingml/2006/main">
            <a:off x="61912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 범위 제한</a:t>
            </a:r>
          </a:p>
        </p:txBody>
      </p:sp>
      <p:sp>
        <p:nvSpPr>
          <p:cNvPr id="28" name="">
            <a:extLst xmlns:a="http://schemas.openxmlformats.org/drawingml/2006/main">
              <a:ext uri="{FF2B5EF4-FFF2-40B4-BE49-F238E27FC236}">
                <a16:creationId xmlns:a16="http://schemas.microsoft.com/office/drawing/2014/main" id="{3F29F1AE-5DAD-488F-AAAD-FCCA1D6358F2}"/>
              </a:ext>
            </a:extLst>
          </p:cNvPr>
          <p:cNvSpPr>
            <a:spLocks xmlns:a="http://schemas.openxmlformats.org/drawingml/2006/main" noGrp="1"/>
          </p:cNvSpPr>
          <p:nvPr/>
        </p:nvSpPr>
        <p:spPr>
          <a:xfrm xmlns:a="http://schemas.openxmlformats.org/drawingml/2006/main">
            <a:off x="61912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질문은 그</a:t>
            </a:r>
          </a:p>
          <a:p xmlns:a="http://schemas.openxmlformats.org/drawingml/2006/main">
            <a:pPr algn="l">
              <a:defRPr sz="1200" b="0">
                <a:solidFill>
                  <a:srgbClr val="132024"/>
                </a:solidFill>
              </a:defRPr>
            </a:pPr>
            <a:r>
              <a:rPr sz="1200" b="0">
                <a:solidFill>
                  <a:srgbClr val="132024"/>
                </a:solidFill>
              </a:rPr>
              <a:t>collection의 wiki와 raw만</a:t>
            </a:r>
          </a:p>
          <a:p xmlns:a="http://schemas.openxmlformats.org/drawingml/2006/main">
            <a:pPr algn="l">
              <a:defRPr sz="1200" b="0">
                <a:solidFill>
                  <a:srgbClr val="132024"/>
                </a:solidFill>
              </a:defRPr>
            </a:pPr>
            <a:r>
              <a:rPr sz="1200" b="0">
                <a:solidFill>
                  <a:srgbClr val="132024"/>
                </a:solidFill>
              </a:rPr>
              <a:t>쓰도록 해서 hallucination과</a:t>
            </a:r>
          </a:p>
          <a:p xmlns:a="http://schemas.openxmlformats.org/drawingml/2006/main">
            <a:pPr algn="l">
              <a:defRPr sz="1200" b="0">
                <a:solidFill>
                  <a:srgbClr val="132024"/>
                </a:solidFill>
              </a:defRPr>
            </a:pPr>
            <a:r>
              <a:rPr sz="1200" b="0">
                <a:solidFill>
                  <a:srgbClr val="132024"/>
                </a:solidFill>
              </a:rPr>
              <a:t>topic drift를 줄인다.</a:t>
            </a:r>
          </a:p>
        </p:txBody>
      </p:sp>
      <p:sp>
        <p:nvSpPr>
          <p:cNvPr id="29" name="">
            <a:extLst xmlns:a="http://schemas.openxmlformats.org/drawingml/2006/main">
              <a:ext uri="{FF2B5EF4-FFF2-40B4-BE49-F238E27FC236}">
                <a16:creationId xmlns:a16="http://schemas.microsoft.com/office/drawing/2014/main" id="{C7BB8181-B409-4AD7-8DF1-71DCC12EC2E2}"/>
              </a:ext>
            </a:extLst>
          </p:cNvPr>
          <p:cNvSpPr>
            <a:spLocks xmlns:a="http://schemas.openxmlformats.org/drawingml/2006/main" noGrp="1"/>
          </p:cNvSpPr>
          <p:nvPr/>
        </p:nvSpPr>
        <p:spPr>
          <a:xfrm xmlns:a="http://schemas.openxmlformats.org/drawingml/2006/main">
            <a:off x="86106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35A83CD3-B3E6-46D7-AFD9-5B6C7D454324}"/>
              </a:ext>
            </a:extLst>
          </p:cNvPr>
          <p:cNvSpPr>
            <a:spLocks xmlns:a="http://schemas.openxmlformats.org/drawingml/2006/main" noGrp="1"/>
          </p:cNvSpPr>
          <p:nvPr/>
        </p:nvSpPr>
        <p:spPr>
          <a:xfrm xmlns:a="http://schemas.openxmlformats.org/drawingml/2006/main">
            <a:off x="8667750" y="2781300"/>
            <a:ext cx="22860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5AAD187E-4CC3-4178-A516-A210B3CC31DA}"/>
              </a:ext>
            </a:extLst>
          </p:cNvPr>
          <p:cNvSpPr>
            <a:spLocks xmlns:a="http://schemas.openxmlformats.org/drawingml/2006/main" noGrp="1"/>
          </p:cNvSpPr>
          <p:nvPr/>
        </p:nvSpPr>
        <p:spPr>
          <a:xfrm xmlns:a="http://schemas.openxmlformats.org/drawingml/2006/main">
            <a:off x="88201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지식 밀도 축적</a:t>
            </a:r>
          </a:p>
        </p:txBody>
      </p:sp>
      <p:sp>
        <p:nvSpPr>
          <p:cNvPr id="32" name="">
            <a:extLst xmlns:a="http://schemas.openxmlformats.org/drawingml/2006/main">
              <a:ext uri="{FF2B5EF4-FFF2-40B4-BE49-F238E27FC236}">
                <a16:creationId xmlns:a16="http://schemas.microsoft.com/office/drawing/2014/main" id="{52308F99-D7F8-4C57-837B-BEF3FE046463}"/>
              </a:ext>
            </a:extLst>
          </p:cNvPr>
          <p:cNvSpPr>
            <a:spLocks xmlns:a="http://schemas.openxmlformats.org/drawingml/2006/main" noGrp="1"/>
          </p:cNvSpPr>
          <p:nvPr/>
        </p:nvSpPr>
        <p:spPr>
          <a:xfrm xmlns:a="http://schemas.openxmlformats.org/drawingml/2006/main">
            <a:off x="88201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source -&gt; concept -&gt;</a:t>
            </a:r>
          </a:p>
          <a:p xmlns:a="http://schemas.openxmlformats.org/drawingml/2006/main">
            <a:pPr algn="l">
              <a:defRPr sz="1200" b="0">
                <a:solidFill>
                  <a:srgbClr val="132024"/>
                </a:solidFill>
              </a:defRPr>
            </a:pPr>
            <a:r>
              <a:rPr sz="1200" b="0">
                <a:solidFill>
                  <a:srgbClr val="132024"/>
                </a:solidFill>
              </a:rPr>
              <a:t>query -&gt; synthesis가 같은</a:t>
            </a:r>
          </a:p>
          <a:p xmlns:a="http://schemas.openxmlformats.org/drawingml/2006/main">
            <a:pPr algn="l">
              <a:defRPr sz="1200" b="0">
                <a:solidFill>
                  <a:srgbClr val="132024"/>
                </a:solidFill>
              </a:defRPr>
            </a:pPr>
            <a:r>
              <a:rPr sz="1200" b="0">
                <a:solidFill>
                  <a:srgbClr val="132024"/>
                </a:solidFill>
              </a:rPr>
              <a:t>공간에 연결되면서 주제별 정보 밀도가</a:t>
            </a:r>
          </a:p>
          <a:p xmlns:a="http://schemas.openxmlformats.org/drawingml/2006/main">
            <a:pPr algn="l">
              <a:defRPr sz="1200" b="0">
                <a:solidFill>
                  <a:srgbClr val="132024"/>
                </a:solidFill>
              </a:defRPr>
            </a:pPr>
            <a:r>
              <a:rPr sz="1200" b="0">
                <a:solidFill>
                  <a:srgbClr val="132024"/>
                </a:solidFill>
              </a:rPr>
              <a:t>높아진다.</a:t>
            </a:r>
          </a:p>
        </p:txBody>
      </p:sp>
      <p:sp>
        <p:nvSpPr>
          <p:cNvPr id="33" name="">
            <a:extLst xmlns:a="http://schemas.openxmlformats.org/drawingml/2006/main">
              <a:ext uri="{FF2B5EF4-FFF2-40B4-BE49-F238E27FC236}">
                <a16:creationId xmlns:a16="http://schemas.microsoft.com/office/drawing/2014/main" id="{3378FCD5-6AE5-44F7-B457-443E72A9B56A}"/>
              </a:ext>
            </a:extLst>
          </p:cNvPr>
          <p:cNvSpPr>
            <a:spLocks xmlns:a="http://schemas.openxmlformats.org/drawingml/2006/main" noGrp="1"/>
          </p:cNvSpPr>
          <p:nvPr/>
        </p:nvSpPr>
        <p:spPr>
          <a:xfrm xmlns:a="http://schemas.openxmlformats.org/drawingml/2006/main">
            <a:off x="1314450" y="5334000"/>
            <a:ext cx="139065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raw/sources</a:t>
            </a:r>
          </a:p>
        </p:txBody>
      </p:sp>
      <p:sp>
        <p:nvSpPr>
          <p:cNvPr id="34" name="">
            <a:extLst xmlns:a="http://schemas.openxmlformats.org/drawingml/2006/main">
              <a:ext uri="{FF2B5EF4-FFF2-40B4-BE49-F238E27FC236}">
                <a16:creationId xmlns:a16="http://schemas.microsoft.com/office/drawing/2014/main" id="{A7CE955B-1676-4C66-89B0-6199BA62D422}"/>
              </a:ext>
            </a:extLst>
          </p:cNvPr>
          <p:cNvSpPr>
            <a:spLocks xmlns:a="http://schemas.openxmlformats.org/drawingml/2006/main" noGrp="1"/>
          </p:cNvSpPr>
          <p:nvPr/>
        </p:nvSpPr>
        <p:spPr>
          <a:xfrm xmlns:a="http://schemas.openxmlformats.org/drawingml/2006/main">
            <a:off x="2781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A96A14BA-A8BB-47FE-AE96-6972827B7974}"/>
              </a:ext>
            </a:extLst>
          </p:cNvPr>
          <p:cNvSpPr>
            <a:spLocks xmlns:a="http://schemas.openxmlformats.org/drawingml/2006/main" noGrp="1"/>
          </p:cNvSpPr>
          <p:nvPr/>
        </p:nvSpPr>
        <p:spPr>
          <a:xfrm xmlns:a="http://schemas.openxmlformats.org/drawingml/2006/main">
            <a:off x="3600450" y="5334000"/>
            <a:ext cx="139065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wiki/sources</a:t>
            </a:r>
          </a:p>
        </p:txBody>
      </p:sp>
      <p:sp>
        <p:nvSpPr>
          <p:cNvPr id="36" name="">
            <a:extLst xmlns:a="http://schemas.openxmlformats.org/drawingml/2006/main">
              <a:ext uri="{FF2B5EF4-FFF2-40B4-BE49-F238E27FC236}">
                <a16:creationId xmlns:a16="http://schemas.microsoft.com/office/drawing/2014/main" id="{AB59A16B-E5E7-45C1-9F2D-A29DF9CD7960}"/>
              </a:ext>
            </a:extLst>
          </p:cNvPr>
          <p:cNvSpPr>
            <a:spLocks xmlns:a="http://schemas.openxmlformats.org/drawingml/2006/main" noGrp="1"/>
          </p:cNvSpPr>
          <p:nvPr/>
        </p:nvSpPr>
        <p:spPr>
          <a:xfrm xmlns:a="http://schemas.openxmlformats.org/drawingml/2006/main">
            <a:off x="5067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D373EE38-BD2A-40E8-BEE7-9142E7745379}"/>
              </a:ext>
            </a:extLst>
          </p:cNvPr>
          <p:cNvSpPr>
            <a:spLocks xmlns:a="http://schemas.openxmlformats.org/drawingml/2006/main" noGrp="1"/>
          </p:cNvSpPr>
          <p:nvPr/>
        </p:nvSpPr>
        <p:spPr>
          <a:xfrm xmlns:a="http://schemas.openxmlformats.org/drawingml/2006/main">
            <a:off x="5905500" y="5334000"/>
            <a:ext cx="154305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 / entity</a:t>
            </a:r>
          </a:p>
        </p:txBody>
      </p:sp>
      <p:sp>
        <p:nvSpPr>
          <p:cNvPr id="38" name="">
            <a:extLst xmlns:a="http://schemas.openxmlformats.org/drawingml/2006/main">
              <a:ext uri="{FF2B5EF4-FFF2-40B4-BE49-F238E27FC236}">
                <a16:creationId xmlns:a16="http://schemas.microsoft.com/office/drawing/2014/main" id="{6949E8A9-0213-40D5-86F1-DACD7B8091C9}"/>
              </a:ext>
            </a:extLst>
          </p:cNvPr>
          <p:cNvSpPr>
            <a:spLocks xmlns:a="http://schemas.openxmlformats.org/drawingml/2006/main" noGrp="1"/>
          </p:cNvSpPr>
          <p:nvPr/>
        </p:nvSpPr>
        <p:spPr>
          <a:xfrm xmlns:a="http://schemas.openxmlformats.org/drawingml/2006/main">
            <a:off x="75438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0622E207-44B4-4D2E-829B-56B404DC0A1C}"/>
              </a:ext>
            </a:extLst>
          </p:cNvPr>
          <p:cNvSpPr>
            <a:spLocks xmlns:a="http://schemas.openxmlformats.org/drawingml/2006/main" noGrp="1"/>
          </p:cNvSpPr>
          <p:nvPr/>
        </p:nvSpPr>
        <p:spPr>
          <a:xfrm xmlns:a="http://schemas.openxmlformats.org/drawingml/2006/main">
            <a:off x="8362950" y="5334000"/>
            <a:ext cx="16954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query / synthesis</a:t>
            </a:r>
          </a:p>
        </p:txBody>
      </p:sp>
      <p:sp>
        <p:nvSpPr>
          <p:cNvPr id="40" name="">
            <a:extLst xmlns:a="http://schemas.openxmlformats.org/drawingml/2006/main">
              <a:ext uri="{FF2B5EF4-FFF2-40B4-BE49-F238E27FC236}">
                <a16:creationId xmlns:a16="http://schemas.microsoft.com/office/drawing/2014/main" id="{C1081A79-7CD9-4B60-8EF2-3DFB88C4452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운영 원리: topic boundary를 좁히고, 해석 가능한 지식을 같은 collection 안에 누적한다.</a:t>
            </a:r>
          </a:p>
        </p:txBody>
      </p:sp>
    </p:spTree>
    <p:extLst>
      <p:ext uri="{BB962C8B-B14F-4D97-AF65-F5344CB8AC3E}">
        <p14:creationId xmlns:p14="http://schemas.microsoft.com/office/powerpoint/2010/main" val="1364356712"/>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e4ab859c7e0476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2CAF6DB-9868-42E2-B734-DA1B8208D5DF}"/>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C25F7D3-73F1-4112-83C5-C1F8A6ACF6FC}"/>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E20A3BD-9246-408F-BBBC-5BBFFA1C0C5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1F56F5B-77B6-4E0D-A3CB-2874C73B70DA}"/>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8B559262-66B7-43DA-9972-1DE52721E1F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4D1B9A3-BF76-4133-8B16-FA0F549805C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6F65239-191E-446D-A544-F5994F84D0C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ACCESS LAYER</a:t>
            </a:r>
          </a:p>
        </p:txBody>
      </p:sp>
      <p:sp>
        <p:nvSpPr>
          <p:cNvPr id="10" name="">
            <a:extLst xmlns:a="http://schemas.openxmlformats.org/drawingml/2006/main">
              <a:ext uri="{FF2B5EF4-FFF2-40B4-BE49-F238E27FC236}">
                <a16:creationId xmlns:a16="http://schemas.microsoft.com/office/drawing/2014/main" id="{2D4F7FE3-5A7E-411A-A1D3-A1DA8E3C70C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13</a:t>
            </a:r>
          </a:p>
        </p:txBody>
      </p:sp>
      <p:sp>
        <p:nvSpPr>
          <p:cNvPr id="11" name="">
            <a:extLst xmlns:a="http://schemas.openxmlformats.org/drawingml/2006/main">
              <a:ext uri="{FF2B5EF4-FFF2-40B4-BE49-F238E27FC236}">
                <a16:creationId xmlns:a16="http://schemas.microsoft.com/office/drawing/2014/main" id="{AF7941A1-6839-4D5A-BB55-DECC06120456}"/>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60ACF58-97CA-4332-B67F-3B0586DDD4D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DEC2DED-5F6E-4F97-8006-763FF6FCD58C}"/>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Markdown wiki를</a:t>
            </a:r>
          </a:p>
          <a:p xmlns:a="http://schemas.openxmlformats.org/drawingml/2006/main">
            <a:pPr algn="l">
              <a:defRPr sz="2850" b="1">
                <a:solidFill>
                  <a:srgbClr val="132024"/>
                </a:solidFill>
              </a:defRPr>
            </a:pPr>
            <a:r>
              <a:rPr sz="2850" b="1">
                <a:solidFill>
                  <a:srgbClr val="132024"/>
                </a:solidFill>
              </a:rPr>
              <a:t>탐색 가능한 HTML로 열어두기</a:t>
            </a:r>
          </a:p>
        </p:txBody>
      </p:sp>
      <p:sp>
        <p:nvSpPr>
          <p:cNvPr id="14" name="">
            <a:extLst xmlns:a="http://schemas.openxmlformats.org/drawingml/2006/main">
              <a:ext uri="{FF2B5EF4-FFF2-40B4-BE49-F238E27FC236}">
                <a16:creationId xmlns:a16="http://schemas.microsoft.com/office/drawing/2014/main" id="{370DEA43-55DA-410E-9CB8-903B7045AC46}"/>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72188DE4-19CD-4A17-A5CC-56906594DF53}"/>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AF7B6C3-D940-4DA1-B992-4F9D06E6C79B}"/>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Markdown으로 저장한 위키를 정적 HTML로 렌더링하고, 로컬 뷰어와 GitHub Pages를 통해 계속 읽고 탐색할 수 있게 했다.</a:t>
            </a:r>
          </a:p>
        </p:txBody>
      </p:sp>
      <p:sp>
        <p:nvSpPr>
          <p:cNvPr id="17" name="">
            <a:extLst xmlns:a="http://schemas.openxmlformats.org/drawingml/2006/main">
              <a:ext uri="{FF2B5EF4-FFF2-40B4-BE49-F238E27FC236}">
                <a16:creationId xmlns:a16="http://schemas.microsoft.com/office/drawing/2014/main" id="{CAD79C9C-21EF-4374-94CD-A3976754750E}"/>
              </a:ext>
            </a:extLst>
          </p:cNvPr>
          <p:cNvSpPr>
            <a:spLocks xmlns:a="http://schemas.openxmlformats.org/drawingml/2006/main" noGrp="1"/>
          </p:cNvSpPr>
          <p:nvPr/>
        </p:nvSpPr>
        <p:spPr>
          <a:xfrm xmlns:a="http://schemas.openxmlformats.org/drawingml/2006/main">
            <a:off x="7048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2D8DDD39-55D6-452F-9816-2527F7DF5373}"/>
              </a:ext>
            </a:extLst>
          </p:cNvPr>
          <p:cNvSpPr>
            <a:spLocks xmlns:a="http://schemas.openxmlformats.org/drawingml/2006/main" noGrp="1"/>
          </p:cNvSpPr>
          <p:nvPr/>
        </p:nvSpPr>
        <p:spPr>
          <a:xfrm xmlns:a="http://schemas.openxmlformats.org/drawingml/2006/main">
            <a:off x="762000" y="2781300"/>
            <a:ext cx="2438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83296058-FB22-42CE-8421-DA77B3A8E41E}"/>
              </a:ext>
            </a:extLst>
          </p:cNvPr>
          <p:cNvSpPr>
            <a:spLocks xmlns:a="http://schemas.openxmlformats.org/drawingml/2006/main" noGrp="1"/>
          </p:cNvSpPr>
          <p:nvPr/>
        </p:nvSpPr>
        <p:spPr>
          <a:xfrm xmlns:a="http://schemas.openxmlformats.org/drawingml/2006/main">
            <a:off x="9144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static HTML render</a:t>
            </a:r>
          </a:p>
        </p:txBody>
      </p:sp>
      <p:sp>
        <p:nvSpPr>
          <p:cNvPr id="20" name="">
            <a:extLst xmlns:a="http://schemas.openxmlformats.org/drawingml/2006/main">
              <a:ext uri="{FF2B5EF4-FFF2-40B4-BE49-F238E27FC236}">
                <a16:creationId xmlns:a16="http://schemas.microsoft.com/office/drawing/2014/main" id="{A1A90942-E731-452B-8A21-ED0A27351D39}"/>
              </a:ext>
            </a:extLst>
          </p:cNvPr>
          <p:cNvSpPr>
            <a:spLocks xmlns:a="http://schemas.openxmlformats.org/drawingml/2006/main" noGrp="1"/>
          </p:cNvSpPr>
          <p:nvPr/>
        </p:nvSpPr>
        <p:spPr>
          <a:xfrm xmlns:a="http://schemas.openxmlformats.org/drawingml/2006/main">
            <a:off x="9144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Markdown wiki를</a:t>
            </a:r>
          </a:p>
          <a:p xmlns:a="http://schemas.openxmlformats.org/drawingml/2006/main">
            <a:pPr algn="l">
              <a:defRPr sz="1200" b="0">
                <a:solidFill>
                  <a:srgbClr val="132024"/>
                </a:solidFill>
              </a:defRPr>
            </a:pPr>
            <a:r>
              <a:rPr sz="1200" b="0">
                <a:solidFill>
                  <a:srgbClr val="132024"/>
                </a:solidFill>
              </a:rPr>
              <a:t>collection별 HTML site로</a:t>
            </a:r>
          </a:p>
          <a:p xmlns:a="http://schemas.openxmlformats.org/drawingml/2006/main">
            <a:pPr algn="l">
              <a:defRPr sz="1200" b="0">
                <a:solidFill>
                  <a:srgbClr val="132024"/>
                </a:solidFill>
              </a:defRPr>
            </a:pPr>
            <a:r>
              <a:rPr sz="1200" b="0">
                <a:solidFill>
                  <a:srgbClr val="132024"/>
                </a:solidFill>
              </a:rPr>
              <a:t>바꾸고, top-level hub도 함께</a:t>
            </a:r>
          </a:p>
          <a:p xmlns:a="http://schemas.openxmlformats.org/drawingml/2006/main">
            <a:pPr algn="l">
              <a:defRPr sz="1200" b="0">
                <a:solidFill>
                  <a:srgbClr val="132024"/>
                </a:solidFill>
              </a:defRPr>
            </a:pPr>
            <a:r>
              <a:rPr sz="1200" b="0">
                <a:solidFill>
                  <a:srgbClr val="132024"/>
                </a:solidFill>
              </a:rPr>
              <a:t>갱신한다.</a:t>
            </a:r>
          </a:p>
        </p:txBody>
      </p:sp>
      <p:sp>
        <p:nvSpPr>
          <p:cNvPr id="21" name="">
            <a:extLst xmlns:a="http://schemas.openxmlformats.org/drawingml/2006/main">
              <a:ext uri="{FF2B5EF4-FFF2-40B4-BE49-F238E27FC236}">
                <a16:creationId xmlns:a16="http://schemas.microsoft.com/office/drawing/2014/main" id="{A23A718A-1877-469D-9D66-23A89DB194EC}"/>
              </a:ext>
            </a:extLst>
          </p:cNvPr>
          <p:cNvSpPr>
            <a:spLocks xmlns:a="http://schemas.openxmlformats.org/drawingml/2006/main" noGrp="1"/>
          </p:cNvSpPr>
          <p:nvPr/>
        </p:nvSpPr>
        <p:spPr>
          <a:xfrm xmlns:a="http://schemas.openxmlformats.org/drawingml/2006/main">
            <a:off x="350520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0A86026C-655E-4E46-B890-483F788FFEA5}"/>
              </a:ext>
            </a:extLst>
          </p:cNvPr>
          <p:cNvSpPr>
            <a:spLocks xmlns:a="http://schemas.openxmlformats.org/drawingml/2006/main" noGrp="1"/>
          </p:cNvSpPr>
          <p:nvPr/>
        </p:nvSpPr>
        <p:spPr>
          <a:xfrm xmlns:a="http://schemas.openxmlformats.org/drawingml/2006/main">
            <a:off x="3562350" y="2781300"/>
            <a:ext cx="2438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64A657CD-530F-4BC4-90CC-6345A2E24B9A}"/>
              </a:ext>
            </a:extLst>
          </p:cNvPr>
          <p:cNvSpPr>
            <a:spLocks xmlns:a="http://schemas.openxmlformats.org/drawingml/2006/main" noGrp="1"/>
          </p:cNvSpPr>
          <p:nvPr/>
        </p:nvSpPr>
        <p:spPr>
          <a:xfrm xmlns:a="http://schemas.openxmlformats.org/drawingml/2006/main">
            <a:off x="371475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local viewer</a:t>
            </a:r>
          </a:p>
        </p:txBody>
      </p:sp>
      <p:sp>
        <p:nvSpPr>
          <p:cNvPr id="24" name="">
            <a:extLst xmlns:a="http://schemas.openxmlformats.org/drawingml/2006/main">
              <a:ext uri="{FF2B5EF4-FFF2-40B4-BE49-F238E27FC236}">
                <a16:creationId xmlns:a16="http://schemas.microsoft.com/office/drawing/2014/main" id="{663EADD1-9087-4A95-828D-83389C86D439}"/>
              </a:ext>
            </a:extLst>
          </p:cNvPr>
          <p:cNvSpPr>
            <a:spLocks xmlns:a="http://schemas.openxmlformats.org/drawingml/2006/main" noGrp="1"/>
          </p:cNvSpPr>
          <p:nvPr/>
        </p:nvSpPr>
        <p:spPr>
          <a:xfrm xmlns:a="http://schemas.openxmlformats.org/drawingml/2006/main">
            <a:off x="371475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localhost viewer에서 검색,</a:t>
            </a:r>
          </a:p>
          <a:p xmlns:a="http://schemas.openxmlformats.org/drawingml/2006/main">
            <a:pPr algn="l">
              <a:defRPr sz="1200" b="0">
                <a:solidFill>
                  <a:srgbClr val="132024"/>
                </a:solidFill>
              </a:defRPr>
            </a:pPr>
            <a:r>
              <a:rPr sz="1200" b="0">
                <a:solidFill>
                  <a:srgbClr val="132024"/>
                </a:solidFill>
              </a:rPr>
              <a:t>태그 필터, 그래프 뷰를 통해</a:t>
            </a:r>
          </a:p>
          <a:p xmlns:a="http://schemas.openxmlformats.org/drawingml/2006/main">
            <a:pPr algn="l">
              <a:defRPr sz="1200" b="0">
                <a:solidFill>
                  <a:srgbClr val="132024"/>
                </a:solidFill>
              </a:defRPr>
            </a:pPr>
            <a:r>
              <a:rPr sz="1200" b="0">
                <a:solidFill>
                  <a:srgbClr val="132024"/>
                </a:solidFill>
              </a:rPr>
              <a:t>collection 내부 페이지를 빠르게</a:t>
            </a:r>
          </a:p>
          <a:p xmlns:a="http://schemas.openxmlformats.org/drawingml/2006/main">
            <a:pPr algn="l">
              <a:defRPr sz="1200" b="0">
                <a:solidFill>
                  <a:srgbClr val="132024"/>
                </a:solidFill>
              </a:defRPr>
            </a:pPr>
            <a:r>
              <a:rPr sz="1200" b="0">
                <a:solidFill>
                  <a:srgbClr val="132024"/>
                </a:solidFill>
              </a:rPr>
              <a:t>탐색한다.</a:t>
            </a:r>
          </a:p>
        </p:txBody>
      </p:sp>
      <p:sp>
        <p:nvSpPr>
          <p:cNvPr id="25" name="">
            <a:extLst xmlns:a="http://schemas.openxmlformats.org/drawingml/2006/main">
              <a:ext uri="{FF2B5EF4-FFF2-40B4-BE49-F238E27FC236}">
                <a16:creationId xmlns:a16="http://schemas.microsoft.com/office/drawing/2014/main" id="{184AAB81-06A3-4569-9571-9915821ACA2A}"/>
              </a:ext>
            </a:extLst>
          </p:cNvPr>
          <p:cNvSpPr>
            <a:spLocks xmlns:a="http://schemas.openxmlformats.org/drawingml/2006/main" noGrp="1"/>
          </p:cNvSpPr>
          <p:nvPr/>
        </p:nvSpPr>
        <p:spPr>
          <a:xfrm xmlns:a="http://schemas.openxmlformats.org/drawingml/2006/main">
            <a:off x="63055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A8A2928F-482B-4BF8-8215-9032F4D309FE}"/>
              </a:ext>
            </a:extLst>
          </p:cNvPr>
          <p:cNvSpPr>
            <a:spLocks xmlns:a="http://schemas.openxmlformats.org/drawingml/2006/main" noGrp="1"/>
          </p:cNvSpPr>
          <p:nvPr/>
        </p:nvSpPr>
        <p:spPr>
          <a:xfrm xmlns:a="http://schemas.openxmlformats.org/drawingml/2006/main">
            <a:off x="6362700" y="2781300"/>
            <a:ext cx="2438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CA034F9-7E87-40FA-8B61-1C4111478F23}"/>
              </a:ext>
            </a:extLst>
          </p:cNvPr>
          <p:cNvSpPr>
            <a:spLocks xmlns:a="http://schemas.openxmlformats.org/drawingml/2006/main" noGrp="1"/>
          </p:cNvSpPr>
          <p:nvPr/>
        </p:nvSpPr>
        <p:spPr>
          <a:xfrm xmlns:a="http://schemas.openxmlformats.org/drawingml/2006/main">
            <a:off x="65151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GitHub Pages</a:t>
            </a:r>
          </a:p>
        </p:txBody>
      </p:sp>
      <p:sp>
        <p:nvSpPr>
          <p:cNvPr id="28" name="">
            <a:extLst xmlns:a="http://schemas.openxmlformats.org/drawingml/2006/main">
              <a:ext uri="{FF2B5EF4-FFF2-40B4-BE49-F238E27FC236}">
                <a16:creationId xmlns:a16="http://schemas.microsoft.com/office/drawing/2014/main" id="{B46C3E99-F165-464D-B2D4-C0882AA259C1}"/>
              </a:ext>
            </a:extLst>
          </p:cNvPr>
          <p:cNvSpPr>
            <a:spLocks xmlns:a="http://schemas.openxmlformats.org/drawingml/2006/main" noGrp="1"/>
          </p:cNvSpPr>
          <p:nvPr/>
        </p:nvSpPr>
        <p:spPr>
          <a:xfrm xmlns:a="http://schemas.openxmlformats.org/drawingml/2006/main">
            <a:off x="65151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원격에서도 같은 구조로 읽을 수 있도록</a:t>
            </a:r>
          </a:p>
          <a:p xmlns:a="http://schemas.openxmlformats.org/drawingml/2006/main">
            <a:pPr algn="l">
              <a:defRPr sz="1200" b="0">
                <a:solidFill>
                  <a:srgbClr val="132024"/>
                </a:solidFill>
              </a:defRPr>
            </a:pPr>
            <a:r>
              <a:rPr sz="1200" b="0">
                <a:solidFill>
                  <a:srgbClr val="132024"/>
                </a:solidFill>
              </a:rPr>
              <a:t>public static site로</a:t>
            </a:r>
          </a:p>
          <a:p xmlns:a="http://schemas.openxmlformats.org/drawingml/2006/main">
            <a:pPr algn="l">
              <a:defRPr sz="1200" b="0">
                <a:solidFill>
                  <a:srgbClr val="132024"/>
                </a:solidFill>
              </a:defRPr>
            </a:pPr>
            <a:r>
              <a:rPr sz="1200" b="0">
                <a:solidFill>
                  <a:srgbClr val="132024"/>
                </a:solidFill>
              </a:rPr>
              <a:t>export하고 GitHub Pages에</a:t>
            </a:r>
          </a:p>
          <a:p xmlns:a="http://schemas.openxmlformats.org/drawingml/2006/main">
            <a:pPr algn="l">
              <a:defRPr sz="1200" b="0">
                <a:solidFill>
                  <a:srgbClr val="132024"/>
                </a:solidFill>
              </a:defRPr>
            </a:pPr>
            <a:r>
              <a:rPr sz="1200" b="0">
                <a:solidFill>
                  <a:srgbClr val="132024"/>
                </a:solidFill>
              </a:rPr>
              <a:t>배포한다.</a:t>
            </a:r>
          </a:p>
        </p:txBody>
      </p:sp>
      <p:sp>
        <p:nvSpPr>
          <p:cNvPr id="29" name="">
            <a:extLst xmlns:a="http://schemas.openxmlformats.org/drawingml/2006/main">
              <a:ext uri="{FF2B5EF4-FFF2-40B4-BE49-F238E27FC236}">
                <a16:creationId xmlns:a16="http://schemas.microsoft.com/office/drawing/2014/main" id="{CAD4DB48-5135-4A6D-B740-09748D874185}"/>
              </a:ext>
            </a:extLst>
          </p:cNvPr>
          <p:cNvSpPr>
            <a:spLocks xmlns:a="http://schemas.openxmlformats.org/drawingml/2006/main" noGrp="1"/>
          </p:cNvSpPr>
          <p:nvPr/>
        </p:nvSpPr>
        <p:spPr>
          <a:xfrm xmlns:a="http://schemas.openxmlformats.org/drawingml/2006/main">
            <a:off x="9105900" y="2724150"/>
            <a:ext cx="23622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6AEA0305-8CCF-47D3-B05F-4C9938BFE941}"/>
              </a:ext>
            </a:extLst>
          </p:cNvPr>
          <p:cNvSpPr>
            <a:spLocks xmlns:a="http://schemas.openxmlformats.org/drawingml/2006/main" noGrp="1"/>
          </p:cNvSpPr>
          <p:nvPr/>
        </p:nvSpPr>
        <p:spPr>
          <a:xfrm xmlns:a="http://schemas.openxmlformats.org/drawingml/2006/main">
            <a:off x="9163050" y="2781300"/>
            <a:ext cx="22479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F3D23DDD-ABAF-4C79-9BA2-57389A2FF92D}"/>
              </a:ext>
            </a:extLst>
          </p:cNvPr>
          <p:cNvSpPr>
            <a:spLocks xmlns:a="http://schemas.openxmlformats.org/drawingml/2006/main" noGrp="1"/>
          </p:cNvSpPr>
          <p:nvPr/>
        </p:nvSpPr>
        <p:spPr>
          <a:xfrm xmlns:a="http://schemas.openxmlformats.org/drawingml/2006/main">
            <a:off x="9315450" y="2914650"/>
            <a:ext cx="19431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auto update</a:t>
            </a:r>
          </a:p>
        </p:txBody>
      </p:sp>
      <p:sp>
        <p:nvSpPr>
          <p:cNvPr id="32" name="">
            <a:extLst xmlns:a="http://schemas.openxmlformats.org/drawingml/2006/main">
              <a:ext uri="{FF2B5EF4-FFF2-40B4-BE49-F238E27FC236}">
                <a16:creationId xmlns:a16="http://schemas.microsoft.com/office/drawing/2014/main" id="{CE0E1805-D5D4-41FD-875A-EC2C1113BF14}"/>
              </a:ext>
            </a:extLst>
          </p:cNvPr>
          <p:cNvSpPr>
            <a:spLocks xmlns:a="http://schemas.openxmlformats.org/drawingml/2006/main" noGrp="1"/>
          </p:cNvSpPr>
          <p:nvPr/>
        </p:nvSpPr>
        <p:spPr>
          <a:xfrm xmlns:a="http://schemas.openxmlformats.org/drawingml/2006/main">
            <a:off x="9315450" y="3333750"/>
            <a:ext cx="19431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watcher와 deploy</a:t>
            </a:r>
          </a:p>
          <a:p xmlns:a="http://schemas.openxmlformats.org/drawingml/2006/main">
            <a:pPr algn="l">
              <a:defRPr sz="1200" b="0">
                <a:solidFill>
                  <a:srgbClr val="132024"/>
                </a:solidFill>
              </a:defRPr>
            </a:pPr>
            <a:r>
              <a:rPr sz="1200" b="0">
                <a:solidFill>
                  <a:srgbClr val="132024"/>
                </a:solidFill>
              </a:rPr>
              <a:t>workflow를 붙여</a:t>
            </a:r>
          </a:p>
          <a:p xmlns:a="http://schemas.openxmlformats.org/drawingml/2006/main">
            <a:pPr algn="l">
              <a:defRPr sz="1200" b="0">
                <a:solidFill>
                  <a:srgbClr val="132024"/>
                </a:solidFill>
              </a:defRPr>
            </a:pPr>
            <a:r>
              <a:rPr sz="1200" b="0">
                <a:solidFill>
                  <a:srgbClr val="132024"/>
                </a:solidFill>
              </a:rPr>
              <a:t>collection 변경이 생기면</a:t>
            </a:r>
          </a:p>
          <a:p xmlns:a="http://schemas.openxmlformats.org/drawingml/2006/main">
            <a:pPr algn="l">
              <a:defRPr sz="1200" b="0">
                <a:solidFill>
                  <a:srgbClr val="132024"/>
                </a:solidFill>
              </a:defRPr>
            </a:pPr>
            <a:r>
              <a:rPr sz="1200" b="0">
                <a:solidFill>
                  <a:srgbClr val="132024"/>
                </a:solidFill>
              </a:rPr>
              <a:t>site도 함께 갱신되도록 만들었다.</a:t>
            </a:r>
          </a:p>
        </p:txBody>
      </p:sp>
      <p:sp>
        <p:nvSpPr>
          <p:cNvPr id="33" name="">
            <a:extLst xmlns:a="http://schemas.openxmlformats.org/drawingml/2006/main">
              <a:ext uri="{FF2B5EF4-FFF2-40B4-BE49-F238E27FC236}">
                <a16:creationId xmlns:a16="http://schemas.microsoft.com/office/drawing/2014/main" id="{7037B7BD-CFB2-460B-8470-63D4C6B254BB}"/>
              </a:ext>
            </a:extLst>
          </p:cNvPr>
          <p:cNvSpPr>
            <a:spLocks xmlns:a="http://schemas.openxmlformats.org/drawingml/2006/main" noGrp="1"/>
          </p:cNvSpPr>
          <p:nvPr/>
        </p:nvSpPr>
        <p:spPr>
          <a:xfrm xmlns:a="http://schemas.openxmlformats.org/drawingml/2006/main">
            <a:off x="1143000" y="5334000"/>
            <a:ext cx="114300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wiki/*.md</a:t>
            </a:r>
          </a:p>
        </p:txBody>
      </p:sp>
      <p:sp>
        <p:nvSpPr>
          <p:cNvPr id="34" name="">
            <a:extLst xmlns:a="http://schemas.openxmlformats.org/drawingml/2006/main">
              <a:ext uri="{FF2B5EF4-FFF2-40B4-BE49-F238E27FC236}">
                <a16:creationId xmlns:a16="http://schemas.microsoft.com/office/drawing/2014/main" id="{3B4D5B4A-55E1-4800-8967-1FBD455C9982}"/>
              </a:ext>
            </a:extLst>
          </p:cNvPr>
          <p:cNvSpPr>
            <a:spLocks xmlns:a="http://schemas.openxmlformats.org/drawingml/2006/main" noGrp="1"/>
          </p:cNvSpPr>
          <p:nvPr/>
        </p:nvSpPr>
        <p:spPr>
          <a:xfrm xmlns:a="http://schemas.openxmlformats.org/drawingml/2006/main">
            <a:off x="24003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E6769D84-7439-4FF0-8488-61BAA34E808C}"/>
              </a:ext>
            </a:extLst>
          </p:cNvPr>
          <p:cNvSpPr>
            <a:spLocks xmlns:a="http://schemas.openxmlformats.org/drawingml/2006/main" noGrp="1"/>
          </p:cNvSpPr>
          <p:nvPr/>
        </p:nvSpPr>
        <p:spPr>
          <a:xfrm xmlns:a="http://schemas.openxmlformats.org/drawingml/2006/main">
            <a:off x="3200400" y="5334000"/>
            <a:ext cx="114300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wiki_html</a:t>
            </a:r>
          </a:p>
        </p:txBody>
      </p:sp>
      <p:sp>
        <p:nvSpPr>
          <p:cNvPr id="36" name="">
            <a:extLst xmlns:a="http://schemas.openxmlformats.org/drawingml/2006/main">
              <a:ext uri="{FF2B5EF4-FFF2-40B4-BE49-F238E27FC236}">
                <a16:creationId xmlns:a16="http://schemas.microsoft.com/office/drawing/2014/main" id="{10DEFFAF-92F0-4D95-9354-75A69F8C8D30}"/>
              </a:ext>
            </a:extLst>
          </p:cNvPr>
          <p:cNvSpPr>
            <a:spLocks xmlns:a="http://schemas.openxmlformats.org/drawingml/2006/main" noGrp="1"/>
          </p:cNvSpPr>
          <p:nvPr/>
        </p:nvSpPr>
        <p:spPr>
          <a:xfrm xmlns:a="http://schemas.openxmlformats.org/drawingml/2006/main">
            <a:off x="447675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78AF39C0-ACA7-4FA9-9F0C-E18E75A81A15}"/>
              </a:ext>
            </a:extLst>
          </p:cNvPr>
          <p:cNvSpPr>
            <a:spLocks xmlns:a="http://schemas.openxmlformats.org/drawingml/2006/main" noGrp="1"/>
          </p:cNvSpPr>
          <p:nvPr/>
        </p:nvSpPr>
        <p:spPr>
          <a:xfrm xmlns:a="http://schemas.openxmlformats.org/drawingml/2006/main">
            <a:off x="5295900" y="5334000"/>
            <a:ext cx="125730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local search</a:t>
            </a:r>
          </a:p>
        </p:txBody>
      </p:sp>
      <p:sp>
        <p:nvSpPr>
          <p:cNvPr id="38" name="">
            <a:extLst xmlns:a="http://schemas.openxmlformats.org/drawingml/2006/main">
              <a:ext uri="{FF2B5EF4-FFF2-40B4-BE49-F238E27FC236}">
                <a16:creationId xmlns:a16="http://schemas.microsoft.com/office/drawing/2014/main" id="{BF7C0280-5DAD-4A89-805A-8D3D930D28CB}"/>
              </a:ext>
            </a:extLst>
          </p:cNvPr>
          <p:cNvSpPr>
            <a:spLocks xmlns:a="http://schemas.openxmlformats.org/drawingml/2006/main" noGrp="1"/>
          </p:cNvSpPr>
          <p:nvPr/>
        </p:nvSpPr>
        <p:spPr>
          <a:xfrm xmlns:a="http://schemas.openxmlformats.org/drawingml/2006/main">
            <a:off x="66675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86C56488-7CF9-4977-A102-EDDA71C300CB}"/>
              </a:ext>
            </a:extLst>
          </p:cNvPr>
          <p:cNvSpPr>
            <a:spLocks xmlns:a="http://schemas.openxmlformats.org/drawingml/2006/main" noGrp="1"/>
          </p:cNvSpPr>
          <p:nvPr/>
        </p:nvSpPr>
        <p:spPr>
          <a:xfrm xmlns:a="http://schemas.openxmlformats.org/drawingml/2006/main">
            <a:off x="7486650" y="5334000"/>
            <a:ext cx="13906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GitHub Pages</a:t>
            </a:r>
          </a:p>
        </p:txBody>
      </p:sp>
      <p:sp>
        <p:nvSpPr>
          <p:cNvPr id="40" name="">
            <a:extLst xmlns:a="http://schemas.openxmlformats.org/drawingml/2006/main">
              <a:ext uri="{FF2B5EF4-FFF2-40B4-BE49-F238E27FC236}">
                <a16:creationId xmlns:a16="http://schemas.microsoft.com/office/drawing/2014/main" id="{5E0BDE0E-3437-43B7-9664-F5CA928F997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접근 계층: Markdown wiki를 읽기 쉬운 site로 바꿔 검색, 탐색, 공유가 가능하도록 했다.</a:t>
            </a:r>
          </a:p>
        </p:txBody>
      </p:sp>
    </p:spTree>
    <p:extLst>
      <p:ext uri="{BB962C8B-B14F-4D97-AF65-F5344CB8AC3E}">
        <p14:creationId xmlns:p14="http://schemas.microsoft.com/office/powerpoint/2010/main" val="785376136"/>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a2df88beb9c4ec9"/>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4283D48-E1FF-406A-AF21-A6F536E504C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CFEE77A-C890-46CC-BF51-3A79AE6252A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3CE23557-40C4-45EF-92C6-06DCF13753F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5965519-5863-4F6A-96FD-EAC80D2D005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C9B0BD89-F970-4CB7-97FD-9A7E67836B6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17C6087F-2813-4498-92ED-70608E7B0AE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8D898C5-A0E8-4134-B718-94DCB24B7EE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BRAIN</a:t>
            </a:r>
          </a:p>
        </p:txBody>
      </p:sp>
      <p:sp>
        <p:nvSpPr>
          <p:cNvPr id="10" name="">
            <a:extLst xmlns:a="http://schemas.openxmlformats.org/drawingml/2006/main">
              <a:ext uri="{FF2B5EF4-FFF2-40B4-BE49-F238E27FC236}">
                <a16:creationId xmlns:a16="http://schemas.microsoft.com/office/drawing/2014/main" id="{F1CC8DB7-7B0B-4D8C-88F6-FF8827B39B38}"/>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13</a:t>
            </a:r>
          </a:p>
        </p:txBody>
      </p:sp>
      <p:sp>
        <p:nvSpPr>
          <p:cNvPr id="11" name="">
            <a:extLst xmlns:a="http://schemas.openxmlformats.org/drawingml/2006/main">
              <a:ext uri="{FF2B5EF4-FFF2-40B4-BE49-F238E27FC236}">
                <a16:creationId xmlns:a16="http://schemas.microsoft.com/office/drawing/2014/main" id="{5491CAC7-1513-4B53-A054-71396A1FD35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0D063F9-081E-4761-B5AE-86B8EA08F1F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E4E335A-DBDA-41CC-871E-AD256A00E337}"/>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organoid collection에서</a:t>
            </a:r>
          </a:p>
          <a:p xmlns:a="http://schemas.openxmlformats.org/drawingml/2006/main">
            <a:pPr algn="l">
              <a:defRPr sz="2850" b="1">
                <a:solidFill>
                  <a:srgbClr val="132024"/>
                </a:solidFill>
              </a:defRPr>
            </a:pPr>
            <a:r>
              <a:rPr sz="2850" b="1">
                <a:solidFill>
                  <a:srgbClr val="132024"/>
                </a:solidFill>
              </a:rPr>
              <a:t>brain branch를 발표 사례로 골랐나</a:t>
            </a:r>
          </a:p>
        </p:txBody>
      </p:sp>
      <p:sp>
        <p:nvSpPr>
          <p:cNvPr id="14" name="">
            <a:extLst xmlns:a="http://schemas.openxmlformats.org/drawingml/2006/main">
              <a:ext uri="{FF2B5EF4-FFF2-40B4-BE49-F238E27FC236}">
                <a16:creationId xmlns:a16="http://schemas.microsoft.com/office/drawing/2014/main" id="{3358A7E1-0218-47F5-BF0C-940403476733}"/>
              </a:ext>
            </a:extLst>
          </p:cNvPr>
          <p:cNvSpPr>
            <a:spLocks xmlns:a="http://schemas.openxmlformats.org/drawingml/2006/main" noGrp="1"/>
          </p:cNvSpPr>
          <p:nvPr/>
        </p:nvSpPr>
        <p:spPr>
          <a:xfrm xmlns:a="http://schemas.openxmlformats.org/drawingml/2006/main">
            <a:off x="70485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E7F39ED-7A3C-4233-8EBC-D79761B4B042}"/>
              </a:ext>
            </a:extLst>
          </p:cNvPr>
          <p:cNvSpPr>
            <a:spLocks xmlns:a="http://schemas.openxmlformats.org/drawingml/2006/main" noGrp="1"/>
          </p:cNvSpPr>
          <p:nvPr/>
        </p:nvSpPr>
        <p:spPr>
          <a:xfrm xmlns:a="http://schemas.openxmlformats.org/drawingml/2006/main">
            <a:off x="762000" y="2362200"/>
            <a:ext cx="3048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D4E23D7-C014-4AE6-9A9D-105281989EE1}"/>
              </a:ext>
            </a:extLst>
          </p:cNvPr>
          <p:cNvSpPr>
            <a:spLocks xmlns:a="http://schemas.openxmlformats.org/drawingml/2006/main" noGrp="1"/>
          </p:cNvSpPr>
          <p:nvPr/>
        </p:nvSpPr>
        <p:spPr>
          <a:xfrm xmlns:a="http://schemas.openxmlformats.org/drawingml/2006/main">
            <a:off x="91440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protocol family가 보인다</a:t>
            </a:r>
          </a:p>
        </p:txBody>
      </p:sp>
      <p:sp>
        <p:nvSpPr>
          <p:cNvPr id="17" name="">
            <a:extLst xmlns:a="http://schemas.openxmlformats.org/drawingml/2006/main">
              <a:ext uri="{FF2B5EF4-FFF2-40B4-BE49-F238E27FC236}">
                <a16:creationId xmlns:a16="http://schemas.microsoft.com/office/drawing/2014/main" id="{6C966198-3879-4EBD-B65F-A1D71E1337A5}"/>
              </a:ext>
            </a:extLst>
          </p:cNvPr>
          <p:cNvSpPr>
            <a:spLocks xmlns:a="http://schemas.openxmlformats.org/drawingml/2006/main" noGrp="1"/>
          </p:cNvSpPr>
          <p:nvPr/>
        </p:nvSpPr>
        <p:spPr>
          <a:xfrm xmlns:a="http://schemas.openxmlformats.org/drawingml/2006/main">
            <a:off x="91440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cerebral,</a:t>
            </a:r>
          </a:p>
          <a:p xmlns:a="http://schemas.openxmlformats.org/drawingml/2006/main">
            <a:pPr algn="l">
              <a:defRPr sz="1200" b="0">
                <a:solidFill>
                  <a:srgbClr val="132024"/>
                </a:solidFill>
              </a:defRPr>
            </a:pPr>
            <a:r>
              <a:rPr sz="1200" b="0">
                <a:solidFill>
                  <a:srgbClr val="132024"/>
                </a:solidFill>
              </a:rPr>
              <a:t>forebrain/cortical,</a:t>
            </a:r>
          </a:p>
          <a:p xmlns:a="http://schemas.openxmlformats.org/drawingml/2006/main">
            <a:pPr algn="l">
              <a:defRPr sz="1200" b="0">
                <a:solidFill>
                  <a:srgbClr val="132024"/>
                </a:solidFill>
              </a:defRPr>
            </a:pPr>
            <a:r>
              <a:rPr sz="1200" b="0">
                <a:solidFill>
                  <a:srgbClr val="132024"/>
                </a:solidFill>
              </a:rPr>
              <a:t>posterior/niche가 한 branch</a:t>
            </a:r>
          </a:p>
          <a:p xmlns:a="http://schemas.openxmlformats.org/drawingml/2006/main">
            <a:pPr algn="l">
              <a:defRPr sz="1200" b="0">
                <a:solidFill>
                  <a:srgbClr val="132024"/>
                </a:solidFill>
              </a:defRPr>
            </a:pPr>
            <a:r>
              <a:rPr sz="1200" b="0">
                <a:solidFill>
                  <a:srgbClr val="132024"/>
                </a:solidFill>
              </a:rPr>
              <a:t>안에서 연속적으로 정리된다.</a:t>
            </a:r>
          </a:p>
        </p:txBody>
      </p:sp>
      <p:sp>
        <p:nvSpPr>
          <p:cNvPr id="18" name="">
            <a:extLst xmlns:a="http://schemas.openxmlformats.org/drawingml/2006/main">
              <a:ext uri="{FF2B5EF4-FFF2-40B4-BE49-F238E27FC236}">
                <a16:creationId xmlns:a16="http://schemas.microsoft.com/office/drawing/2014/main" id="{F8FC74B1-96C7-4F44-A16D-E88CB02D6EDB}"/>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9AE40B3C-D541-4CC6-BA06-B2FD41C4F23A}"/>
              </a:ext>
            </a:extLst>
          </p:cNvPr>
          <p:cNvSpPr>
            <a:spLocks xmlns:a="http://schemas.openxmlformats.org/drawingml/2006/main" noGrp="1"/>
          </p:cNvSpPr>
          <p:nvPr/>
        </p:nvSpPr>
        <p:spPr>
          <a:xfrm xmlns:a="http://schemas.openxmlformats.org/drawingml/2006/main">
            <a:off x="476250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A667C397-A675-410B-BFC5-A415F9902E51}"/>
              </a:ext>
            </a:extLst>
          </p:cNvPr>
          <p:cNvSpPr>
            <a:spLocks xmlns:a="http://schemas.openxmlformats.org/drawingml/2006/main" noGrp="1"/>
          </p:cNvSpPr>
          <p:nvPr/>
        </p:nvSpPr>
        <p:spPr>
          <a:xfrm xmlns:a="http://schemas.openxmlformats.org/drawingml/2006/main">
            <a:off x="4819650" y="2362200"/>
            <a:ext cx="3048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9300CAEB-4CE0-4134-9D7F-4D85ED86F0B3}"/>
              </a:ext>
            </a:extLst>
          </p:cNvPr>
          <p:cNvSpPr>
            <a:spLocks xmlns:a="http://schemas.openxmlformats.org/drawingml/2006/main" noGrp="1"/>
          </p:cNvSpPr>
          <p:nvPr/>
        </p:nvSpPr>
        <p:spPr>
          <a:xfrm xmlns:a="http://schemas.openxmlformats.org/drawingml/2006/main">
            <a:off x="497205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benchmark가 붙는다</a:t>
            </a:r>
          </a:p>
        </p:txBody>
      </p:sp>
      <p:sp>
        <p:nvSpPr>
          <p:cNvPr id="22" name="">
            <a:extLst xmlns:a="http://schemas.openxmlformats.org/drawingml/2006/main">
              <a:ext uri="{FF2B5EF4-FFF2-40B4-BE49-F238E27FC236}">
                <a16:creationId xmlns:a16="http://schemas.microsoft.com/office/drawing/2014/main" id="{698B5BCA-46A2-439C-A6EC-57601F780AF6}"/>
              </a:ext>
            </a:extLst>
          </p:cNvPr>
          <p:cNvSpPr>
            <a:spLocks xmlns:a="http://schemas.openxmlformats.org/drawingml/2006/main" noGrp="1"/>
          </p:cNvSpPr>
          <p:nvPr/>
        </p:nvSpPr>
        <p:spPr>
          <a:xfrm xmlns:a="http://schemas.openxmlformats.org/drawingml/2006/main">
            <a:off x="497205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branch 안에서도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alignment를 따로</a:t>
            </a:r>
          </a:p>
          <a:p xmlns:a="http://schemas.openxmlformats.org/drawingml/2006/main">
            <a:pPr algn="l">
              <a:defRPr sz="1200" b="0">
                <a:solidFill>
                  <a:srgbClr val="132024"/>
                </a:solidFill>
              </a:defRPr>
            </a:pPr>
            <a:r>
              <a:rPr sz="1200" b="0">
                <a:solidFill>
                  <a:srgbClr val="132024"/>
                </a:solidFill>
              </a:rPr>
              <a:t>볼 수 있다.</a:t>
            </a:r>
          </a:p>
        </p:txBody>
      </p:sp>
      <p:sp>
        <p:nvSpPr>
          <p:cNvPr id="23" name="">
            <a:extLst xmlns:a="http://schemas.openxmlformats.org/drawingml/2006/main">
              <a:ext uri="{FF2B5EF4-FFF2-40B4-BE49-F238E27FC236}">
                <a16:creationId xmlns:a16="http://schemas.microsoft.com/office/drawing/2014/main" id="{0533505E-7421-4C86-842C-200546272340}"/>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80A9D6A6-F037-4D9B-9FD5-C181D8D10C95}"/>
              </a:ext>
            </a:extLst>
          </p:cNvPr>
          <p:cNvSpPr>
            <a:spLocks xmlns:a="http://schemas.openxmlformats.org/drawingml/2006/main" noGrp="1"/>
          </p:cNvSpPr>
          <p:nvPr/>
        </p:nvSpPr>
        <p:spPr>
          <a:xfrm xmlns:a="http://schemas.openxmlformats.org/drawingml/2006/main">
            <a:off x="8820150" y="2305050"/>
            <a:ext cx="26670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45C3B393-ED53-4EC1-AF3C-F91B9FC55A36}"/>
              </a:ext>
            </a:extLst>
          </p:cNvPr>
          <p:cNvSpPr>
            <a:spLocks xmlns:a="http://schemas.openxmlformats.org/drawingml/2006/main" noGrp="1"/>
          </p:cNvSpPr>
          <p:nvPr/>
        </p:nvSpPr>
        <p:spPr>
          <a:xfrm xmlns:a="http://schemas.openxmlformats.org/drawingml/2006/main">
            <a:off x="8877300" y="2362200"/>
            <a:ext cx="25527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9B2F9FB7-DCDE-4FE8-9CAC-5566759BDD87}"/>
              </a:ext>
            </a:extLst>
          </p:cNvPr>
          <p:cNvSpPr>
            <a:spLocks xmlns:a="http://schemas.openxmlformats.org/drawingml/2006/main" noGrp="1"/>
          </p:cNvSpPr>
          <p:nvPr/>
        </p:nvSpPr>
        <p:spPr>
          <a:xfrm xmlns:a="http://schemas.openxmlformats.org/drawingml/2006/main">
            <a:off x="9029700" y="249555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readout로 닫힌다</a:t>
            </a:r>
          </a:p>
        </p:txBody>
      </p:sp>
      <p:sp>
        <p:nvSpPr>
          <p:cNvPr id="27" name="">
            <a:extLst xmlns:a="http://schemas.openxmlformats.org/drawingml/2006/main">
              <a:ext uri="{FF2B5EF4-FFF2-40B4-BE49-F238E27FC236}">
                <a16:creationId xmlns:a16="http://schemas.microsoft.com/office/drawing/2014/main" id="{D2033981-D02C-46B2-B129-9D6206E3E599}"/>
              </a:ext>
            </a:extLst>
          </p:cNvPr>
          <p:cNvSpPr>
            <a:spLocks xmlns:a="http://schemas.openxmlformats.org/drawingml/2006/main" noGrp="1"/>
          </p:cNvSpPr>
          <p:nvPr/>
        </p:nvSpPr>
        <p:spPr>
          <a:xfrm xmlns:a="http://schemas.openxmlformats.org/drawingml/2006/main">
            <a:off x="9029700" y="2914650"/>
            <a:ext cx="22479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결국 protocol choice가</a:t>
            </a:r>
          </a:p>
          <a:p xmlns:a="http://schemas.openxmlformats.org/drawingml/2006/main">
            <a:pPr algn="l">
              <a:defRPr sz="1200" b="0">
                <a:solidFill>
                  <a:srgbClr val="132024"/>
                </a:solidFill>
              </a:defRPr>
            </a:pPr>
            <a:r>
              <a:rPr sz="1200" b="0">
                <a:solidFill>
                  <a:srgbClr val="132024"/>
                </a:solidFill>
              </a:rPr>
              <a:t>readout-first rule로</a:t>
            </a:r>
          </a:p>
          <a:p xmlns:a="http://schemas.openxmlformats.org/drawingml/2006/main">
            <a:pPr algn="l">
              <a:defRPr sz="1200" b="0">
                <a:solidFill>
                  <a:srgbClr val="132024"/>
                </a:solidFill>
              </a:defRPr>
            </a:pPr>
            <a:r>
              <a:rPr sz="1200" b="0">
                <a:solidFill>
                  <a:srgbClr val="132024"/>
                </a:solidFill>
              </a:rPr>
              <a:t>이동하면서 발표의 결론을 만들 수 있다.</a:t>
            </a:r>
          </a:p>
        </p:txBody>
      </p:sp>
      <p:sp>
        <p:nvSpPr>
          <p:cNvPr id="28" name="">
            <a:extLst xmlns:a="http://schemas.openxmlformats.org/drawingml/2006/main">
              <a:ext uri="{FF2B5EF4-FFF2-40B4-BE49-F238E27FC236}">
                <a16:creationId xmlns:a16="http://schemas.microsoft.com/office/drawing/2014/main" id="{C2C30D9B-BC86-4C4F-9C74-E2F135DE7951}"/>
              </a:ext>
            </a:extLst>
          </p:cNvPr>
          <p:cNvSpPr>
            <a:spLocks xmlns:a="http://schemas.openxmlformats.org/drawingml/2006/main" noGrp="1"/>
          </p:cNvSpPr>
          <p:nvPr/>
        </p:nvSpPr>
        <p:spPr>
          <a:xfrm xmlns:a="http://schemas.openxmlformats.org/drawingml/2006/main">
            <a:off x="723900" y="5029200"/>
            <a:ext cx="107442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C28CE52D-4B28-464D-943B-FA27BD3DE3A8}"/>
              </a:ext>
            </a:extLst>
          </p:cNvPr>
          <p:cNvSpPr>
            <a:spLocks xmlns:a="http://schemas.openxmlformats.org/drawingml/2006/main" noGrp="1"/>
          </p:cNvSpPr>
          <p:nvPr/>
        </p:nvSpPr>
        <p:spPr>
          <a:xfrm xmlns:a="http://schemas.openxmlformats.org/drawingml/2006/main">
            <a:off x="771525" y="50768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B91FB715-5D40-410B-9D8C-0BEB3424BA17}"/>
              </a:ext>
            </a:extLst>
          </p:cNvPr>
          <p:cNvSpPr>
            <a:spLocks xmlns:a="http://schemas.openxmlformats.org/drawingml/2006/main" noGrp="1"/>
          </p:cNvSpPr>
          <p:nvPr/>
        </p:nvSpPr>
        <p:spPr>
          <a:xfrm xmlns:a="http://schemas.openxmlformats.org/drawingml/2006/main">
            <a:off x="933450" y="5181600"/>
            <a:ext cx="103632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brain branch는 protocol family -&gt; benchmark -&gt; readout이 한 흐름으로 이어져, 질문이 이동하는 과정을 가장 선명하게 보여준다.</a:t>
            </a:r>
          </a:p>
        </p:txBody>
      </p:sp>
      <p:sp>
        <p:nvSpPr>
          <p:cNvPr id="31" name="">
            <a:extLst xmlns:a="http://schemas.openxmlformats.org/drawingml/2006/main">
              <a:ext uri="{FF2B5EF4-FFF2-40B4-BE49-F238E27FC236}">
                <a16:creationId xmlns:a16="http://schemas.microsoft.com/office/drawing/2014/main" id="{89EF4800-7B30-4495-8DB8-103816E88AD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그래서 organoid collection 전체 중에서도 brain branch가 발표 사례로 가장 적합했다.</a:t>
            </a:r>
          </a:p>
        </p:txBody>
      </p:sp>
    </p:spTree>
    <p:extLst>
      <p:ext uri="{BB962C8B-B14F-4D97-AF65-F5344CB8AC3E}">
        <p14:creationId xmlns:p14="http://schemas.microsoft.com/office/powerpoint/2010/main" val="1269731943"/>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774a2cb35a4e07"/>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683C6F5-27F0-4811-A944-9659366D8EC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BF95AAF-1930-4B83-8FCF-A662D37AD4F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173477E-3F85-43FE-B2B9-5B528D3D084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3B8D3A4C-0BE7-4DB9-BD30-2ECAB9BB8A3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FC2FB44-33F2-46D7-ABB7-EF3092DB063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FE3682DC-E452-4499-9194-8017B28C615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2DF7DA3-2F60-495F-82BB-54F72E9DE85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43B9902C-17AE-4052-ABD2-0F3585E257D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13</a:t>
            </a:r>
          </a:p>
        </p:txBody>
      </p:sp>
      <p:sp>
        <p:nvSpPr>
          <p:cNvPr id="11" name="">
            <a:extLst xmlns:a="http://schemas.openxmlformats.org/drawingml/2006/main">
              <a:ext uri="{FF2B5EF4-FFF2-40B4-BE49-F238E27FC236}">
                <a16:creationId xmlns:a16="http://schemas.microsoft.com/office/drawing/2014/main" id="{8FFC2E43-47FF-471F-BDB8-82C666271150}"/>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D0960E9-0305-43A5-B70A-60A5791B4014}"/>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CA1E7A28-79BB-4442-8562-9AC8BF93C30A}"/>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1차 질문: 어떤 brain subregion</a:t>
            </a:r>
          </a:p>
          <a:p xmlns:a="http://schemas.openxmlformats.org/drawingml/2006/main">
            <a:pPr algn="l">
              <a:defRPr sz="2700" b="1">
                <a:solidFill>
                  <a:srgbClr val="132024"/>
                </a:solidFill>
              </a:defRPr>
            </a:pPr>
            <a:r>
              <a:rPr sz="2700" b="1">
                <a:solidFill>
                  <a:srgbClr val="132024"/>
                </a:solidFill>
              </a:rPr>
              <a:t>프로토콜을 비교해야 하는가</a:t>
            </a:r>
          </a:p>
        </p:txBody>
      </p:sp>
      <p:sp>
        <p:nvSpPr>
          <p:cNvPr id="14" name="">
            <a:extLst xmlns:a="http://schemas.openxmlformats.org/drawingml/2006/main">
              <a:ext uri="{FF2B5EF4-FFF2-40B4-BE49-F238E27FC236}">
                <a16:creationId xmlns:a16="http://schemas.microsoft.com/office/drawing/2014/main" id="{DF4F082A-2EDA-4217-9414-11EC951E49D1}"/>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2C36C98A-7A1C-45CD-91C5-7AAB22186FF0}"/>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7344F9EC-8F24-4CA5-A24E-EF3F167202B6}"/>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출발 질문</a:t>
            </a:r>
          </a:p>
        </p:txBody>
      </p:sp>
      <p:sp>
        <p:nvSpPr>
          <p:cNvPr id="17" name="">
            <a:extLst xmlns:a="http://schemas.openxmlformats.org/drawingml/2006/main">
              <a:ext uri="{FF2B5EF4-FFF2-40B4-BE49-F238E27FC236}">
                <a16:creationId xmlns:a16="http://schemas.microsoft.com/office/drawing/2014/main" id="{F6688E53-B038-4091-9DF2-B27D298C7656}"/>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forebrain,</a:t>
            </a:r>
          </a:p>
          <a:p xmlns:a="http://schemas.openxmlformats.org/drawingml/2006/main">
            <a:pPr algn="l">
              <a:defRPr sz="1200" b="0">
                <a:solidFill>
                  <a:srgbClr val="132024"/>
                </a:solidFill>
              </a:defRPr>
            </a:pPr>
            <a:r>
              <a:rPr sz="1200" b="0">
                <a:solidFill>
                  <a:srgbClr val="132024"/>
                </a:solidFill>
              </a:rPr>
              <a:t>posterior/niche 중 어떤 branch가</a:t>
            </a:r>
          </a:p>
          <a:p xmlns:a="http://schemas.openxmlformats.org/drawingml/2006/main">
            <a:pPr algn="l">
              <a:defRPr sz="1200" b="0">
                <a:solidFill>
                  <a:srgbClr val="132024"/>
                </a:solidFill>
              </a:defRPr>
            </a:pPr>
            <a:r>
              <a:rPr sz="1200" b="0">
                <a:solidFill>
                  <a:srgbClr val="132024"/>
                </a:solidFill>
              </a:rPr>
              <a:t>맞는가?</a:t>
            </a:r>
          </a:p>
        </p:txBody>
      </p:sp>
      <p:sp>
        <p:nvSpPr>
          <p:cNvPr id="18" name="">
            <a:extLst xmlns:a="http://schemas.openxmlformats.org/drawingml/2006/main">
              <a:ext uri="{FF2B5EF4-FFF2-40B4-BE49-F238E27FC236}">
                <a16:creationId xmlns:a16="http://schemas.microsoft.com/office/drawing/2014/main" id="{3F57D961-C1E4-4C95-86D4-B75FCD3A8780}"/>
              </a:ext>
            </a:extLst>
          </p:cNvPr>
          <p:cNvSpPr>
            <a:spLocks xmlns:a="http://schemas.openxmlformats.org/drawingml/2006/main" noGrp="1"/>
          </p:cNvSpPr>
          <p:nvPr/>
        </p:nvSpPr>
        <p:spPr>
          <a:xfrm xmlns:a="http://schemas.openxmlformats.org/drawingml/2006/main">
            <a:off x="685800" y="36385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D1E849EC-DF55-4D4B-BE91-C294950300A1}"/>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E676B04-4D22-40C8-9C7F-3079CC275645}"/>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F38EF7CC-B0B5-4668-BDB8-BCE6F6003D10}"/>
              </a:ext>
            </a:extLst>
          </p:cNvPr>
          <p:cNvSpPr>
            <a:spLocks xmlns:a="http://schemas.openxmlformats.org/drawingml/2006/main" noGrp="1"/>
          </p:cNvSpPr>
          <p:nvPr/>
        </p:nvSpPr>
        <p:spPr>
          <a:xfrm xmlns:a="http://schemas.openxmlformats.org/drawingml/2006/main">
            <a:off x="895350" y="42481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Lancaster, Sloan,</a:t>
            </a:r>
          </a:p>
          <a:p xmlns:a="http://schemas.openxmlformats.org/drawingml/2006/main">
            <a:pPr algn="l">
              <a:defRPr sz="1200" b="0">
                <a:solidFill>
                  <a:srgbClr val="132024"/>
                </a:solidFill>
              </a:defRPr>
            </a:pPr>
            <a:r>
              <a:rPr sz="1200" b="0">
                <a:solidFill>
                  <a:srgbClr val="132024"/>
                </a:solidFill>
              </a:rPr>
              <a:t>Fitzgerald, Zagare 등 주요</a:t>
            </a:r>
          </a:p>
          <a:p xmlns:a="http://schemas.openxmlformats.org/drawingml/2006/main">
            <a:pPr algn="l">
              <a:defRPr sz="1200" b="0">
                <a:solidFill>
                  <a:srgbClr val="132024"/>
                </a:solidFill>
              </a:defRPr>
            </a:pPr>
            <a:r>
              <a:rPr sz="1200" b="0">
                <a:solidFill>
                  <a:srgbClr val="132024"/>
                </a:solidFill>
              </a:rPr>
              <a:t>protocol paper</a:t>
            </a:r>
          </a:p>
        </p:txBody>
      </p:sp>
      <p:sp>
        <p:nvSpPr>
          <p:cNvPr id="22" name="">
            <a:extLst xmlns:a="http://schemas.openxmlformats.org/drawingml/2006/main">
              <a:ext uri="{FF2B5EF4-FFF2-40B4-BE49-F238E27FC236}">
                <a16:creationId xmlns:a16="http://schemas.microsoft.com/office/drawing/2014/main" id="{FDF12410-007A-4914-A388-38BA65A3BF37}"/>
              </a:ext>
            </a:extLst>
          </p:cNvPr>
          <p:cNvSpPr>
            <a:spLocks xmlns:a="http://schemas.openxmlformats.org/drawingml/2006/main" noGrp="1"/>
          </p:cNvSpPr>
          <p:nvPr/>
        </p:nvSpPr>
        <p:spPr>
          <a:xfrm xmlns:a="http://schemas.openxmlformats.org/drawingml/2006/main">
            <a:off x="685800" y="5162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63072F4-8485-46B6-A47E-001632C1AC94}"/>
              </a:ext>
            </a:extLst>
          </p:cNvPr>
          <p:cNvSpPr>
            <a:spLocks xmlns:a="http://schemas.openxmlformats.org/drawingml/2006/main" noGrp="1"/>
          </p:cNvSpPr>
          <p:nvPr/>
        </p:nvSpPr>
        <p:spPr>
          <a:xfrm xmlns:a="http://schemas.openxmlformats.org/drawingml/2006/main">
            <a:off x="742950" y="52197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1F51F1AD-A06E-4A71-A844-277F9F673DB6}"/>
              </a:ext>
            </a:extLst>
          </p:cNvPr>
          <p:cNvSpPr>
            <a:spLocks xmlns:a="http://schemas.openxmlformats.org/drawingml/2006/main" noGrp="1"/>
          </p:cNvSpPr>
          <p:nvPr/>
        </p:nvSpPr>
        <p:spPr>
          <a:xfrm xmlns:a="http://schemas.openxmlformats.org/drawingml/2006/main">
            <a:off x="895350" y="5353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1차 해석</a:t>
            </a:r>
          </a:p>
        </p:txBody>
      </p:sp>
      <p:sp>
        <p:nvSpPr>
          <p:cNvPr id="25" name="">
            <a:extLst xmlns:a="http://schemas.openxmlformats.org/drawingml/2006/main">
              <a:ext uri="{FF2B5EF4-FFF2-40B4-BE49-F238E27FC236}">
                <a16:creationId xmlns:a16="http://schemas.microsoft.com/office/drawing/2014/main" id="{B2E8C80E-D149-438A-88CA-9F2AC89334C3}"/>
              </a:ext>
            </a:extLst>
          </p:cNvPr>
          <p:cNvSpPr>
            <a:spLocks xmlns:a="http://schemas.openxmlformats.org/drawingml/2006/main" noGrp="1"/>
          </p:cNvSpPr>
          <p:nvPr/>
        </p:nvSpPr>
        <p:spPr>
          <a:xfrm xmlns:a="http://schemas.openxmlformats.org/drawingml/2006/main">
            <a:off x="895350" y="5772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1차 결론: 우선 subregion</a:t>
            </a:r>
          </a:p>
          <a:p xmlns:a="http://schemas.openxmlformats.org/drawingml/2006/main">
            <a:pPr algn="l">
              <a:defRPr sz="1200" b="0">
                <a:solidFill>
                  <a:srgbClr val="132024"/>
                </a:solidFill>
              </a:defRPr>
            </a:pPr>
            <a:r>
              <a:rPr sz="1200" b="0">
                <a:solidFill>
                  <a:srgbClr val="132024"/>
                </a:solidFill>
              </a:rPr>
              <a:t>selection 문제로 읽었다.</a:t>
            </a:r>
          </a:p>
        </p:txBody>
      </p:sp>
      <p:sp>
        <p:nvSpPr>
          <p:cNvPr id="26" name="">
            <a:extLst xmlns:a="http://schemas.openxmlformats.org/drawingml/2006/main">
              <a:ext uri="{FF2B5EF4-FFF2-40B4-BE49-F238E27FC236}">
                <a16:creationId xmlns:a16="http://schemas.microsoft.com/office/drawing/2014/main" id="{D765B249-574F-4064-89DD-F84A0751E31F}"/>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8D52DE2-EB1B-4A7C-B8A7-627AFBED4DEC}"/>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A11072EA-0F6C-478D-AC11-597A6C2759FC}"/>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14D6DF6B-C6B7-403E-B845-854030C97CC1}"/>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D557BA42-A1D4-4477-B9A1-9377FEBDF8B6}"/>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527C50B7-FA22-4DF9-BCDE-013E0FC20F38}"/>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collections/organoid/wiki/queries/20260408_174047_brain-subregion-protocol-comparison.md</a:t>
            </a:r>
          </a:p>
        </p:txBody>
      </p:sp>
      <p:sp>
        <p:nvSpPr>
          <p:cNvPr id="32" name="">
            <a:extLst xmlns:a="http://schemas.openxmlformats.org/drawingml/2006/main">
              <a:ext uri="{FF2B5EF4-FFF2-40B4-BE49-F238E27FC236}">
                <a16:creationId xmlns:a16="http://schemas.microsoft.com/office/drawing/2014/main" id="{756A7562-2829-42C7-B3E4-AC60E5E952C0}"/>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Q1 here</a:t>
            </a:r>
          </a:p>
        </p:txBody>
      </p:sp>
      <p:sp>
        <p:nvSpPr>
          <p:cNvPr id="33" name="">
            <a:extLst xmlns:a="http://schemas.openxmlformats.org/drawingml/2006/main">
              <a:ext uri="{FF2B5EF4-FFF2-40B4-BE49-F238E27FC236}">
                <a16:creationId xmlns:a16="http://schemas.microsoft.com/office/drawing/2014/main" id="{233A812D-4324-45AB-AC1F-BCC43ED4974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Q1 query note의 Obsidian local graph를 삽입하면 된다.</a:t>
            </a:r>
          </a:p>
        </p:txBody>
      </p:sp>
    </p:spTree>
    <p:extLst>
      <p:ext uri="{BB962C8B-B14F-4D97-AF65-F5344CB8AC3E}">
        <p14:creationId xmlns:p14="http://schemas.microsoft.com/office/powerpoint/2010/main" val="264649173"/>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e943559d284485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C8E08E9-AE0C-41CB-BD4D-F4BA781B01B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DE0BB65-29B5-4C9E-8FF0-48D1A3C332B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6543348-A665-48A8-9A38-DA3E0846206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4321B4E-11D5-41CE-9FE1-95913417A8C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849CCD5-B084-4083-A76E-9A71833C3C3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6FCF2EEB-750C-4CCF-992A-80147F229A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30A84AF-7357-44B1-9440-5FD099B64A8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C0420D79-EA4D-4214-8A99-E522BF7FD9E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13</a:t>
            </a:r>
          </a:p>
        </p:txBody>
      </p:sp>
      <p:sp>
        <p:nvSpPr>
          <p:cNvPr id="11" name="">
            <a:extLst xmlns:a="http://schemas.openxmlformats.org/drawingml/2006/main">
              <a:ext uri="{FF2B5EF4-FFF2-40B4-BE49-F238E27FC236}">
                <a16:creationId xmlns:a16="http://schemas.microsoft.com/office/drawing/2014/main" id="{5104647A-A2F1-40AB-ADCF-FE438B43D14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43B211E-DBE3-46EF-B10F-B50511C5286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27734A0-1087-4849-864B-65EBE9FC035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 질문은 subregion selection으로</a:t>
            </a:r>
          </a:p>
          <a:p xmlns:a="http://schemas.openxmlformats.org/drawingml/2006/main">
            <a:pPr algn="l">
              <a:defRPr sz="2850" b="1">
                <a:solidFill>
                  <a:srgbClr val="132024"/>
                </a:solidFill>
              </a:defRPr>
            </a:pPr>
            <a:r>
              <a:rPr sz="2850" b="1">
                <a:solidFill>
                  <a:srgbClr val="132024"/>
                </a:solidFill>
              </a:rPr>
              <a:t>정리될 수 있었다</a:t>
            </a:r>
          </a:p>
        </p:txBody>
      </p:sp>
      <p:sp>
        <p:nvSpPr>
          <p:cNvPr id="14" name="">
            <a:extLst xmlns:a="http://schemas.openxmlformats.org/drawingml/2006/main">
              <a:ext uri="{FF2B5EF4-FFF2-40B4-BE49-F238E27FC236}">
                <a16:creationId xmlns:a16="http://schemas.microsoft.com/office/drawing/2014/main" id="{A94AF0F8-1EDA-4AB4-9D98-2E6AF3FC4385}"/>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A802B84-902B-45B5-A468-B90748E3121B}"/>
              </a:ext>
            </a:extLst>
          </p:cNvPr>
          <p:cNvSpPr>
            <a:spLocks xmlns:a="http://schemas.openxmlformats.org/drawingml/2006/main" noGrp="1"/>
          </p:cNvSpPr>
          <p:nvPr/>
        </p:nvSpPr>
        <p:spPr>
          <a:xfrm xmlns:a="http://schemas.openxmlformats.org/drawingml/2006/main">
            <a:off x="800100" y="2266950"/>
            <a:ext cx="3200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6FCA8E40-526F-466B-BEDA-C1AF5C261807}"/>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3A97C2F6-E769-4484-8AC4-969E4991D290}"/>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EBB82A23-86BD-40E0-8841-719ADF7DEF53}"/>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94A56558-2C33-4C54-87AD-700440587666}"/>
              </a:ext>
            </a:extLst>
          </p:cNvPr>
          <p:cNvSpPr>
            <a:spLocks xmlns:a="http://schemas.openxmlformats.org/drawingml/2006/main" noGrp="1"/>
          </p:cNvSpPr>
          <p:nvPr/>
        </p:nvSpPr>
        <p:spPr>
          <a:xfrm xmlns:a="http://schemas.openxmlformats.org/drawingml/2006/main">
            <a:off x="4495800" y="2266950"/>
            <a:ext cx="3200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B381B982-4C6D-4207-B189-3273A336DDFC}"/>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E3CEE4C2-F40C-4875-97CD-DFA39581DA1C}"/>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FCD3E3D8-9F85-45F2-ADF5-D0D414CD8CC9}"/>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0452906-5304-4329-B7B9-E6A165CBE012}"/>
              </a:ext>
            </a:extLst>
          </p:cNvPr>
          <p:cNvSpPr>
            <a:spLocks xmlns:a="http://schemas.openxmlformats.org/drawingml/2006/main" noGrp="1"/>
          </p:cNvSpPr>
          <p:nvPr/>
        </p:nvSpPr>
        <p:spPr>
          <a:xfrm xmlns:a="http://schemas.openxmlformats.org/drawingml/2006/main">
            <a:off x="8191500" y="2266950"/>
            <a:ext cx="3200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7BEDF20E-67F4-4C47-84F0-42B6BB77E6DD}"/>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96044008-1DE9-4DA3-AADF-4AC4783C2C60}"/>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0299376E-B934-4C5A-9787-93CEABFAD357}"/>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F27E9551-9B01-4557-A5AE-3C1FBF832521}"/>
              </a:ext>
            </a:extLst>
          </p:cNvPr>
          <p:cNvSpPr>
            <a:spLocks xmlns:a="http://schemas.openxmlformats.org/drawingml/2006/main" noGrp="1"/>
          </p:cNvSpPr>
          <p:nvPr/>
        </p:nvSpPr>
        <p:spPr>
          <a:xfrm xmlns:a="http://schemas.openxmlformats.org/drawingml/2006/main">
            <a:off x="904875" y="5400675"/>
            <a:ext cx="57150" cy="6096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A4A3639-D69A-49A5-87E6-51401F31A324}"/>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5D9BB1F2-8283-4928-B988-C49E37CF1E0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573929164"/>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07f2a5f1105435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4122EC9-F9A4-41F8-929D-BD93BB7EFBD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DDF32AB2-B0B1-4BDE-861B-1C5E6DB4864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A478C05-9507-4071-8D37-FE5225AF4F3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701600E-698E-40CB-864F-A3BC19E877E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5A09633A-AEFE-44E6-8A50-B219ADF9777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8A2E0A4-B36C-45BB-851F-1CAB310ABA3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E3092CF-C141-4B2B-9CB5-C0F9EB43986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9F3D3DEF-4D61-4F14-861E-3E93724BBB0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13</a:t>
            </a:r>
          </a:p>
        </p:txBody>
      </p:sp>
      <p:sp>
        <p:nvSpPr>
          <p:cNvPr id="11" name="">
            <a:extLst xmlns:a="http://schemas.openxmlformats.org/drawingml/2006/main">
              <a:ext uri="{FF2B5EF4-FFF2-40B4-BE49-F238E27FC236}">
                <a16:creationId xmlns:a16="http://schemas.microsoft.com/office/drawing/2014/main" id="{C474548E-7C2D-4F0E-9A52-79BDBC77CE5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278E476-E436-470D-B97E-5B8257F9E90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614BF3DA-1848-4E2F-BAD0-20D4FCAF87F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같은 subregion이어도</a:t>
            </a:r>
          </a:p>
          <a:p xmlns:a="http://schemas.openxmlformats.org/drawingml/2006/main">
            <a:pPr algn="l">
              <a:defRPr sz="2850" b="1">
                <a:solidFill>
                  <a:srgbClr val="132024"/>
                </a:solidFill>
              </a:defRPr>
            </a:pPr>
            <a:r>
              <a:rPr sz="2850" b="1">
                <a:solidFill>
                  <a:srgbClr val="132024"/>
                </a:solidFill>
              </a:rPr>
              <a:t>같은 모델은 아니었다</a:t>
            </a:r>
          </a:p>
        </p:txBody>
      </p:sp>
      <p:sp>
        <p:nvSpPr>
          <p:cNvPr id="14" name="">
            <a:extLst xmlns:a="http://schemas.openxmlformats.org/drawingml/2006/main">
              <a:ext uri="{FF2B5EF4-FFF2-40B4-BE49-F238E27FC236}">
                <a16:creationId xmlns:a16="http://schemas.microsoft.com/office/drawing/2014/main" id="{8A33F9B6-3F09-4DDA-9EF2-1C97DA27A095}"/>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6A4E5E8-A1B0-4FA8-B12A-17CBEEE589B9}"/>
              </a:ext>
            </a:extLst>
          </p:cNvPr>
          <p:cNvSpPr>
            <a:spLocks xmlns:a="http://schemas.openxmlformats.org/drawingml/2006/main" noGrp="1"/>
          </p:cNvSpPr>
          <p:nvPr/>
        </p:nvSpPr>
        <p:spPr>
          <a:xfrm xmlns:a="http://schemas.openxmlformats.org/drawingml/2006/main">
            <a:off x="847725" y="2181225"/>
            <a:ext cx="57150" cy="876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151FF360-BD21-43E3-A06A-7C9FE5AAE421}"/>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DC2D7293-CFC8-4877-A349-7EF7CB47EBFF}"/>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10B38CDB-C026-462C-9721-4E9AECC24E2F}"/>
              </a:ext>
            </a:extLst>
          </p:cNvPr>
          <p:cNvSpPr>
            <a:spLocks xmlns:a="http://schemas.openxmlformats.org/drawingml/2006/main" noGrp="1"/>
          </p:cNvSpPr>
          <p:nvPr/>
        </p:nvSpPr>
        <p:spPr>
          <a:xfrm xmlns:a="http://schemas.openxmlformats.org/drawingml/2006/main">
            <a:off x="857250" y="369570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4A9E2D3E-75B2-4CEB-A8D1-7EFB6BE926EF}"/>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1AA6BDA4-70F0-47C4-A653-91B4C1C4DC03}"/>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8D8BFB4E-AD18-41BD-B26E-C3B9BED645AD}"/>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BEF828AE-7194-475E-89D7-25558607B7C8}"/>
              </a:ext>
            </a:extLst>
          </p:cNvPr>
          <p:cNvSpPr>
            <a:spLocks xmlns:a="http://schemas.openxmlformats.org/drawingml/2006/main" noGrp="1"/>
          </p:cNvSpPr>
          <p:nvPr/>
        </p:nvSpPr>
        <p:spPr>
          <a:xfrm xmlns:a="http://schemas.openxmlformats.org/drawingml/2006/main">
            <a:off x="4572000" y="369570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3A384E2A-F336-4385-9338-0E24CED61FA7}"/>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7A5E2CD3-2725-47DF-BD51-EF3BE6B27493}"/>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8D54A6A7-85CF-466C-B93D-66CC9C405812}"/>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34E3993B-7424-44B5-A4BD-3C777EE00B0D}"/>
              </a:ext>
            </a:extLst>
          </p:cNvPr>
          <p:cNvSpPr>
            <a:spLocks xmlns:a="http://schemas.openxmlformats.org/drawingml/2006/main" noGrp="1"/>
          </p:cNvSpPr>
          <p:nvPr/>
        </p:nvSpPr>
        <p:spPr>
          <a:xfrm xmlns:a="http://schemas.openxmlformats.org/drawingml/2006/main">
            <a:off x="8286750" y="369570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89D9657-B6D1-455C-8912-AFE174CD4191}"/>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60A4A721-AC0E-46EF-A7D8-684793D9944F}"/>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3A756CA5-F833-4C16-8A1D-E6A55840CAA6}"/>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B17DAD6D-FE6F-43CE-BA7D-490C4A0ED3F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1206462675"/>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70a0e88972c488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0023030-2795-412F-B16D-3315C26382A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1C1B59C-80C8-4735-8761-62A6E9F3952D}"/>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942B764-815D-4CEE-8039-5C6E7684F4E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613AEAC-762D-47DE-9268-6C65AB92701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91E8707A-D36F-48CB-9C94-1812218A6C9D}"/>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C5D4574-39C0-45AA-B2B9-AC61AEDBD4B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9505730-12D8-4CF5-BD68-8B02C5500D8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B0194C58-F8BE-4E95-B72B-CF1D952719E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13</a:t>
            </a:r>
          </a:p>
        </p:txBody>
      </p:sp>
      <p:sp>
        <p:nvSpPr>
          <p:cNvPr id="11" name="">
            <a:extLst xmlns:a="http://schemas.openxmlformats.org/drawingml/2006/main">
              <a:ext uri="{FF2B5EF4-FFF2-40B4-BE49-F238E27FC236}">
                <a16:creationId xmlns:a16="http://schemas.microsoft.com/office/drawing/2014/main" id="{FD69F9E3-375A-44D6-BE88-B929FFB9CEE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4C79379-D3C4-40D3-A633-EF2C124F1D56}"/>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4C517A0-0E11-42CA-ABE0-5ECE119B2750}"/>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2차 질문: region 말고</a:t>
            </a:r>
          </a:p>
          <a:p xmlns:a="http://schemas.openxmlformats.org/drawingml/2006/main">
            <a:pPr algn="l">
              <a:defRPr sz="2700" b="1">
                <a:solidFill>
                  <a:srgbClr val="132024"/>
                </a:solidFill>
              </a:defRPr>
            </a:pPr>
            <a:r>
              <a:rPr sz="2700" b="1">
                <a:solidFill>
                  <a:srgbClr val="132024"/>
                </a:solidFill>
              </a:rPr>
              <a:t>무엇을 따로 benchmark해야 하는가</a:t>
            </a:r>
          </a:p>
        </p:txBody>
      </p:sp>
      <p:sp>
        <p:nvSpPr>
          <p:cNvPr id="14" name="">
            <a:extLst xmlns:a="http://schemas.openxmlformats.org/drawingml/2006/main">
              <a:ext uri="{FF2B5EF4-FFF2-40B4-BE49-F238E27FC236}">
                <a16:creationId xmlns:a16="http://schemas.microsoft.com/office/drawing/2014/main" id="{B870BE64-9CDB-4629-AE19-22E7942872E9}"/>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3EDA52AF-8F5C-4C32-B054-EAF54505EF20}"/>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3DB19D8-EF2E-45C8-972F-3A4DAE0A31ED}"/>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새로 붙은 질문</a:t>
            </a:r>
          </a:p>
        </p:txBody>
      </p:sp>
      <p:sp>
        <p:nvSpPr>
          <p:cNvPr id="17" name="">
            <a:extLst xmlns:a="http://schemas.openxmlformats.org/drawingml/2006/main">
              <a:ext uri="{FF2B5EF4-FFF2-40B4-BE49-F238E27FC236}">
                <a16:creationId xmlns:a16="http://schemas.microsoft.com/office/drawing/2014/main" id="{CEB6C763-DDA4-4412-AA15-A44BF14A4D76}"/>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cortical branch라도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timing을 따로 물어야 하지 않는가?</a:t>
            </a:r>
          </a:p>
        </p:txBody>
      </p:sp>
      <p:sp>
        <p:nvSpPr>
          <p:cNvPr id="18" name="">
            <a:extLst xmlns:a="http://schemas.openxmlformats.org/drawingml/2006/main">
              <a:ext uri="{FF2B5EF4-FFF2-40B4-BE49-F238E27FC236}">
                <a16:creationId xmlns:a16="http://schemas.microsoft.com/office/drawing/2014/main" id="{EBE5B963-1C97-45CA-BC87-A30FB421ECAC}"/>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563FE9A8-E5F6-4F60-B8E3-050E71D2E543}"/>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B6A8C60A-6D00-420B-8C32-7D798CFD55E4}"/>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28C290C0-C8A8-4650-A53A-197A29D9C3BC}"/>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Yoon, Bhaduri,</a:t>
            </a:r>
          </a:p>
          <a:p xmlns:a="http://schemas.openxmlformats.org/drawingml/2006/main">
            <a:pPr algn="l">
              <a:defRPr sz="1200" b="0">
                <a:solidFill>
                  <a:srgbClr val="132024"/>
                </a:solidFill>
              </a:defRPr>
            </a:pPr>
            <a:r>
              <a:rPr sz="1200" b="0">
                <a:solidFill>
                  <a:srgbClr val="132024"/>
                </a:solidFill>
              </a:rPr>
              <a:t>Kanton, He</a:t>
            </a:r>
          </a:p>
        </p:txBody>
      </p:sp>
      <p:sp>
        <p:nvSpPr>
          <p:cNvPr id="22" name="">
            <a:extLst xmlns:a="http://schemas.openxmlformats.org/drawingml/2006/main">
              <a:ext uri="{FF2B5EF4-FFF2-40B4-BE49-F238E27FC236}">
                <a16:creationId xmlns:a16="http://schemas.microsoft.com/office/drawing/2014/main" id="{FCA4D1FA-7580-49E1-A617-EC67FF17862C}"/>
              </a:ext>
            </a:extLst>
          </p:cNvPr>
          <p:cNvSpPr>
            <a:spLocks xmlns:a="http://schemas.openxmlformats.org/drawingml/2006/main" noGrp="1"/>
          </p:cNvSpPr>
          <p:nvPr/>
        </p:nvSpPr>
        <p:spPr>
          <a:xfrm xmlns:a="http://schemas.openxmlformats.org/drawingml/2006/main">
            <a:off x="685800" y="49720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727CEB7F-BD7C-489D-A5D3-B776DE750A2A}"/>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55C3D7D-D904-4282-9B39-05CB727229C9}"/>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질문의 변화</a:t>
            </a:r>
          </a:p>
        </p:txBody>
      </p:sp>
      <p:sp>
        <p:nvSpPr>
          <p:cNvPr id="25" name="">
            <a:extLst xmlns:a="http://schemas.openxmlformats.org/drawingml/2006/main">
              <a:ext uri="{FF2B5EF4-FFF2-40B4-BE49-F238E27FC236}">
                <a16:creationId xmlns:a16="http://schemas.microsoft.com/office/drawing/2014/main" id="{4D2F2AA8-4919-46B9-9403-6DF698A19FC7}"/>
              </a:ext>
            </a:extLst>
          </p:cNvPr>
          <p:cNvSpPr>
            <a:spLocks xmlns:a="http://schemas.openxmlformats.org/drawingml/2006/main" noGrp="1"/>
          </p:cNvSpPr>
          <p:nvPr/>
        </p:nvSpPr>
        <p:spPr>
          <a:xfrm xmlns:a="http://schemas.openxmlformats.org/drawingml/2006/main">
            <a:off x="895350" y="55816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map 위에 benchmark</a:t>
            </a:r>
          </a:p>
          <a:p xmlns:a="http://schemas.openxmlformats.org/drawingml/2006/main">
            <a:pPr algn="l">
              <a:defRPr sz="1200" b="0">
                <a:solidFill>
                  <a:srgbClr val="132024"/>
                </a:solidFill>
              </a:defRPr>
            </a:pPr>
            <a:r>
              <a:rPr sz="1200" b="0">
                <a:solidFill>
                  <a:srgbClr val="132024"/>
                </a:solidFill>
              </a:rPr>
              <a:t>axis가 덧붙으면서 비교 기준이 완전히 달라졌다.</a:t>
            </a:r>
          </a:p>
        </p:txBody>
      </p:sp>
      <p:sp>
        <p:nvSpPr>
          <p:cNvPr id="26" name="">
            <a:extLst xmlns:a="http://schemas.openxmlformats.org/drawingml/2006/main">
              <a:ext uri="{FF2B5EF4-FFF2-40B4-BE49-F238E27FC236}">
                <a16:creationId xmlns:a16="http://schemas.microsoft.com/office/drawing/2014/main" id="{726A96E5-A562-48BD-94D6-76B5EE93B336}"/>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BE30EBA6-128E-44D8-A1B6-8AF0F7610D63}"/>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DD25E6D7-E3D0-44FA-A36F-77D1308E23C3}"/>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E5AD8ADF-0CCB-4996-8A73-D0A16C78088E}"/>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355B911A-01A5-4385-B319-63FBA4393001}"/>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5821597F-8C01-43E7-BDEF-49AD06BB7EDF}"/>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collections/organoid/wiki/queries/20260409_brain-protocol-maturation-synchronization.md</a:t>
            </a:r>
          </a:p>
        </p:txBody>
      </p:sp>
      <p:sp>
        <p:nvSpPr>
          <p:cNvPr id="32" name="">
            <a:extLst xmlns:a="http://schemas.openxmlformats.org/drawingml/2006/main">
              <a:ext uri="{FF2B5EF4-FFF2-40B4-BE49-F238E27FC236}">
                <a16:creationId xmlns:a16="http://schemas.microsoft.com/office/drawing/2014/main" id="{2974C348-C518-4E4F-84C3-119D2B3E9937}"/>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Q2 here</a:t>
            </a:r>
          </a:p>
        </p:txBody>
      </p:sp>
      <p:sp>
        <p:nvSpPr>
          <p:cNvPr id="33" name="">
            <a:extLst xmlns:a="http://schemas.openxmlformats.org/drawingml/2006/main">
              <a:ext uri="{FF2B5EF4-FFF2-40B4-BE49-F238E27FC236}">
                <a16:creationId xmlns:a16="http://schemas.microsoft.com/office/drawing/2014/main" id="{96B95A93-B6AB-4F6E-A7F5-D1C670578E7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Q2 query note의 Obsidian local graph를 삽입하면 된다.</a:t>
            </a:r>
          </a:p>
        </p:txBody>
      </p:sp>
    </p:spTree>
    <p:extLst>
      <p:ext uri="{BB962C8B-B14F-4D97-AF65-F5344CB8AC3E}">
        <p14:creationId xmlns:p14="http://schemas.microsoft.com/office/powerpoint/2010/main" val="1312374359"/>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a8acc5a3962427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901E18D-CB8B-472D-81D0-B076C13313D0}"/>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D41D64B-3EFC-4213-A931-88700E9FAD7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C5E937A-7F73-4C06-99E6-81C5B77BBD3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E431541A-D5AC-4E9F-9B53-C93AD75A04C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ABBF6899-5C3E-4BD9-9520-0C57C651FC9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B6650DB-55B6-400C-A2EC-18101E08B1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069474C-3D1A-4779-B68A-A102D320B27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1946DCC4-BC77-4F6E-8E9D-3579D637C91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13</a:t>
            </a:r>
          </a:p>
        </p:txBody>
      </p:sp>
      <p:sp>
        <p:nvSpPr>
          <p:cNvPr id="11" name="">
            <a:extLst xmlns:a="http://schemas.openxmlformats.org/drawingml/2006/main">
              <a:ext uri="{FF2B5EF4-FFF2-40B4-BE49-F238E27FC236}">
                <a16:creationId xmlns:a16="http://schemas.microsoft.com/office/drawing/2014/main" id="{A150B5A4-1004-4299-8472-EC77B512B55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1D2FCD6-0B1B-451A-B25F-8CDEE40F4AD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FB416A49-C1BE-4485-B206-645672384F9A}"/>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가장 중요한 분리:</a:t>
            </a:r>
          </a:p>
          <a:p xmlns:a="http://schemas.openxmlformats.org/drawingml/2006/main">
            <a:pPr algn="l">
              <a:defRPr sz="2850" b="1">
                <a:solidFill>
                  <a:srgbClr val="132024"/>
                </a:solidFill>
              </a:defRPr>
            </a:pPr>
            <a:r>
              <a:rPr sz="2850" b="1">
                <a:solidFill>
                  <a:srgbClr val="132024"/>
                </a:solidFill>
              </a:rPr>
              <a:t>reproducibility와 fidelity</a:t>
            </a:r>
          </a:p>
        </p:txBody>
      </p:sp>
      <p:sp>
        <p:nvSpPr>
          <p:cNvPr id="14" name="">
            <a:extLst xmlns:a="http://schemas.openxmlformats.org/drawingml/2006/main">
              <a:ext uri="{FF2B5EF4-FFF2-40B4-BE49-F238E27FC236}">
                <a16:creationId xmlns:a16="http://schemas.microsoft.com/office/drawing/2014/main" id="{6A923A38-A6C6-4C18-8BE7-BE2CC3ACB748}"/>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1344924-FF3E-4040-8F3A-42B601DF113A}"/>
              </a:ext>
            </a:extLst>
          </p:cNvPr>
          <p:cNvSpPr>
            <a:spLocks xmlns:a="http://schemas.openxmlformats.org/drawingml/2006/main" noGrp="1"/>
          </p:cNvSpPr>
          <p:nvPr/>
        </p:nvSpPr>
        <p:spPr>
          <a:xfrm xmlns:a="http://schemas.openxmlformats.org/drawingml/2006/main">
            <a:off x="790575" y="2047875"/>
            <a:ext cx="57150" cy="723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71119D6-75BE-438D-99B7-50F36DEB983C}"/>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FE40320E-77F6-4243-BA31-47D6F1A90C88}"/>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CBEF7357-0461-4022-A757-E09E39560516}"/>
              </a:ext>
            </a:extLst>
          </p:cNvPr>
          <p:cNvSpPr>
            <a:spLocks xmlns:a="http://schemas.openxmlformats.org/drawingml/2006/main" noGrp="1"/>
          </p:cNvSpPr>
          <p:nvPr/>
        </p:nvSpPr>
        <p:spPr>
          <a:xfrm xmlns:a="http://schemas.openxmlformats.org/drawingml/2006/main">
            <a:off x="933450" y="3333750"/>
            <a:ext cx="45148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FD8CA4A5-4A5C-42BE-9DDA-418B1A1E4BD0}"/>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525196D0-BA82-464F-8ABA-2E9F5E5425FD}"/>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607C4A90-37C5-440A-9E65-BF21C9ACC69E}"/>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D2D06A4E-0D42-46AE-A8C6-390D2116BC02}"/>
              </a:ext>
            </a:extLst>
          </p:cNvPr>
          <p:cNvSpPr>
            <a:spLocks xmlns:a="http://schemas.openxmlformats.org/drawingml/2006/main" noGrp="1"/>
          </p:cNvSpPr>
          <p:nvPr/>
        </p:nvSpPr>
        <p:spPr>
          <a:xfrm xmlns:a="http://schemas.openxmlformats.org/drawingml/2006/main">
            <a:off x="6724650" y="3333750"/>
            <a:ext cx="45148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6459C4D-26F3-4C43-9D8E-31A3D35D04C1}"/>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B36F00F4-0A39-4815-B847-B60074AC67A6}"/>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5BCB44EE-3B12-474C-B3DD-5576C16AF2A5}"/>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7B8F33AB-1484-4A1F-BAF6-7BFF33BB9CC5}"/>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3BE450F7-E497-4EE1-AC86-B9622B58932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427968544"/>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f4c2bb4e8704639"/>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C2C186F-F9DE-42F8-8C91-6F2F19CA8E9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14FB3FF9-3CA9-433F-A6C4-291F83CFB6A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A40C7813-88F2-45BA-80CB-661BDAFBF49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58BEC56-B363-4EF5-AB03-9B09621C896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48C9A2B-3A37-42A4-B6C9-F8999F1B655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92A3C4F6-E031-4D94-AE75-4A0FECF635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539E2C8-82B2-4CC6-B021-6DFD15A61C0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9ED56AF3-1664-448A-AE88-BBC6B224C70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13</a:t>
            </a:r>
          </a:p>
        </p:txBody>
      </p:sp>
      <p:sp>
        <p:nvSpPr>
          <p:cNvPr id="11" name="">
            <a:extLst xmlns:a="http://schemas.openxmlformats.org/drawingml/2006/main">
              <a:ext uri="{FF2B5EF4-FFF2-40B4-BE49-F238E27FC236}">
                <a16:creationId xmlns:a16="http://schemas.microsoft.com/office/drawing/2014/main" id="{DEE0FBE9-CFCC-4D74-A21B-2DFDE47F5837}"/>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03007F1-C921-491A-9600-937599A1D3CB}"/>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EB4FA04-3688-4227-8E1D-7352DDCAE377}"/>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그래서 protocol 비교는</a:t>
            </a:r>
          </a:p>
          <a:p xmlns:a="http://schemas.openxmlformats.org/drawingml/2006/main">
            <a:pPr algn="l">
              <a:defRPr sz="2850" b="1">
                <a:solidFill>
                  <a:srgbClr val="132024"/>
                </a:solidFill>
              </a:defRPr>
            </a:pPr>
            <a:r>
              <a:rPr sz="2850" b="1">
                <a:solidFill>
                  <a:srgbClr val="132024"/>
                </a:solidFill>
              </a:rPr>
              <a:t>5개의 축으로 나뉘었다</a:t>
            </a:r>
          </a:p>
        </p:txBody>
      </p:sp>
      <p:sp>
        <p:nvSpPr>
          <p:cNvPr id="14" name="">
            <a:extLst xmlns:a="http://schemas.openxmlformats.org/drawingml/2006/main">
              <a:ext uri="{FF2B5EF4-FFF2-40B4-BE49-F238E27FC236}">
                <a16:creationId xmlns:a16="http://schemas.microsoft.com/office/drawing/2014/main" id="{0EDA75AF-3829-4616-860D-5765A1F48254}"/>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755CA7D-AE0A-46F4-A425-D7DA0C6580AA}"/>
              </a:ext>
            </a:extLst>
          </p:cNvPr>
          <p:cNvSpPr>
            <a:spLocks xmlns:a="http://schemas.openxmlformats.org/drawingml/2006/main" noGrp="1"/>
          </p:cNvSpPr>
          <p:nvPr/>
        </p:nvSpPr>
        <p:spPr>
          <a:xfrm xmlns:a="http://schemas.openxmlformats.org/drawingml/2006/main">
            <a:off x="742950" y="2152650"/>
            <a:ext cx="32385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1EEE965-81CD-4771-93E2-D772F8A78BEF}"/>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2137693F-FA99-47FA-A238-6E49D1014AA5}"/>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A0077404-7313-4C8D-9372-6D2A48286F91}"/>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33FE8ED9-AC90-4133-BE9E-09C6FFE19B7E}"/>
              </a:ext>
            </a:extLst>
          </p:cNvPr>
          <p:cNvSpPr>
            <a:spLocks xmlns:a="http://schemas.openxmlformats.org/drawingml/2006/main" noGrp="1"/>
          </p:cNvSpPr>
          <p:nvPr/>
        </p:nvSpPr>
        <p:spPr>
          <a:xfrm xmlns:a="http://schemas.openxmlformats.org/drawingml/2006/main">
            <a:off x="4476750" y="2152650"/>
            <a:ext cx="32385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449913B-D844-41DC-859E-436E723535CF}"/>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D25CF05D-56D1-463C-965C-F32D592C873D}"/>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A6556331-2E40-4C3A-8499-AF333B8E21B0}"/>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28781FB-985D-43E6-9322-5C92147DD588}"/>
              </a:ext>
            </a:extLst>
          </p:cNvPr>
          <p:cNvSpPr>
            <a:spLocks xmlns:a="http://schemas.openxmlformats.org/drawingml/2006/main" noGrp="1"/>
          </p:cNvSpPr>
          <p:nvPr/>
        </p:nvSpPr>
        <p:spPr>
          <a:xfrm xmlns:a="http://schemas.openxmlformats.org/drawingml/2006/main">
            <a:off x="8210550" y="2152650"/>
            <a:ext cx="32385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FDFCD9D8-A498-4F25-9E68-1AAF9D115186}"/>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D15D1A78-A30E-4AB6-90F9-EADAAC5A9A4E}"/>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DD2218AF-D81E-44EF-AEF6-EC36B6C30E89}"/>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FCA40C32-52CE-42F1-B8E2-570A633D06C0}"/>
              </a:ext>
            </a:extLst>
          </p:cNvPr>
          <p:cNvSpPr>
            <a:spLocks xmlns:a="http://schemas.openxmlformats.org/drawingml/2006/main" noGrp="1"/>
          </p:cNvSpPr>
          <p:nvPr/>
        </p:nvSpPr>
        <p:spPr>
          <a:xfrm xmlns:a="http://schemas.openxmlformats.org/drawingml/2006/main">
            <a:off x="1428750" y="3848100"/>
            <a:ext cx="428625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8B9F829B-E818-4906-8882-0E896D88DE4C}"/>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EE22054F-CF0D-487D-8920-78CF8767E111}"/>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23CF21A8-F882-4B2E-8914-FB8A298C430B}"/>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8DA593CD-B4B2-460B-8FE0-9249E312E80F}"/>
              </a:ext>
            </a:extLst>
          </p:cNvPr>
          <p:cNvSpPr>
            <a:spLocks xmlns:a="http://schemas.openxmlformats.org/drawingml/2006/main" noGrp="1"/>
          </p:cNvSpPr>
          <p:nvPr/>
        </p:nvSpPr>
        <p:spPr>
          <a:xfrm xmlns:a="http://schemas.openxmlformats.org/drawingml/2006/main">
            <a:off x="6496050" y="3848100"/>
            <a:ext cx="4286250" cy="571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FE2DDF3D-B94E-4971-9F36-40993C1EE0D8}"/>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C3ED95E3-68B2-45A3-8A76-92AA01933ECE}"/>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24F6C797-F103-4B04-8DC4-FDBC99A8141D}"/>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75AF7A64-8761-414F-AB0A-0D98BBF59EF9}"/>
              </a:ext>
            </a:extLst>
          </p:cNvPr>
          <p:cNvSpPr>
            <a:spLocks xmlns:a="http://schemas.openxmlformats.org/drawingml/2006/main" noGrp="1"/>
          </p:cNvSpPr>
          <p:nvPr/>
        </p:nvSpPr>
        <p:spPr>
          <a:xfrm xmlns:a="http://schemas.openxmlformats.org/drawingml/2006/main">
            <a:off x="2085975" y="5629275"/>
            <a:ext cx="57150" cy="5143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0C5DCDBE-33DA-4829-A703-9FDD447C90A7}"/>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2FCB8F7B-0B04-4383-94D5-7565C241AEA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673631592"/>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d428b96d8954bc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9C35D0D-FFB3-4141-98B8-7E0029200331}"/>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4DEDF91-5A88-44E0-BC52-DF02DEFBCED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8310831-8EA0-442B-B14A-3ED8D857FF35}"/>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B552EE3-22DE-48D1-A3B2-1DBAD0857BF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3DADE6C9-8B9F-4006-AEBD-4505505F363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F0CE92F2-2035-4511-BC79-89720F001B0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022ABDB-703F-41AE-B10B-149BB037CE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BCFF9D6A-8C8A-4A7F-AD06-471256B598F5}"/>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13</a:t>
            </a:r>
          </a:p>
        </p:txBody>
      </p:sp>
      <p:sp>
        <p:nvSpPr>
          <p:cNvPr id="11" name="">
            <a:extLst xmlns:a="http://schemas.openxmlformats.org/drawingml/2006/main">
              <a:ext uri="{FF2B5EF4-FFF2-40B4-BE49-F238E27FC236}">
                <a16:creationId xmlns:a16="http://schemas.microsoft.com/office/drawing/2014/main" id="{95CCE233-A557-47DF-999D-835A668EEF9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851F424-7EB0-4494-B8EE-BD2C23AA013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398D2A4-FC3B-47AA-AECB-441CE4E74AB0}"/>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3차 질문: region보다</a:t>
            </a:r>
          </a:p>
          <a:p xmlns:a="http://schemas.openxmlformats.org/drawingml/2006/main">
            <a:pPr algn="l">
              <a:defRPr sz="2700" b="1">
                <a:solidFill>
                  <a:srgbClr val="132024"/>
                </a:solidFill>
              </a:defRPr>
            </a:pPr>
            <a:r>
              <a:rPr sz="2700" b="1">
                <a:solidFill>
                  <a:srgbClr val="132024"/>
                </a:solidFill>
              </a:rPr>
              <a:t>readout을 먼저 적어야 하는가</a:t>
            </a:r>
          </a:p>
        </p:txBody>
      </p:sp>
      <p:sp>
        <p:nvSpPr>
          <p:cNvPr id="14" name="">
            <a:extLst xmlns:a="http://schemas.openxmlformats.org/drawingml/2006/main">
              <a:ext uri="{FF2B5EF4-FFF2-40B4-BE49-F238E27FC236}">
                <a16:creationId xmlns:a16="http://schemas.microsoft.com/office/drawing/2014/main" id="{F2B2D53B-7D91-491C-93B0-48F665FE001F}"/>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746ABB4-51FE-43D1-8275-2936BC1253A4}"/>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82689D3-EC41-4EB8-B175-D15E9968361E}"/>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최종 선택 규칙</a:t>
            </a:r>
          </a:p>
        </p:txBody>
      </p:sp>
      <p:sp>
        <p:nvSpPr>
          <p:cNvPr id="17" name="">
            <a:extLst xmlns:a="http://schemas.openxmlformats.org/drawingml/2006/main">
              <a:ext uri="{FF2B5EF4-FFF2-40B4-BE49-F238E27FC236}">
                <a16:creationId xmlns:a16="http://schemas.microsoft.com/office/drawing/2014/main" id="{8D33F7B0-BE88-4313-84ED-CC8EF5DF85A5}"/>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먼저 가장 중요한 readout을 적고, 그</a:t>
            </a:r>
          </a:p>
          <a:p xmlns:a="http://schemas.openxmlformats.org/drawingml/2006/main">
            <a:pPr algn="l">
              <a:defRPr sz="1200" b="0">
                <a:solidFill>
                  <a:srgbClr val="132024"/>
                </a:solidFill>
              </a:defRPr>
            </a:pPr>
            <a:r>
              <a:rPr sz="1200" b="0">
                <a:solidFill>
                  <a:srgbClr val="132024"/>
                </a:solidFill>
              </a:rPr>
              <a:t>readout을 가장 직접적으로 뒷받침하는</a:t>
            </a:r>
          </a:p>
          <a:p xmlns:a="http://schemas.openxmlformats.org/drawingml/2006/main">
            <a:pPr algn="l">
              <a:defRPr sz="1200" b="0">
                <a:solidFill>
                  <a:srgbClr val="132024"/>
                </a:solidFill>
              </a:defRPr>
            </a:pPr>
            <a:r>
              <a:rPr sz="1200" b="0">
                <a:solidFill>
                  <a:srgbClr val="132024"/>
                </a:solidFill>
              </a:rPr>
              <a:t>branch를 고른다.</a:t>
            </a:r>
          </a:p>
        </p:txBody>
      </p:sp>
      <p:sp>
        <p:nvSpPr>
          <p:cNvPr id="18" name="">
            <a:extLst xmlns:a="http://schemas.openxmlformats.org/drawingml/2006/main">
              <a:ext uri="{FF2B5EF4-FFF2-40B4-BE49-F238E27FC236}">
                <a16:creationId xmlns:a16="http://schemas.microsoft.com/office/drawing/2014/main" id="{20366EB0-3488-45B5-8951-E5267EB2C286}"/>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BAC3B30C-F523-4013-8F1A-8FBB0DDB57FF}"/>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A706274-875A-4DBE-A043-8234674FDD04}"/>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readout 묶음</a:t>
            </a:r>
          </a:p>
        </p:txBody>
      </p:sp>
      <p:sp>
        <p:nvSpPr>
          <p:cNvPr id="21" name="">
            <a:extLst xmlns:a="http://schemas.openxmlformats.org/drawingml/2006/main">
              <a:ext uri="{FF2B5EF4-FFF2-40B4-BE49-F238E27FC236}">
                <a16:creationId xmlns:a16="http://schemas.microsoft.com/office/drawing/2014/main" id="{8F424E25-A6C5-468C-8897-FB3F8E25A89A}"/>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stability, fidelity/atlas,</a:t>
            </a:r>
          </a:p>
          <a:p xmlns:a="http://schemas.openxmlformats.org/drawingml/2006/main">
            <a:pPr algn="l">
              <a:defRPr sz="1200" b="0">
                <a:solidFill>
                  <a:srgbClr val="132024"/>
                </a:solidFill>
              </a:defRPr>
            </a:pPr>
            <a:r>
              <a:rPr sz="1200" b="0">
                <a:solidFill>
                  <a:srgbClr val="132024"/>
                </a:solidFill>
              </a:rPr>
              <a:t>function, host, screening</a:t>
            </a:r>
          </a:p>
        </p:txBody>
      </p:sp>
      <p:sp>
        <p:nvSpPr>
          <p:cNvPr id="22" name="">
            <a:extLst xmlns:a="http://schemas.openxmlformats.org/drawingml/2006/main">
              <a:ext uri="{FF2B5EF4-FFF2-40B4-BE49-F238E27FC236}">
                <a16:creationId xmlns:a16="http://schemas.microsoft.com/office/drawing/2014/main" id="{9DB4BBF1-5D5B-48BD-A499-3A3625B79E5F}"/>
              </a:ext>
            </a:extLst>
          </p:cNvPr>
          <p:cNvSpPr>
            <a:spLocks xmlns:a="http://schemas.openxmlformats.org/drawingml/2006/main" noGrp="1"/>
          </p:cNvSpPr>
          <p:nvPr/>
        </p:nvSpPr>
        <p:spPr>
          <a:xfrm xmlns:a="http://schemas.openxmlformats.org/drawingml/2006/main">
            <a:off x="685800" y="4972050"/>
            <a:ext cx="3200400" cy="1200150"/>
          </a:xfrm>
          <a:prstGeom xmlns:a="http://schemas.openxmlformats.org/drawingml/2006/main" prst="roundRect">
            <a:avLst>
              <a:gd name="adj" fmla="val 634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34D2AB03-3A34-4B12-9871-70DB68FB5D43}"/>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5061F9E-3DFA-425A-9C7A-59FA0049369E}"/>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anchor</a:t>
            </a:r>
          </a:p>
        </p:txBody>
      </p:sp>
      <p:sp>
        <p:nvSpPr>
          <p:cNvPr id="25" name="">
            <a:extLst xmlns:a="http://schemas.openxmlformats.org/drawingml/2006/main">
              <a:ext uri="{FF2B5EF4-FFF2-40B4-BE49-F238E27FC236}">
                <a16:creationId xmlns:a16="http://schemas.microsoft.com/office/drawing/2014/main" id="{B067EC7F-4745-49C1-93A6-6FFFD5BC6826}"/>
              </a:ext>
            </a:extLst>
          </p:cNvPr>
          <p:cNvSpPr>
            <a:spLocks xmlns:a="http://schemas.openxmlformats.org/drawingml/2006/main" noGrp="1"/>
          </p:cNvSpPr>
          <p:nvPr/>
        </p:nvSpPr>
        <p:spPr>
          <a:xfrm xmlns:a="http://schemas.openxmlformats.org/drawingml/2006/main">
            <a:off x="895350" y="5581650"/>
            <a:ext cx="2781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Bhaduri, He,</a:t>
            </a:r>
          </a:p>
          <a:p xmlns:a="http://schemas.openxmlformats.org/drawingml/2006/main">
            <a:pPr algn="l">
              <a:defRPr sz="1200" b="0">
                <a:solidFill>
                  <a:srgbClr val="132024"/>
                </a:solidFill>
              </a:defRPr>
            </a:pPr>
            <a:r>
              <a:rPr sz="1200" b="0">
                <a:solidFill>
                  <a:srgbClr val="132024"/>
                </a:solidFill>
              </a:rPr>
              <a:t>Fitzgerald, Kelley, Chen 등</a:t>
            </a:r>
          </a:p>
        </p:txBody>
      </p:sp>
      <p:sp>
        <p:nvSpPr>
          <p:cNvPr id="26" name="">
            <a:extLst xmlns:a="http://schemas.openxmlformats.org/drawingml/2006/main">
              <a:ext uri="{FF2B5EF4-FFF2-40B4-BE49-F238E27FC236}">
                <a16:creationId xmlns:a16="http://schemas.microsoft.com/office/drawing/2014/main" id="{EBAB79E5-EFBE-4D58-B2C7-765B566566FB}"/>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A2A119B8-2A1B-4CE6-9EB6-42C841509DDD}"/>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38F19495-699C-4FA2-AFF5-11FF3517F31B}"/>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8847EEE6-AACF-4C19-BE0D-2BEC7C260815}"/>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2C81EE62-7215-4C04-9A0B-82F4B5D88195}"/>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D8DAD0D2-2550-437D-93BB-7F467BAD630B}"/>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collections/organoid/wiki/queries/20260420_172825_brain-functional-readout-selection.md</a:t>
            </a:r>
          </a:p>
        </p:txBody>
      </p:sp>
      <p:sp>
        <p:nvSpPr>
          <p:cNvPr id="32" name="">
            <a:extLst xmlns:a="http://schemas.openxmlformats.org/drawingml/2006/main">
              <a:ext uri="{FF2B5EF4-FFF2-40B4-BE49-F238E27FC236}">
                <a16:creationId xmlns:a16="http://schemas.microsoft.com/office/drawing/2014/main" id="{2A632D8A-34DD-4C4B-A1D7-26D64D9E4668}"/>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Q3 here</a:t>
            </a:r>
          </a:p>
        </p:txBody>
      </p:sp>
      <p:sp>
        <p:nvSpPr>
          <p:cNvPr id="33" name="">
            <a:extLst xmlns:a="http://schemas.openxmlformats.org/drawingml/2006/main">
              <a:ext uri="{FF2B5EF4-FFF2-40B4-BE49-F238E27FC236}">
                <a16:creationId xmlns:a16="http://schemas.microsoft.com/office/drawing/2014/main" id="{5D5321AE-4F48-4873-8923-1E473D859DB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Q3 query note의 Obsidian local graph를 삽입하면 된다.</a:t>
            </a:r>
          </a:p>
        </p:txBody>
      </p:sp>
    </p:spTree>
    <p:extLst>
      <p:ext uri="{BB962C8B-B14F-4D97-AF65-F5344CB8AC3E}">
        <p14:creationId xmlns:p14="http://schemas.microsoft.com/office/powerpoint/2010/main" val="1345272916"/>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8dc4e269b4745ba"/>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FC32856-49C7-4E45-9D5F-B9CA0EEC046B}"/>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45878F7-6807-4FAB-A567-4518EC4DCC3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F355876-66E3-4C37-8BB2-E7AEE8BC1FA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14CE53FA-CEF2-4BF1-97E9-965A6E313A8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7957947-611E-49FC-8C71-15D8F45695E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496F449-1423-481E-9065-9ABC01DCE5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9DEF44B-732A-4FEB-A28B-FF40D2B9ABB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REVIEW WRITING</a:t>
            </a:r>
          </a:p>
        </p:txBody>
      </p:sp>
      <p:sp>
        <p:nvSpPr>
          <p:cNvPr id="10" name="">
            <a:extLst xmlns:a="http://schemas.openxmlformats.org/drawingml/2006/main">
              <a:ext uri="{FF2B5EF4-FFF2-40B4-BE49-F238E27FC236}">
                <a16:creationId xmlns:a16="http://schemas.microsoft.com/office/drawing/2014/main" id="{D2F4816A-3192-47C6-8D38-DCE691AF141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13</a:t>
            </a:r>
          </a:p>
        </p:txBody>
      </p:sp>
      <p:sp>
        <p:nvSpPr>
          <p:cNvPr id="11" name="">
            <a:extLst xmlns:a="http://schemas.openxmlformats.org/drawingml/2006/main">
              <a:ext uri="{FF2B5EF4-FFF2-40B4-BE49-F238E27FC236}">
                <a16:creationId xmlns:a16="http://schemas.microsoft.com/office/drawing/2014/main" id="{04347C77-C1C7-4C52-A2A3-283F52FBB8F0}"/>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8961EBB-DF36-4A48-9361-11B7EA16B74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36BB6DB-98D3-4CA8-A4BF-70830B862AC8}"/>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이 연결고리를 리뷰논문으로</a:t>
            </a:r>
          </a:p>
          <a:p xmlns:a="http://schemas.openxmlformats.org/drawingml/2006/main">
            <a:pPr algn="l">
              <a:defRPr sz="2850" b="1">
                <a:solidFill>
                  <a:srgbClr val="132024"/>
                </a:solidFill>
              </a:defRPr>
            </a:pPr>
            <a:r>
              <a:rPr sz="2850" b="1">
                <a:solidFill>
                  <a:srgbClr val="132024"/>
                </a:solidFill>
              </a:rPr>
              <a:t>바꾸면 어떻게 쓰게 되는가</a:t>
            </a:r>
          </a:p>
        </p:txBody>
      </p:sp>
      <p:sp>
        <p:nvSpPr>
          <p:cNvPr id="14" name="">
            <a:extLst xmlns:a="http://schemas.openxmlformats.org/drawingml/2006/main">
              <a:ext uri="{FF2B5EF4-FFF2-40B4-BE49-F238E27FC236}">
                <a16:creationId xmlns:a16="http://schemas.microsoft.com/office/drawing/2014/main" id="{98CAAAD6-A541-441A-941E-2DA852A4CFBF}"/>
              </a:ext>
            </a:extLst>
          </p:cNvPr>
          <p:cNvSpPr>
            <a:spLocks xmlns:a="http://schemas.openxmlformats.org/drawingml/2006/main" noGrp="1"/>
          </p:cNvSpPr>
          <p:nvPr/>
        </p:nvSpPr>
        <p:spPr>
          <a:xfrm xmlns:a="http://schemas.openxmlformats.org/drawingml/2006/main">
            <a:off x="704850" y="1733550"/>
            <a:ext cx="10763250" cy="723900"/>
          </a:xfrm>
          <a:prstGeom xmlns:a="http://schemas.openxmlformats.org/drawingml/2006/main" prst="roundRect">
            <a:avLst>
              <a:gd name="adj" fmla="val 1052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CB6969B-E212-48FA-BB2E-660231CFF46C}"/>
              </a:ext>
            </a:extLst>
          </p:cNvPr>
          <p:cNvSpPr>
            <a:spLocks xmlns:a="http://schemas.openxmlformats.org/drawingml/2006/main" noGrp="1"/>
          </p:cNvSpPr>
          <p:nvPr/>
        </p:nvSpPr>
        <p:spPr>
          <a:xfrm xmlns:a="http://schemas.openxmlformats.org/drawingml/2006/main">
            <a:off x="752475" y="1781175"/>
            <a:ext cx="57150" cy="628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0A308B70-6AAC-4137-840D-1E27DA4E3C68}"/>
              </a:ext>
            </a:extLst>
          </p:cNvPr>
          <p:cNvSpPr>
            <a:spLocks xmlns:a="http://schemas.openxmlformats.org/drawingml/2006/main" noGrp="1"/>
          </p:cNvSpPr>
          <p:nvPr/>
        </p:nvSpPr>
        <p:spPr>
          <a:xfrm xmlns:a="http://schemas.openxmlformats.org/drawingml/2006/main">
            <a:off x="914400" y="1885950"/>
            <a:ext cx="10382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핵심은 paper-by-paper 요약이 아니라, 위키에서 질문이 이동한 순서대로 review의 장과 비교 기준을 세우는 것이다.</a:t>
            </a:r>
          </a:p>
        </p:txBody>
      </p:sp>
      <p:sp>
        <p:nvSpPr>
          <p:cNvPr id="17" name="">
            <a:extLst xmlns:a="http://schemas.openxmlformats.org/drawingml/2006/main">
              <a:ext uri="{FF2B5EF4-FFF2-40B4-BE49-F238E27FC236}">
                <a16:creationId xmlns:a16="http://schemas.microsoft.com/office/drawing/2014/main" id="{9B9DDFF8-D926-4B75-AA76-3E0569F6C72D}"/>
              </a:ext>
            </a:extLst>
          </p:cNvPr>
          <p:cNvSpPr>
            <a:spLocks xmlns:a="http://schemas.openxmlformats.org/drawingml/2006/main" noGrp="1"/>
          </p:cNvSpPr>
          <p:nvPr/>
        </p:nvSpPr>
        <p:spPr>
          <a:xfrm xmlns:a="http://schemas.openxmlformats.org/drawingml/2006/main">
            <a:off x="704850" y="2857500"/>
            <a:ext cx="3048000" cy="2095500"/>
          </a:xfrm>
          <a:prstGeom xmlns:a="http://schemas.openxmlformats.org/drawingml/2006/main" prst="roundRect">
            <a:avLst>
              <a:gd name="adj" fmla="val 363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72CF7C7C-7BF8-46DB-B952-6943B475F695}"/>
              </a:ext>
            </a:extLst>
          </p:cNvPr>
          <p:cNvSpPr>
            <a:spLocks xmlns:a="http://schemas.openxmlformats.org/drawingml/2006/main" noGrp="1"/>
          </p:cNvSpPr>
          <p:nvPr/>
        </p:nvSpPr>
        <p:spPr>
          <a:xfrm xmlns:a="http://schemas.openxmlformats.org/drawingml/2006/main">
            <a:off x="762000" y="2914650"/>
            <a:ext cx="29337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59C982DC-525A-4F69-8C4E-C0842F626773}"/>
              </a:ext>
            </a:extLst>
          </p:cNvPr>
          <p:cNvSpPr>
            <a:spLocks xmlns:a="http://schemas.openxmlformats.org/drawingml/2006/main" noGrp="1"/>
          </p:cNvSpPr>
          <p:nvPr/>
        </p:nvSpPr>
        <p:spPr>
          <a:xfrm xmlns:a="http://schemas.openxmlformats.org/drawingml/2006/main">
            <a:off x="914400" y="3048000"/>
            <a:ext cx="2628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1장: protocol family</a:t>
            </a:r>
          </a:p>
        </p:txBody>
      </p:sp>
      <p:sp>
        <p:nvSpPr>
          <p:cNvPr id="20" name="">
            <a:extLst xmlns:a="http://schemas.openxmlformats.org/drawingml/2006/main">
              <a:ext uri="{FF2B5EF4-FFF2-40B4-BE49-F238E27FC236}">
                <a16:creationId xmlns:a16="http://schemas.microsoft.com/office/drawing/2014/main" id="{353858DA-0290-47F5-8DD4-B53020840D10}"/>
              </a:ext>
            </a:extLst>
          </p:cNvPr>
          <p:cNvSpPr>
            <a:spLocks xmlns:a="http://schemas.openxmlformats.org/drawingml/2006/main" noGrp="1"/>
          </p:cNvSpPr>
          <p:nvPr/>
        </p:nvSpPr>
        <p:spPr>
          <a:xfrm xmlns:a="http://schemas.openxmlformats.org/drawingml/2006/main">
            <a:off x="914400" y="3467100"/>
            <a:ext cx="2628900" cy="1314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cerebral,</a:t>
            </a:r>
          </a:p>
          <a:p xmlns:a="http://schemas.openxmlformats.org/drawingml/2006/main">
            <a:pPr algn="l">
              <a:defRPr sz="1200" b="0">
                <a:solidFill>
                  <a:srgbClr val="132024"/>
                </a:solidFill>
              </a:defRPr>
            </a:pPr>
            <a:r>
              <a:rPr sz="1200" b="0">
                <a:solidFill>
                  <a:srgbClr val="132024"/>
                </a:solidFill>
              </a:rPr>
              <a:t>forebrain/cortical,</a:t>
            </a:r>
          </a:p>
          <a:p xmlns:a="http://schemas.openxmlformats.org/drawingml/2006/main">
            <a:pPr algn="l">
              <a:defRPr sz="1200" b="0">
                <a:solidFill>
                  <a:srgbClr val="132024"/>
                </a:solidFill>
              </a:defRPr>
            </a:pPr>
            <a:r>
              <a:rPr sz="1200" b="0">
                <a:solidFill>
                  <a:srgbClr val="132024"/>
                </a:solidFill>
              </a:rPr>
              <a:t>posterior/niche를 baseline</a:t>
            </a:r>
          </a:p>
          <a:p xmlns:a="http://schemas.openxmlformats.org/drawingml/2006/main">
            <a:pPr algn="l">
              <a:defRPr sz="1200" b="0">
                <a:solidFill>
                  <a:srgbClr val="132024"/>
                </a:solidFill>
              </a:defRPr>
            </a:pPr>
            <a:r>
              <a:rPr sz="1200" b="0">
                <a:solidFill>
                  <a:srgbClr val="132024"/>
                </a:solidFill>
              </a:rPr>
              <a:t>family로 먼저 정리한다.</a:t>
            </a:r>
          </a:p>
        </p:txBody>
      </p:sp>
      <p:sp>
        <p:nvSpPr>
          <p:cNvPr id="21" name="">
            <a:extLst xmlns:a="http://schemas.openxmlformats.org/drawingml/2006/main">
              <a:ext uri="{FF2B5EF4-FFF2-40B4-BE49-F238E27FC236}">
                <a16:creationId xmlns:a16="http://schemas.microsoft.com/office/drawing/2014/main" id="{D0A34B77-CC66-4D3D-9D1D-11B26AC3340C}"/>
              </a:ext>
            </a:extLst>
          </p:cNvPr>
          <p:cNvSpPr>
            <a:spLocks xmlns:a="http://schemas.openxmlformats.org/drawingml/2006/main" noGrp="1"/>
          </p:cNvSpPr>
          <p:nvPr/>
        </p:nvSpPr>
        <p:spPr>
          <a:xfrm xmlns:a="http://schemas.openxmlformats.org/drawingml/2006/main">
            <a:off x="3905250" y="377190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2" name="">
            <a:extLst xmlns:a="http://schemas.openxmlformats.org/drawingml/2006/main">
              <a:ext uri="{FF2B5EF4-FFF2-40B4-BE49-F238E27FC236}">
                <a16:creationId xmlns:a16="http://schemas.microsoft.com/office/drawing/2014/main" id="{04D44445-54CB-4796-AC71-059BC818223D}"/>
              </a:ext>
            </a:extLst>
          </p:cNvPr>
          <p:cNvSpPr>
            <a:spLocks xmlns:a="http://schemas.openxmlformats.org/drawingml/2006/main" noGrp="1"/>
          </p:cNvSpPr>
          <p:nvPr/>
        </p:nvSpPr>
        <p:spPr>
          <a:xfrm xmlns:a="http://schemas.openxmlformats.org/drawingml/2006/main">
            <a:off x="4762500" y="2857500"/>
            <a:ext cx="3048000" cy="2095500"/>
          </a:xfrm>
          <a:prstGeom xmlns:a="http://schemas.openxmlformats.org/drawingml/2006/main" prst="roundRect">
            <a:avLst>
              <a:gd name="adj" fmla="val 363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8C2E8ECA-0FF9-42A2-A133-7FD61862FCA2}"/>
              </a:ext>
            </a:extLst>
          </p:cNvPr>
          <p:cNvSpPr>
            <a:spLocks xmlns:a="http://schemas.openxmlformats.org/drawingml/2006/main" noGrp="1"/>
          </p:cNvSpPr>
          <p:nvPr/>
        </p:nvSpPr>
        <p:spPr>
          <a:xfrm xmlns:a="http://schemas.openxmlformats.org/drawingml/2006/main">
            <a:off x="4819650" y="2914650"/>
            <a:ext cx="29337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9FD9002-EB13-45DB-9E4F-165B53A541EC}"/>
              </a:ext>
            </a:extLst>
          </p:cNvPr>
          <p:cNvSpPr>
            <a:spLocks xmlns:a="http://schemas.openxmlformats.org/drawingml/2006/main" noGrp="1"/>
          </p:cNvSpPr>
          <p:nvPr/>
        </p:nvSpPr>
        <p:spPr>
          <a:xfrm xmlns:a="http://schemas.openxmlformats.org/drawingml/2006/main">
            <a:off x="4972050" y="3048000"/>
            <a:ext cx="2628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2장: benchmark axes</a:t>
            </a:r>
          </a:p>
        </p:txBody>
      </p:sp>
      <p:sp>
        <p:nvSpPr>
          <p:cNvPr id="25" name="">
            <a:extLst xmlns:a="http://schemas.openxmlformats.org/drawingml/2006/main">
              <a:ext uri="{FF2B5EF4-FFF2-40B4-BE49-F238E27FC236}">
                <a16:creationId xmlns:a16="http://schemas.microsoft.com/office/drawing/2014/main" id="{1F89B466-88DF-4BC0-8C97-F01C25DA5772}"/>
              </a:ext>
            </a:extLst>
          </p:cNvPr>
          <p:cNvSpPr>
            <a:spLocks xmlns:a="http://schemas.openxmlformats.org/drawingml/2006/main" noGrp="1"/>
          </p:cNvSpPr>
          <p:nvPr/>
        </p:nvSpPr>
        <p:spPr>
          <a:xfrm xmlns:a="http://schemas.openxmlformats.org/drawingml/2006/main">
            <a:off x="4972050" y="3467100"/>
            <a:ext cx="2628900" cy="1314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alignment를</a:t>
            </a:r>
          </a:p>
          <a:p xmlns:a="http://schemas.openxmlformats.org/drawingml/2006/main">
            <a:pPr algn="l">
              <a:defRPr sz="1200" b="0">
                <a:solidFill>
                  <a:srgbClr val="132024"/>
                </a:solidFill>
              </a:defRPr>
            </a:pPr>
            <a:r>
              <a:rPr sz="1200" b="0">
                <a:solidFill>
                  <a:srgbClr val="132024"/>
                </a:solidFill>
              </a:rPr>
              <a:t>비교 축으로 분리한다.</a:t>
            </a:r>
          </a:p>
        </p:txBody>
      </p:sp>
      <p:sp>
        <p:nvSpPr>
          <p:cNvPr id="26" name="">
            <a:extLst xmlns:a="http://schemas.openxmlformats.org/drawingml/2006/main">
              <a:ext uri="{FF2B5EF4-FFF2-40B4-BE49-F238E27FC236}">
                <a16:creationId xmlns:a16="http://schemas.microsoft.com/office/drawing/2014/main" id="{E710F060-A17A-4966-B7E9-91A05654D977}"/>
              </a:ext>
            </a:extLst>
          </p:cNvPr>
          <p:cNvSpPr>
            <a:spLocks xmlns:a="http://schemas.openxmlformats.org/drawingml/2006/main" noGrp="1"/>
          </p:cNvSpPr>
          <p:nvPr/>
        </p:nvSpPr>
        <p:spPr>
          <a:xfrm xmlns:a="http://schemas.openxmlformats.org/drawingml/2006/main">
            <a:off x="7962900" y="377190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7" name="">
            <a:extLst xmlns:a="http://schemas.openxmlformats.org/drawingml/2006/main">
              <a:ext uri="{FF2B5EF4-FFF2-40B4-BE49-F238E27FC236}">
                <a16:creationId xmlns:a16="http://schemas.microsoft.com/office/drawing/2014/main" id="{D90DF1F1-9D95-41E0-800A-E27CFEF743E3}"/>
              </a:ext>
            </a:extLst>
          </p:cNvPr>
          <p:cNvSpPr>
            <a:spLocks xmlns:a="http://schemas.openxmlformats.org/drawingml/2006/main" noGrp="1"/>
          </p:cNvSpPr>
          <p:nvPr/>
        </p:nvSpPr>
        <p:spPr>
          <a:xfrm xmlns:a="http://schemas.openxmlformats.org/drawingml/2006/main">
            <a:off x="8820150" y="2857500"/>
            <a:ext cx="2647950" cy="2095500"/>
          </a:xfrm>
          <a:prstGeom xmlns:a="http://schemas.openxmlformats.org/drawingml/2006/main" prst="roundRect">
            <a:avLst>
              <a:gd name="adj" fmla="val 363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9BFC0E46-58A2-4F6D-8CF0-DC7EF5730F2D}"/>
              </a:ext>
            </a:extLst>
          </p:cNvPr>
          <p:cNvSpPr>
            <a:spLocks xmlns:a="http://schemas.openxmlformats.org/drawingml/2006/main" noGrp="1"/>
          </p:cNvSpPr>
          <p:nvPr/>
        </p:nvSpPr>
        <p:spPr>
          <a:xfrm xmlns:a="http://schemas.openxmlformats.org/drawingml/2006/main">
            <a:off x="8877300" y="2914650"/>
            <a:ext cx="25336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13C098B3-68F1-4C74-BC1F-F1FBFD8D9DE5}"/>
              </a:ext>
            </a:extLst>
          </p:cNvPr>
          <p:cNvSpPr>
            <a:spLocks xmlns:a="http://schemas.openxmlformats.org/drawingml/2006/main" noGrp="1"/>
          </p:cNvSpPr>
          <p:nvPr/>
        </p:nvSpPr>
        <p:spPr>
          <a:xfrm xmlns:a="http://schemas.openxmlformats.org/drawingml/2006/main">
            <a:off x="9029700" y="3048000"/>
            <a:ext cx="22288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3장: design rule</a:t>
            </a:r>
          </a:p>
        </p:txBody>
      </p:sp>
      <p:sp>
        <p:nvSpPr>
          <p:cNvPr id="30" name="">
            <a:extLst xmlns:a="http://schemas.openxmlformats.org/drawingml/2006/main">
              <a:ext uri="{FF2B5EF4-FFF2-40B4-BE49-F238E27FC236}">
                <a16:creationId xmlns:a16="http://schemas.microsoft.com/office/drawing/2014/main" id="{268AAB7E-52C2-4317-BCEE-C93B059DBE97}"/>
              </a:ext>
            </a:extLst>
          </p:cNvPr>
          <p:cNvSpPr>
            <a:spLocks xmlns:a="http://schemas.openxmlformats.org/drawingml/2006/main" noGrp="1"/>
          </p:cNvSpPr>
          <p:nvPr/>
        </p:nvSpPr>
        <p:spPr>
          <a:xfrm xmlns:a="http://schemas.openxmlformats.org/drawingml/2006/main">
            <a:off x="9029700" y="3467100"/>
            <a:ext cx="2228850" cy="1314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마지막에는 readout-first</a:t>
            </a:r>
          </a:p>
          <a:p xmlns:a="http://schemas.openxmlformats.org/drawingml/2006/main">
            <a:pPr algn="l">
              <a:defRPr sz="1200" b="0">
                <a:solidFill>
                  <a:srgbClr val="132024"/>
                </a:solidFill>
              </a:defRPr>
            </a:pPr>
            <a:r>
              <a:rPr sz="1200" b="0">
                <a:solidFill>
                  <a:srgbClr val="132024"/>
                </a:solidFill>
              </a:rPr>
              <a:t>selection rule로</a:t>
            </a:r>
          </a:p>
          <a:p xmlns:a="http://schemas.openxmlformats.org/drawingml/2006/main">
            <a:pPr algn="l">
              <a:defRPr sz="1200" b="0">
                <a:solidFill>
                  <a:srgbClr val="132024"/>
                </a:solidFill>
              </a:defRPr>
            </a:pPr>
            <a:r>
              <a:rPr sz="1200" b="0">
                <a:solidFill>
                  <a:srgbClr val="132024"/>
                </a:solidFill>
              </a:rPr>
              <a:t>protocol choice를 다시</a:t>
            </a:r>
          </a:p>
          <a:p xmlns:a="http://schemas.openxmlformats.org/drawingml/2006/main">
            <a:pPr algn="l">
              <a:defRPr sz="1200" b="0">
                <a:solidFill>
                  <a:srgbClr val="132024"/>
                </a:solidFill>
              </a:defRPr>
            </a:pPr>
            <a:r>
              <a:rPr sz="1200" b="0">
                <a:solidFill>
                  <a:srgbClr val="132024"/>
                </a:solidFill>
              </a:rPr>
              <a:t>묶는다.</a:t>
            </a:r>
          </a:p>
        </p:txBody>
      </p:sp>
      <p:sp>
        <p:nvSpPr>
          <p:cNvPr id="31" name="">
            <a:extLst xmlns:a="http://schemas.openxmlformats.org/drawingml/2006/main">
              <a:ext uri="{FF2B5EF4-FFF2-40B4-BE49-F238E27FC236}">
                <a16:creationId xmlns:a16="http://schemas.microsoft.com/office/drawing/2014/main" id="{32ECFEB9-4AD3-4D62-B805-483ADC962302}"/>
              </a:ext>
            </a:extLst>
          </p:cNvPr>
          <p:cNvSpPr>
            <a:spLocks xmlns:a="http://schemas.openxmlformats.org/drawingml/2006/main" noGrp="1"/>
          </p:cNvSpPr>
          <p:nvPr/>
        </p:nvSpPr>
        <p:spPr>
          <a:xfrm xmlns:a="http://schemas.openxmlformats.org/drawingml/2006/main">
            <a:off x="704850" y="5353050"/>
            <a:ext cx="10763250" cy="781050"/>
          </a:xfrm>
          <a:prstGeom xmlns:a="http://schemas.openxmlformats.org/drawingml/2006/main" prst="roundRect">
            <a:avLst>
              <a:gd name="adj" fmla="val 9756"/>
            </a:avLst>
          </a:prstGeom>
          <a:solidFill xmlns:a="http://schemas.openxmlformats.org/drawingml/2006/main">
            <a:srgbClr val="DDF4E8"/>
          </a:solidFill>
          <a:ln xmlns:a="http://schemas.openxmlformats.org/drawingml/2006/main" w="11430">
            <a:solidFill>
              <a:srgbClr val="132024"/>
            </a:solidFill>
            <a:prstDash val="solid"/>
          </a:ln>
        </p:spPr>
      </p:sp>
      <p:sp>
        <p:nvSpPr>
          <p:cNvPr id="32" name="">
            <a:extLst xmlns:a="http://schemas.openxmlformats.org/drawingml/2006/main">
              <a:ext uri="{FF2B5EF4-FFF2-40B4-BE49-F238E27FC236}">
                <a16:creationId xmlns:a16="http://schemas.microsoft.com/office/drawing/2014/main" id="{78905D24-B19F-480C-972A-33C50E31BC45}"/>
              </a:ext>
            </a:extLst>
          </p:cNvPr>
          <p:cNvSpPr>
            <a:spLocks xmlns:a="http://schemas.openxmlformats.org/drawingml/2006/main" noGrp="1"/>
          </p:cNvSpPr>
          <p:nvPr/>
        </p:nvSpPr>
        <p:spPr>
          <a:xfrm xmlns:a="http://schemas.openxmlformats.org/drawingml/2006/main">
            <a:off x="752475" y="5400675"/>
            <a:ext cx="57150" cy="6858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1B491C86-7DEC-4C4D-8854-015425E9D143}"/>
              </a:ext>
            </a:extLst>
          </p:cNvPr>
          <p:cNvSpPr>
            <a:spLocks xmlns:a="http://schemas.openxmlformats.org/drawingml/2006/main" noGrp="1"/>
          </p:cNvSpPr>
          <p:nvPr/>
        </p:nvSpPr>
        <p:spPr>
          <a:xfrm xmlns:a="http://schemas.openxmlformats.org/drawingml/2006/main">
            <a:off x="914400" y="5505450"/>
            <a:ext cx="103822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따라서 리뷰논문의 중심 주장도 '어느 protocol이 최고인가'가 아니라 '어떤 질문과 readout이 어떤 protocol selection rule을 요구하는가'가 된다.</a:t>
            </a:r>
          </a:p>
        </p:txBody>
      </p:sp>
      <p:sp>
        <p:nvSpPr>
          <p:cNvPr id="34" name="">
            <a:extLst xmlns:a="http://schemas.openxmlformats.org/drawingml/2006/main">
              <a:ext uri="{FF2B5EF4-FFF2-40B4-BE49-F238E27FC236}">
                <a16:creationId xmlns:a16="http://schemas.microsoft.com/office/drawing/2014/main" id="{22C5B716-309E-44C1-8C65-05E2AB59729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연결고리가 발표의 질문 체인을 리뷰논문의 장 구조와 주장 구조로 바꿔준다.</a:t>
            </a:r>
          </a:p>
        </p:txBody>
      </p:sp>
    </p:spTree>
    <p:extLst>
      <p:ext uri="{BB962C8B-B14F-4D97-AF65-F5344CB8AC3E}">
        <p14:creationId xmlns:p14="http://schemas.microsoft.com/office/powerpoint/2010/main" val="102979179"/>
      </p:ext>
    </p:extLst>
  </p:cSld>
</p:sld>
</file>

<file path=ppt/slides/slide1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22b89414fe408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7CBC1B4-A3FB-4463-BB49-6CC85157A7F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7178373-5B0F-4C17-9254-CA1EE2F7935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F0B72CB-53D9-4DF8-8C7F-D979129B0094}"/>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30A19F84-69A2-40F8-8FBE-A75E30148FA8}"/>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4A31B9A8-C3FA-464C-BF2B-4C402B97B8E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B33A0B5-F45D-4CFE-8B25-8F68D12F94A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65335AB-68BE-470F-8372-CADAAFC9FFA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D79E942E-1F14-4F0D-83A3-5665CB1EC6B3}"/>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13 / 13</a:t>
            </a:r>
          </a:p>
        </p:txBody>
      </p:sp>
      <p:sp>
        <p:nvSpPr>
          <p:cNvPr id="11" name="">
            <a:extLst xmlns:a="http://schemas.openxmlformats.org/drawingml/2006/main">
              <a:ext uri="{FF2B5EF4-FFF2-40B4-BE49-F238E27FC236}">
                <a16:creationId xmlns:a16="http://schemas.microsoft.com/office/drawing/2014/main" id="{80943B30-DDA8-41F1-AEB5-CA91814B4D4A}"/>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315D77E8-FE71-4FFE-B614-C084ADE3A62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FC8EE7E-4590-4594-A3E1-F84180900D34}"/>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정리: 좋은 질문은</a:t>
            </a:r>
          </a:p>
          <a:p xmlns:a="http://schemas.openxmlformats.org/drawingml/2006/main">
            <a:pPr algn="l">
              <a:defRPr sz="2850" b="1">
                <a:solidFill>
                  <a:srgbClr val="132024"/>
                </a:solidFill>
              </a:defRPr>
            </a:pPr>
            <a:r>
              <a:rPr sz="2850" b="1">
                <a:solidFill>
                  <a:srgbClr val="132024"/>
                </a:solidFill>
              </a:rPr>
              <a:t>위키를 정리하면서 생겨났다</a:t>
            </a:r>
          </a:p>
        </p:txBody>
      </p:sp>
      <p:sp>
        <p:nvSpPr>
          <p:cNvPr id="14" name="">
            <a:extLst xmlns:a="http://schemas.openxmlformats.org/drawingml/2006/main">
              <a:ext uri="{FF2B5EF4-FFF2-40B4-BE49-F238E27FC236}">
                <a16:creationId xmlns:a16="http://schemas.microsoft.com/office/drawing/2014/main" id="{CFBE256E-54D8-46E0-9613-D436FF7FE282}"/>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B23C56F-9331-4F4C-B916-4B9F094A8CA6}"/>
              </a:ext>
            </a:extLst>
          </p:cNvPr>
          <p:cNvSpPr>
            <a:spLocks xmlns:a="http://schemas.openxmlformats.org/drawingml/2006/main" noGrp="1"/>
          </p:cNvSpPr>
          <p:nvPr/>
        </p:nvSpPr>
        <p:spPr>
          <a:xfrm xmlns:a="http://schemas.openxmlformats.org/drawingml/2006/main">
            <a:off x="762000" y="21526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3FF6EF0-8637-4EE1-9614-892E98F452FB}"/>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579D62AF-488D-4AAE-9CD6-3B8BD5E95C16}"/>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단위의 LLM-wiki 운영은</a:t>
            </a:r>
          </a:p>
          <a:p xmlns:a="http://schemas.openxmlformats.org/drawingml/2006/main">
            <a:pPr algn="l">
              <a:defRPr sz="1200" b="0">
                <a:solidFill>
                  <a:srgbClr val="132024"/>
                </a:solidFill>
              </a:defRPr>
            </a:pPr>
            <a:r>
              <a:rPr sz="1200" b="0">
                <a:solidFill>
                  <a:srgbClr val="132024"/>
                </a:solidFill>
              </a:rPr>
              <a:t>질문 범위를 좁히고 문헌 해석을 더 조밀하게 쌓게</a:t>
            </a:r>
          </a:p>
          <a:p xmlns:a="http://schemas.openxmlformats.org/drawingml/2006/main">
            <a:pPr algn="l">
              <a:defRPr sz="1200" b="0">
                <a:solidFill>
                  <a:srgbClr val="132024"/>
                </a:solidFill>
              </a:defRPr>
            </a:pPr>
            <a:r>
              <a:rPr sz="1200" b="0">
                <a:solidFill>
                  <a:srgbClr val="132024"/>
                </a:solidFill>
              </a:rPr>
              <a:t>해줬다.</a:t>
            </a:r>
          </a:p>
        </p:txBody>
      </p:sp>
      <p:sp>
        <p:nvSpPr>
          <p:cNvPr id="18" name="">
            <a:extLst xmlns:a="http://schemas.openxmlformats.org/drawingml/2006/main">
              <a:ext uri="{FF2B5EF4-FFF2-40B4-BE49-F238E27FC236}">
                <a16:creationId xmlns:a16="http://schemas.microsoft.com/office/drawing/2014/main" id="{A8F071A0-67D0-492D-8DD4-4B3BD5E81478}"/>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E81F94B3-87E5-46F3-8D2F-D8D459206921}"/>
              </a:ext>
            </a:extLst>
          </p:cNvPr>
          <p:cNvSpPr>
            <a:spLocks xmlns:a="http://schemas.openxmlformats.org/drawingml/2006/main" noGrp="1"/>
          </p:cNvSpPr>
          <p:nvPr/>
        </p:nvSpPr>
        <p:spPr>
          <a:xfrm xmlns:a="http://schemas.openxmlformats.org/drawingml/2006/main">
            <a:off x="4152900" y="21526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9A62A0C-4B19-4938-9CB9-8D8D664A151A}"/>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FE8A9731-CCB4-4221-95CE-9B804670BFDE}"/>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branch에서는 질문이</a:t>
            </a:r>
          </a:p>
          <a:p xmlns:a="http://schemas.openxmlformats.org/drawingml/2006/main">
            <a:pPr algn="l">
              <a:defRPr sz="1200" b="0">
                <a:solidFill>
                  <a:srgbClr val="132024"/>
                </a:solidFill>
              </a:defRPr>
            </a:pPr>
            <a:r>
              <a:rPr sz="1200" b="0">
                <a:solidFill>
                  <a:srgbClr val="132024"/>
                </a:solidFill>
              </a:rPr>
              <a:t>subregion selection에서</a:t>
            </a:r>
          </a:p>
          <a:p xmlns:a="http://schemas.openxmlformats.org/drawingml/2006/main">
            <a:pPr algn="l">
              <a:defRPr sz="1200" b="0">
                <a:solidFill>
                  <a:srgbClr val="132024"/>
                </a:solidFill>
              </a:defRPr>
            </a:pPr>
            <a:r>
              <a:rPr sz="1200" b="0">
                <a:solidFill>
                  <a:srgbClr val="132024"/>
                </a:solidFill>
              </a:rPr>
              <a:t>benchmark question으로 확장됐다.</a:t>
            </a:r>
          </a:p>
        </p:txBody>
      </p:sp>
      <p:sp>
        <p:nvSpPr>
          <p:cNvPr id="22" name="">
            <a:extLst xmlns:a="http://schemas.openxmlformats.org/drawingml/2006/main">
              <a:ext uri="{FF2B5EF4-FFF2-40B4-BE49-F238E27FC236}">
                <a16:creationId xmlns:a16="http://schemas.microsoft.com/office/drawing/2014/main" id="{431AFB51-AF34-48CE-AC7C-5CC49243A421}"/>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40931521-B306-411D-AB1E-28271A26A589}"/>
              </a:ext>
            </a:extLst>
          </p:cNvPr>
          <p:cNvSpPr>
            <a:spLocks xmlns:a="http://schemas.openxmlformats.org/drawingml/2006/main" noGrp="1"/>
          </p:cNvSpPr>
          <p:nvPr/>
        </p:nvSpPr>
        <p:spPr>
          <a:xfrm xmlns:a="http://schemas.openxmlformats.org/drawingml/2006/main">
            <a:off x="7543800" y="2152650"/>
            <a:ext cx="38862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6B0C752-F48A-4CF8-934A-12AE0D35FFEA}"/>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D82985ED-F888-488E-ACB7-8CAB05D2CB39}"/>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0FC70A8B-DD25-4700-A399-603D3FA8C188}"/>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7FC3679B-3358-494C-BBE1-46F5EB3EC4C2}"/>
              </a:ext>
            </a:extLst>
          </p:cNvPr>
          <p:cNvSpPr>
            <a:spLocks xmlns:a="http://schemas.openxmlformats.org/drawingml/2006/main" noGrp="1"/>
          </p:cNvSpPr>
          <p:nvPr/>
        </p:nvSpPr>
        <p:spPr>
          <a:xfrm xmlns:a="http://schemas.openxmlformats.org/drawingml/2006/main">
            <a:off x="752475" y="4143375"/>
            <a:ext cx="57150" cy="723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CD98EB9-3F99-479F-A58F-ABFA380AF930}"/>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어떤 readout을 먼저 적어야 하는가? host validation은 언제 필요한가?</a:t>
            </a:r>
          </a:p>
        </p:txBody>
      </p:sp>
      <p:sp>
        <p:nvSpPr>
          <p:cNvPr id="29" name="">
            <a:extLst xmlns:a="http://schemas.openxmlformats.org/drawingml/2006/main">
              <a:ext uri="{FF2B5EF4-FFF2-40B4-BE49-F238E27FC236}">
                <a16:creationId xmlns:a16="http://schemas.microsoft.com/office/drawing/2014/main" id="{D39FAAAF-6C09-48AA-9ECC-D07022B51AD4}"/>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FFEC9E75-26D4-446A-B68B-C11D23B6600F}"/>
              </a:ext>
            </a:extLst>
          </p:cNvPr>
          <p:cNvSpPr>
            <a:spLocks xmlns:a="http://schemas.openxmlformats.org/drawingml/2006/main" noGrp="1"/>
          </p:cNvSpPr>
          <p:nvPr/>
        </p:nvSpPr>
        <p:spPr>
          <a:xfrm xmlns:a="http://schemas.openxmlformats.org/drawingml/2006/main">
            <a:off x="752475" y="53054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379E20EB-DCDB-4FB9-974F-9D4147971214}"/>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좋은 질문은 더 많은 논문을 나열해서가 아니라, 위키를 정리하면서 비교 기준을 다시 세울 때 생겨났다.</a:t>
            </a:r>
          </a:p>
        </p:txBody>
      </p:sp>
      <p:sp>
        <p:nvSpPr>
          <p:cNvPr id="32" name="">
            <a:extLst xmlns:a="http://schemas.openxmlformats.org/drawingml/2006/main">
              <a:ext uri="{FF2B5EF4-FFF2-40B4-BE49-F238E27FC236}">
                <a16:creationId xmlns:a16="http://schemas.microsoft.com/office/drawing/2014/main" id="{A14B2FF5-F358-4B8D-9AC6-BB79E8D1C0B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LLM-wiki 운영 방식이 질문의 정교화와 발표의 구조를 함께 만들었다.</a:t>
            </a:r>
          </a:p>
        </p:txBody>
      </p:sp>
    </p:spTree>
    <p:extLst>
      <p:ext uri="{BB962C8B-B14F-4D97-AF65-F5344CB8AC3E}">
        <p14:creationId xmlns:p14="http://schemas.microsoft.com/office/powerpoint/2010/main" val="20332706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2026-04-27T08:03:26.1520000Z</dcterms:created>
  <dcterms:modified xsi:type="dcterms:W3CDTF">2026-04-27T08:03:26.1520000Z</dcterms:modified>
</coreProperties>
</file>