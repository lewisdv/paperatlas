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20878ebf7c94102" /><Relationship Type="http://schemas.openxmlformats.org/officeDocument/2006/relationships/extended-properties" Target="/docProps/app.xml" Id="R1df434f6b6bb4e69" /><Relationship Type="http://schemas.openxmlformats.org/officeDocument/2006/relationships/officeDocument" Target="/ppt/presentation.xml" Id="Rfa7c4c82473d4c17" /></Relationships>
</file>

<file path=ppt/presentation.xml><?xml version="1.0" encoding="utf-8"?>
<p:presentation xmlns:p="http://schemas.openxmlformats.org/presentationml/2006/main">
  <p:sldMasterIdLst>
    <p:sldMasterId xmlns:r="http://schemas.openxmlformats.org/officeDocument/2006/relationships" id="2147483648" r:id="R8cff4b57ee774926"/>
  </p:sldMasterIdLst>
  <p:notesMasterIdLst>
    <p:notesMasterId xmlns:r="http://schemas.openxmlformats.org/officeDocument/2006/relationships" r:id="R2fd26eaa1b944b92"/>
  </p:notesMasterIdLst>
  <p:sldIdLst>
    <p:sldId xmlns:r="http://schemas.openxmlformats.org/officeDocument/2006/relationships" id="256" r:id="R717709684dc14626"/>
    <p:sldId xmlns:r="http://schemas.openxmlformats.org/officeDocument/2006/relationships" id="257" r:id="R4def07aeeb1742c8"/>
    <p:sldId xmlns:r="http://schemas.openxmlformats.org/officeDocument/2006/relationships" id="258" r:id="Rcd000e6ba0854f90"/>
    <p:sldId xmlns:r="http://schemas.openxmlformats.org/officeDocument/2006/relationships" id="259" r:id="R8575e12be5f04314"/>
    <p:sldId xmlns:r="http://schemas.openxmlformats.org/officeDocument/2006/relationships" id="260" r:id="R149e19e4c85148e7"/>
    <p:sldId xmlns:r="http://schemas.openxmlformats.org/officeDocument/2006/relationships" id="261" r:id="R3a48b15967b4462b"/>
    <p:sldId xmlns:r="http://schemas.openxmlformats.org/officeDocument/2006/relationships" id="262" r:id="R0b3bc42a62644a39"/>
    <p:sldId xmlns:r="http://schemas.openxmlformats.org/officeDocument/2006/relationships" id="263" r:id="Rd4d0336c1cb34d22"/>
    <p:sldId xmlns:r="http://schemas.openxmlformats.org/officeDocument/2006/relationships" id="264" r:id="Rc4230a2c35b746e1"/>
    <p:sldId xmlns:r="http://schemas.openxmlformats.org/officeDocument/2006/relationships" id="265" r:id="Rff3f4a8abf504140"/>
    <p:sldId xmlns:r="http://schemas.openxmlformats.org/officeDocument/2006/relationships" id="266" r:id="Rf4882302669e4c2b"/>
    <p:sldId xmlns:r="http://schemas.openxmlformats.org/officeDocument/2006/relationships" id="267" r:id="R5844611e18d649f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8cff4b57ee774926" /><Relationship Type="http://schemas.openxmlformats.org/officeDocument/2006/relationships/theme" Target="/ppt/theme/theme1.xml" Id="Raf62fbcc0f524f95" /><Relationship Type="http://schemas.openxmlformats.org/officeDocument/2006/relationships/notesMaster" Target="/ppt/notesMasters/notesMaster1.xml" Id="R2fd26eaa1b944b92" /><Relationship Type="http://schemas.openxmlformats.org/officeDocument/2006/relationships/presProps" Target="/ppt/presProps.xml" Id="R27a2faca66844cf0" /><Relationship Type="http://schemas.openxmlformats.org/officeDocument/2006/relationships/viewProps" Target="/ppt/viewProps.xml" Id="Rc66e30e22b7344df" /><Relationship Type="http://schemas.openxmlformats.org/officeDocument/2006/relationships/tableStyles" Target="/ppt/tableStyles.xml" Id="Rbcae0cb03ff84a7b" /><Relationship Type="http://schemas.openxmlformats.org/officeDocument/2006/relationships/slide" Target="/ppt/slides/slide1.xml" Id="R717709684dc14626" /><Relationship Type="http://schemas.openxmlformats.org/officeDocument/2006/relationships/slide" Target="/ppt/slides/slide2.xml" Id="R4def07aeeb1742c8" /><Relationship Type="http://schemas.openxmlformats.org/officeDocument/2006/relationships/slide" Target="/ppt/slides/slide3.xml" Id="Rcd000e6ba0854f90" /><Relationship Type="http://schemas.openxmlformats.org/officeDocument/2006/relationships/slide" Target="/ppt/slides/slide4.xml" Id="R8575e12be5f04314" /><Relationship Type="http://schemas.openxmlformats.org/officeDocument/2006/relationships/slide" Target="/ppt/slides/slide5.xml" Id="R149e19e4c85148e7" /><Relationship Type="http://schemas.openxmlformats.org/officeDocument/2006/relationships/slide" Target="/ppt/slides/slide6.xml" Id="R3a48b15967b4462b" /><Relationship Type="http://schemas.openxmlformats.org/officeDocument/2006/relationships/slide" Target="/ppt/slides/slide7.xml" Id="R0b3bc42a62644a39" /><Relationship Type="http://schemas.openxmlformats.org/officeDocument/2006/relationships/slide" Target="/ppt/slides/slide8.xml" Id="Rd4d0336c1cb34d22" /><Relationship Type="http://schemas.openxmlformats.org/officeDocument/2006/relationships/slide" Target="/ppt/slides/slide9.xml" Id="Rc4230a2c35b746e1" /><Relationship Type="http://schemas.openxmlformats.org/officeDocument/2006/relationships/slide" Target="/ppt/slides/slide10.xml" Id="Rff3f4a8abf504140" /><Relationship Type="http://schemas.openxmlformats.org/officeDocument/2006/relationships/slide" Target="/ppt/slides/slide11.xml" Id="Rf4882302669e4c2b" /><Relationship Type="http://schemas.openxmlformats.org/officeDocument/2006/relationships/slide" Target="/ppt/slides/slide12.xml" Id="R5844611e18d649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a17317469be346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67a3fa090254831" /><Relationship Type="http://schemas.openxmlformats.org/officeDocument/2006/relationships/notesMaster" Target="/ppt/notesMasters/notesMaster1.xml" Id="R0f4f2e5cd7cd44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fafe73d9f24591" /><Relationship Type="http://schemas.openxmlformats.org/officeDocument/2006/relationships/notesMaster" Target="/ppt/notesMasters/notesMaster1.xml" Id="Re0601193b68d40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09f27a88114e3b" /><Relationship Type="http://schemas.openxmlformats.org/officeDocument/2006/relationships/notesMaster" Target="/ppt/notesMasters/notesMaster1.xml" Id="R22d2770da38848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42961c625a94dcb" /><Relationship Type="http://schemas.openxmlformats.org/officeDocument/2006/relationships/notesMaster" Target="/ppt/notesMasters/notesMaster1.xml" Id="R0d35a76d95254a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f85793b6afac4be5" /><Relationship Type="http://schemas.openxmlformats.org/officeDocument/2006/relationships/notesMaster" Target="/ppt/notesMasters/notesMaster1.xml" Id="R9c95ade6902e47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ed9e506cd14be8" /><Relationship Type="http://schemas.openxmlformats.org/officeDocument/2006/relationships/notesMaster" Target="/ppt/notesMasters/notesMaster1.xml" Id="Rf96bfad7a0434c35"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bfa0b84371496f" /><Relationship Type="http://schemas.openxmlformats.org/officeDocument/2006/relationships/notesMaster" Target="/ppt/notesMasters/notesMaster1.xml" Id="R75a92b2ce8e94b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c564a7536a4b49" /><Relationship Type="http://schemas.openxmlformats.org/officeDocument/2006/relationships/notesMaster" Target="/ppt/notesMasters/notesMaster1.xml" Id="R079f2d19af3447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c34ca3deee49e6" /><Relationship Type="http://schemas.openxmlformats.org/officeDocument/2006/relationships/notesMaster" Target="/ppt/notesMasters/notesMaster1.xml" Id="R5cbce98e4bdf4cd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3de45d4e2240c7" /><Relationship Type="http://schemas.openxmlformats.org/officeDocument/2006/relationships/notesMaster" Target="/ppt/notesMasters/notesMaster1.xml" Id="R01193e17709442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5db10188f6f4722" /><Relationship Type="http://schemas.openxmlformats.org/officeDocument/2006/relationships/notesMaster" Target="/ppt/notesMasters/notesMaster1.xml" Id="Rbb1a3d3ee2204f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9ad83d5ee8f422d" /><Relationship Type="http://schemas.openxmlformats.org/officeDocument/2006/relationships/notesMaster" Target="/ppt/notesMasters/notesMaster1.xml" Id="R67286e3381324c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LLM-wiki 운영 방식을 짧게 소개한 뒤, 그 위에서 brain organoid 질문이 어떻게 정교해졌는지를 보여준다.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슬라이드에서는 문헌을 어떻게 구조화했는지 먼저 소개한다.</a:t>
            </a:r>
          </a:p>
          <a:p xmlns:a="http://schemas.openxmlformats.org/drawingml/2006/main">
            <a:r>
              <a:t>collections 단위로 주제를 분리하고, raw source와 wiki synthesis를 나눠서 질문 범위를 좁혔다.</a:t>
            </a:r>
          </a:p>
          <a:p xmlns:a="http://schemas.openxmlformats.org/drawingml/2006/main">
            <a:r>
              <a:t>그 결과 관련 없는 topic drift를 줄이고, 같은 주제 안에서 source, concept, query를 더 조밀하게 연결할 수 있었다.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Markdown wiki를 그대로 두지 않고 HTML site로 렌더링해 읽기 쉬운 탐색 계층을 따로 운영했다.</a:t>
            </a:r>
          </a:p>
          <a:p xmlns:a="http://schemas.openxmlformats.org/drawingml/2006/main">
            <a:r>
              <a:t>render_wiki_html.py는 collection site와 top-level hub를 만들고, localhost viewer는 검색과 태그 필터, 그래프 뷰를 제공한다.</a:t>
            </a:r>
          </a:p>
          <a:p xmlns:a="http://schemas.openxmlformats.org/drawingml/2006/main">
            <a:r>
              <a:t>또 GitHub Actions와 Pages를 붙여 원격에서도 같은 구조로 접근할 수 있게 했다.</a:t>
            </a:r>
          </a:p>
          <a:p xmlns:a="http://schemas.openxmlformats.org/drawingml/2006/main">
            <a:r>
              <a:t/>
            </a:r>
          </a:p>
          <a:p xmlns:a="http://schemas.openxmlformats.org/drawingml/2006/main">
            <a:r>
              <a:t>[Sources]</a:t>
            </a:r>
          </a:p>
          <a:p xmlns:a="http://schemas.openxmlformats.org/drawingml/2006/main">
            <a:r>
              <a:t>- collections/organoid/wiki/index.md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brain branch는 broad cerebral baseline에서 niche subregion까지 이어지고, 그 위에 benchmark 논문과 functional readout 논문이 덧붙는다.</a:t>
            </a:r>
          </a:p>
          <a:p xmlns:a="http://schemas.openxmlformats.org/drawingml/2006/main">
            <a:r>
              <a:t>그래서 단순 문헌 요약이 아니라 질문의 이동을 단계적으로 보여주기 좋다.</a:t>
            </a:r>
          </a:p>
          <a:p xmlns:a="http://schemas.openxmlformats.org/drawingml/2006/main">
            <a:r>
              <a:t>즉 workflow를 설명한 뒤 실제 branch 사례로 넘어가기에 가장 적합한 축이었다.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benchmark slide와 framework slide 사이의 다리 역할을 한다.</a:t>
            </a:r>
          </a:p>
          <a:p xmlns:a="http://schemas.openxmlformats.org/drawingml/2006/main">
            <a:r>
              <a:t>Velasco와 Yoon은 잘 반복되는 cortical branch를 보여주지만, Bhaduri는 그 branch가 primary fetal cortex와 얼마나 다른지를 보여준다.</a:t>
            </a:r>
          </a:p>
          <a:p xmlns:a="http://schemas.openxmlformats.org/drawingml/2006/main">
            <a:r>
              <a:t>즉 '잘 반복된다'와 '더 진짜 같다'는 다른 질문이며, 이 구분이 이후 5축 프레임워크의 핵심이 된다.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e50678018264e85"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EF6BE441-61BA-4088-9F5C-DD19EC4B6F90}"/>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A0356292-C6B7-4899-BBB4-90F977A58EBE}"/>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47355F26-4ED3-483E-B86F-D5840B2104F0}"/>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12C92803-04DF-4118-A1D7-FCAE22C7500A}"/>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C5A324B5-703D-4DE1-A920-5C56CD46E34C}"/>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a35b510baa774d4f" /><Relationship Type="http://schemas.openxmlformats.org/officeDocument/2006/relationships/slideLayout" Target="/ppt/slideLayouts/slideLayout2.xml" Id="R8a2e12e4aa6640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52E6E4-4B97-457E-82E1-D5191517F1CC}"/>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2e12e4aa6640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bc9111f2f8934f49" /><Relationship Type="http://schemas.openxmlformats.org/officeDocument/2006/relationships/image" Target="/ppt/media/image.png" Id="R01ea6a5199474ab8" /><Relationship Type="http://schemas.openxmlformats.org/officeDocument/2006/relationships/notesSlide" Target="/ppt/notesSlides/notesSlide1.xml" Id="R1058db22ca6d4f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62c79647171640e1" /><Relationship Type="http://schemas.openxmlformats.org/officeDocument/2006/relationships/image" Target="/ppt/media/image2.png" Id="R0e7ce579abfa434b" /><Relationship Type="http://schemas.openxmlformats.org/officeDocument/2006/relationships/notesSlide" Target="/ppt/notesSlides/notesSlide2.xml" Id="R007dc4f1951942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14ee4c61ebfd412d" /><Relationship Type="http://schemas.openxmlformats.org/officeDocument/2006/relationships/image" Target="/ppt/media/image3.png" Id="Rc884012f1a7a44fc" /><Relationship Type="http://schemas.openxmlformats.org/officeDocument/2006/relationships/notesSlide" Target="/ppt/notesSlides/notesSlide3.xml" Id="Rc396d20fbc434245"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3d07d338b60d4fed" /><Relationship Type="http://schemas.openxmlformats.org/officeDocument/2006/relationships/image" Target="/ppt/media/image4.png" Id="R5ac2505a1bf54d95" /><Relationship Type="http://schemas.openxmlformats.org/officeDocument/2006/relationships/notesSlide" Target="/ppt/notesSlides/notesSlide4.xml" Id="Rd08b61170a3d49d2"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0531988400e4f8f" /><Relationship Type="http://schemas.openxmlformats.org/officeDocument/2006/relationships/image" Target="/ppt/media/image5.png" Id="R557a5ae816884c30" /><Relationship Type="http://schemas.openxmlformats.org/officeDocument/2006/relationships/notesSlide" Target="/ppt/notesSlides/notesSlide5.xml" Id="Rc62c9c33a9e449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e996ba89527d4188" /><Relationship Type="http://schemas.openxmlformats.org/officeDocument/2006/relationships/image" Target="/ppt/media/image6.png" Id="Ra0197854dfb34d72" /><Relationship Type="http://schemas.openxmlformats.org/officeDocument/2006/relationships/notesSlide" Target="/ppt/notesSlides/notesSlide6.xml" Id="R69a3f1defd1347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0aab756d1e764044" /><Relationship Type="http://schemas.openxmlformats.org/officeDocument/2006/relationships/image" Target="/ppt/media/image7.png" Id="R1dedcff105f94e16" /><Relationship Type="http://schemas.openxmlformats.org/officeDocument/2006/relationships/notesSlide" Target="/ppt/notesSlides/notesSlide7.xml" Id="Rf88de9401ec54b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fa5b016b5f8a4aa9" /><Relationship Type="http://schemas.openxmlformats.org/officeDocument/2006/relationships/image" Target="/ppt/media/image8.png" Id="R97a9d3a0c9bf405e" /><Relationship Type="http://schemas.openxmlformats.org/officeDocument/2006/relationships/notesSlide" Target="/ppt/notesSlides/notesSlide8.xml" Id="R704678a0caec41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1ade941d0e65496a" /><Relationship Type="http://schemas.openxmlformats.org/officeDocument/2006/relationships/image" Target="/ppt/media/image9.png" Id="Ra93379ac45db4fd3" /><Relationship Type="http://schemas.openxmlformats.org/officeDocument/2006/relationships/notesSlide" Target="/ppt/notesSlides/notesSlide9.xml" Id="Rbdf0d8548e8d4e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a5f8062893fc46ba" /><Relationship Type="http://schemas.openxmlformats.org/officeDocument/2006/relationships/image" Target="/ppt/media/image10.png" Id="R7ce89d589fea49cc" /><Relationship Type="http://schemas.openxmlformats.org/officeDocument/2006/relationships/notesSlide" Target="/ppt/notesSlides/notesSlide10.xml" Id="R490e77829e1e4c8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3249875e24384b67" /><Relationship Type="http://schemas.openxmlformats.org/officeDocument/2006/relationships/image" Target="/ppt/media/image11.png" Id="Reee44c2ace5b48b7" /><Relationship Type="http://schemas.openxmlformats.org/officeDocument/2006/relationships/notesSlide" Target="/ppt/notesSlides/notesSlide11.xml" Id="R3632b97777a346d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d0e0c185fc4f4eeb" /><Relationship Type="http://schemas.openxmlformats.org/officeDocument/2006/relationships/image" Target="/ppt/media/image12.png" Id="R1d6812a3b8b9464a" /><Relationship Type="http://schemas.openxmlformats.org/officeDocument/2006/relationships/notesSlide" Target="/ppt/notesSlides/notesSlide12.xml" Id="Rc1854236c2cb4c28"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1ea6a5199474ab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84F78F3-0FE0-42F4-8EBF-499BAA20D6F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8C4AC1D-CCCC-4889-A0A9-1BB024BEB691}"/>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5EAFD7A-2D7F-4689-A027-F06BFDBC5519}"/>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1F55D9D5-9CD8-4BE6-8098-2617846AA81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B2EC122-510E-47CE-B82A-6C05D81ED7D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D92E38D4-1CDA-44C9-AE36-6BC72BC091A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6AD1A94-C5FF-4255-B940-59D084099EE4}"/>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549DAB5F-2BF3-45D9-95E3-9297D737ADF9}"/>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6D8BD306-8ADB-49EB-9CE8-F16AD77FABC9}"/>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7C43CB43-856E-4B4C-A1BE-756796E4B7C2}"/>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LLM-wiki를 collection 단위로 운영한 뒤,</a:t>
            </a:r>
          </a:p>
          <a:p xmlns:a="http://schemas.openxmlformats.org/drawingml/2006/main">
            <a:pPr algn="l">
              <a:defRPr sz="1500" b="0">
                <a:solidFill>
                  <a:srgbClr val="344146"/>
                </a:solidFill>
              </a:defRPr>
            </a:pPr>
            <a:r>
              <a:rPr sz="1500" b="0">
                <a:solidFill>
                  <a:srgbClr val="344146"/>
                </a:solidFill>
              </a:rPr>
              <a:t>brain organoid 질문이 subregion 비교에서 readout-first rule로 어떻게 확장됐는지를 보여준다.</a:t>
            </a:r>
          </a:p>
        </p:txBody>
      </p:sp>
      <p:sp>
        <p:nvSpPr>
          <p:cNvPr id="13" name="">
            <a:extLst xmlns:a="http://schemas.openxmlformats.org/drawingml/2006/main">
              <a:ext uri="{FF2B5EF4-FFF2-40B4-BE49-F238E27FC236}">
                <a16:creationId xmlns:a16="http://schemas.microsoft.com/office/drawing/2014/main" id="{5D7FAB69-99DF-42C1-95D1-C8284760A0CC}"/>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BABAB57D-A67A-4FA7-A2B1-B597F9455757}"/>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9A23EF34-3EC7-4175-A996-A8C9D280A957}"/>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6BA0043B-18C2-4254-84C6-B99850622D5D}"/>
              </a:ext>
            </a:extLst>
          </p:cNvPr>
          <p:cNvSpPr>
            <a:spLocks xmlns:a="http://schemas.openxmlformats.org/drawingml/2006/main" noGrp="1"/>
          </p:cNvSpPr>
          <p:nvPr/>
        </p:nvSpPr>
        <p:spPr>
          <a:xfrm xmlns:a="http://schemas.openxmlformats.org/drawingml/2006/main">
            <a:off x="8067675" y="1247775"/>
            <a:ext cx="47625" cy="10096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669943D0-09A4-439C-B30A-4C10B33C48C9}"/>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2A8D2B14-78D4-4790-AC9D-9893B7AA3621}"/>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9557133F-133A-412A-BBA3-FE3F8BFB872F}"/>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FB9EC977-F915-40B5-A194-F82D4822182E}"/>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1F9F363E-AA81-4057-B3AE-B5B1C14F36BC}"/>
              </a:ext>
            </a:extLst>
          </p:cNvPr>
          <p:cNvSpPr>
            <a:spLocks xmlns:a="http://schemas.openxmlformats.org/drawingml/2006/main" noGrp="1"/>
          </p:cNvSpPr>
          <p:nvPr/>
        </p:nvSpPr>
        <p:spPr>
          <a:xfrm xmlns:a="http://schemas.openxmlformats.org/drawingml/2006/main">
            <a:off x="9344025" y="2714625"/>
            <a:ext cx="47625" cy="1009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F46F95B5-D10E-412E-B2FA-D23C350771B6}"/>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E0AC814E-2733-43D1-83EB-0DBF68B672E0}"/>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AF379492-A9EB-4101-81BF-62BC3F3E6408}"/>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31CBE313-FDA5-4A8E-BC7F-FA9C318E0667}"/>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93E1075B-EC78-422C-816F-48131BDD7D4E}"/>
              </a:ext>
            </a:extLst>
          </p:cNvPr>
          <p:cNvSpPr>
            <a:spLocks xmlns:a="http://schemas.openxmlformats.org/drawingml/2006/main" noGrp="1"/>
          </p:cNvSpPr>
          <p:nvPr/>
        </p:nvSpPr>
        <p:spPr>
          <a:xfrm xmlns:a="http://schemas.openxmlformats.org/drawingml/2006/main">
            <a:off x="8048625" y="4238625"/>
            <a:ext cx="47625" cy="10096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8985E300-B97E-4D96-87FD-135D88821B38}"/>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040E00BB-4B11-4C5E-84EB-A89EB8E89714}"/>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D925AC5E-F927-4652-A9C5-5814640AC2DC}"/>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EBCD4D08-EEBE-4CB3-A155-6BD4EE4BD459}"/>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17E368A8-78F0-49A6-8D62-328DB67EB845}"/>
              </a:ext>
            </a:extLst>
          </p:cNvPr>
          <p:cNvSpPr>
            <a:spLocks xmlns:a="http://schemas.openxmlformats.org/drawingml/2006/main" noGrp="1"/>
          </p:cNvSpPr>
          <p:nvPr/>
        </p:nvSpPr>
        <p:spPr>
          <a:xfrm xmlns:a="http://schemas.openxmlformats.org/drawingml/2006/main">
            <a:off x="7439025" y="2657475"/>
            <a:ext cx="47625" cy="8953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B6661046-78FE-4649-A67A-A218317501A8}"/>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7580BE87-B184-429F-B9AD-85EDF060F3E2}"/>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CB2FF5A2-49D7-48DF-A60D-0D5A31A2761A}"/>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9A276DC7-2894-4F31-8BDE-9EF91BE763BC}"/>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9CB3132C-F277-46B6-BC78-DDA7A51C4055}"/>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D010A617-B865-4DD6-86B0-32C8F5D38B06}"/>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D431290C-37F2-40E8-8F86-042AA0214146}"/>
              </a:ext>
            </a:extLst>
          </p:cNvPr>
          <p:cNvSpPr>
            <a:spLocks xmlns:a="http://schemas.openxmlformats.org/drawingml/2006/main" noGrp="1"/>
          </p:cNvSpPr>
          <p:nvPr/>
        </p:nvSpPr>
        <p:spPr>
          <a:xfrm xmlns:a="http://schemas.openxmlformats.org/drawingml/2006/main">
            <a:off x="819150" y="5448300"/>
            <a:ext cx="11049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15 min talk</a:t>
            </a:r>
          </a:p>
        </p:txBody>
      </p:sp>
      <p:sp>
        <p:nvSpPr>
          <p:cNvPr id="39" name="">
            <a:extLst xmlns:a="http://schemas.openxmlformats.org/drawingml/2006/main">
              <a:ext uri="{FF2B5EF4-FFF2-40B4-BE49-F238E27FC236}">
                <a16:creationId xmlns:a16="http://schemas.microsoft.com/office/drawing/2014/main" id="{31000469-8C2A-4143-8D8A-91C2540E3F8C}"/>
              </a:ext>
            </a:extLst>
          </p:cNvPr>
          <p:cNvSpPr>
            <a:spLocks xmlns:a="http://schemas.openxmlformats.org/drawingml/2006/main" noGrp="1"/>
          </p:cNvSpPr>
          <p:nvPr/>
        </p:nvSpPr>
        <p:spPr>
          <a:xfrm xmlns:a="http://schemas.openxmlformats.org/drawingml/2006/main">
            <a:off x="2038350" y="5448300"/>
            <a:ext cx="15621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question journey</a:t>
            </a:r>
          </a:p>
        </p:txBody>
      </p:sp>
      <p:sp>
        <p:nvSpPr>
          <p:cNvPr id="40" name="">
            <a:extLst xmlns:a="http://schemas.openxmlformats.org/drawingml/2006/main">
              <a:ext uri="{FF2B5EF4-FFF2-40B4-BE49-F238E27FC236}">
                <a16:creationId xmlns:a16="http://schemas.microsoft.com/office/drawing/2014/main" id="{69031CFD-35A3-4F02-9777-B497817748C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 구조: 출발 질문 -&gt; 한계 발견 -&gt; 질문 재정의 -&gt; 최종 선택 규칙</a:t>
            </a:r>
          </a:p>
        </p:txBody>
      </p:sp>
    </p:spTree>
    <p:extLst>
      <p:ext uri="{BB962C8B-B14F-4D97-AF65-F5344CB8AC3E}">
        <p14:creationId xmlns:p14="http://schemas.microsoft.com/office/powerpoint/2010/main" val="1464981873"/>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e7ce579abfa434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DF047B0-BD97-4FB1-949F-A75CD910C2F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2E327F05-6E32-4292-9696-4F0A795E889D}"/>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461BA9D-DB25-4DF4-A5C5-3A778BF31F82}"/>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0F91BCC9-4B84-43A8-AAA9-6C8F9C6E14D5}"/>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C4C9DC7C-C5E6-4C2A-BEA7-745C94D8FD5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05B8CCD5-242D-4FC5-A877-A686480633B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88BB663-9821-4F3F-9787-81E1B511048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LLM-WIKI WORKFLOW</a:t>
            </a:r>
          </a:p>
        </p:txBody>
      </p:sp>
      <p:sp>
        <p:nvSpPr>
          <p:cNvPr id="10" name="">
            <a:extLst xmlns:a="http://schemas.openxmlformats.org/drawingml/2006/main">
              <a:ext uri="{FF2B5EF4-FFF2-40B4-BE49-F238E27FC236}">
                <a16:creationId xmlns:a16="http://schemas.microsoft.com/office/drawing/2014/main" id="{4F106679-F6B4-4D70-83E8-13A6A605C6A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12</a:t>
            </a:r>
          </a:p>
        </p:txBody>
      </p:sp>
      <p:sp>
        <p:nvSpPr>
          <p:cNvPr id="11" name="">
            <a:extLst xmlns:a="http://schemas.openxmlformats.org/drawingml/2006/main">
              <a:ext uri="{FF2B5EF4-FFF2-40B4-BE49-F238E27FC236}">
                <a16:creationId xmlns:a16="http://schemas.microsoft.com/office/drawing/2014/main" id="{8BEC2E9F-13C0-4026-9D12-4E6DBB68E5A0}"/>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1737D00-E93F-4B61-9FB6-F0E5543EDB1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A4F00738-7BCC-45DB-A342-10A7C76A719A}"/>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내가 LLM-wiki를</a:t>
            </a:r>
          </a:p>
          <a:p xmlns:a="http://schemas.openxmlformats.org/drawingml/2006/main">
            <a:pPr algn="l">
              <a:defRPr sz="2850" b="1">
                <a:solidFill>
                  <a:srgbClr val="132024"/>
                </a:solidFill>
              </a:defRPr>
            </a:pPr>
            <a:r>
              <a:rPr sz="2850" b="1">
                <a:solidFill>
                  <a:srgbClr val="132024"/>
                </a:solidFill>
              </a:rPr>
              <a:t>운영하는 방식</a:t>
            </a:r>
          </a:p>
        </p:txBody>
      </p:sp>
      <p:sp>
        <p:nvSpPr>
          <p:cNvPr id="14" name="">
            <a:extLst xmlns:a="http://schemas.openxmlformats.org/drawingml/2006/main">
              <a:ext uri="{FF2B5EF4-FFF2-40B4-BE49-F238E27FC236}">
                <a16:creationId xmlns:a16="http://schemas.microsoft.com/office/drawing/2014/main" id="{08D42142-3319-4FA2-8C89-C0D3EC14146E}"/>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E4C860FF-F82B-45FA-B0F9-06CD44E39E0A}"/>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A180CEC6-176B-4771-B296-E6FE5ED79BDF}"/>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collection 단위로 질문 범위를 제한해 관련 없는 지식 혼입을 줄이고, 같은 주제 안에서 source와 해석을 더 조밀하게 쌓아갔다.</a:t>
            </a:r>
          </a:p>
        </p:txBody>
      </p:sp>
      <p:sp>
        <p:nvSpPr>
          <p:cNvPr id="17" name="">
            <a:extLst xmlns:a="http://schemas.openxmlformats.org/drawingml/2006/main">
              <a:ext uri="{FF2B5EF4-FFF2-40B4-BE49-F238E27FC236}">
                <a16:creationId xmlns:a16="http://schemas.microsoft.com/office/drawing/2014/main" id="{0D3C555A-8731-4340-B9F4-6C494C42B973}"/>
              </a:ext>
            </a:extLst>
          </p:cNvPr>
          <p:cNvSpPr>
            <a:spLocks xmlns:a="http://schemas.openxmlformats.org/drawingml/2006/main" noGrp="1"/>
          </p:cNvSpPr>
          <p:nvPr/>
        </p:nvSpPr>
        <p:spPr>
          <a:xfrm xmlns:a="http://schemas.openxmlformats.org/drawingml/2006/main">
            <a:off x="7239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25BA4AD0-3216-4F08-AFF1-F9AC24937619}"/>
              </a:ext>
            </a:extLst>
          </p:cNvPr>
          <p:cNvSpPr>
            <a:spLocks xmlns:a="http://schemas.openxmlformats.org/drawingml/2006/main" noGrp="1"/>
          </p:cNvSpPr>
          <p:nvPr/>
        </p:nvSpPr>
        <p:spPr>
          <a:xfrm xmlns:a="http://schemas.openxmlformats.org/drawingml/2006/main">
            <a:off x="781050" y="2781300"/>
            <a:ext cx="2286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08C902E2-EA23-4271-9330-D8470AC0BF02}"/>
              </a:ext>
            </a:extLst>
          </p:cNvPr>
          <p:cNvSpPr>
            <a:spLocks xmlns:a="http://schemas.openxmlformats.org/drawingml/2006/main" noGrp="1"/>
          </p:cNvSpPr>
          <p:nvPr/>
        </p:nvSpPr>
        <p:spPr>
          <a:xfrm xmlns:a="http://schemas.openxmlformats.org/drawingml/2006/main">
            <a:off x="9334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collection 분리</a:t>
            </a:r>
          </a:p>
        </p:txBody>
      </p:sp>
      <p:sp>
        <p:nvSpPr>
          <p:cNvPr id="20" name="">
            <a:extLst xmlns:a="http://schemas.openxmlformats.org/drawingml/2006/main">
              <a:ext uri="{FF2B5EF4-FFF2-40B4-BE49-F238E27FC236}">
                <a16:creationId xmlns:a16="http://schemas.microsoft.com/office/drawing/2014/main" id="{90D3B9E6-59F8-4578-B777-809BC7A8DA82}"/>
              </a:ext>
            </a:extLst>
          </p:cNvPr>
          <p:cNvSpPr>
            <a:spLocks xmlns:a="http://schemas.openxmlformats.org/drawingml/2006/main" noGrp="1"/>
          </p:cNvSpPr>
          <p:nvPr/>
        </p:nvSpPr>
        <p:spPr>
          <a:xfrm xmlns:a="http://schemas.openxmlformats.org/drawingml/2006/main">
            <a:off x="9334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single-cell,</a:t>
            </a:r>
          </a:p>
          <a:p xmlns:a="http://schemas.openxmlformats.org/drawingml/2006/main">
            <a:pPr algn="l">
              <a:defRPr sz="1200" b="0">
                <a:solidFill>
                  <a:srgbClr val="132024"/>
                </a:solidFill>
              </a:defRPr>
            </a:pPr>
            <a:r>
              <a:rPr sz="1200" b="0">
                <a:solidFill>
                  <a:srgbClr val="132024"/>
                </a:solidFill>
              </a:rPr>
              <a:t>sequencing처럼</a:t>
            </a:r>
          </a:p>
          <a:p xmlns:a="http://schemas.openxmlformats.org/drawingml/2006/main">
            <a:pPr algn="l">
              <a:defRPr sz="1200" b="0">
                <a:solidFill>
                  <a:srgbClr val="132024"/>
                </a:solidFill>
              </a:defRPr>
            </a:pPr>
            <a:r>
              <a:rPr sz="1200" b="0">
                <a:solidFill>
                  <a:srgbClr val="132024"/>
                </a:solidFill>
              </a:rPr>
              <a:t>collection을 나눠</a:t>
            </a:r>
          </a:p>
          <a:p xmlns:a="http://schemas.openxmlformats.org/drawingml/2006/main">
            <a:pPr algn="l">
              <a:defRPr sz="1200" b="0">
                <a:solidFill>
                  <a:srgbClr val="132024"/>
                </a:solidFill>
              </a:defRPr>
            </a:pPr>
            <a:r>
              <a:rPr sz="1200" b="0">
                <a:solidFill>
                  <a:srgbClr val="132024"/>
                </a:solidFill>
              </a:rPr>
              <a:t>unrelated topic이 한 답변</a:t>
            </a:r>
          </a:p>
          <a:p xmlns:a="http://schemas.openxmlformats.org/drawingml/2006/main">
            <a:pPr algn="l">
              <a:defRPr sz="1200" b="0">
                <a:solidFill>
                  <a:srgbClr val="132024"/>
                </a:solidFill>
              </a:defRPr>
            </a:pPr>
            <a:r>
              <a:rPr sz="1200" b="0">
                <a:solidFill>
                  <a:srgbClr val="132024"/>
                </a:solidFill>
              </a:rPr>
              <a:t>안에 섞이지 않게 했다.</a:t>
            </a:r>
          </a:p>
        </p:txBody>
      </p:sp>
      <p:sp>
        <p:nvSpPr>
          <p:cNvPr id="21" name="">
            <a:extLst xmlns:a="http://schemas.openxmlformats.org/drawingml/2006/main">
              <a:ext uri="{FF2B5EF4-FFF2-40B4-BE49-F238E27FC236}">
                <a16:creationId xmlns:a16="http://schemas.microsoft.com/office/drawing/2014/main" id="{2225EF23-6A5A-468B-92A3-B99C21528727}"/>
              </a:ext>
            </a:extLst>
          </p:cNvPr>
          <p:cNvSpPr>
            <a:spLocks xmlns:a="http://schemas.openxmlformats.org/drawingml/2006/main" noGrp="1"/>
          </p:cNvSpPr>
          <p:nvPr/>
        </p:nvSpPr>
        <p:spPr>
          <a:xfrm xmlns:a="http://schemas.openxmlformats.org/drawingml/2006/main">
            <a:off x="33528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BCF72D9E-37EA-4ABD-AF01-F9BBBDAEC973}"/>
              </a:ext>
            </a:extLst>
          </p:cNvPr>
          <p:cNvSpPr>
            <a:spLocks xmlns:a="http://schemas.openxmlformats.org/drawingml/2006/main" noGrp="1"/>
          </p:cNvSpPr>
          <p:nvPr/>
        </p:nvSpPr>
        <p:spPr>
          <a:xfrm xmlns:a="http://schemas.openxmlformats.org/drawingml/2006/main">
            <a:off x="3409950" y="2781300"/>
            <a:ext cx="2286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F6870F87-FD10-4F27-B615-DDB18A4672FC}"/>
              </a:ext>
            </a:extLst>
          </p:cNvPr>
          <p:cNvSpPr>
            <a:spLocks xmlns:a="http://schemas.openxmlformats.org/drawingml/2006/main" noGrp="1"/>
          </p:cNvSpPr>
          <p:nvPr/>
        </p:nvSpPr>
        <p:spPr>
          <a:xfrm xmlns:a="http://schemas.openxmlformats.org/drawingml/2006/main">
            <a:off x="35623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raw / wiki 분리</a:t>
            </a:r>
          </a:p>
        </p:txBody>
      </p:sp>
      <p:sp>
        <p:nvSpPr>
          <p:cNvPr id="24" name="">
            <a:extLst xmlns:a="http://schemas.openxmlformats.org/drawingml/2006/main">
              <a:ext uri="{FF2B5EF4-FFF2-40B4-BE49-F238E27FC236}">
                <a16:creationId xmlns:a16="http://schemas.microsoft.com/office/drawing/2014/main" id="{4EA00D9B-5D08-4A39-B79C-184EA11EA058}"/>
              </a:ext>
            </a:extLst>
          </p:cNvPr>
          <p:cNvSpPr>
            <a:spLocks xmlns:a="http://schemas.openxmlformats.org/drawingml/2006/main" noGrp="1"/>
          </p:cNvSpPr>
          <p:nvPr/>
        </p:nvSpPr>
        <p:spPr>
          <a:xfrm xmlns:a="http://schemas.openxmlformats.org/drawingml/2006/main">
            <a:off x="35623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raw는 원본으로 남겨 두고,</a:t>
            </a:r>
          </a:p>
          <a:p xmlns:a="http://schemas.openxmlformats.org/drawingml/2006/main">
            <a:pPr algn="l">
              <a:defRPr sz="1200" b="0">
                <a:solidFill>
                  <a:srgbClr val="132024"/>
                </a:solidFill>
              </a:defRPr>
            </a:pPr>
            <a:r>
              <a:rPr sz="1200" b="0">
                <a:solidFill>
                  <a:srgbClr val="132024"/>
                </a:solidFill>
              </a:rPr>
              <a:t>wiki에서 source page와</a:t>
            </a:r>
          </a:p>
          <a:p xmlns:a="http://schemas.openxmlformats.org/drawingml/2006/main">
            <a:pPr algn="l">
              <a:defRPr sz="1200" b="0">
                <a:solidFill>
                  <a:srgbClr val="132024"/>
                </a:solidFill>
              </a:defRPr>
            </a:pPr>
            <a:r>
              <a:rPr sz="1200" b="0">
                <a:solidFill>
                  <a:srgbClr val="132024"/>
                </a:solidFill>
              </a:rPr>
              <a:t>concept page, query를</a:t>
            </a:r>
          </a:p>
          <a:p xmlns:a="http://schemas.openxmlformats.org/drawingml/2006/main">
            <a:pPr algn="l">
              <a:defRPr sz="1200" b="0">
                <a:solidFill>
                  <a:srgbClr val="132024"/>
                </a:solidFill>
              </a:defRPr>
            </a:pPr>
            <a:r>
              <a:rPr sz="1200" b="0">
                <a:solidFill>
                  <a:srgbClr val="132024"/>
                </a:solidFill>
              </a:rPr>
              <a:t>계속 갱신한다.</a:t>
            </a:r>
          </a:p>
        </p:txBody>
      </p:sp>
      <p:sp>
        <p:nvSpPr>
          <p:cNvPr id="25" name="">
            <a:extLst xmlns:a="http://schemas.openxmlformats.org/drawingml/2006/main">
              <a:ext uri="{FF2B5EF4-FFF2-40B4-BE49-F238E27FC236}">
                <a16:creationId xmlns:a16="http://schemas.microsoft.com/office/drawing/2014/main" id="{69448C08-0606-4C79-938B-B6C69A57A842}"/>
              </a:ext>
            </a:extLst>
          </p:cNvPr>
          <p:cNvSpPr>
            <a:spLocks xmlns:a="http://schemas.openxmlformats.org/drawingml/2006/main" noGrp="1"/>
          </p:cNvSpPr>
          <p:nvPr/>
        </p:nvSpPr>
        <p:spPr>
          <a:xfrm xmlns:a="http://schemas.openxmlformats.org/drawingml/2006/main">
            <a:off x="59817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6357F5A5-98C5-43C0-AD0C-C4948D5667B2}"/>
              </a:ext>
            </a:extLst>
          </p:cNvPr>
          <p:cNvSpPr>
            <a:spLocks xmlns:a="http://schemas.openxmlformats.org/drawingml/2006/main" noGrp="1"/>
          </p:cNvSpPr>
          <p:nvPr/>
        </p:nvSpPr>
        <p:spPr>
          <a:xfrm xmlns:a="http://schemas.openxmlformats.org/drawingml/2006/main">
            <a:off x="6038850" y="2781300"/>
            <a:ext cx="22860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729D0B0C-48BD-42C0-9CA4-40FABEB1FE92}"/>
              </a:ext>
            </a:extLst>
          </p:cNvPr>
          <p:cNvSpPr>
            <a:spLocks xmlns:a="http://schemas.openxmlformats.org/drawingml/2006/main" noGrp="1"/>
          </p:cNvSpPr>
          <p:nvPr/>
        </p:nvSpPr>
        <p:spPr>
          <a:xfrm xmlns:a="http://schemas.openxmlformats.org/drawingml/2006/main">
            <a:off x="61912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 범위 제한</a:t>
            </a:r>
          </a:p>
        </p:txBody>
      </p:sp>
      <p:sp>
        <p:nvSpPr>
          <p:cNvPr id="28" name="">
            <a:extLst xmlns:a="http://schemas.openxmlformats.org/drawingml/2006/main">
              <a:ext uri="{FF2B5EF4-FFF2-40B4-BE49-F238E27FC236}">
                <a16:creationId xmlns:a16="http://schemas.microsoft.com/office/drawing/2014/main" id="{9CDA8C75-B166-4140-96CF-FA754CA6077A}"/>
              </a:ext>
            </a:extLst>
          </p:cNvPr>
          <p:cNvSpPr>
            <a:spLocks xmlns:a="http://schemas.openxmlformats.org/drawingml/2006/main" noGrp="1"/>
          </p:cNvSpPr>
          <p:nvPr/>
        </p:nvSpPr>
        <p:spPr>
          <a:xfrm xmlns:a="http://schemas.openxmlformats.org/drawingml/2006/main">
            <a:off x="61912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질문은 그</a:t>
            </a:r>
          </a:p>
          <a:p xmlns:a="http://schemas.openxmlformats.org/drawingml/2006/main">
            <a:pPr algn="l">
              <a:defRPr sz="1200" b="0">
                <a:solidFill>
                  <a:srgbClr val="132024"/>
                </a:solidFill>
              </a:defRPr>
            </a:pPr>
            <a:r>
              <a:rPr sz="1200" b="0">
                <a:solidFill>
                  <a:srgbClr val="132024"/>
                </a:solidFill>
              </a:rPr>
              <a:t>collection의 wiki와 raw만</a:t>
            </a:r>
          </a:p>
          <a:p xmlns:a="http://schemas.openxmlformats.org/drawingml/2006/main">
            <a:pPr algn="l">
              <a:defRPr sz="1200" b="0">
                <a:solidFill>
                  <a:srgbClr val="132024"/>
                </a:solidFill>
              </a:defRPr>
            </a:pPr>
            <a:r>
              <a:rPr sz="1200" b="0">
                <a:solidFill>
                  <a:srgbClr val="132024"/>
                </a:solidFill>
              </a:rPr>
              <a:t>쓰도록 해서 hallucination과</a:t>
            </a:r>
          </a:p>
          <a:p xmlns:a="http://schemas.openxmlformats.org/drawingml/2006/main">
            <a:pPr algn="l">
              <a:defRPr sz="1200" b="0">
                <a:solidFill>
                  <a:srgbClr val="132024"/>
                </a:solidFill>
              </a:defRPr>
            </a:pPr>
            <a:r>
              <a:rPr sz="1200" b="0">
                <a:solidFill>
                  <a:srgbClr val="132024"/>
                </a:solidFill>
              </a:rPr>
              <a:t>topic drift를 줄인다.</a:t>
            </a:r>
          </a:p>
        </p:txBody>
      </p:sp>
      <p:sp>
        <p:nvSpPr>
          <p:cNvPr id="29" name="">
            <a:extLst xmlns:a="http://schemas.openxmlformats.org/drawingml/2006/main">
              <a:ext uri="{FF2B5EF4-FFF2-40B4-BE49-F238E27FC236}">
                <a16:creationId xmlns:a16="http://schemas.microsoft.com/office/drawing/2014/main" id="{562BC306-3FD4-449F-8042-E34E8E195FE0}"/>
              </a:ext>
            </a:extLst>
          </p:cNvPr>
          <p:cNvSpPr>
            <a:spLocks xmlns:a="http://schemas.openxmlformats.org/drawingml/2006/main" noGrp="1"/>
          </p:cNvSpPr>
          <p:nvPr/>
        </p:nvSpPr>
        <p:spPr>
          <a:xfrm xmlns:a="http://schemas.openxmlformats.org/drawingml/2006/main">
            <a:off x="86106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942E9819-8EEB-43F4-B9B7-374859C0D2CF}"/>
              </a:ext>
            </a:extLst>
          </p:cNvPr>
          <p:cNvSpPr>
            <a:spLocks xmlns:a="http://schemas.openxmlformats.org/drawingml/2006/main" noGrp="1"/>
          </p:cNvSpPr>
          <p:nvPr/>
        </p:nvSpPr>
        <p:spPr>
          <a:xfrm xmlns:a="http://schemas.openxmlformats.org/drawingml/2006/main">
            <a:off x="8667750" y="2781300"/>
            <a:ext cx="22860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252D5C5B-7DFC-4847-9652-2116CDF028F1}"/>
              </a:ext>
            </a:extLst>
          </p:cNvPr>
          <p:cNvSpPr>
            <a:spLocks xmlns:a="http://schemas.openxmlformats.org/drawingml/2006/main" noGrp="1"/>
          </p:cNvSpPr>
          <p:nvPr/>
        </p:nvSpPr>
        <p:spPr>
          <a:xfrm xmlns:a="http://schemas.openxmlformats.org/drawingml/2006/main">
            <a:off x="88201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지식 밀도 축적</a:t>
            </a:r>
          </a:p>
        </p:txBody>
      </p:sp>
      <p:sp>
        <p:nvSpPr>
          <p:cNvPr id="32" name="">
            <a:extLst xmlns:a="http://schemas.openxmlformats.org/drawingml/2006/main">
              <a:ext uri="{FF2B5EF4-FFF2-40B4-BE49-F238E27FC236}">
                <a16:creationId xmlns:a16="http://schemas.microsoft.com/office/drawing/2014/main" id="{3EFEEC5B-CAB9-4282-9263-5AC502228566}"/>
              </a:ext>
            </a:extLst>
          </p:cNvPr>
          <p:cNvSpPr>
            <a:spLocks xmlns:a="http://schemas.openxmlformats.org/drawingml/2006/main" noGrp="1"/>
          </p:cNvSpPr>
          <p:nvPr/>
        </p:nvSpPr>
        <p:spPr>
          <a:xfrm xmlns:a="http://schemas.openxmlformats.org/drawingml/2006/main">
            <a:off x="88201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source -&gt; concept -&gt;</a:t>
            </a:r>
          </a:p>
          <a:p xmlns:a="http://schemas.openxmlformats.org/drawingml/2006/main">
            <a:pPr algn="l">
              <a:defRPr sz="1200" b="0">
                <a:solidFill>
                  <a:srgbClr val="132024"/>
                </a:solidFill>
              </a:defRPr>
            </a:pPr>
            <a:r>
              <a:rPr sz="1200" b="0">
                <a:solidFill>
                  <a:srgbClr val="132024"/>
                </a:solidFill>
              </a:rPr>
              <a:t>query -&gt; synthesis가 같은</a:t>
            </a:r>
          </a:p>
          <a:p xmlns:a="http://schemas.openxmlformats.org/drawingml/2006/main">
            <a:pPr algn="l">
              <a:defRPr sz="1200" b="0">
                <a:solidFill>
                  <a:srgbClr val="132024"/>
                </a:solidFill>
              </a:defRPr>
            </a:pPr>
            <a:r>
              <a:rPr sz="1200" b="0">
                <a:solidFill>
                  <a:srgbClr val="132024"/>
                </a:solidFill>
              </a:rPr>
              <a:t>공간에 연결되면서 주제별 정보 밀도가</a:t>
            </a:r>
          </a:p>
          <a:p xmlns:a="http://schemas.openxmlformats.org/drawingml/2006/main">
            <a:pPr algn="l">
              <a:defRPr sz="1200" b="0">
                <a:solidFill>
                  <a:srgbClr val="132024"/>
                </a:solidFill>
              </a:defRPr>
            </a:pPr>
            <a:r>
              <a:rPr sz="1200" b="0">
                <a:solidFill>
                  <a:srgbClr val="132024"/>
                </a:solidFill>
              </a:rPr>
              <a:t>높아진다.</a:t>
            </a:r>
          </a:p>
        </p:txBody>
      </p:sp>
      <p:sp>
        <p:nvSpPr>
          <p:cNvPr id="33" name="">
            <a:extLst xmlns:a="http://schemas.openxmlformats.org/drawingml/2006/main">
              <a:ext uri="{FF2B5EF4-FFF2-40B4-BE49-F238E27FC236}">
                <a16:creationId xmlns:a16="http://schemas.microsoft.com/office/drawing/2014/main" id="{4D65464F-007B-4FB3-9715-83D167711C15}"/>
              </a:ext>
            </a:extLst>
          </p:cNvPr>
          <p:cNvSpPr>
            <a:spLocks xmlns:a="http://schemas.openxmlformats.org/drawingml/2006/main" noGrp="1"/>
          </p:cNvSpPr>
          <p:nvPr/>
        </p:nvSpPr>
        <p:spPr>
          <a:xfrm xmlns:a="http://schemas.openxmlformats.org/drawingml/2006/main">
            <a:off x="1314450" y="5334000"/>
            <a:ext cx="139065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raw/sources</a:t>
            </a:r>
          </a:p>
        </p:txBody>
      </p:sp>
      <p:sp>
        <p:nvSpPr>
          <p:cNvPr id="34" name="">
            <a:extLst xmlns:a="http://schemas.openxmlformats.org/drawingml/2006/main">
              <a:ext uri="{FF2B5EF4-FFF2-40B4-BE49-F238E27FC236}">
                <a16:creationId xmlns:a16="http://schemas.microsoft.com/office/drawing/2014/main" id="{BE7195E9-33E3-4B8B-9DCE-494CD8E0011F}"/>
              </a:ext>
            </a:extLst>
          </p:cNvPr>
          <p:cNvSpPr>
            <a:spLocks xmlns:a="http://schemas.openxmlformats.org/drawingml/2006/main" noGrp="1"/>
          </p:cNvSpPr>
          <p:nvPr/>
        </p:nvSpPr>
        <p:spPr>
          <a:xfrm xmlns:a="http://schemas.openxmlformats.org/drawingml/2006/main">
            <a:off x="2781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C51EF0EE-BB50-4922-93FB-B9EEDEECC31B}"/>
              </a:ext>
            </a:extLst>
          </p:cNvPr>
          <p:cNvSpPr>
            <a:spLocks xmlns:a="http://schemas.openxmlformats.org/drawingml/2006/main" noGrp="1"/>
          </p:cNvSpPr>
          <p:nvPr/>
        </p:nvSpPr>
        <p:spPr>
          <a:xfrm xmlns:a="http://schemas.openxmlformats.org/drawingml/2006/main">
            <a:off x="3600450" y="5334000"/>
            <a:ext cx="139065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wiki/sources</a:t>
            </a:r>
          </a:p>
        </p:txBody>
      </p:sp>
      <p:sp>
        <p:nvSpPr>
          <p:cNvPr id="36" name="">
            <a:extLst xmlns:a="http://schemas.openxmlformats.org/drawingml/2006/main">
              <a:ext uri="{FF2B5EF4-FFF2-40B4-BE49-F238E27FC236}">
                <a16:creationId xmlns:a16="http://schemas.microsoft.com/office/drawing/2014/main" id="{4C0242FD-F93D-4712-AC6B-DF041A289DBC}"/>
              </a:ext>
            </a:extLst>
          </p:cNvPr>
          <p:cNvSpPr>
            <a:spLocks xmlns:a="http://schemas.openxmlformats.org/drawingml/2006/main" noGrp="1"/>
          </p:cNvSpPr>
          <p:nvPr/>
        </p:nvSpPr>
        <p:spPr>
          <a:xfrm xmlns:a="http://schemas.openxmlformats.org/drawingml/2006/main">
            <a:off x="5067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D6A4F2D4-C854-4B66-BCE6-2ECBFAFB5B4D}"/>
              </a:ext>
            </a:extLst>
          </p:cNvPr>
          <p:cNvSpPr>
            <a:spLocks xmlns:a="http://schemas.openxmlformats.org/drawingml/2006/main" noGrp="1"/>
          </p:cNvSpPr>
          <p:nvPr/>
        </p:nvSpPr>
        <p:spPr>
          <a:xfrm xmlns:a="http://schemas.openxmlformats.org/drawingml/2006/main">
            <a:off x="5905500" y="5334000"/>
            <a:ext cx="154305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 / entity</a:t>
            </a:r>
          </a:p>
        </p:txBody>
      </p:sp>
      <p:sp>
        <p:nvSpPr>
          <p:cNvPr id="38" name="">
            <a:extLst xmlns:a="http://schemas.openxmlformats.org/drawingml/2006/main">
              <a:ext uri="{FF2B5EF4-FFF2-40B4-BE49-F238E27FC236}">
                <a16:creationId xmlns:a16="http://schemas.microsoft.com/office/drawing/2014/main" id="{2E63A4A7-9836-4C60-BCE4-0E9A3DFBF3B6}"/>
              </a:ext>
            </a:extLst>
          </p:cNvPr>
          <p:cNvSpPr>
            <a:spLocks xmlns:a="http://schemas.openxmlformats.org/drawingml/2006/main" noGrp="1"/>
          </p:cNvSpPr>
          <p:nvPr/>
        </p:nvSpPr>
        <p:spPr>
          <a:xfrm xmlns:a="http://schemas.openxmlformats.org/drawingml/2006/main">
            <a:off x="75438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11142204-8FA1-4A6E-887A-6A788F991D46}"/>
              </a:ext>
            </a:extLst>
          </p:cNvPr>
          <p:cNvSpPr>
            <a:spLocks xmlns:a="http://schemas.openxmlformats.org/drawingml/2006/main" noGrp="1"/>
          </p:cNvSpPr>
          <p:nvPr/>
        </p:nvSpPr>
        <p:spPr>
          <a:xfrm xmlns:a="http://schemas.openxmlformats.org/drawingml/2006/main">
            <a:off x="8362950" y="5334000"/>
            <a:ext cx="16954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query / synthesis</a:t>
            </a:r>
          </a:p>
        </p:txBody>
      </p:sp>
      <p:sp>
        <p:nvSpPr>
          <p:cNvPr id="40" name="">
            <a:extLst xmlns:a="http://schemas.openxmlformats.org/drawingml/2006/main">
              <a:ext uri="{FF2B5EF4-FFF2-40B4-BE49-F238E27FC236}">
                <a16:creationId xmlns:a16="http://schemas.microsoft.com/office/drawing/2014/main" id="{8D7B9C03-49F3-46B9-80CE-ED6E79D2F7D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운영 원리: topic boundary를 좁히고, 해석 가능한 지식을 같은 collection 안에 누적한다.</a:t>
            </a:r>
          </a:p>
        </p:txBody>
      </p:sp>
    </p:spTree>
    <p:extLst>
      <p:ext uri="{BB962C8B-B14F-4D97-AF65-F5344CB8AC3E}">
        <p14:creationId xmlns:p14="http://schemas.microsoft.com/office/powerpoint/2010/main" val="1927756945"/>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884012f1a7a44fc"/>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2662D91-CC16-4BA9-9F77-3352D9287FCA}"/>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62F377D-EA6F-41A8-BE2F-4CACECD93FE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C6F955B-6AEE-4408-BAF3-1CB3E2D67D0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E23E7A4-2781-4E0A-ABB7-EFEC3557FC8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61D86E52-6A98-4679-A129-44EDBC28C26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959B027-F796-4924-A652-F8DDD7EA26F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6667764-4C5D-4AA1-8B1B-78133CC6360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ACCESS LAYER</a:t>
            </a:r>
          </a:p>
        </p:txBody>
      </p:sp>
      <p:sp>
        <p:nvSpPr>
          <p:cNvPr id="10" name="">
            <a:extLst xmlns:a="http://schemas.openxmlformats.org/drawingml/2006/main">
              <a:ext uri="{FF2B5EF4-FFF2-40B4-BE49-F238E27FC236}">
                <a16:creationId xmlns:a16="http://schemas.microsoft.com/office/drawing/2014/main" id="{56E0C1F7-CDF0-4823-BF2F-C5D93438C2FB}"/>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12</a:t>
            </a:r>
          </a:p>
        </p:txBody>
      </p:sp>
      <p:sp>
        <p:nvSpPr>
          <p:cNvPr id="11" name="">
            <a:extLst xmlns:a="http://schemas.openxmlformats.org/drawingml/2006/main">
              <a:ext uri="{FF2B5EF4-FFF2-40B4-BE49-F238E27FC236}">
                <a16:creationId xmlns:a16="http://schemas.microsoft.com/office/drawing/2014/main" id="{24669CBD-F850-4AE3-9042-24A33D44EC9F}"/>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2AB1B6E-AB1E-4BFE-A34F-AEF7FAA6281B}"/>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7910122-8DE8-48A3-80A6-E5FD059CAE44}"/>
              </a:ext>
            </a:extLst>
          </p:cNvPr>
          <p:cNvSpPr>
            <a:spLocks xmlns:a="http://schemas.openxmlformats.org/drawingml/2006/main" noGrp="1"/>
          </p:cNvSpPr>
          <p:nvPr/>
        </p:nvSpPr>
        <p:spPr>
          <a:xfrm xmlns:a="http://schemas.openxmlformats.org/drawingml/2006/main">
            <a:off x="609600" y="838200"/>
            <a:ext cx="7048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Markdown wiki를</a:t>
            </a:r>
          </a:p>
          <a:p xmlns:a="http://schemas.openxmlformats.org/drawingml/2006/main">
            <a:pPr algn="l">
              <a:defRPr sz="2850" b="1">
                <a:solidFill>
                  <a:srgbClr val="132024"/>
                </a:solidFill>
              </a:defRPr>
            </a:pPr>
            <a:r>
              <a:rPr sz="2850" b="1">
                <a:solidFill>
                  <a:srgbClr val="132024"/>
                </a:solidFill>
              </a:rPr>
              <a:t>탐색 가능한 HTML로 열어두기</a:t>
            </a:r>
          </a:p>
        </p:txBody>
      </p:sp>
      <p:sp>
        <p:nvSpPr>
          <p:cNvPr id="14" name="">
            <a:extLst xmlns:a="http://schemas.openxmlformats.org/drawingml/2006/main">
              <a:ext uri="{FF2B5EF4-FFF2-40B4-BE49-F238E27FC236}">
                <a16:creationId xmlns:a16="http://schemas.microsoft.com/office/drawing/2014/main" id="{CABBF6F4-ADD4-4B43-9661-3897F3BCE601}"/>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D4787C24-ABE2-4499-BBC9-5C64D938A822}"/>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6156ACD-8946-4E51-9F5D-A58FA19B322B}"/>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Markdown으로 저장한 위키를 정적 HTML로 렌더링하고, 로컬 뷰어와 GitHub Pages를 통해 계속 읽고 탐색할 수 있게 했다.</a:t>
            </a:r>
          </a:p>
        </p:txBody>
      </p:sp>
      <p:sp>
        <p:nvSpPr>
          <p:cNvPr id="17" name="">
            <a:extLst xmlns:a="http://schemas.openxmlformats.org/drawingml/2006/main">
              <a:ext uri="{FF2B5EF4-FFF2-40B4-BE49-F238E27FC236}">
                <a16:creationId xmlns:a16="http://schemas.microsoft.com/office/drawing/2014/main" id="{9C5C89C2-19E0-4D4B-8B51-15342EAEC15B}"/>
              </a:ext>
            </a:extLst>
          </p:cNvPr>
          <p:cNvSpPr>
            <a:spLocks xmlns:a="http://schemas.openxmlformats.org/drawingml/2006/main" noGrp="1"/>
          </p:cNvSpPr>
          <p:nvPr/>
        </p:nvSpPr>
        <p:spPr>
          <a:xfrm xmlns:a="http://schemas.openxmlformats.org/drawingml/2006/main">
            <a:off x="7048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FA8A512E-EF05-4BDD-892F-B3EB952928B9}"/>
              </a:ext>
            </a:extLst>
          </p:cNvPr>
          <p:cNvSpPr>
            <a:spLocks xmlns:a="http://schemas.openxmlformats.org/drawingml/2006/main" noGrp="1"/>
          </p:cNvSpPr>
          <p:nvPr/>
        </p:nvSpPr>
        <p:spPr>
          <a:xfrm xmlns:a="http://schemas.openxmlformats.org/drawingml/2006/main">
            <a:off x="762000" y="2781300"/>
            <a:ext cx="2438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7A9AA7F4-8209-444D-A0DF-FE805C4B2F18}"/>
              </a:ext>
            </a:extLst>
          </p:cNvPr>
          <p:cNvSpPr>
            <a:spLocks xmlns:a="http://schemas.openxmlformats.org/drawingml/2006/main" noGrp="1"/>
          </p:cNvSpPr>
          <p:nvPr/>
        </p:nvSpPr>
        <p:spPr>
          <a:xfrm xmlns:a="http://schemas.openxmlformats.org/drawingml/2006/main">
            <a:off x="9144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static HTML render</a:t>
            </a:r>
          </a:p>
        </p:txBody>
      </p:sp>
      <p:sp>
        <p:nvSpPr>
          <p:cNvPr id="20" name="">
            <a:extLst xmlns:a="http://schemas.openxmlformats.org/drawingml/2006/main">
              <a:ext uri="{FF2B5EF4-FFF2-40B4-BE49-F238E27FC236}">
                <a16:creationId xmlns:a16="http://schemas.microsoft.com/office/drawing/2014/main" id="{0F59BD76-EBE7-4812-9737-5AA08258CDE1}"/>
              </a:ext>
            </a:extLst>
          </p:cNvPr>
          <p:cNvSpPr>
            <a:spLocks xmlns:a="http://schemas.openxmlformats.org/drawingml/2006/main" noGrp="1"/>
          </p:cNvSpPr>
          <p:nvPr/>
        </p:nvSpPr>
        <p:spPr>
          <a:xfrm xmlns:a="http://schemas.openxmlformats.org/drawingml/2006/main">
            <a:off x="9144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Markdown wiki를</a:t>
            </a:r>
          </a:p>
          <a:p xmlns:a="http://schemas.openxmlformats.org/drawingml/2006/main">
            <a:pPr algn="l">
              <a:defRPr sz="1200" b="0">
                <a:solidFill>
                  <a:srgbClr val="132024"/>
                </a:solidFill>
              </a:defRPr>
            </a:pPr>
            <a:r>
              <a:rPr sz="1200" b="0">
                <a:solidFill>
                  <a:srgbClr val="132024"/>
                </a:solidFill>
              </a:rPr>
              <a:t>collection별 HTML site로</a:t>
            </a:r>
          </a:p>
          <a:p xmlns:a="http://schemas.openxmlformats.org/drawingml/2006/main">
            <a:pPr algn="l">
              <a:defRPr sz="1200" b="0">
                <a:solidFill>
                  <a:srgbClr val="132024"/>
                </a:solidFill>
              </a:defRPr>
            </a:pPr>
            <a:r>
              <a:rPr sz="1200" b="0">
                <a:solidFill>
                  <a:srgbClr val="132024"/>
                </a:solidFill>
              </a:rPr>
              <a:t>바꾸고, top-level hub도 함께</a:t>
            </a:r>
          </a:p>
          <a:p xmlns:a="http://schemas.openxmlformats.org/drawingml/2006/main">
            <a:pPr algn="l">
              <a:defRPr sz="1200" b="0">
                <a:solidFill>
                  <a:srgbClr val="132024"/>
                </a:solidFill>
              </a:defRPr>
            </a:pPr>
            <a:r>
              <a:rPr sz="1200" b="0">
                <a:solidFill>
                  <a:srgbClr val="132024"/>
                </a:solidFill>
              </a:rPr>
              <a:t>갱신한다.</a:t>
            </a:r>
          </a:p>
        </p:txBody>
      </p:sp>
      <p:sp>
        <p:nvSpPr>
          <p:cNvPr id="21" name="">
            <a:extLst xmlns:a="http://schemas.openxmlformats.org/drawingml/2006/main">
              <a:ext uri="{FF2B5EF4-FFF2-40B4-BE49-F238E27FC236}">
                <a16:creationId xmlns:a16="http://schemas.microsoft.com/office/drawing/2014/main" id="{97B66CED-1BAD-45C1-89E9-B55E658A3122}"/>
              </a:ext>
            </a:extLst>
          </p:cNvPr>
          <p:cNvSpPr>
            <a:spLocks xmlns:a="http://schemas.openxmlformats.org/drawingml/2006/main" noGrp="1"/>
          </p:cNvSpPr>
          <p:nvPr/>
        </p:nvSpPr>
        <p:spPr>
          <a:xfrm xmlns:a="http://schemas.openxmlformats.org/drawingml/2006/main">
            <a:off x="350520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0D7F9FBC-8E74-4523-8CAA-BBA42D3051A2}"/>
              </a:ext>
            </a:extLst>
          </p:cNvPr>
          <p:cNvSpPr>
            <a:spLocks xmlns:a="http://schemas.openxmlformats.org/drawingml/2006/main" noGrp="1"/>
          </p:cNvSpPr>
          <p:nvPr/>
        </p:nvSpPr>
        <p:spPr>
          <a:xfrm xmlns:a="http://schemas.openxmlformats.org/drawingml/2006/main">
            <a:off x="3562350" y="2781300"/>
            <a:ext cx="2438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1E3B8964-8534-4CE4-B8B1-315A85209D35}"/>
              </a:ext>
            </a:extLst>
          </p:cNvPr>
          <p:cNvSpPr>
            <a:spLocks xmlns:a="http://schemas.openxmlformats.org/drawingml/2006/main" noGrp="1"/>
          </p:cNvSpPr>
          <p:nvPr/>
        </p:nvSpPr>
        <p:spPr>
          <a:xfrm xmlns:a="http://schemas.openxmlformats.org/drawingml/2006/main">
            <a:off x="371475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local viewer</a:t>
            </a:r>
          </a:p>
        </p:txBody>
      </p:sp>
      <p:sp>
        <p:nvSpPr>
          <p:cNvPr id="24" name="">
            <a:extLst xmlns:a="http://schemas.openxmlformats.org/drawingml/2006/main">
              <a:ext uri="{FF2B5EF4-FFF2-40B4-BE49-F238E27FC236}">
                <a16:creationId xmlns:a16="http://schemas.microsoft.com/office/drawing/2014/main" id="{0092F6D5-4F83-494E-A3DB-4857DDA49BCF}"/>
              </a:ext>
            </a:extLst>
          </p:cNvPr>
          <p:cNvSpPr>
            <a:spLocks xmlns:a="http://schemas.openxmlformats.org/drawingml/2006/main" noGrp="1"/>
          </p:cNvSpPr>
          <p:nvPr/>
        </p:nvSpPr>
        <p:spPr>
          <a:xfrm xmlns:a="http://schemas.openxmlformats.org/drawingml/2006/main">
            <a:off x="371475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localhost viewer에서 검색,</a:t>
            </a:r>
          </a:p>
          <a:p xmlns:a="http://schemas.openxmlformats.org/drawingml/2006/main">
            <a:pPr algn="l">
              <a:defRPr sz="1200" b="0">
                <a:solidFill>
                  <a:srgbClr val="132024"/>
                </a:solidFill>
              </a:defRPr>
            </a:pPr>
            <a:r>
              <a:rPr sz="1200" b="0">
                <a:solidFill>
                  <a:srgbClr val="132024"/>
                </a:solidFill>
              </a:rPr>
              <a:t>태그 필터, 그래프 뷰를 통해</a:t>
            </a:r>
          </a:p>
          <a:p xmlns:a="http://schemas.openxmlformats.org/drawingml/2006/main">
            <a:pPr algn="l">
              <a:defRPr sz="1200" b="0">
                <a:solidFill>
                  <a:srgbClr val="132024"/>
                </a:solidFill>
              </a:defRPr>
            </a:pPr>
            <a:r>
              <a:rPr sz="1200" b="0">
                <a:solidFill>
                  <a:srgbClr val="132024"/>
                </a:solidFill>
              </a:rPr>
              <a:t>collection 내부 페이지를 빠르게</a:t>
            </a:r>
          </a:p>
          <a:p xmlns:a="http://schemas.openxmlformats.org/drawingml/2006/main">
            <a:pPr algn="l">
              <a:defRPr sz="1200" b="0">
                <a:solidFill>
                  <a:srgbClr val="132024"/>
                </a:solidFill>
              </a:defRPr>
            </a:pPr>
            <a:r>
              <a:rPr sz="1200" b="0">
                <a:solidFill>
                  <a:srgbClr val="132024"/>
                </a:solidFill>
              </a:rPr>
              <a:t>탐색한다.</a:t>
            </a:r>
          </a:p>
        </p:txBody>
      </p:sp>
      <p:sp>
        <p:nvSpPr>
          <p:cNvPr id="25" name="">
            <a:extLst xmlns:a="http://schemas.openxmlformats.org/drawingml/2006/main">
              <a:ext uri="{FF2B5EF4-FFF2-40B4-BE49-F238E27FC236}">
                <a16:creationId xmlns:a16="http://schemas.microsoft.com/office/drawing/2014/main" id="{3699BAAC-1341-4C31-9868-85C3F79DE255}"/>
              </a:ext>
            </a:extLst>
          </p:cNvPr>
          <p:cNvSpPr>
            <a:spLocks xmlns:a="http://schemas.openxmlformats.org/drawingml/2006/main" noGrp="1"/>
          </p:cNvSpPr>
          <p:nvPr/>
        </p:nvSpPr>
        <p:spPr>
          <a:xfrm xmlns:a="http://schemas.openxmlformats.org/drawingml/2006/main">
            <a:off x="63055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4CAC300B-EB8F-4CCD-8C7B-65765CFC6BB4}"/>
              </a:ext>
            </a:extLst>
          </p:cNvPr>
          <p:cNvSpPr>
            <a:spLocks xmlns:a="http://schemas.openxmlformats.org/drawingml/2006/main" noGrp="1"/>
          </p:cNvSpPr>
          <p:nvPr/>
        </p:nvSpPr>
        <p:spPr>
          <a:xfrm xmlns:a="http://schemas.openxmlformats.org/drawingml/2006/main">
            <a:off x="6362700" y="2781300"/>
            <a:ext cx="2438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29D07B63-1BBB-4D6D-B274-720E6FC11F2F}"/>
              </a:ext>
            </a:extLst>
          </p:cNvPr>
          <p:cNvSpPr>
            <a:spLocks xmlns:a="http://schemas.openxmlformats.org/drawingml/2006/main" noGrp="1"/>
          </p:cNvSpPr>
          <p:nvPr/>
        </p:nvSpPr>
        <p:spPr>
          <a:xfrm xmlns:a="http://schemas.openxmlformats.org/drawingml/2006/main">
            <a:off x="65151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GitHub Pages</a:t>
            </a:r>
          </a:p>
        </p:txBody>
      </p:sp>
      <p:sp>
        <p:nvSpPr>
          <p:cNvPr id="28" name="">
            <a:extLst xmlns:a="http://schemas.openxmlformats.org/drawingml/2006/main">
              <a:ext uri="{FF2B5EF4-FFF2-40B4-BE49-F238E27FC236}">
                <a16:creationId xmlns:a16="http://schemas.microsoft.com/office/drawing/2014/main" id="{4D5097AB-BF9A-4903-AE50-30150CCF5ED8}"/>
              </a:ext>
            </a:extLst>
          </p:cNvPr>
          <p:cNvSpPr>
            <a:spLocks xmlns:a="http://schemas.openxmlformats.org/drawingml/2006/main" noGrp="1"/>
          </p:cNvSpPr>
          <p:nvPr/>
        </p:nvSpPr>
        <p:spPr>
          <a:xfrm xmlns:a="http://schemas.openxmlformats.org/drawingml/2006/main">
            <a:off x="65151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원격에서도 같은 구조로 읽을 수 있도록</a:t>
            </a:r>
          </a:p>
          <a:p xmlns:a="http://schemas.openxmlformats.org/drawingml/2006/main">
            <a:pPr algn="l">
              <a:defRPr sz="1200" b="0">
                <a:solidFill>
                  <a:srgbClr val="132024"/>
                </a:solidFill>
              </a:defRPr>
            </a:pPr>
            <a:r>
              <a:rPr sz="1200" b="0">
                <a:solidFill>
                  <a:srgbClr val="132024"/>
                </a:solidFill>
              </a:rPr>
              <a:t>public static site로</a:t>
            </a:r>
          </a:p>
          <a:p xmlns:a="http://schemas.openxmlformats.org/drawingml/2006/main">
            <a:pPr algn="l">
              <a:defRPr sz="1200" b="0">
                <a:solidFill>
                  <a:srgbClr val="132024"/>
                </a:solidFill>
              </a:defRPr>
            </a:pPr>
            <a:r>
              <a:rPr sz="1200" b="0">
                <a:solidFill>
                  <a:srgbClr val="132024"/>
                </a:solidFill>
              </a:rPr>
              <a:t>export하고 GitHub Pages에</a:t>
            </a:r>
          </a:p>
          <a:p xmlns:a="http://schemas.openxmlformats.org/drawingml/2006/main">
            <a:pPr algn="l">
              <a:defRPr sz="1200" b="0">
                <a:solidFill>
                  <a:srgbClr val="132024"/>
                </a:solidFill>
              </a:defRPr>
            </a:pPr>
            <a:r>
              <a:rPr sz="1200" b="0">
                <a:solidFill>
                  <a:srgbClr val="132024"/>
                </a:solidFill>
              </a:rPr>
              <a:t>배포한다.</a:t>
            </a:r>
          </a:p>
        </p:txBody>
      </p:sp>
      <p:sp>
        <p:nvSpPr>
          <p:cNvPr id="29" name="">
            <a:extLst xmlns:a="http://schemas.openxmlformats.org/drawingml/2006/main">
              <a:ext uri="{FF2B5EF4-FFF2-40B4-BE49-F238E27FC236}">
                <a16:creationId xmlns:a16="http://schemas.microsoft.com/office/drawing/2014/main" id="{B8CB9F7D-5EF6-4CD9-AEE8-B7243E0CE221}"/>
              </a:ext>
            </a:extLst>
          </p:cNvPr>
          <p:cNvSpPr>
            <a:spLocks xmlns:a="http://schemas.openxmlformats.org/drawingml/2006/main" noGrp="1"/>
          </p:cNvSpPr>
          <p:nvPr/>
        </p:nvSpPr>
        <p:spPr>
          <a:xfrm xmlns:a="http://schemas.openxmlformats.org/drawingml/2006/main">
            <a:off x="9105900" y="2724150"/>
            <a:ext cx="23622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4DE1EFD8-2511-44B2-AB54-B5E807847EF9}"/>
              </a:ext>
            </a:extLst>
          </p:cNvPr>
          <p:cNvSpPr>
            <a:spLocks xmlns:a="http://schemas.openxmlformats.org/drawingml/2006/main" noGrp="1"/>
          </p:cNvSpPr>
          <p:nvPr/>
        </p:nvSpPr>
        <p:spPr>
          <a:xfrm xmlns:a="http://schemas.openxmlformats.org/drawingml/2006/main">
            <a:off x="9163050" y="2781300"/>
            <a:ext cx="22479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83B4A6E9-6BB6-46CA-9886-0EB5664D4B04}"/>
              </a:ext>
            </a:extLst>
          </p:cNvPr>
          <p:cNvSpPr>
            <a:spLocks xmlns:a="http://schemas.openxmlformats.org/drawingml/2006/main" noGrp="1"/>
          </p:cNvSpPr>
          <p:nvPr/>
        </p:nvSpPr>
        <p:spPr>
          <a:xfrm xmlns:a="http://schemas.openxmlformats.org/drawingml/2006/main">
            <a:off x="9315450" y="2914650"/>
            <a:ext cx="19431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auto update</a:t>
            </a:r>
          </a:p>
        </p:txBody>
      </p:sp>
      <p:sp>
        <p:nvSpPr>
          <p:cNvPr id="32" name="">
            <a:extLst xmlns:a="http://schemas.openxmlformats.org/drawingml/2006/main">
              <a:ext uri="{FF2B5EF4-FFF2-40B4-BE49-F238E27FC236}">
                <a16:creationId xmlns:a16="http://schemas.microsoft.com/office/drawing/2014/main" id="{1A6EE750-1E9E-460A-AC2C-B1240BCED3C8}"/>
              </a:ext>
            </a:extLst>
          </p:cNvPr>
          <p:cNvSpPr>
            <a:spLocks xmlns:a="http://schemas.openxmlformats.org/drawingml/2006/main" noGrp="1"/>
          </p:cNvSpPr>
          <p:nvPr/>
        </p:nvSpPr>
        <p:spPr>
          <a:xfrm xmlns:a="http://schemas.openxmlformats.org/drawingml/2006/main">
            <a:off x="9315450" y="3333750"/>
            <a:ext cx="19431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watcher와 deploy</a:t>
            </a:r>
          </a:p>
          <a:p xmlns:a="http://schemas.openxmlformats.org/drawingml/2006/main">
            <a:pPr algn="l">
              <a:defRPr sz="1200" b="0">
                <a:solidFill>
                  <a:srgbClr val="132024"/>
                </a:solidFill>
              </a:defRPr>
            </a:pPr>
            <a:r>
              <a:rPr sz="1200" b="0">
                <a:solidFill>
                  <a:srgbClr val="132024"/>
                </a:solidFill>
              </a:rPr>
              <a:t>workflow를 붙여</a:t>
            </a:r>
          </a:p>
          <a:p xmlns:a="http://schemas.openxmlformats.org/drawingml/2006/main">
            <a:pPr algn="l">
              <a:defRPr sz="1200" b="0">
                <a:solidFill>
                  <a:srgbClr val="132024"/>
                </a:solidFill>
              </a:defRPr>
            </a:pPr>
            <a:r>
              <a:rPr sz="1200" b="0">
                <a:solidFill>
                  <a:srgbClr val="132024"/>
                </a:solidFill>
              </a:rPr>
              <a:t>collection 변경이 생기면</a:t>
            </a:r>
          </a:p>
          <a:p xmlns:a="http://schemas.openxmlformats.org/drawingml/2006/main">
            <a:pPr algn="l">
              <a:defRPr sz="1200" b="0">
                <a:solidFill>
                  <a:srgbClr val="132024"/>
                </a:solidFill>
              </a:defRPr>
            </a:pPr>
            <a:r>
              <a:rPr sz="1200" b="0">
                <a:solidFill>
                  <a:srgbClr val="132024"/>
                </a:solidFill>
              </a:rPr>
              <a:t>site도 함께 갱신되도록 만들었다.</a:t>
            </a:r>
          </a:p>
        </p:txBody>
      </p:sp>
      <p:sp>
        <p:nvSpPr>
          <p:cNvPr id="33" name="">
            <a:extLst xmlns:a="http://schemas.openxmlformats.org/drawingml/2006/main">
              <a:ext uri="{FF2B5EF4-FFF2-40B4-BE49-F238E27FC236}">
                <a16:creationId xmlns:a16="http://schemas.microsoft.com/office/drawing/2014/main" id="{3D55D282-11CF-41B4-A093-44202E20BBB5}"/>
              </a:ext>
            </a:extLst>
          </p:cNvPr>
          <p:cNvSpPr>
            <a:spLocks xmlns:a="http://schemas.openxmlformats.org/drawingml/2006/main" noGrp="1"/>
          </p:cNvSpPr>
          <p:nvPr/>
        </p:nvSpPr>
        <p:spPr>
          <a:xfrm xmlns:a="http://schemas.openxmlformats.org/drawingml/2006/main">
            <a:off x="1143000" y="5334000"/>
            <a:ext cx="114300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wiki/*.md</a:t>
            </a:r>
          </a:p>
        </p:txBody>
      </p:sp>
      <p:sp>
        <p:nvSpPr>
          <p:cNvPr id="34" name="">
            <a:extLst xmlns:a="http://schemas.openxmlformats.org/drawingml/2006/main">
              <a:ext uri="{FF2B5EF4-FFF2-40B4-BE49-F238E27FC236}">
                <a16:creationId xmlns:a16="http://schemas.microsoft.com/office/drawing/2014/main" id="{7CB18FCF-190C-4044-8E9A-153BE5B8F080}"/>
              </a:ext>
            </a:extLst>
          </p:cNvPr>
          <p:cNvSpPr>
            <a:spLocks xmlns:a="http://schemas.openxmlformats.org/drawingml/2006/main" noGrp="1"/>
          </p:cNvSpPr>
          <p:nvPr/>
        </p:nvSpPr>
        <p:spPr>
          <a:xfrm xmlns:a="http://schemas.openxmlformats.org/drawingml/2006/main">
            <a:off x="24003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19011405-99DA-446B-BAB7-3659CFA487A3}"/>
              </a:ext>
            </a:extLst>
          </p:cNvPr>
          <p:cNvSpPr>
            <a:spLocks xmlns:a="http://schemas.openxmlformats.org/drawingml/2006/main" noGrp="1"/>
          </p:cNvSpPr>
          <p:nvPr/>
        </p:nvSpPr>
        <p:spPr>
          <a:xfrm xmlns:a="http://schemas.openxmlformats.org/drawingml/2006/main">
            <a:off x="3200400" y="5334000"/>
            <a:ext cx="114300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wiki_html</a:t>
            </a:r>
          </a:p>
        </p:txBody>
      </p:sp>
      <p:sp>
        <p:nvSpPr>
          <p:cNvPr id="36" name="">
            <a:extLst xmlns:a="http://schemas.openxmlformats.org/drawingml/2006/main">
              <a:ext uri="{FF2B5EF4-FFF2-40B4-BE49-F238E27FC236}">
                <a16:creationId xmlns:a16="http://schemas.microsoft.com/office/drawing/2014/main" id="{C56314CD-BFCD-4841-BC9F-03433DF6A59A}"/>
              </a:ext>
            </a:extLst>
          </p:cNvPr>
          <p:cNvSpPr>
            <a:spLocks xmlns:a="http://schemas.openxmlformats.org/drawingml/2006/main" noGrp="1"/>
          </p:cNvSpPr>
          <p:nvPr/>
        </p:nvSpPr>
        <p:spPr>
          <a:xfrm xmlns:a="http://schemas.openxmlformats.org/drawingml/2006/main">
            <a:off x="447675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A0DF561B-A7BA-423F-9594-4FE8A7F7B261}"/>
              </a:ext>
            </a:extLst>
          </p:cNvPr>
          <p:cNvSpPr>
            <a:spLocks xmlns:a="http://schemas.openxmlformats.org/drawingml/2006/main" noGrp="1"/>
          </p:cNvSpPr>
          <p:nvPr/>
        </p:nvSpPr>
        <p:spPr>
          <a:xfrm xmlns:a="http://schemas.openxmlformats.org/drawingml/2006/main">
            <a:off x="5295900" y="5334000"/>
            <a:ext cx="125730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local search</a:t>
            </a:r>
          </a:p>
        </p:txBody>
      </p:sp>
      <p:sp>
        <p:nvSpPr>
          <p:cNvPr id="38" name="">
            <a:extLst xmlns:a="http://schemas.openxmlformats.org/drawingml/2006/main">
              <a:ext uri="{FF2B5EF4-FFF2-40B4-BE49-F238E27FC236}">
                <a16:creationId xmlns:a16="http://schemas.microsoft.com/office/drawing/2014/main" id="{2B03E13C-0C86-45CE-9FC6-3F1164F36858}"/>
              </a:ext>
            </a:extLst>
          </p:cNvPr>
          <p:cNvSpPr>
            <a:spLocks xmlns:a="http://schemas.openxmlformats.org/drawingml/2006/main" noGrp="1"/>
          </p:cNvSpPr>
          <p:nvPr/>
        </p:nvSpPr>
        <p:spPr>
          <a:xfrm xmlns:a="http://schemas.openxmlformats.org/drawingml/2006/main">
            <a:off x="66675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F1408503-F784-409B-B584-15BBB0BCB965}"/>
              </a:ext>
            </a:extLst>
          </p:cNvPr>
          <p:cNvSpPr>
            <a:spLocks xmlns:a="http://schemas.openxmlformats.org/drawingml/2006/main" noGrp="1"/>
          </p:cNvSpPr>
          <p:nvPr/>
        </p:nvSpPr>
        <p:spPr>
          <a:xfrm xmlns:a="http://schemas.openxmlformats.org/drawingml/2006/main">
            <a:off x="7486650" y="5334000"/>
            <a:ext cx="13906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GitHub Pages</a:t>
            </a:r>
          </a:p>
        </p:txBody>
      </p:sp>
      <p:sp>
        <p:nvSpPr>
          <p:cNvPr id="40" name="">
            <a:extLst xmlns:a="http://schemas.openxmlformats.org/drawingml/2006/main">
              <a:ext uri="{FF2B5EF4-FFF2-40B4-BE49-F238E27FC236}">
                <a16:creationId xmlns:a16="http://schemas.microsoft.com/office/drawing/2014/main" id="{ABB4E55C-F368-4D3B-AB90-C720F4A72B4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접근 계층: Markdown wiki를 읽기 쉬운 site로 바꿔 검색, 탐색, 공유가 가능하도록 했다.</a:t>
            </a:r>
          </a:p>
        </p:txBody>
      </p:sp>
    </p:spTree>
    <p:extLst>
      <p:ext uri="{BB962C8B-B14F-4D97-AF65-F5344CB8AC3E}">
        <p14:creationId xmlns:p14="http://schemas.microsoft.com/office/powerpoint/2010/main" val="657065476"/>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ac2505a1bf54d9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0176DA0-CB94-4D45-B2FD-83FAAE336AD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927C78D-1C19-43E7-A9A9-C24F229832C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65400EB-13AA-4F36-A6A0-6B5FF7C8E12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F7092360-00C3-4DD7-B539-D43FA585235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BF73D49-DFB1-4856-8EDE-11C2335CC4E9}"/>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50125A6-EBA8-46D6-BB49-9D3F23E9ED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267F57E-8669-4375-BB82-9C55AFA3B4F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BRAIN</a:t>
            </a:r>
          </a:p>
        </p:txBody>
      </p:sp>
      <p:sp>
        <p:nvSpPr>
          <p:cNvPr id="10" name="">
            <a:extLst xmlns:a="http://schemas.openxmlformats.org/drawingml/2006/main">
              <a:ext uri="{FF2B5EF4-FFF2-40B4-BE49-F238E27FC236}">
                <a16:creationId xmlns:a16="http://schemas.microsoft.com/office/drawing/2014/main" id="{90AD5F5B-033F-4783-BBCA-4C7595EB6A8D}"/>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12</a:t>
            </a:r>
          </a:p>
        </p:txBody>
      </p:sp>
      <p:sp>
        <p:nvSpPr>
          <p:cNvPr id="11" name="">
            <a:extLst xmlns:a="http://schemas.openxmlformats.org/drawingml/2006/main">
              <a:ext uri="{FF2B5EF4-FFF2-40B4-BE49-F238E27FC236}">
                <a16:creationId xmlns:a16="http://schemas.microsoft.com/office/drawing/2014/main" id="{7CA47789-0948-4065-A810-E572F7449B89}"/>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C426C54D-298F-4CD7-908D-9B460B91446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F7B24E1E-675F-4434-B927-574FD6F08AAA}"/>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왜 organoid collection에서</a:t>
            </a:r>
          </a:p>
          <a:p xmlns:a="http://schemas.openxmlformats.org/drawingml/2006/main">
            <a:pPr algn="l">
              <a:defRPr sz="2850" b="1">
                <a:solidFill>
                  <a:srgbClr val="132024"/>
                </a:solidFill>
              </a:defRPr>
            </a:pPr>
            <a:r>
              <a:rPr sz="2850" b="1">
                <a:solidFill>
                  <a:srgbClr val="132024"/>
                </a:solidFill>
              </a:rPr>
              <a:t>brain branch를 발표 사례로 골랐나</a:t>
            </a:r>
          </a:p>
        </p:txBody>
      </p:sp>
      <p:sp>
        <p:nvSpPr>
          <p:cNvPr id="14" name="">
            <a:extLst xmlns:a="http://schemas.openxmlformats.org/drawingml/2006/main">
              <a:ext uri="{FF2B5EF4-FFF2-40B4-BE49-F238E27FC236}">
                <a16:creationId xmlns:a16="http://schemas.microsoft.com/office/drawing/2014/main" id="{F7213B3A-AB04-4B57-B4B6-C5B5C07B2698}"/>
              </a:ext>
            </a:extLst>
          </p:cNvPr>
          <p:cNvSpPr>
            <a:spLocks xmlns:a="http://schemas.openxmlformats.org/drawingml/2006/main" noGrp="1"/>
          </p:cNvSpPr>
          <p:nvPr/>
        </p:nvSpPr>
        <p:spPr>
          <a:xfrm xmlns:a="http://schemas.openxmlformats.org/drawingml/2006/main">
            <a:off x="70485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A4BD73D5-33FA-43E1-A8F1-2766EA47A339}"/>
              </a:ext>
            </a:extLst>
          </p:cNvPr>
          <p:cNvSpPr>
            <a:spLocks xmlns:a="http://schemas.openxmlformats.org/drawingml/2006/main" noGrp="1"/>
          </p:cNvSpPr>
          <p:nvPr/>
        </p:nvSpPr>
        <p:spPr>
          <a:xfrm xmlns:a="http://schemas.openxmlformats.org/drawingml/2006/main">
            <a:off x="762000" y="2362200"/>
            <a:ext cx="3048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E680CC7A-2EEC-4CBE-BFA4-6105EA9B9EF9}"/>
              </a:ext>
            </a:extLst>
          </p:cNvPr>
          <p:cNvSpPr>
            <a:spLocks xmlns:a="http://schemas.openxmlformats.org/drawingml/2006/main" noGrp="1"/>
          </p:cNvSpPr>
          <p:nvPr/>
        </p:nvSpPr>
        <p:spPr>
          <a:xfrm xmlns:a="http://schemas.openxmlformats.org/drawingml/2006/main">
            <a:off x="91440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protocol family가 보인다</a:t>
            </a:r>
          </a:p>
        </p:txBody>
      </p:sp>
      <p:sp>
        <p:nvSpPr>
          <p:cNvPr id="17" name="">
            <a:extLst xmlns:a="http://schemas.openxmlformats.org/drawingml/2006/main">
              <a:ext uri="{FF2B5EF4-FFF2-40B4-BE49-F238E27FC236}">
                <a16:creationId xmlns:a16="http://schemas.microsoft.com/office/drawing/2014/main" id="{45723F24-6935-4A6A-B3DB-02C301BCC8B7}"/>
              </a:ext>
            </a:extLst>
          </p:cNvPr>
          <p:cNvSpPr>
            <a:spLocks xmlns:a="http://schemas.openxmlformats.org/drawingml/2006/main" noGrp="1"/>
          </p:cNvSpPr>
          <p:nvPr/>
        </p:nvSpPr>
        <p:spPr>
          <a:xfrm xmlns:a="http://schemas.openxmlformats.org/drawingml/2006/main">
            <a:off x="91440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cerebral,</a:t>
            </a:r>
          </a:p>
          <a:p xmlns:a="http://schemas.openxmlformats.org/drawingml/2006/main">
            <a:pPr algn="l">
              <a:defRPr sz="1200" b="0">
                <a:solidFill>
                  <a:srgbClr val="132024"/>
                </a:solidFill>
              </a:defRPr>
            </a:pPr>
            <a:r>
              <a:rPr sz="1200" b="0">
                <a:solidFill>
                  <a:srgbClr val="132024"/>
                </a:solidFill>
              </a:rPr>
              <a:t>forebrain/cortical,</a:t>
            </a:r>
          </a:p>
          <a:p xmlns:a="http://schemas.openxmlformats.org/drawingml/2006/main">
            <a:pPr algn="l">
              <a:defRPr sz="1200" b="0">
                <a:solidFill>
                  <a:srgbClr val="132024"/>
                </a:solidFill>
              </a:defRPr>
            </a:pPr>
            <a:r>
              <a:rPr sz="1200" b="0">
                <a:solidFill>
                  <a:srgbClr val="132024"/>
                </a:solidFill>
              </a:rPr>
              <a:t>posterior/niche가 한 branch</a:t>
            </a:r>
          </a:p>
          <a:p xmlns:a="http://schemas.openxmlformats.org/drawingml/2006/main">
            <a:pPr algn="l">
              <a:defRPr sz="1200" b="0">
                <a:solidFill>
                  <a:srgbClr val="132024"/>
                </a:solidFill>
              </a:defRPr>
            </a:pPr>
            <a:r>
              <a:rPr sz="1200" b="0">
                <a:solidFill>
                  <a:srgbClr val="132024"/>
                </a:solidFill>
              </a:rPr>
              <a:t>안에서 연속적으로 정리된다.</a:t>
            </a:r>
          </a:p>
        </p:txBody>
      </p:sp>
      <p:sp>
        <p:nvSpPr>
          <p:cNvPr id="18" name="">
            <a:extLst xmlns:a="http://schemas.openxmlformats.org/drawingml/2006/main">
              <a:ext uri="{FF2B5EF4-FFF2-40B4-BE49-F238E27FC236}">
                <a16:creationId xmlns:a16="http://schemas.microsoft.com/office/drawing/2014/main" id="{E59EDBA6-0024-4973-BAD1-8D1597DED986}"/>
              </a:ext>
            </a:extLst>
          </p:cNvPr>
          <p:cNvSpPr>
            <a:spLocks xmlns:a="http://schemas.openxmlformats.org/drawingml/2006/main" noGrp="1"/>
          </p:cNvSpPr>
          <p:nvPr/>
        </p:nvSpPr>
        <p:spPr>
          <a:xfrm xmlns:a="http://schemas.openxmlformats.org/drawingml/2006/main">
            <a:off x="400050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19" name="">
            <a:extLst xmlns:a="http://schemas.openxmlformats.org/drawingml/2006/main">
              <a:ext uri="{FF2B5EF4-FFF2-40B4-BE49-F238E27FC236}">
                <a16:creationId xmlns:a16="http://schemas.microsoft.com/office/drawing/2014/main" id="{5E61E24B-DC60-4380-8BB9-6AF372CCDD61}"/>
              </a:ext>
            </a:extLst>
          </p:cNvPr>
          <p:cNvSpPr>
            <a:spLocks xmlns:a="http://schemas.openxmlformats.org/drawingml/2006/main" noGrp="1"/>
          </p:cNvSpPr>
          <p:nvPr/>
        </p:nvSpPr>
        <p:spPr>
          <a:xfrm xmlns:a="http://schemas.openxmlformats.org/drawingml/2006/main">
            <a:off x="476250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E35C5716-FDA8-482B-8F52-2DD2BFB9FBC3}"/>
              </a:ext>
            </a:extLst>
          </p:cNvPr>
          <p:cNvSpPr>
            <a:spLocks xmlns:a="http://schemas.openxmlformats.org/drawingml/2006/main" noGrp="1"/>
          </p:cNvSpPr>
          <p:nvPr/>
        </p:nvSpPr>
        <p:spPr>
          <a:xfrm xmlns:a="http://schemas.openxmlformats.org/drawingml/2006/main">
            <a:off x="4819650" y="2362200"/>
            <a:ext cx="3048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637DCC7B-B0E2-4444-9F3C-0FCC9C6C957E}"/>
              </a:ext>
            </a:extLst>
          </p:cNvPr>
          <p:cNvSpPr>
            <a:spLocks xmlns:a="http://schemas.openxmlformats.org/drawingml/2006/main" noGrp="1"/>
          </p:cNvSpPr>
          <p:nvPr/>
        </p:nvSpPr>
        <p:spPr>
          <a:xfrm xmlns:a="http://schemas.openxmlformats.org/drawingml/2006/main">
            <a:off x="497205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benchmark가 붙는다</a:t>
            </a:r>
          </a:p>
        </p:txBody>
      </p:sp>
      <p:sp>
        <p:nvSpPr>
          <p:cNvPr id="22" name="">
            <a:extLst xmlns:a="http://schemas.openxmlformats.org/drawingml/2006/main">
              <a:ext uri="{FF2B5EF4-FFF2-40B4-BE49-F238E27FC236}">
                <a16:creationId xmlns:a16="http://schemas.microsoft.com/office/drawing/2014/main" id="{6F08D250-0BF9-41C3-AA3E-9A4D61909DF1}"/>
              </a:ext>
            </a:extLst>
          </p:cNvPr>
          <p:cNvSpPr>
            <a:spLocks xmlns:a="http://schemas.openxmlformats.org/drawingml/2006/main" noGrp="1"/>
          </p:cNvSpPr>
          <p:nvPr/>
        </p:nvSpPr>
        <p:spPr>
          <a:xfrm xmlns:a="http://schemas.openxmlformats.org/drawingml/2006/main">
            <a:off x="497205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branch 안에서도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alignment를 따로</a:t>
            </a:r>
          </a:p>
          <a:p xmlns:a="http://schemas.openxmlformats.org/drawingml/2006/main">
            <a:pPr algn="l">
              <a:defRPr sz="1200" b="0">
                <a:solidFill>
                  <a:srgbClr val="132024"/>
                </a:solidFill>
              </a:defRPr>
            </a:pPr>
            <a:r>
              <a:rPr sz="1200" b="0">
                <a:solidFill>
                  <a:srgbClr val="132024"/>
                </a:solidFill>
              </a:rPr>
              <a:t>볼 수 있다.</a:t>
            </a:r>
          </a:p>
        </p:txBody>
      </p:sp>
      <p:sp>
        <p:nvSpPr>
          <p:cNvPr id="23" name="">
            <a:extLst xmlns:a="http://schemas.openxmlformats.org/drawingml/2006/main">
              <a:ext uri="{FF2B5EF4-FFF2-40B4-BE49-F238E27FC236}">
                <a16:creationId xmlns:a16="http://schemas.microsoft.com/office/drawing/2014/main" id="{E77F8F86-64D9-4A03-9AFF-72A1B5FE3FC0}"/>
              </a:ext>
            </a:extLst>
          </p:cNvPr>
          <p:cNvSpPr>
            <a:spLocks xmlns:a="http://schemas.openxmlformats.org/drawingml/2006/main" noGrp="1"/>
          </p:cNvSpPr>
          <p:nvPr/>
        </p:nvSpPr>
        <p:spPr>
          <a:xfrm xmlns:a="http://schemas.openxmlformats.org/drawingml/2006/main">
            <a:off x="805815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4" name="">
            <a:extLst xmlns:a="http://schemas.openxmlformats.org/drawingml/2006/main">
              <a:ext uri="{FF2B5EF4-FFF2-40B4-BE49-F238E27FC236}">
                <a16:creationId xmlns:a16="http://schemas.microsoft.com/office/drawing/2014/main" id="{5B19AC11-8A8C-4AC7-946A-81E3687275DE}"/>
              </a:ext>
            </a:extLst>
          </p:cNvPr>
          <p:cNvSpPr>
            <a:spLocks xmlns:a="http://schemas.openxmlformats.org/drawingml/2006/main" noGrp="1"/>
          </p:cNvSpPr>
          <p:nvPr/>
        </p:nvSpPr>
        <p:spPr>
          <a:xfrm xmlns:a="http://schemas.openxmlformats.org/drawingml/2006/main">
            <a:off x="8820150" y="2305050"/>
            <a:ext cx="26670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3C35DB87-1DAE-495F-9554-3F7CF50A7281}"/>
              </a:ext>
            </a:extLst>
          </p:cNvPr>
          <p:cNvSpPr>
            <a:spLocks xmlns:a="http://schemas.openxmlformats.org/drawingml/2006/main" noGrp="1"/>
          </p:cNvSpPr>
          <p:nvPr/>
        </p:nvSpPr>
        <p:spPr>
          <a:xfrm xmlns:a="http://schemas.openxmlformats.org/drawingml/2006/main">
            <a:off x="8877300" y="2362200"/>
            <a:ext cx="25527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C847720D-698C-4B95-8B72-4F4BB513F5C6}"/>
              </a:ext>
            </a:extLst>
          </p:cNvPr>
          <p:cNvSpPr>
            <a:spLocks xmlns:a="http://schemas.openxmlformats.org/drawingml/2006/main" noGrp="1"/>
          </p:cNvSpPr>
          <p:nvPr/>
        </p:nvSpPr>
        <p:spPr>
          <a:xfrm xmlns:a="http://schemas.openxmlformats.org/drawingml/2006/main">
            <a:off x="9029700" y="2495550"/>
            <a:ext cx="2247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readout로 닫힌다</a:t>
            </a:r>
          </a:p>
        </p:txBody>
      </p:sp>
      <p:sp>
        <p:nvSpPr>
          <p:cNvPr id="27" name="">
            <a:extLst xmlns:a="http://schemas.openxmlformats.org/drawingml/2006/main">
              <a:ext uri="{FF2B5EF4-FFF2-40B4-BE49-F238E27FC236}">
                <a16:creationId xmlns:a16="http://schemas.microsoft.com/office/drawing/2014/main" id="{12A67CFA-0FA8-4E69-8746-3352D9546D71}"/>
              </a:ext>
            </a:extLst>
          </p:cNvPr>
          <p:cNvSpPr>
            <a:spLocks xmlns:a="http://schemas.openxmlformats.org/drawingml/2006/main" noGrp="1"/>
          </p:cNvSpPr>
          <p:nvPr/>
        </p:nvSpPr>
        <p:spPr>
          <a:xfrm xmlns:a="http://schemas.openxmlformats.org/drawingml/2006/main">
            <a:off x="9029700" y="2914650"/>
            <a:ext cx="22479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결국 protocol choice가</a:t>
            </a:r>
          </a:p>
          <a:p xmlns:a="http://schemas.openxmlformats.org/drawingml/2006/main">
            <a:pPr algn="l">
              <a:defRPr sz="1200" b="0">
                <a:solidFill>
                  <a:srgbClr val="132024"/>
                </a:solidFill>
              </a:defRPr>
            </a:pPr>
            <a:r>
              <a:rPr sz="1200" b="0">
                <a:solidFill>
                  <a:srgbClr val="132024"/>
                </a:solidFill>
              </a:rPr>
              <a:t>readout-first rule로</a:t>
            </a:r>
          </a:p>
          <a:p xmlns:a="http://schemas.openxmlformats.org/drawingml/2006/main">
            <a:pPr algn="l">
              <a:defRPr sz="1200" b="0">
                <a:solidFill>
                  <a:srgbClr val="132024"/>
                </a:solidFill>
              </a:defRPr>
            </a:pPr>
            <a:r>
              <a:rPr sz="1200" b="0">
                <a:solidFill>
                  <a:srgbClr val="132024"/>
                </a:solidFill>
              </a:rPr>
              <a:t>이동하면서 발표의 결론을 만들 수 있다.</a:t>
            </a:r>
          </a:p>
        </p:txBody>
      </p:sp>
      <p:sp>
        <p:nvSpPr>
          <p:cNvPr id="28" name="">
            <a:extLst xmlns:a="http://schemas.openxmlformats.org/drawingml/2006/main">
              <a:ext uri="{FF2B5EF4-FFF2-40B4-BE49-F238E27FC236}">
                <a16:creationId xmlns:a16="http://schemas.microsoft.com/office/drawing/2014/main" id="{555C44C3-A32C-4CAF-94C6-A81CD34BA484}"/>
              </a:ext>
            </a:extLst>
          </p:cNvPr>
          <p:cNvSpPr>
            <a:spLocks xmlns:a="http://schemas.openxmlformats.org/drawingml/2006/main" noGrp="1"/>
          </p:cNvSpPr>
          <p:nvPr/>
        </p:nvSpPr>
        <p:spPr>
          <a:xfrm xmlns:a="http://schemas.openxmlformats.org/drawingml/2006/main">
            <a:off x="723900" y="5029200"/>
            <a:ext cx="107442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0C6EE6FA-2580-4E58-92A8-4AF9D2BEC5AD}"/>
              </a:ext>
            </a:extLst>
          </p:cNvPr>
          <p:cNvSpPr>
            <a:spLocks xmlns:a="http://schemas.openxmlformats.org/drawingml/2006/main" noGrp="1"/>
          </p:cNvSpPr>
          <p:nvPr/>
        </p:nvSpPr>
        <p:spPr>
          <a:xfrm xmlns:a="http://schemas.openxmlformats.org/drawingml/2006/main">
            <a:off x="771525" y="50768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6A074246-2878-42F2-B089-F8FEDD5EE8E3}"/>
              </a:ext>
            </a:extLst>
          </p:cNvPr>
          <p:cNvSpPr>
            <a:spLocks xmlns:a="http://schemas.openxmlformats.org/drawingml/2006/main" noGrp="1"/>
          </p:cNvSpPr>
          <p:nvPr/>
        </p:nvSpPr>
        <p:spPr>
          <a:xfrm xmlns:a="http://schemas.openxmlformats.org/drawingml/2006/main">
            <a:off x="933450" y="5181600"/>
            <a:ext cx="103632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brain branch는 protocol family -&gt; benchmark -&gt; readout이 한 흐름으로 이어져, 질문이 이동하는 과정을 가장 선명하게 보여준다.</a:t>
            </a:r>
          </a:p>
        </p:txBody>
      </p:sp>
      <p:sp>
        <p:nvSpPr>
          <p:cNvPr id="31" name="">
            <a:extLst xmlns:a="http://schemas.openxmlformats.org/drawingml/2006/main">
              <a:ext uri="{FF2B5EF4-FFF2-40B4-BE49-F238E27FC236}">
                <a16:creationId xmlns:a16="http://schemas.microsoft.com/office/drawing/2014/main" id="{B4810F55-A541-447F-A71F-7DB5C978023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그래서 organoid collection 전체 중에서도 brain branch가 발표 사례로 가장 적합했다.</a:t>
            </a:r>
          </a:p>
        </p:txBody>
      </p:sp>
    </p:spTree>
    <p:extLst>
      <p:ext uri="{BB962C8B-B14F-4D97-AF65-F5344CB8AC3E}">
        <p14:creationId xmlns:p14="http://schemas.microsoft.com/office/powerpoint/2010/main" val="159160505"/>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57a5ae816884c30"/>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63D9984-C04E-4B2F-AFC3-82E6C94A8EB9}"/>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7632623-F1D3-4547-A15C-9781F58C26C1}"/>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EFF29E7-5A0C-484A-8413-D17DDCD72398}"/>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43B71630-46D2-45ED-8B30-78C05C8A97E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62F62BB9-2552-44AA-B081-5AE82F40A27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2E3A9A4-7DEA-49C6-9807-10BC1CD0D7D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E3E4714-78B3-4630-971F-4B7ED6498E2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08524345-1E28-48F4-999F-54B3F1FF0B58}"/>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12</a:t>
            </a:r>
          </a:p>
        </p:txBody>
      </p:sp>
      <p:sp>
        <p:nvSpPr>
          <p:cNvPr id="11" name="">
            <a:extLst xmlns:a="http://schemas.openxmlformats.org/drawingml/2006/main">
              <a:ext uri="{FF2B5EF4-FFF2-40B4-BE49-F238E27FC236}">
                <a16:creationId xmlns:a16="http://schemas.microsoft.com/office/drawing/2014/main" id="{0D4FC634-9291-4348-BA16-893CABFA1A3E}"/>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205963A-7D47-4474-855A-28451B35729E}"/>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95EB8D1-E04C-4C12-92F0-9CE834DBB7ED}"/>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1차 질문: 어떤 brain subregion</a:t>
            </a:r>
          </a:p>
          <a:p xmlns:a="http://schemas.openxmlformats.org/drawingml/2006/main">
            <a:pPr algn="l">
              <a:defRPr sz="2700" b="1">
                <a:solidFill>
                  <a:srgbClr val="132024"/>
                </a:solidFill>
              </a:defRPr>
            </a:pPr>
            <a:r>
              <a:rPr sz="2700" b="1">
                <a:solidFill>
                  <a:srgbClr val="132024"/>
                </a:solidFill>
              </a:rPr>
              <a:t>프로토콜을 비교해야 하는가</a:t>
            </a:r>
          </a:p>
        </p:txBody>
      </p:sp>
      <p:sp>
        <p:nvSpPr>
          <p:cNvPr id="14" name="">
            <a:extLst xmlns:a="http://schemas.openxmlformats.org/drawingml/2006/main">
              <a:ext uri="{FF2B5EF4-FFF2-40B4-BE49-F238E27FC236}">
                <a16:creationId xmlns:a16="http://schemas.microsoft.com/office/drawing/2014/main" id="{A332C973-F6CA-452D-A1F2-C3D7E7FCAA27}"/>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74FFFC3B-6234-4976-AC3F-83FB0A46881A}"/>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6A8CC2E8-DC5E-459F-A5F1-39733FF996D3}"/>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출발 질문</a:t>
            </a:r>
          </a:p>
        </p:txBody>
      </p:sp>
      <p:sp>
        <p:nvSpPr>
          <p:cNvPr id="17" name="">
            <a:extLst xmlns:a="http://schemas.openxmlformats.org/drawingml/2006/main">
              <a:ext uri="{FF2B5EF4-FFF2-40B4-BE49-F238E27FC236}">
                <a16:creationId xmlns:a16="http://schemas.microsoft.com/office/drawing/2014/main" id="{CA17FD2E-1859-4C84-BD96-D4EB2A72F5D2}"/>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forebrain,</a:t>
            </a:r>
          </a:p>
          <a:p xmlns:a="http://schemas.openxmlformats.org/drawingml/2006/main">
            <a:pPr algn="l">
              <a:defRPr sz="1200" b="0">
                <a:solidFill>
                  <a:srgbClr val="132024"/>
                </a:solidFill>
              </a:defRPr>
            </a:pPr>
            <a:r>
              <a:rPr sz="1200" b="0">
                <a:solidFill>
                  <a:srgbClr val="132024"/>
                </a:solidFill>
              </a:rPr>
              <a:t>posterior/niche 중 어떤 branch가</a:t>
            </a:r>
          </a:p>
          <a:p xmlns:a="http://schemas.openxmlformats.org/drawingml/2006/main">
            <a:pPr algn="l">
              <a:defRPr sz="1200" b="0">
                <a:solidFill>
                  <a:srgbClr val="132024"/>
                </a:solidFill>
              </a:defRPr>
            </a:pPr>
            <a:r>
              <a:rPr sz="1200" b="0">
                <a:solidFill>
                  <a:srgbClr val="132024"/>
                </a:solidFill>
              </a:rPr>
              <a:t>맞는가?</a:t>
            </a:r>
          </a:p>
        </p:txBody>
      </p:sp>
      <p:sp>
        <p:nvSpPr>
          <p:cNvPr id="18" name="">
            <a:extLst xmlns:a="http://schemas.openxmlformats.org/drawingml/2006/main">
              <a:ext uri="{FF2B5EF4-FFF2-40B4-BE49-F238E27FC236}">
                <a16:creationId xmlns:a16="http://schemas.microsoft.com/office/drawing/2014/main" id="{C2E68F0F-B1A4-4191-8B07-3196AA8C29E7}"/>
              </a:ext>
            </a:extLst>
          </p:cNvPr>
          <p:cNvSpPr>
            <a:spLocks xmlns:a="http://schemas.openxmlformats.org/drawingml/2006/main" noGrp="1"/>
          </p:cNvSpPr>
          <p:nvPr/>
        </p:nvSpPr>
        <p:spPr>
          <a:xfrm xmlns:a="http://schemas.openxmlformats.org/drawingml/2006/main">
            <a:off x="685800" y="36385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172A3708-29C4-4B44-834B-416BF1DC1897}"/>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F99E9EDD-4FD7-49AF-A5E6-3D3987AFAE80}"/>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5F16CE58-7A02-4CE9-94D7-1F680026A3D1}"/>
              </a:ext>
            </a:extLst>
          </p:cNvPr>
          <p:cNvSpPr>
            <a:spLocks xmlns:a="http://schemas.openxmlformats.org/drawingml/2006/main" noGrp="1"/>
          </p:cNvSpPr>
          <p:nvPr/>
        </p:nvSpPr>
        <p:spPr>
          <a:xfrm xmlns:a="http://schemas.openxmlformats.org/drawingml/2006/main">
            <a:off x="895350" y="42481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Lancaster, Sloan,</a:t>
            </a:r>
          </a:p>
          <a:p xmlns:a="http://schemas.openxmlformats.org/drawingml/2006/main">
            <a:pPr algn="l">
              <a:defRPr sz="1200" b="0">
                <a:solidFill>
                  <a:srgbClr val="132024"/>
                </a:solidFill>
              </a:defRPr>
            </a:pPr>
            <a:r>
              <a:rPr sz="1200" b="0">
                <a:solidFill>
                  <a:srgbClr val="132024"/>
                </a:solidFill>
              </a:rPr>
              <a:t>Fitzgerald, Zagare 등 주요</a:t>
            </a:r>
          </a:p>
          <a:p xmlns:a="http://schemas.openxmlformats.org/drawingml/2006/main">
            <a:pPr algn="l">
              <a:defRPr sz="1200" b="0">
                <a:solidFill>
                  <a:srgbClr val="132024"/>
                </a:solidFill>
              </a:defRPr>
            </a:pPr>
            <a:r>
              <a:rPr sz="1200" b="0">
                <a:solidFill>
                  <a:srgbClr val="132024"/>
                </a:solidFill>
              </a:rPr>
              <a:t>protocol paper</a:t>
            </a:r>
          </a:p>
        </p:txBody>
      </p:sp>
      <p:sp>
        <p:nvSpPr>
          <p:cNvPr id="22" name="">
            <a:extLst xmlns:a="http://schemas.openxmlformats.org/drawingml/2006/main">
              <a:ext uri="{FF2B5EF4-FFF2-40B4-BE49-F238E27FC236}">
                <a16:creationId xmlns:a16="http://schemas.microsoft.com/office/drawing/2014/main" id="{D05E2398-A52E-471C-BE53-672390926094}"/>
              </a:ext>
            </a:extLst>
          </p:cNvPr>
          <p:cNvSpPr>
            <a:spLocks xmlns:a="http://schemas.openxmlformats.org/drawingml/2006/main" noGrp="1"/>
          </p:cNvSpPr>
          <p:nvPr/>
        </p:nvSpPr>
        <p:spPr>
          <a:xfrm xmlns:a="http://schemas.openxmlformats.org/drawingml/2006/main">
            <a:off x="685800" y="5162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FD5F3443-7C29-4062-A317-E95701EE5D9C}"/>
              </a:ext>
            </a:extLst>
          </p:cNvPr>
          <p:cNvSpPr>
            <a:spLocks xmlns:a="http://schemas.openxmlformats.org/drawingml/2006/main" noGrp="1"/>
          </p:cNvSpPr>
          <p:nvPr/>
        </p:nvSpPr>
        <p:spPr>
          <a:xfrm xmlns:a="http://schemas.openxmlformats.org/drawingml/2006/main">
            <a:off x="742950" y="52197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E3B24FDA-3CB2-4801-AEDE-EDD7F4D224A0}"/>
              </a:ext>
            </a:extLst>
          </p:cNvPr>
          <p:cNvSpPr>
            <a:spLocks xmlns:a="http://schemas.openxmlformats.org/drawingml/2006/main" noGrp="1"/>
          </p:cNvSpPr>
          <p:nvPr/>
        </p:nvSpPr>
        <p:spPr>
          <a:xfrm xmlns:a="http://schemas.openxmlformats.org/drawingml/2006/main">
            <a:off x="895350" y="5353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1차 해석</a:t>
            </a:r>
          </a:p>
        </p:txBody>
      </p:sp>
      <p:sp>
        <p:nvSpPr>
          <p:cNvPr id="25" name="">
            <a:extLst xmlns:a="http://schemas.openxmlformats.org/drawingml/2006/main">
              <a:ext uri="{FF2B5EF4-FFF2-40B4-BE49-F238E27FC236}">
                <a16:creationId xmlns:a16="http://schemas.microsoft.com/office/drawing/2014/main" id="{B8D74735-560F-4D56-B6D5-1888F97CA4C7}"/>
              </a:ext>
            </a:extLst>
          </p:cNvPr>
          <p:cNvSpPr>
            <a:spLocks xmlns:a="http://schemas.openxmlformats.org/drawingml/2006/main" noGrp="1"/>
          </p:cNvSpPr>
          <p:nvPr/>
        </p:nvSpPr>
        <p:spPr>
          <a:xfrm xmlns:a="http://schemas.openxmlformats.org/drawingml/2006/main">
            <a:off x="895350" y="5772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1차 결론: 우선 subregion</a:t>
            </a:r>
          </a:p>
          <a:p xmlns:a="http://schemas.openxmlformats.org/drawingml/2006/main">
            <a:pPr algn="l">
              <a:defRPr sz="1200" b="0">
                <a:solidFill>
                  <a:srgbClr val="132024"/>
                </a:solidFill>
              </a:defRPr>
            </a:pPr>
            <a:r>
              <a:rPr sz="1200" b="0">
                <a:solidFill>
                  <a:srgbClr val="132024"/>
                </a:solidFill>
              </a:rPr>
              <a:t>selection 문제로 읽었다.</a:t>
            </a:r>
          </a:p>
        </p:txBody>
      </p:sp>
      <p:sp>
        <p:nvSpPr>
          <p:cNvPr id="26" name="">
            <a:extLst xmlns:a="http://schemas.openxmlformats.org/drawingml/2006/main">
              <a:ext uri="{FF2B5EF4-FFF2-40B4-BE49-F238E27FC236}">
                <a16:creationId xmlns:a16="http://schemas.microsoft.com/office/drawing/2014/main" id="{2CB4D230-FD4B-4CEE-A3FC-4EFD15196DD4}"/>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DD6E0FDC-DDDB-4D68-A6AA-EEADE81A7ECC}"/>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F21200E9-3A22-43D3-963D-AD5869151DF3}"/>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6E56D51A-7F31-44DF-B4EA-94FE54C8DCC2}"/>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8F36BBB0-A0F9-405C-83AD-8F30AC550B5E}"/>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757A48BB-462D-48F8-9435-2F21B104BF69}"/>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collections/organoid/wiki/queries/20260408_174047_brain-subregion-protocol-comparison.md</a:t>
            </a:r>
          </a:p>
        </p:txBody>
      </p:sp>
      <p:sp>
        <p:nvSpPr>
          <p:cNvPr id="32" name="">
            <a:extLst xmlns:a="http://schemas.openxmlformats.org/drawingml/2006/main">
              <a:ext uri="{FF2B5EF4-FFF2-40B4-BE49-F238E27FC236}">
                <a16:creationId xmlns:a16="http://schemas.microsoft.com/office/drawing/2014/main" id="{14471FF4-6734-4AB1-8486-C47CC675472B}"/>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Q1 here</a:t>
            </a:r>
          </a:p>
        </p:txBody>
      </p:sp>
      <p:sp>
        <p:nvSpPr>
          <p:cNvPr id="33" name="">
            <a:extLst xmlns:a="http://schemas.openxmlformats.org/drawingml/2006/main">
              <a:ext uri="{FF2B5EF4-FFF2-40B4-BE49-F238E27FC236}">
                <a16:creationId xmlns:a16="http://schemas.microsoft.com/office/drawing/2014/main" id="{ECEA90C6-4F7D-4829-B31E-1469AB74874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Q1 query note의 Obsidian local graph를 삽입하면 된다.</a:t>
            </a:r>
          </a:p>
        </p:txBody>
      </p:sp>
    </p:spTree>
    <p:extLst>
      <p:ext uri="{BB962C8B-B14F-4D97-AF65-F5344CB8AC3E}">
        <p14:creationId xmlns:p14="http://schemas.microsoft.com/office/powerpoint/2010/main" val="927262257"/>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0197854dfb34d72"/>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FA0D2E2-0B2A-45DC-B946-DEE407162D36}"/>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A30C6255-3D6B-4AF1-AD1C-80CA1FA80DF5}"/>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A92944E-8826-4688-83ED-1E8EA5523001}"/>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19507A67-F143-473B-8DB4-5FEC2E063B2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6EC90BC-7281-4544-ADBC-42601215D2A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86B5D6F-F681-4086-A9DF-AAB0C662DB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5CE1304-2484-44A7-BA02-204412C92DE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E82529E7-E1EB-4CA7-8129-F824AEFB7D32}"/>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12</a:t>
            </a:r>
          </a:p>
        </p:txBody>
      </p:sp>
      <p:sp>
        <p:nvSpPr>
          <p:cNvPr id="11" name="">
            <a:extLst xmlns:a="http://schemas.openxmlformats.org/drawingml/2006/main">
              <a:ext uri="{FF2B5EF4-FFF2-40B4-BE49-F238E27FC236}">
                <a16:creationId xmlns:a16="http://schemas.microsoft.com/office/drawing/2014/main" id="{49C7CF1C-FE7C-4696-BF5C-AE00216B8793}"/>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53DA2A9-8B4B-4BF0-8B75-1E87A95D8799}"/>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A1A6403-D6B4-4342-914B-90307BC29DB4}"/>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 질문은 subregion selection으로</a:t>
            </a:r>
          </a:p>
          <a:p xmlns:a="http://schemas.openxmlformats.org/drawingml/2006/main">
            <a:pPr algn="l">
              <a:defRPr sz="2850" b="1">
                <a:solidFill>
                  <a:srgbClr val="132024"/>
                </a:solidFill>
              </a:defRPr>
            </a:pPr>
            <a:r>
              <a:rPr sz="2850" b="1">
                <a:solidFill>
                  <a:srgbClr val="132024"/>
                </a:solidFill>
              </a:rPr>
              <a:t>정리될 수 있었다</a:t>
            </a:r>
          </a:p>
        </p:txBody>
      </p:sp>
      <p:sp>
        <p:nvSpPr>
          <p:cNvPr id="14" name="">
            <a:extLst xmlns:a="http://schemas.openxmlformats.org/drawingml/2006/main">
              <a:ext uri="{FF2B5EF4-FFF2-40B4-BE49-F238E27FC236}">
                <a16:creationId xmlns:a16="http://schemas.microsoft.com/office/drawing/2014/main" id="{8AAB9ED8-EE75-4115-BE76-027FF38A19EF}"/>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C311E37F-45E5-4062-A1C2-2B835B607F41}"/>
              </a:ext>
            </a:extLst>
          </p:cNvPr>
          <p:cNvSpPr>
            <a:spLocks xmlns:a="http://schemas.openxmlformats.org/drawingml/2006/main" noGrp="1"/>
          </p:cNvSpPr>
          <p:nvPr/>
        </p:nvSpPr>
        <p:spPr>
          <a:xfrm xmlns:a="http://schemas.openxmlformats.org/drawingml/2006/main">
            <a:off x="800100" y="2266950"/>
            <a:ext cx="3200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759F061-939F-41BA-B0AA-F4A9B8AAFD97}"/>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30F07CD5-CFEC-4D49-A563-D58E340BF40B}"/>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D84BE2B0-F85E-4617-851B-900F34B4FAE8}"/>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28F1CA94-F7FB-4F8A-ACC1-B71A512C1BC8}"/>
              </a:ext>
            </a:extLst>
          </p:cNvPr>
          <p:cNvSpPr>
            <a:spLocks xmlns:a="http://schemas.openxmlformats.org/drawingml/2006/main" noGrp="1"/>
          </p:cNvSpPr>
          <p:nvPr/>
        </p:nvSpPr>
        <p:spPr>
          <a:xfrm xmlns:a="http://schemas.openxmlformats.org/drawingml/2006/main">
            <a:off x="4495800" y="2266950"/>
            <a:ext cx="3200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62EFE705-0D47-4A0F-A994-D750C77B88AB}"/>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600710A0-176B-4E58-9198-6311EF2B083E}"/>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708EEDEC-150F-4B53-8242-DA79E099C839}"/>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5B1449BC-E6C0-4B4B-937F-2CE68EE50B12}"/>
              </a:ext>
            </a:extLst>
          </p:cNvPr>
          <p:cNvSpPr>
            <a:spLocks xmlns:a="http://schemas.openxmlformats.org/drawingml/2006/main" noGrp="1"/>
          </p:cNvSpPr>
          <p:nvPr/>
        </p:nvSpPr>
        <p:spPr>
          <a:xfrm xmlns:a="http://schemas.openxmlformats.org/drawingml/2006/main">
            <a:off x="8191500" y="2266950"/>
            <a:ext cx="3200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0DD39425-013A-4523-8DA5-FF7D79C6E0C9}"/>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1645ED6C-7480-4150-9C0B-A5D471854284}"/>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112CEC19-D78A-4526-90B2-8DF63089A926}"/>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64FADB35-955C-47C2-AB46-1E1E4C26A722}"/>
              </a:ext>
            </a:extLst>
          </p:cNvPr>
          <p:cNvSpPr>
            <a:spLocks xmlns:a="http://schemas.openxmlformats.org/drawingml/2006/main" noGrp="1"/>
          </p:cNvSpPr>
          <p:nvPr/>
        </p:nvSpPr>
        <p:spPr>
          <a:xfrm xmlns:a="http://schemas.openxmlformats.org/drawingml/2006/main">
            <a:off x="904875" y="5400675"/>
            <a:ext cx="57150" cy="6096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913C5D34-E7C0-448D-A5CD-AD115D1B6D5D}"/>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FB1007FA-0C02-4D0E-868A-4B35E2AC0ED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2006858898"/>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dedcff105f94e16"/>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A651BDD-34A9-4D0D-BAAC-36FAFEF87800}"/>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A987624-E1AB-4977-8313-163E86980EF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984F2C4-BC3A-41A1-A552-E3164B238FC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59B79DB-10B3-4BF9-A942-9E139B0AAF2C}"/>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96C8285-CB20-4B3D-9926-9E0A24070BD4}"/>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E32AD0B5-1EA0-495C-BE51-99FFA911832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06ABBBE-1D5D-4E02-AC0B-35CE34FE355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FDFD3504-5A2D-4B78-898D-FF4FBD123420}"/>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12</a:t>
            </a:r>
          </a:p>
        </p:txBody>
      </p:sp>
      <p:sp>
        <p:nvSpPr>
          <p:cNvPr id="11" name="">
            <a:extLst xmlns:a="http://schemas.openxmlformats.org/drawingml/2006/main">
              <a:ext uri="{FF2B5EF4-FFF2-40B4-BE49-F238E27FC236}">
                <a16:creationId xmlns:a16="http://schemas.microsoft.com/office/drawing/2014/main" id="{F5D9998A-1DF6-44AD-9841-A428942517F2}"/>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D6087E92-13B5-49B4-9315-1EA9FA9974D8}"/>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75C7CA2E-0BFD-42B0-8858-C01677894132}"/>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같은 subregion이어도</a:t>
            </a:r>
          </a:p>
          <a:p xmlns:a="http://schemas.openxmlformats.org/drawingml/2006/main">
            <a:pPr algn="l">
              <a:defRPr sz="2850" b="1">
                <a:solidFill>
                  <a:srgbClr val="132024"/>
                </a:solidFill>
              </a:defRPr>
            </a:pPr>
            <a:r>
              <a:rPr sz="2850" b="1">
                <a:solidFill>
                  <a:srgbClr val="132024"/>
                </a:solidFill>
              </a:rPr>
              <a:t>같은 모델은 아니었다</a:t>
            </a:r>
          </a:p>
        </p:txBody>
      </p:sp>
      <p:sp>
        <p:nvSpPr>
          <p:cNvPr id="14" name="">
            <a:extLst xmlns:a="http://schemas.openxmlformats.org/drawingml/2006/main">
              <a:ext uri="{FF2B5EF4-FFF2-40B4-BE49-F238E27FC236}">
                <a16:creationId xmlns:a16="http://schemas.microsoft.com/office/drawing/2014/main" id="{34FA060D-3F25-4919-9F7A-55828F3CFDC9}"/>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EEFB58D6-182E-45B5-BB03-6DA521DDD0C3}"/>
              </a:ext>
            </a:extLst>
          </p:cNvPr>
          <p:cNvSpPr>
            <a:spLocks xmlns:a="http://schemas.openxmlformats.org/drawingml/2006/main" noGrp="1"/>
          </p:cNvSpPr>
          <p:nvPr/>
        </p:nvSpPr>
        <p:spPr>
          <a:xfrm xmlns:a="http://schemas.openxmlformats.org/drawingml/2006/main">
            <a:off x="847725" y="2181225"/>
            <a:ext cx="57150" cy="876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458A3A1-421B-4764-8E7E-E412B796BE7E}"/>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FB9BE67B-CC57-4DD3-8ED5-1058C4C4FA13}"/>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5796A4BF-DC93-4BC2-899D-81A2993B0081}"/>
              </a:ext>
            </a:extLst>
          </p:cNvPr>
          <p:cNvSpPr>
            <a:spLocks xmlns:a="http://schemas.openxmlformats.org/drawingml/2006/main" noGrp="1"/>
          </p:cNvSpPr>
          <p:nvPr/>
        </p:nvSpPr>
        <p:spPr>
          <a:xfrm xmlns:a="http://schemas.openxmlformats.org/drawingml/2006/main">
            <a:off x="857250" y="369570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1465F05-DA54-4253-B1C4-D1ACF8B9C0F1}"/>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502568BF-5BAB-49A7-8C4D-553E0F99BC6E}"/>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C4E53400-E878-47E1-A6DD-13AEBE15ECC8}"/>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128111A1-497D-480F-AAE2-ABE50D1F21B1}"/>
              </a:ext>
            </a:extLst>
          </p:cNvPr>
          <p:cNvSpPr>
            <a:spLocks xmlns:a="http://schemas.openxmlformats.org/drawingml/2006/main" noGrp="1"/>
          </p:cNvSpPr>
          <p:nvPr/>
        </p:nvSpPr>
        <p:spPr>
          <a:xfrm xmlns:a="http://schemas.openxmlformats.org/drawingml/2006/main">
            <a:off x="4572000" y="369570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1F0B772D-661C-4011-B4FD-693257D380B3}"/>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ACCFA194-6581-4D29-A573-5DB3A1F1B247}"/>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5A7B3066-2BEF-4C92-A2EC-6598E18DA483}"/>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4750FD4E-1238-4E8F-9745-0301ABB41157}"/>
              </a:ext>
            </a:extLst>
          </p:cNvPr>
          <p:cNvSpPr>
            <a:spLocks xmlns:a="http://schemas.openxmlformats.org/drawingml/2006/main" noGrp="1"/>
          </p:cNvSpPr>
          <p:nvPr/>
        </p:nvSpPr>
        <p:spPr>
          <a:xfrm xmlns:a="http://schemas.openxmlformats.org/drawingml/2006/main">
            <a:off x="8286750" y="369570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79EB2EC0-84FC-4C5A-870F-8745C0A5B2DF}"/>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96593E35-CB61-4BC7-85E3-84FCA7908C5C}"/>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52D63802-DC76-4326-A466-9B5FCDC0B622}"/>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13B1BF04-7479-4698-B482-BF138831D44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134257553"/>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7a9d3a0c9bf405e"/>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ED40EF8-A044-4A27-93A1-8DD4A2CDDA36}"/>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4BE7815-B288-4279-93D6-9503359827F4}"/>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D5B7E861-892A-4950-B127-ACA0FD500AC4}"/>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187D8410-DAD0-49B7-8226-8F31FA4E5B3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0C4FDDD1-7832-495D-87B7-96DAF8BA00BE}"/>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D2331B4B-F071-44F8-AD6B-4C486AFA9D4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1D4DB5D-46CD-4056-AFC7-EB34FC3167D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E90CFB92-0D23-47A0-9EB1-5F8A21DE14F4}"/>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12</a:t>
            </a:r>
          </a:p>
        </p:txBody>
      </p:sp>
      <p:sp>
        <p:nvSpPr>
          <p:cNvPr id="11" name="">
            <a:extLst xmlns:a="http://schemas.openxmlformats.org/drawingml/2006/main">
              <a:ext uri="{FF2B5EF4-FFF2-40B4-BE49-F238E27FC236}">
                <a16:creationId xmlns:a16="http://schemas.microsoft.com/office/drawing/2014/main" id="{BE4501B5-0B42-4220-8A63-6F5C92F3250F}"/>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28A8D4A-97EB-41B9-B3DD-A6EA8C2B969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B85E2E45-FE28-4A07-A37A-D5C05C91B5E8}"/>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2차 질문: region 말고</a:t>
            </a:r>
          </a:p>
          <a:p xmlns:a="http://schemas.openxmlformats.org/drawingml/2006/main">
            <a:pPr algn="l">
              <a:defRPr sz="2700" b="1">
                <a:solidFill>
                  <a:srgbClr val="132024"/>
                </a:solidFill>
              </a:defRPr>
            </a:pPr>
            <a:r>
              <a:rPr sz="2700" b="1">
                <a:solidFill>
                  <a:srgbClr val="132024"/>
                </a:solidFill>
              </a:rPr>
              <a:t>무엇을 따로 benchmark해야 하는가</a:t>
            </a:r>
          </a:p>
        </p:txBody>
      </p:sp>
      <p:sp>
        <p:nvSpPr>
          <p:cNvPr id="14" name="">
            <a:extLst xmlns:a="http://schemas.openxmlformats.org/drawingml/2006/main">
              <a:ext uri="{FF2B5EF4-FFF2-40B4-BE49-F238E27FC236}">
                <a16:creationId xmlns:a16="http://schemas.microsoft.com/office/drawing/2014/main" id="{96638370-C9EE-4D6A-B1DA-D39D4BB324FA}"/>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86AA4EF5-4E5E-42C1-97B5-E54B5BAE72AF}"/>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CF5BE442-CEF4-4A60-8678-B285A85CF07B}"/>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새로 붙은 질문</a:t>
            </a:r>
          </a:p>
        </p:txBody>
      </p:sp>
      <p:sp>
        <p:nvSpPr>
          <p:cNvPr id="17" name="">
            <a:extLst xmlns:a="http://schemas.openxmlformats.org/drawingml/2006/main">
              <a:ext uri="{FF2B5EF4-FFF2-40B4-BE49-F238E27FC236}">
                <a16:creationId xmlns:a16="http://schemas.microsoft.com/office/drawing/2014/main" id="{9FBA5160-0529-416D-BCC2-76E3E9C2C32C}"/>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cortical branch라도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timing을 따로 물어야 하지 않는가?</a:t>
            </a:r>
          </a:p>
        </p:txBody>
      </p:sp>
      <p:sp>
        <p:nvSpPr>
          <p:cNvPr id="18" name="">
            <a:extLst xmlns:a="http://schemas.openxmlformats.org/drawingml/2006/main">
              <a:ext uri="{FF2B5EF4-FFF2-40B4-BE49-F238E27FC236}">
                <a16:creationId xmlns:a16="http://schemas.microsoft.com/office/drawing/2014/main" id="{04F8E94D-0915-43FD-A303-101B6B2AA808}"/>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ACC33DEB-7E64-4526-B6DA-0D625EB6B0CD}"/>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DA53F90-5998-4DF4-B09F-9241CB1F136E}"/>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DE415BB1-96AF-46CB-ABA3-5F28A2AF0777}"/>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Yoon, Bhaduri,</a:t>
            </a:r>
          </a:p>
          <a:p xmlns:a="http://schemas.openxmlformats.org/drawingml/2006/main">
            <a:pPr algn="l">
              <a:defRPr sz="1200" b="0">
                <a:solidFill>
                  <a:srgbClr val="132024"/>
                </a:solidFill>
              </a:defRPr>
            </a:pPr>
            <a:r>
              <a:rPr sz="1200" b="0">
                <a:solidFill>
                  <a:srgbClr val="132024"/>
                </a:solidFill>
              </a:rPr>
              <a:t>Kanton, He</a:t>
            </a:r>
          </a:p>
        </p:txBody>
      </p:sp>
      <p:sp>
        <p:nvSpPr>
          <p:cNvPr id="22" name="">
            <a:extLst xmlns:a="http://schemas.openxmlformats.org/drawingml/2006/main">
              <a:ext uri="{FF2B5EF4-FFF2-40B4-BE49-F238E27FC236}">
                <a16:creationId xmlns:a16="http://schemas.microsoft.com/office/drawing/2014/main" id="{0B7A7164-98DF-4916-BE99-72F414A510B6}"/>
              </a:ext>
            </a:extLst>
          </p:cNvPr>
          <p:cNvSpPr>
            <a:spLocks xmlns:a="http://schemas.openxmlformats.org/drawingml/2006/main" noGrp="1"/>
          </p:cNvSpPr>
          <p:nvPr/>
        </p:nvSpPr>
        <p:spPr>
          <a:xfrm xmlns:a="http://schemas.openxmlformats.org/drawingml/2006/main">
            <a:off x="685800" y="49720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E377B1D2-5DD5-49E6-9CD1-AED35A06AC47}"/>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C6F8EEDE-660F-41F1-BB18-85905EA7A74F}"/>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질문의 변화</a:t>
            </a:r>
          </a:p>
        </p:txBody>
      </p:sp>
      <p:sp>
        <p:nvSpPr>
          <p:cNvPr id="25" name="">
            <a:extLst xmlns:a="http://schemas.openxmlformats.org/drawingml/2006/main">
              <a:ext uri="{FF2B5EF4-FFF2-40B4-BE49-F238E27FC236}">
                <a16:creationId xmlns:a16="http://schemas.microsoft.com/office/drawing/2014/main" id="{F86DBB6B-F2F9-4EE6-91B0-CEC7234D30AC}"/>
              </a:ext>
            </a:extLst>
          </p:cNvPr>
          <p:cNvSpPr>
            <a:spLocks xmlns:a="http://schemas.openxmlformats.org/drawingml/2006/main" noGrp="1"/>
          </p:cNvSpPr>
          <p:nvPr/>
        </p:nvSpPr>
        <p:spPr>
          <a:xfrm xmlns:a="http://schemas.openxmlformats.org/drawingml/2006/main">
            <a:off x="895350" y="55816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map 위에 benchmark</a:t>
            </a:r>
          </a:p>
          <a:p xmlns:a="http://schemas.openxmlformats.org/drawingml/2006/main">
            <a:pPr algn="l">
              <a:defRPr sz="1200" b="0">
                <a:solidFill>
                  <a:srgbClr val="132024"/>
                </a:solidFill>
              </a:defRPr>
            </a:pPr>
            <a:r>
              <a:rPr sz="1200" b="0">
                <a:solidFill>
                  <a:srgbClr val="132024"/>
                </a:solidFill>
              </a:rPr>
              <a:t>axis가 덧붙으면서 비교 기준이 완전히 달라졌다.</a:t>
            </a:r>
          </a:p>
        </p:txBody>
      </p:sp>
      <p:sp>
        <p:nvSpPr>
          <p:cNvPr id="26" name="">
            <a:extLst xmlns:a="http://schemas.openxmlformats.org/drawingml/2006/main">
              <a:ext uri="{FF2B5EF4-FFF2-40B4-BE49-F238E27FC236}">
                <a16:creationId xmlns:a16="http://schemas.microsoft.com/office/drawing/2014/main" id="{369C52FE-1970-45CC-A799-4BB15356344A}"/>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07E9419D-44EB-419B-89D0-195A343DFA02}"/>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BE2B81BC-A45F-4D08-8E1B-0FE993406F43}"/>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EA09FA2B-25F6-43E8-8E01-3EE8D54C26F2}"/>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9EB601E4-FA2C-4E27-BA0D-0DD43DE4D343}"/>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A3F28CE0-1C3D-4C0B-9110-0D814E591303}"/>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collections/organoid/wiki/queries/20260409_brain-protocol-maturation-synchronization.md</a:t>
            </a:r>
          </a:p>
        </p:txBody>
      </p:sp>
      <p:sp>
        <p:nvSpPr>
          <p:cNvPr id="32" name="">
            <a:extLst xmlns:a="http://schemas.openxmlformats.org/drawingml/2006/main">
              <a:ext uri="{FF2B5EF4-FFF2-40B4-BE49-F238E27FC236}">
                <a16:creationId xmlns:a16="http://schemas.microsoft.com/office/drawing/2014/main" id="{807B55EB-14E9-40B7-913E-509B99AC8E48}"/>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Q2 here</a:t>
            </a:r>
          </a:p>
        </p:txBody>
      </p:sp>
      <p:sp>
        <p:nvSpPr>
          <p:cNvPr id="33" name="">
            <a:extLst xmlns:a="http://schemas.openxmlformats.org/drawingml/2006/main">
              <a:ext uri="{FF2B5EF4-FFF2-40B4-BE49-F238E27FC236}">
                <a16:creationId xmlns:a16="http://schemas.microsoft.com/office/drawing/2014/main" id="{B8D1CAD0-9770-49E2-8E9F-314A67963A3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Q2 query note의 Obsidian local graph를 삽입하면 된다.</a:t>
            </a:r>
          </a:p>
        </p:txBody>
      </p:sp>
    </p:spTree>
    <p:extLst>
      <p:ext uri="{BB962C8B-B14F-4D97-AF65-F5344CB8AC3E}">
        <p14:creationId xmlns:p14="http://schemas.microsoft.com/office/powerpoint/2010/main" val="1930331160"/>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93379ac45db4fd3"/>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9FD8399-878E-46BF-B7BE-04FC3E6E095A}"/>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1988EED-6C18-4895-A11E-5B91C0F44B94}"/>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A1793DC-BA29-49E7-A213-9122821B450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84F53D4-A9F8-4401-AE49-4890F594E76E}"/>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4B8EBF0-7301-482B-B3B1-4D4C2EA1E556}"/>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80C74EBA-563C-4419-8293-6E982BA6CEA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DD70E91-9C99-4A49-B315-474499E52E6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KEY TENSION</a:t>
            </a:r>
          </a:p>
        </p:txBody>
      </p:sp>
      <p:sp>
        <p:nvSpPr>
          <p:cNvPr id="10" name="">
            <a:extLst xmlns:a="http://schemas.openxmlformats.org/drawingml/2006/main">
              <a:ext uri="{FF2B5EF4-FFF2-40B4-BE49-F238E27FC236}">
                <a16:creationId xmlns:a16="http://schemas.microsoft.com/office/drawing/2014/main" id="{A28877E1-4964-488B-A620-BA6B2E8E89B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12</a:t>
            </a:r>
          </a:p>
        </p:txBody>
      </p:sp>
      <p:sp>
        <p:nvSpPr>
          <p:cNvPr id="11" name="">
            <a:extLst xmlns:a="http://schemas.openxmlformats.org/drawingml/2006/main">
              <a:ext uri="{FF2B5EF4-FFF2-40B4-BE49-F238E27FC236}">
                <a16:creationId xmlns:a16="http://schemas.microsoft.com/office/drawing/2014/main" id="{69F91392-A850-4155-956E-BB69F062330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CE206BFC-2C1B-4337-AEB5-B7C042A179B7}"/>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ABC8187B-7231-4AF2-AA1D-C5AF7C6EAFAD}"/>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가장 중요한 분리:</a:t>
            </a:r>
          </a:p>
          <a:p xmlns:a="http://schemas.openxmlformats.org/drawingml/2006/main">
            <a:pPr algn="l">
              <a:defRPr sz="2850" b="1">
                <a:solidFill>
                  <a:srgbClr val="132024"/>
                </a:solidFill>
              </a:defRPr>
            </a:pPr>
            <a:r>
              <a:rPr sz="2850" b="1">
                <a:solidFill>
                  <a:srgbClr val="132024"/>
                </a:solidFill>
              </a:rPr>
              <a:t>reproducibility와 fidelity</a:t>
            </a:r>
          </a:p>
        </p:txBody>
      </p:sp>
      <p:sp>
        <p:nvSpPr>
          <p:cNvPr id="14" name="">
            <a:extLst xmlns:a="http://schemas.openxmlformats.org/drawingml/2006/main">
              <a:ext uri="{FF2B5EF4-FFF2-40B4-BE49-F238E27FC236}">
                <a16:creationId xmlns:a16="http://schemas.microsoft.com/office/drawing/2014/main" id="{5034869A-7258-485E-8BBB-AC634539B9E9}"/>
              </a:ext>
            </a:extLst>
          </p:cNvPr>
          <p:cNvSpPr>
            <a:spLocks xmlns:a="http://schemas.openxmlformats.org/drawingml/2006/main" noGrp="1"/>
          </p:cNvSpPr>
          <p:nvPr/>
        </p:nvSpPr>
        <p:spPr>
          <a:xfrm xmlns:a="http://schemas.openxmlformats.org/drawingml/2006/main">
            <a:off x="742950" y="2000250"/>
            <a:ext cx="10706100" cy="819150"/>
          </a:xfrm>
          <a:prstGeom xmlns:a="http://schemas.openxmlformats.org/drawingml/2006/main" prst="roundRect">
            <a:avLst>
              <a:gd name="adj" fmla="val 9302"/>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1BE8BCC9-2854-491C-AA87-8D5473D06314}"/>
              </a:ext>
            </a:extLst>
          </p:cNvPr>
          <p:cNvSpPr>
            <a:spLocks xmlns:a="http://schemas.openxmlformats.org/drawingml/2006/main" noGrp="1"/>
          </p:cNvSpPr>
          <p:nvPr/>
        </p:nvSpPr>
        <p:spPr>
          <a:xfrm xmlns:a="http://schemas.openxmlformats.org/drawingml/2006/main">
            <a:off x="790575" y="2047875"/>
            <a:ext cx="57150" cy="723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2F8AE6C-AA6A-468A-9A07-E2251AEE40CD}"/>
              </a:ext>
            </a:extLst>
          </p:cNvPr>
          <p:cNvSpPr>
            <a:spLocks xmlns:a="http://schemas.openxmlformats.org/drawingml/2006/main" noGrp="1"/>
          </p:cNvSpPr>
          <p:nvPr/>
        </p:nvSpPr>
        <p:spPr>
          <a:xfrm xmlns:a="http://schemas.openxmlformats.org/drawingml/2006/main">
            <a:off x="952500" y="2152650"/>
            <a:ext cx="103251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
            <a:extLst xmlns:a="http://schemas.openxmlformats.org/drawingml/2006/main">
              <a:ext uri="{FF2B5EF4-FFF2-40B4-BE49-F238E27FC236}">
                <a16:creationId xmlns:a16="http://schemas.microsoft.com/office/drawing/2014/main" id="{1D6A13F8-2593-4152-BC1F-6BA2405CD8C7}"/>
              </a:ext>
            </a:extLst>
          </p:cNvPr>
          <p:cNvSpPr>
            <a:spLocks xmlns:a="http://schemas.openxmlformats.org/drawingml/2006/main" noGrp="1"/>
          </p:cNvSpPr>
          <p:nvPr/>
        </p:nvSpPr>
        <p:spPr>
          <a:xfrm xmlns:a="http://schemas.openxmlformats.org/drawingml/2006/main">
            <a:off x="8763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398ACFFC-565C-4B3F-9550-217C932CAABE}"/>
              </a:ext>
            </a:extLst>
          </p:cNvPr>
          <p:cNvSpPr>
            <a:spLocks xmlns:a="http://schemas.openxmlformats.org/drawingml/2006/main" noGrp="1"/>
          </p:cNvSpPr>
          <p:nvPr/>
        </p:nvSpPr>
        <p:spPr>
          <a:xfrm xmlns:a="http://schemas.openxmlformats.org/drawingml/2006/main">
            <a:off x="933450" y="3333750"/>
            <a:ext cx="45148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8C266F9E-C348-4D3A-9AB6-10FD1F43673C}"/>
              </a:ext>
            </a:extLst>
          </p:cNvPr>
          <p:cNvSpPr>
            <a:spLocks xmlns:a="http://schemas.openxmlformats.org/drawingml/2006/main" noGrp="1"/>
          </p:cNvSpPr>
          <p:nvPr/>
        </p:nvSpPr>
        <p:spPr>
          <a:xfrm xmlns:a="http://schemas.openxmlformats.org/drawingml/2006/main">
            <a:off x="10858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 쪽 질문</a:t>
            </a:r>
          </a:p>
        </p:txBody>
      </p:sp>
      <p:sp>
        <p:nvSpPr>
          <p:cNvPr id="20" name="">
            <a:extLst xmlns:a="http://schemas.openxmlformats.org/drawingml/2006/main">
              <a:ext uri="{FF2B5EF4-FFF2-40B4-BE49-F238E27FC236}">
                <a16:creationId xmlns:a16="http://schemas.microsoft.com/office/drawing/2014/main" id="{E16E6958-5371-4141-BF1B-BB8575FFF733}"/>
              </a:ext>
            </a:extLst>
          </p:cNvPr>
          <p:cNvSpPr>
            <a:spLocks xmlns:a="http://schemas.openxmlformats.org/drawingml/2006/main" noGrp="1"/>
          </p:cNvSpPr>
          <p:nvPr/>
        </p:nvSpPr>
        <p:spPr>
          <a:xfrm xmlns:a="http://schemas.openxmlformats.org/drawingml/2006/main">
            <a:off x="10858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organoid-to-organoid variance가 얼마나 낮은가?</a:t>
            </a:r>
          </a:p>
          <a:p xmlns:a="http://schemas.openxmlformats.org/drawingml/2006/main">
            <a:pPr algn="l">
              <a:defRPr sz="1200" b="0">
                <a:solidFill>
                  <a:srgbClr val="132024"/>
                </a:solidFill>
              </a:defRPr>
            </a:pPr>
            <a:r>
              <a:rPr sz="1200" b="0">
                <a:solidFill>
                  <a:srgbClr val="132024"/>
                </a:solidFill>
              </a:rPr>
              <a:t>대표 anchor: Velasco 2019, Yoon 2019</a:t>
            </a:r>
          </a:p>
        </p:txBody>
      </p:sp>
      <p:sp>
        <p:nvSpPr>
          <p:cNvPr id="21" name="">
            <a:extLst xmlns:a="http://schemas.openxmlformats.org/drawingml/2006/main">
              <a:ext uri="{FF2B5EF4-FFF2-40B4-BE49-F238E27FC236}">
                <a16:creationId xmlns:a16="http://schemas.microsoft.com/office/drawing/2014/main" id="{4977256D-8AC4-4858-847E-A5FBAB11D3BC}"/>
              </a:ext>
            </a:extLst>
          </p:cNvPr>
          <p:cNvSpPr>
            <a:spLocks xmlns:a="http://schemas.openxmlformats.org/drawingml/2006/main" noGrp="1"/>
          </p:cNvSpPr>
          <p:nvPr/>
        </p:nvSpPr>
        <p:spPr>
          <a:xfrm xmlns:a="http://schemas.openxmlformats.org/drawingml/2006/main">
            <a:off x="66675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946FE4AD-DD40-4436-A5BE-76395B2E420E}"/>
              </a:ext>
            </a:extLst>
          </p:cNvPr>
          <p:cNvSpPr>
            <a:spLocks xmlns:a="http://schemas.openxmlformats.org/drawingml/2006/main" noGrp="1"/>
          </p:cNvSpPr>
          <p:nvPr/>
        </p:nvSpPr>
        <p:spPr>
          <a:xfrm xmlns:a="http://schemas.openxmlformats.org/drawingml/2006/main">
            <a:off x="6724650" y="3333750"/>
            <a:ext cx="45148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9553D70-1E82-4465-B135-B29E2D7E9C57}"/>
              </a:ext>
            </a:extLst>
          </p:cNvPr>
          <p:cNvSpPr>
            <a:spLocks xmlns:a="http://schemas.openxmlformats.org/drawingml/2006/main" noGrp="1"/>
          </p:cNvSpPr>
          <p:nvPr/>
        </p:nvSpPr>
        <p:spPr>
          <a:xfrm xmlns:a="http://schemas.openxmlformats.org/drawingml/2006/main">
            <a:off x="68770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 쪽 질문</a:t>
            </a:r>
          </a:p>
        </p:txBody>
      </p:sp>
      <p:sp>
        <p:nvSpPr>
          <p:cNvPr id="24" name="">
            <a:extLst xmlns:a="http://schemas.openxmlformats.org/drawingml/2006/main">
              <a:ext uri="{FF2B5EF4-FFF2-40B4-BE49-F238E27FC236}">
                <a16:creationId xmlns:a16="http://schemas.microsoft.com/office/drawing/2014/main" id="{2956D7A2-C0A3-4E64-AE3F-37528B7D56D3}"/>
              </a:ext>
            </a:extLst>
          </p:cNvPr>
          <p:cNvSpPr>
            <a:spLocks xmlns:a="http://schemas.openxmlformats.org/drawingml/2006/main" noGrp="1"/>
          </p:cNvSpPr>
          <p:nvPr/>
        </p:nvSpPr>
        <p:spPr>
          <a:xfrm xmlns:a="http://schemas.openxmlformats.org/drawingml/2006/main">
            <a:off x="68770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organoid cell state가 primary fetal</a:t>
            </a:r>
          </a:p>
          <a:p xmlns:a="http://schemas.openxmlformats.org/drawingml/2006/main">
            <a:pPr algn="l">
              <a:defRPr sz="1200" b="0">
                <a:solidFill>
                  <a:srgbClr val="132024"/>
                </a:solidFill>
              </a:defRPr>
            </a:pPr>
            <a:r>
              <a:rPr sz="1200" b="0">
                <a:solidFill>
                  <a:srgbClr val="132024"/>
                </a:solidFill>
              </a:rPr>
              <a:t>cortex와 얼마나 가까운가? stress-linked</a:t>
            </a:r>
          </a:p>
          <a:p xmlns:a="http://schemas.openxmlformats.org/drawingml/2006/main">
            <a:pPr algn="l">
              <a:defRPr sz="1200" b="0">
                <a:solidFill>
                  <a:srgbClr val="132024"/>
                </a:solidFill>
              </a:defRPr>
            </a:pPr>
            <a:r>
              <a:rPr sz="1200" b="0">
                <a:solidFill>
                  <a:srgbClr val="132024"/>
                </a:solidFill>
              </a:rPr>
              <a:t>divergence는 없는가? 대표 anchor: Bhaduri</a:t>
            </a:r>
          </a:p>
          <a:p xmlns:a="http://schemas.openxmlformats.org/drawingml/2006/main">
            <a:pPr algn="l">
              <a:defRPr sz="1200" b="0">
                <a:solidFill>
                  <a:srgbClr val="132024"/>
                </a:solidFill>
              </a:defRPr>
            </a:pPr>
            <a:r>
              <a:rPr sz="1200" b="0">
                <a:solidFill>
                  <a:srgbClr val="132024"/>
                </a:solidFill>
              </a:rPr>
              <a:t>2020, He 2024</a:t>
            </a:r>
          </a:p>
        </p:txBody>
      </p:sp>
      <p:sp>
        <p:nvSpPr>
          <p:cNvPr id="25" name="">
            <a:extLst xmlns:a="http://schemas.openxmlformats.org/drawingml/2006/main">
              <a:ext uri="{FF2B5EF4-FFF2-40B4-BE49-F238E27FC236}">
                <a16:creationId xmlns:a16="http://schemas.microsoft.com/office/drawing/2014/main" id="{27F13121-B859-4359-80E5-93CDF5B471C2}"/>
              </a:ext>
            </a:extLst>
          </p:cNvPr>
          <p:cNvSpPr>
            <a:spLocks xmlns:a="http://schemas.openxmlformats.org/drawingml/2006/main" noGrp="1"/>
          </p:cNvSpPr>
          <p:nvPr/>
        </p:nvSpPr>
        <p:spPr>
          <a:xfrm xmlns:a="http://schemas.openxmlformats.org/drawingml/2006/main">
            <a:off x="5581650" y="4343400"/>
            <a:ext cx="8572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6" name="">
            <a:extLst xmlns:a="http://schemas.openxmlformats.org/drawingml/2006/main">
              <a:ext uri="{FF2B5EF4-FFF2-40B4-BE49-F238E27FC236}">
                <a16:creationId xmlns:a16="http://schemas.microsoft.com/office/drawing/2014/main" id="{DDFC1ED3-FAE7-420B-8179-54D2245F5E08}"/>
              </a:ext>
            </a:extLst>
          </p:cNvPr>
          <p:cNvSpPr>
            <a:spLocks xmlns:a="http://schemas.openxmlformats.org/drawingml/2006/main" noGrp="1"/>
          </p:cNvSpPr>
          <p:nvPr/>
        </p:nvSpPr>
        <p:spPr>
          <a:xfrm xmlns:a="http://schemas.openxmlformats.org/drawingml/2006/main">
            <a:off x="4457700" y="5753100"/>
            <a:ext cx="25527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same region, different question</a:t>
            </a:r>
          </a:p>
        </p:txBody>
      </p:sp>
      <p:sp>
        <p:nvSpPr>
          <p:cNvPr id="27" name="">
            <a:extLst xmlns:a="http://schemas.openxmlformats.org/drawingml/2006/main">
              <a:ext uri="{FF2B5EF4-FFF2-40B4-BE49-F238E27FC236}">
                <a16:creationId xmlns:a16="http://schemas.microsoft.com/office/drawing/2014/main" id="{9F4BBC79-A199-4225-8EC9-20584ED1B75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278678487"/>
      </p:ext>
    </p:extLst>
  </p:cSld>
</p:sld>
</file>

<file path=ppt/slides/slide10.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ce89d589fea49cc"/>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E839F70-26AD-4636-924A-C4531E551277}"/>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CB667D2-16D0-4722-8794-540C5FCCBBCC}"/>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1234DB7-7FAC-44BF-9E3B-E4510ED259B3}"/>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CFC3784-00F5-46A1-AAD2-22206E178128}"/>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DAA411E2-39A5-44BD-8F90-86CCEECB1E2E}"/>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D56F337-8820-4FC4-9A4D-E09FC15FA4B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D70B2FD-3BCE-43C7-BAFC-84661D70067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9700FBBE-B140-43EF-8D7A-6F5630AE98D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10 / 12</a:t>
            </a:r>
          </a:p>
        </p:txBody>
      </p:sp>
      <p:sp>
        <p:nvSpPr>
          <p:cNvPr id="11" name="">
            <a:extLst xmlns:a="http://schemas.openxmlformats.org/drawingml/2006/main">
              <a:ext uri="{FF2B5EF4-FFF2-40B4-BE49-F238E27FC236}">
                <a16:creationId xmlns:a16="http://schemas.microsoft.com/office/drawing/2014/main" id="{FEB33465-FB66-49B0-97E7-A78DE46D4628}"/>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EE326095-1563-4210-8A81-68692BF6E196}"/>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0FF0C1B-110A-4D98-870F-5300067C3BEB}"/>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그래서 protocol 비교는</a:t>
            </a:r>
          </a:p>
          <a:p xmlns:a="http://schemas.openxmlformats.org/drawingml/2006/main">
            <a:pPr algn="l">
              <a:defRPr sz="2850" b="1">
                <a:solidFill>
                  <a:srgbClr val="132024"/>
                </a:solidFill>
              </a:defRPr>
            </a:pPr>
            <a:r>
              <a:rPr sz="2850" b="1">
                <a:solidFill>
                  <a:srgbClr val="132024"/>
                </a:solidFill>
              </a:rPr>
              <a:t>5개의 축으로 나뉘었다</a:t>
            </a:r>
          </a:p>
        </p:txBody>
      </p:sp>
      <p:sp>
        <p:nvSpPr>
          <p:cNvPr id="14" name="">
            <a:extLst xmlns:a="http://schemas.openxmlformats.org/drawingml/2006/main">
              <a:ext uri="{FF2B5EF4-FFF2-40B4-BE49-F238E27FC236}">
                <a16:creationId xmlns:a16="http://schemas.microsoft.com/office/drawing/2014/main" id="{22170AF3-5916-43F3-820A-80EF1580FF4B}"/>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F3AAC3AA-BD74-4229-80EB-B399EE0B74B2}"/>
              </a:ext>
            </a:extLst>
          </p:cNvPr>
          <p:cNvSpPr>
            <a:spLocks xmlns:a="http://schemas.openxmlformats.org/drawingml/2006/main" noGrp="1"/>
          </p:cNvSpPr>
          <p:nvPr/>
        </p:nvSpPr>
        <p:spPr>
          <a:xfrm xmlns:a="http://schemas.openxmlformats.org/drawingml/2006/main">
            <a:off x="742950" y="2152650"/>
            <a:ext cx="32385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4609F9F-BC48-4C97-B5E9-9A906E000B73}"/>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6D06162B-787E-4388-8ECB-D054895BB99F}"/>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085B9B93-6C3C-44B3-A2C7-42E36CE94DEB}"/>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688DB952-77AB-4308-85AF-EC907B473248}"/>
              </a:ext>
            </a:extLst>
          </p:cNvPr>
          <p:cNvSpPr>
            <a:spLocks xmlns:a="http://schemas.openxmlformats.org/drawingml/2006/main" noGrp="1"/>
          </p:cNvSpPr>
          <p:nvPr/>
        </p:nvSpPr>
        <p:spPr>
          <a:xfrm xmlns:a="http://schemas.openxmlformats.org/drawingml/2006/main">
            <a:off x="4476750" y="2152650"/>
            <a:ext cx="32385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0C984A9E-4798-421F-86E0-0205A2847B7F}"/>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0E4B4AC0-A3F8-4C8C-8D05-1A74675D8443}"/>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4E8D4894-5F50-44CD-91D3-3118E6AE674B}"/>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8FECF2F-D78C-45B7-8EE7-D7158E7B657A}"/>
              </a:ext>
            </a:extLst>
          </p:cNvPr>
          <p:cNvSpPr>
            <a:spLocks xmlns:a="http://schemas.openxmlformats.org/drawingml/2006/main" noGrp="1"/>
          </p:cNvSpPr>
          <p:nvPr/>
        </p:nvSpPr>
        <p:spPr>
          <a:xfrm xmlns:a="http://schemas.openxmlformats.org/drawingml/2006/main">
            <a:off x="8210550" y="2152650"/>
            <a:ext cx="32385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8BAC9702-ED78-4340-9A27-A9898619EC4E}"/>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5F5CA2AA-D7FE-48EA-8CFE-D5F7EA0775F9}"/>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C299C63B-34CB-42E8-A656-663492606118}"/>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0CAACB53-BCDA-46FD-AE5B-DC80337947B5}"/>
              </a:ext>
            </a:extLst>
          </p:cNvPr>
          <p:cNvSpPr>
            <a:spLocks xmlns:a="http://schemas.openxmlformats.org/drawingml/2006/main" noGrp="1"/>
          </p:cNvSpPr>
          <p:nvPr/>
        </p:nvSpPr>
        <p:spPr>
          <a:xfrm xmlns:a="http://schemas.openxmlformats.org/drawingml/2006/main">
            <a:off x="1428750" y="3848100"/>
            <a:ext cx="428625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FA144622-5D3C-4966-9FE5-E66230124759}"/>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7295B26B-D5B0-4F32-9CCF-080768626ABA}"/>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3B7E2732-E2A0-4CD2-B917-84916739130B}"/>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F3905A18-3E3A-47F2-BB5A-F6777F00AB09}"/>
              </a:ext>
            </a:extLst>
          </p:cNvPr>
          <p:cNvSpPr>
            <a:spLocks xmlns:a="http://schemas.openxmlformats.org/drawingml/2006/main" noGrp="1"/>
          </p:cNvSpPr>
          <p:nvPr/>
        </p:nvSpPr>
        <p:spPr>
          <a:xfrm xmlns:a="http://schemas.openxmlformats.org/drawingml/2006/main">
            <a:off x="6496050" y="3848100"/>
            <a:ext cx="4286250" cy="571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F9C73579-3A6D-4143-A380-800F93E4C35E}"/>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CFCD5245-9CA7-498B-A0CD-D7536A3D3562}"/>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B590F931-1705-467E-9A84-A3DF2D9317D5}"/>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63D238C3-92BF-4915-B1F6-BA1E34427453}"/>
              </a:ext>
            </a:extLst>
          </p:cNvPr>
          <p:cNvSpPr>
            <a:spLocks xmlns:a="http://schemas.openxmlformats.org/drawingml/2006/main" noGrp="1"/>
          </p:cNvSpPr>
          <p:nvPr/>
        </p:nvSpPr>
        <p:spPr>
          <a:xfrm xmlns:a="http://schemas.openxmlformats.org/drawingml/2006/main">
            <a:off x="2085975" y="5629275"/>
            <a:ext cx="57150" cy="5143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2AD828A5-A1DB-49F7-AC58-E398DB307E9F}"/>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52F95EAF-3E14-4EAE-A6AD-CFA8237EF14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034592955"/>
      </p:ext>
    </p:extLst>
  </p:cSld>
</p:sld>
</file>

<file path=ppt/slides/slide1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ee44c2ace5b48b7"/>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6415012-93CE-419D-8963-5660A4D4D8B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92626966-6A44-4F64-A0E0-F086DF93367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CF81256-4E17-4D80-9ACB-429AA9840B23}"/>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1B46640F-5BDA-4076-B7F2-8DC624DFF83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93C83A10-A72E-46D4-83D4-9BA9E23F671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E11E8CB7-054F-4F11-9EE1-65BBB637104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251E736-6239-4BEA-9F35-4686A47F9AD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A0F7E5C4-AE7F-4673-8E41-04EC8E2A0212}"/>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11 / 12</a:t>
            </a:r>
          </a:p>
        </p:txBody>
      </p:sp>
      <p:sp>
        <p:nvSpPr>
          <p:cNvPr id="11" name="">
            <a:extLst xmlns:a="http://schemas.openxmlformats.org/drawingml/2006/main">
              <a:ext uri="{FF2B5EF4-FFF2-40B4-BE49-F238E27FC236}">
                <a16:creationId xmlns:a16="http://schemas.microsoft.com/office/drawing/2014/main" id="{ED51146E-F65F-4AFA-8092-5C5F0668FDAA}"/>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707F5BB0-CEC1-49B9-B424-C575767E772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DBD6A73-A34F-4779-A0E3-6A17A18BA0E0}"/>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3차 질문: region보다</a:t>
            </a:r>
          </a:p>
          <a:p xmlns:a="http://schemas.openxmlformats.org/drawingml/2006/main">
            <a:pPr algn="l">
              <a:defRPr sz="2700" b="1">
                <a:solidFill>
                  <a:srgbClr val="132024"/>
                </a:solidFill>
              </a:defRPr>
            </a:pPr>
            <a:r>
              <a:rPr sz="2700" b="1">
                <a:solidFill>
                  <a:srgbClr val="132024"/>
                </a:solidFill>
              </a:rPr>
              <a:t>readout을 먼저 적어야 하는가</a:t>
            </a:r>
          </a:p>
        </p:txBody>
      </p:sp>
      <p:sp>
        <p:nvSpPr>
          <p:cNvPr id="14" name="">
            <a:extLst xmlns:a="http://schemas.openxmlformats.org/drawingml/2006/main">
              <a:ext uri="{FF2B5EF4-FFF2-40B4-BE49-F238E27FC236}">
                <a16:creationId xmlns:a16="http://schemas.microsoft.com/office/drawing/2014/main" id="{3FCCE651-3340-430A-867C-454953EA75D4}"/>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D7854F1C-541E-4795-BB7D-7CEC38D97B57}"/>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C6C1C7B5-9B33-4FCB-AD15-5B7931439FF2}"/>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최종 선택 규칙</a:t>
            </a:r>
          </a:p>
        </p:txBody>
      </p:sp>
      <p:sp>
        <p:nvSpPr>
          <p:cNvPr id="17" name="">
            <a:extLst xmlns:a="http://schemas.openxmlformats.org/drawingml/2006/main">
              <a:ext uri="{FF2B5EF4-FFF2-40B4-BE49-F238E27FC236}">
                <a16:creationId xmlns:a16="http://schemas.microsoft.com/office/drawing/2014/main" id="{E7652316-9406-418D-9A47-8F15A442D2B5}"/>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먼저 가장 중요한 readout을 적고, 그</a:t>
            </a:r>
          </a:p>
          <a:p xmlns:a="http://schemas.openxmlformats.org/drawingml/2006/main">
            <a:pPr algn="l">
              <a:defRPr sz="1200" b="0">
                <a:solidFill>
                  <a:srgbClr val="132024"/>
                </a:solidFill>
              </a:defRPr>
            </a:pPr>
            <a:r>
              <a:rPr sz="1200" b="0">
                <a:solidFill>
                  <a:srgbClr val="132024"/>
                </a:solidFill>
              </a:rPr>
              <a:t>readout을 가장 직접적으로 뒷받침하는</a:t>
            </a:r>
          </a:p>
          <a:p xmlns:a="http://schemas.openxmlformats.org/drawingml/2006/main">
            <a:pPr algn="l">
              <a:defRPr sz="1200" b="0">
                <a:solidFill>
                  <a:srgbClr val="132024"/>
                </a:solidFill>
              </a:defRPr>
            </a:pPr>
            <a:r>
              <a:rPr sz="1200" b="0">
                <a:solidFill>
                  <a:srgbClr val="132024"/>
                </a:solidFill>
              </a:rPr>
              <a:t>branch를 고른다.</a:t>
            </a:r>
          </a:p>
        </p:txBody>
      </p:sp>
      <p:sp>
        <p:nvSpPr>
          <p:cNvPr id="18" name="">
            <a:extLst xmlns:a="http://schemas.openxmlformats.org/drawingml/2006/main">
              <a:ext uri="{FF2B5EF4-FFF2-40B4-BE49-F238E27FC236}">
                <a16:creationId xmlns:a16="http://schemas.microsoft.com/office/drawing/2014/main" id="{C5C0CD3A-43F5-42D6-BD9D-B308EA68EDB4}"/>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C3D7DFA0-E29D-40E3-83E1-3BE6240D2BFC}"/>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462642F-1698-4D4F-A78A-31644144CC0A}"/>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readout 묶음</a:t>
            </a:r>
          </a:p>
        </p:txBody>
      </p:sp>
      <p:sp>
        <p:nvSpPr>
          <p:cNvPr id="21" name="">
            <a:extLst xmlns:a="http://schemas.openxmlformats.org/drawingml/2006/main">
              <a:ext uri="{FF2B5EF4-FFF2-40B4-BE49-F238E27FC236}">
                <a16:creationId xmlns:a16="http://schemas.microsoft.com/office/drawing/2014/main" id="{5E5E52F4-651B-4023-A898-CD1101607EF0}"/>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stability, fidelity/atlas,</a:t>
            </a:r>
          </a:p>
          <a:p xmlns:a="http://schemas.openxmlformats.org/drawingml/2006/main">
            <a:pPr algn="l">
              <a:defRPr sz="1200" b="0">
                <a:solidFill>
                  <a:srgbClr val="132024"/>
                </a:solidFill>
              </a:defRPr>
            </a:pPr>
            <a:r>
              <a:rPr sz="1200" b="0">
                <a:solidFill>
                  <a:srgbClr val="132024"/>
                </a:solidFill>
              </a:rPr>
              <a:t>function, host, screening</a:t>
            </a:r>
          </a:p>
        </p:txBody>
      </p:sp>
      <p:sp>
        <p:nvSpPr>
          <p:cNvPr id="22" name="">
            <a:extLst xmlns:a="http://schemas.openxmlformats.org/drawingml/2006/main">
              <a:ext uri="{FF2B5EF4-FFF2-40B4-BE49-F238E27FC236}">
                <a16:creationId xmlns:a16="http://schemas.microsoft.com/office/drawing/2014/main" id="{DFD08784-2FCA-4381-9FA6-E790B413FEF8}"/>
              </a:ext>
            </a:extLst>
          </p:cNvPr>
          <p:cNvSpPr>
            <a:spLocks xmlns:a="http://schemas.openxmlformats.org/drawingml/2006/main" noGrp="1"/>
          </p:cNvSpPr>
          <p:nvPr/>
        </p:nvSpPr>
        <p:spPr>
          <a:xfrm xmlns:a="http://schemas.openxmlformats.org/drawingml/2006/main">
            <a:off x="685800" y="4972050"/>
            <a:ext cx="3200400" cy="1200150"/>
          </a:xfrm>
          <a:prstGeom xmlns:a="http://schemas.openxmlformats.org/drawingml/2006/main" prst="roundRect">
            <a:avLst>
              <a:gd name="adj" fmla="val 634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E1A98BB8-C7D5-437E-9BB2-2603587F619C}"/>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E7701DAB-176C-4F1A-A54F-4EC43B8DF16B}"/>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anchor</a:t>
            </a:r>
          </a:p>
        </p:txBody>
      </p:sp>
      <p:sp>
        <p:nvSpPr>
          <p:cNvPr id="25" name="">
            <a:extLst xmlns:a="http://schemas.openxmlformats.org/drawingml/2006/main">
              <a:ext uri="{FF2B5EF4-FFF2-40B4-BE49-F238E27FC236}">
                <a16:creationId xmlns:a16="http://schemas.microsoft.com/office/drawing/2014/main" id="{4025825A-1E18-4D1E-8053-FC1122777C36}"/>
              </a:ext>
            </a:extLst>
          </p:cNvPr>
          <p:cNvSpPr>
            <a:spLocks xmlns:a="http://schemas.openxmlformats.org/drawingml/2006/main" noGrp="1"/>
          </p:cNvSpPr>
          <p:nvPr/>
        </p:nvSpPr>
        <p:spPr>
          <a:xfrm xmlns:a="http://schemas.openxmlformats.org/drawingml/2006/main">
            <a:off x="895350" y="5581650"/>
            <a:ext cx="27813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Bhaduri, He,</a:t>
            </a:r>
          </a:p>
          <a:p xmlns:a="http://schemas.openxmlformats.org/drawingml/2006/main">
            <a:pPr algn="l">
              <a:defRPr sz="1200" b="0">
                <a:solidFill>
                  <a:srgbClr val="132024"/>
                </a:solidFill>
              </a:defRPr>
            </a:pPr>
            <a:r>
              <a:rPr sz="1200" b="0">
                <a:solidFill>
                  <a:srgbClr val="132024"/>
                </a:solidFill>
              </a:rPr>
              <a:t>Fitzgerald, Kelley, Chen 등</a:t>
            </a:r>
          </a:p>
        </p:txBody>
      </p:sp>
      <p:sp>
        <p:nvSpPr>
          <p:cNvPr id="26" name="">
            <a:extLst xmlns:a="http://schemas.openxmlformats.org/drawingml/2006/main">
              <a:ext uri="{FF2B5EF4-FFF2-40B4-BE49-F238E27FC236}">
                <a16:creationId xmlns:a16="http://schemas.microsoft.com/office/drawing/2014/main" id="{8BC51728-040A-4647-94AA-EC0159B2242E}"/>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21807D95-707A-4D37-9056-87136B12CFE3}"/>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D7B3F8CD-2C18-4D77-877F-B759271BA50B}"/>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0C318382-F0F4-4C16-9CB1-226502764E2B}"/>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748299AC-8E26-4A8C-A11A-E73051B72810}"/>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8620376C-1A2F-4807-A55A-7D569E2E3467}"/>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collections/organoid/wiki/queries/20260420_172825_brain-functional-readout-selection.md</a:t>
            </a:r>
          </a:p>
        </p:txBody>
      </p:sp>
      <p:sp>
        <p:nvSpPr>
          <p:cNvPr id="32" name="">
            <a:extLst xmlns:a="http://schemas.openxmlformats.org/drawingml/2006/main">
              <a:ext uri="{FF2B5EF4-FFF2-40B4-BE49-F238E27FC236}">
                <a16:creationId xmlns:a16="http://schemas.microsoft.com/office/drawing/2014/main" id="{BAC7CE47-1FBD-4437-A507-6FF64C66303F}"/>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Q3 here</a:t>
            </a:r>
          </a:p>
        </p:txBody>
      </p:sp>
      <p:sp>
        <p:nvSpPr>
          <p:cNvPr id="33" name="">
            <a:extLst xmlns:a="http://schemas.openxmlformats.org/drawingml/2006/main">
              <a:ext uri="{FF2B5EF4-FFF2-40B4-BE49-F238E27FC236}">
                <a16:creationId xmlns:a16="http://schemas.microsoft.com/office/drawing/2014/main" id="{0BF795FA-2AB2-402C-8341-33180E69A23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Q3 query note의 Obsidian local graph를 삽입하면 된다.</a:t>
            </a:r>
          </a:p>
        </p:txBody>
      </p:sp>
    </p:spTree>
    <p:extLst>
      <p:ext uri="{BB962C8B-B14F-4D97-AF65-F5344CB8AC3E}">
        <p14:creationId xmlns:p14="http://schemas.microsoft.com/office/powerpoint/2010/main" val="751935747"/>
      </p:ext>
    </p:extLst>
  </p:cSld>
</p:sld>
</file>

<file path=ppt/slides/slide1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5A324B5-703D-4DE1-A920-5C56CD46E34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d6812a3b8b9464a"/>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1B2F2FE-D45E-4F28-8207-98FD5FDD3AC6}"/>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7959BEDD-BB45-4594-B509-1B3C33A56CFE}"/>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7D64DE0-A02E-4316-B61D-10346678C851}"/>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B646430-18B3-4305-9232-7FF46E50C25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FDB720F7-2A5A-422E-8757-5A878BC7BB72}"/>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399A639-A4BA-4DAB-ACCC-327AA529938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0A2039F-D8D0-490E-9BB1-DBE84AF7F2D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45C244AB-0B59-43E5-B5EC-F76E79FB8DFC}"/>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12 / 12</a:t>
            </a:r>
          </a:p>
        </p:txBody>
      </p:sp>
      <p:sp>
        <p:nvSpPr>
          <p:cNvPr id="11" name="">
            <a:extLst xmlns:a="http://schemas.openxmlformats.org/drawingml/2006/main">
              <a:ext uri="{FF2B5EF4-FFF2-40B4-BE49-F238E27FC236}">
                <a16:creationId xmlns:a16="http://schemas.microsoft.com/office/drawing/2014/main" id="{7BE741BC-1DC6-4436-A22F-1C6BC89BC0A6}"/>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E57007D5-B23F-4F57-9F56-F8260D413C2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4DED332-EC8F-4056-9BF5-4E280D55EA2D}"/>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정리: 좋은 질문은</a:t>
            </a:r>
          </a:p>
          <a:p xmlns:a="http://schemas.openxmlformats.org/drawingml/2006/main">
            <a:pPr algn="l">
              <a:defRPr sz="2850" b="1">
                <a:solidFill>
                  <a:srgbClr val="132024"/>
                </a:solidFill>
              </a:defRPr>
            </a:pPr>
            <a:r>
              <a:rPr sz="2850" b="1">
                <a:solidFill>
                  <a:srgbClr val="132024"/>
                </a:solidFill>
              </a:rPr>
              <a:t>위키를 정리하면서 생겨났다</a:t>
            </a:r>
          </a:p>
        </p:txBody>
      </p:sp>
      <p:sp>
        <p:nvSpPr>
          <p:cNvPr id="14" name="">
            <a:extLst xmlns:a="http://schemas.openxmlformats.org/drawingml/2006/main">
              <a:ext uri="{FF2B5EF4-FFF2-40B4-BE49-F238E27FC236}">
                <a16:creationId xmlns:a16="http://schemas.microsoft.com/office/drawing/2014/main" id="{6616EE7A-29E9-49A9-B9C3-94D1BFA5316A}"/>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2CB5823A-65DE-4AC6-A67C-F076881D20AB}"/>
              </a:ext>
            </a:extLst>
          </p:cNvPr>
          <p:cNvSpPr>
            <a:spLocks xmlns:a="http://schemas.openxmlformats.org/drawingml/2006/main" noGrp="1"/>
          </p:cNvSpPr>
          <p:nvPr/>
        </p:nvSpPr>
        <p:spPr>
          <a:xfrm xmlns:a="http://schemas.openxmlformats.org/drawingml/2006/main">
            <a:off x="762000" y="21526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E64E7AA-3DCA-471A-B191-EE78BDFE688B}"/>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2B9952A4-C291-4474-8422-69F17DB59045}"/>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단위의 LLM-wiki 운영은</a:t>
            </a:r>
          </a:p>
          <a:p xmlns:a="http://schemas.openxmlformats.org/drawingml/2006/main">
            <a:pPr algn="l">
              <a:defRPr sz="1200" b="0">
                <a:solidFill>
                  <a:srgbClr val="132024"/>
                </a:solidFill>
              </a:defRPr>
            </a:pPr>
            <a:r>
              <a:rPr sz="1200" b="0">
                <a:solidFill>
                  <a:srgbClr val="132024"/>
                </a:solidFill>
              </a:rPr>
              <a:t>질문 범위를 좁히고 문헌 해석을 더 조밀하게 쌓게</a:t>
            </a:r>
          </a:p>
          <a:p xmlns:a="http://schemas.openxmlformats.org/drawingml/2006/main">
            <a:pPr algn="l">
              <a:defRPr sz="1200" b="0">
                <a:solidFill>
                  <a:srgbClr val="132024"/>
                </a:solidFill>
              </a:defRPr>
            </a:pPr>
            <a:r>
              <a:rPr sz="1200" b="0">
                <a:solidFill>
                  <a:srgbClr val="132024"/>
                </a:solidFill>
              </a:rPr>
              <a:t>해줬다.</a:t>
            </a:r>
          </a:p>
        </p:txBody>
      </p:sp>
      <p:sp>
        <p:nvSpPr>
          <p:cNvPr id="18" name="">
            <a:extLst xmlns:a="http://schemas.openxmlformats.org/drawingml/2006/main">
              <a:ext uri="{FF2B5EF4-FFF2-40B4-BE49-F238E27FC236}">
                <a16:creationId xmlns:a16="http://schemas.microsoft.com/office/drawing/2014/main" id="{662A3FE3-3267-4CC2-B09F-6522B3B07365}"/>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3A421F04-87AF-4F4A-8F2D-B2859542A882}"/>
              </a:ext>
            </a:extLst>
          </p:cNvPr>
          <p:cNvSpPr>
            <a:spLocks xmlns:a="http://schemas.openxmlformats.org/drawingml/2006/main" noGrp="1"/>
          </p:cNvSpPr>
          <p:nvPr/>
        </p:nvSpPr>
        <p:spPr>
          <a:xfrm xmlns:a="http://schemas.openxmlformats.org/drawingml/2006/main">
            <a:off x="4152900" y="21526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6106E394-51E1-446F-B0E4-546B8231BBD2}"/>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E7B54CAA-7662-4797-962A-649C569EE18D}"/>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brain branch에서는 질문이</a:t>
            </a:r>
          </a:p>
          <a:p xmlns:a="http://schemas.openxmlformats.org/drawingml/2006/main">
            <a:pPr algn="l">
              <a:defRPr sz="1200" b="0">
                <a:solidFill>
                  <a:srgbClr val="132024"/>
                </a:solidFill>
              </a:defRPr>
            </a:pPr>
            <a:r>
              <a:rPr sz="1200" b="0">
                <a:solidFill>
                  <a:srgbClr val="132024"/>
                </a:solidFill>
              </a:rPr>
              <a:t>subregion selection에서</a:t>
            </a:r>
          </a:p>
          <a:p xmlns:a="http://schemas.openxmlformats.org/drawingml/2006/main">
            <a:pPr algn="l">
              <a:defRPr sz="1200" b="0">
                <a:solidFill>
                  <a:srgbClr val="132024"/>
                </a:solidFill>
              </a:defRPr>
            </a:pPr>
            <a:r>
              <a:rPr sz="1200" b="0">
                <a:solidFill>
                  <a:srgbClr val="132024"/>
                </a:solidFill>
              </a:rPr>
              <a:t>benchmark question으로 확장됐다.</a:t>
            </a:r>
          </a:p>
        </p:txBody>
      </p:sp>
      <p:sp>
        <p:nvSpPr>
          <p:cNvPr id="22" name="">
            <a:extLst xmlns:a="http://schemas.openxmlformats.org/drawingml/2006/main">
              <a:ext uri="{FF2B5EF4-FFF2-40B4-BE49-F238E27FC236}">
                <a16:creationId xmlns:a16="http://schemas.microsoft.com/office/drawing/2014/main" id="{D2503BE2-7F93-474F-A496-6C46CEF25EAA}"/>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668B35FA-AEE1-4133-ADD7-DD23D2951851}"/>
              </a:ext>
            </a:extLst>
          </p:cNvPr>
          <p:cNvSpPr>
            <a:spLocks xmlns:a="http://schemas.openxmlformats.org/drawingml/2006/main" noGrp="1"/>
          </p:cNvSpPr>
          <p:nvPr/>
        </p:nvSpPr>
        <p:spPr>
          <a:xfrm xmlns:a="http://schemas.openxmlformats.org/drawingml/2006/main">
            <a:off x="7543800" y="2152650"/>
            <a:ext cx="38862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B4A3851C-8F00-4BDF-8A4C-8AB2C5384126}"/>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03DD5F7A-C3BF-4B1D-ADB1-B3EBCD4E0F00}"/>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8953D308-2021-4BE5-87D8-7F13B5B87093}"/>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13846B14-87AF-4A6A-AE9F-0CE2FED9520A}"/>
              </a:ext>
            </a:extLst>
          </p:cNvPr>
          <p:cNvSpPr>
            <a:spLocks xmlns:a="http://schemas.openxmlformats.org/drawingml/2006/main" noGrp="1"/>
          </p:cNvSpPr>
          <p:nvPr/>
        </p:nvSpPr>
        <p:spPr>
          <a:xfrm xmlns:a="http://schemas.openxmlformats.org/drawingml/2006/main">
            <a:off x="752475" y="4143375"/>
            <a:ext cx="57150" cy="723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7B127880-AC1A-4A32-B764-FAF5AC5D7180}"/>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어떤 readout을 먼저 적어야 하는가? host validation은 언제 필요한가?</a:t>
            </a:r>
          </a:p>
        </p:txBody>
      </p:sp>
      <p:sp>
        <p:nvSpPr>
          <p:cNvPr id="29" name="">
            <a:extLst xmlns:a="http://schemas.openxmlformats.org/drawingml/2006/main">
              <a:ext uri="{FF2B5EF4-FFF2-40B4-BE49-F238E27FC236}">
                <a16:creationId xmlns:a16="http://schemas.microsoft.com/office/drawing/2014/main" id="{B87DDA68-AD73-41C1-9F4C-00724DFA959A}"/>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47D88000-761D-4B38-9433-03A513A6373F}"/>
              </a:ext>
            </a:extLst>
          </p:cNvPr>
          <p:cNvSpPr>
            <a:spLocks xmlns:a="http://schemas.openxmlformats.org/drawingml/2006/main" noGrp="1"/>
          </p:cNvSpPr>
          <p:nvPr/>
        </p:nvSpPr>
        <p:spPr>
          <a:xfrm xmlns:a="http://schemas.openxmlformats.org/drawingml/2006/main">
            <a:off x="752475" y="53054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0ECC065B-57BE-455A-8B29-56728A3C6E7E}"/>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좋은 질문은 더 많은 논문을 나열해서가 아니라, 위키를 정리하면서 비교 기준을 다시 세울 때 생겨났다.</a:t>
            </a:r>
          </a:p>
        </p:txBody>
      </p:sp>
      <p:sp>
        <p:nvSpPr>
          <p:cNvPr id="32" name="">
            <a:extLst xmlns:a="http://schemas.openxmlformats.org/drawingml/2006/main">
              <a:ext uri="{FF2B5EF4-FFF2-40B4-BE49-F238E27FC236}">
                <a16:creationId xmlns:a16="http://schemas.microsoft.com/office/drawing/2014/main" id="{FFA2C25A-CE07-4A84-B57F-40E90621391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LLM-wiki 운영 방식이 질문의 정교화와 발표의 구조를 함께 만들었다.</a:t>
            </a:r>
          </a:p>
        </p:txBody>
      </p:sp>
    </p:spTree>
    <p:extLst>
      <p:ext uri="{BB962C8B-B14F-4D97-AF65-F5344CB8AC3E}">
        <p14:creationId xmlns:p14="http://schemas.microsoft.com/office/powerpoint/2010/main" val="994178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2026-04-27T07:07:41.3000000Z</dcterms:created>
  <dcterms:modified xsi:type="dcterms:W3CDTF">2026-04-27T07:07:41.3000000Z</dcterms:modified>
</coreProperties>
</file>