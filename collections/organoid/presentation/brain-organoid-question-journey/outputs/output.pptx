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276adc94be04c6f" /><Relationship Type="http://schemas.openxmlformats.org/officeDocument/2006/relationships/extended-properties" Target="/docProps/app.xml" Id="R8d397d0b1c6d43ea" /><Relationship Type="http://schemas.openxmlformats.org/officeDocument/2006/relationships/officeDocument" Target="/ppt/presentation.xml" Id="R5abe7194d51e4fa4" /></Relationships>
</file>

<file path=ppt/presentation.xml><?xml version="1.0" encoding="utf-8"?>
<p:presentation xmlns:p="http://schemas.openxmlformats.org/presentationml/2006/main">
  <p:sldMasterIdLst>
    <p:sldMasterId xmlns:r="http://schemas.openxmlformats.org/officeDocument/2006/relationships" id="2147483648" r:id="R9d5f23c3fb244cc5"/>
  </p:sldMasterIdLst>
  <p:notesMasterIdLst>
    <p:notesMasterId xmlns:r="http://schemas.openxmlformats.org/officeDocument/2006/relationships" r:id="R08ccb8f0aa7c4714"/>
  </p:notesMasterIdLst>
  <p:sldIdLst>
    <p:sldId xmlns:r="http://schemas.openxmlformats.org/officeDocument/2006/relationships" id="256" r:id="R59c04cdb98bb4e76"/>
    <p:sldId xmlns:r="http://schemas.openxmlformats.org/officeDocument/2006/relationships" id="257" r:id="Re43cd2630277410c"/>
    <p:sldId xmlns:r="http://schemas.openxmlformats.org/officeDocument/2006/relationships" id="258" r:id="R850cccb3155340c9"/>
    <p:sldId xmlns:r="http://schemas.openxmlformats.org/officeDocument/2006/relationships" id="259" r:id="R44c3a14260a94b1f"/>
    <p:sldId xmlns:r="http://schemas.openxmlformats.org/officeDocument/2006/relationships" id="260" r:id="Rd863f9937c1742be"/>
    <p:sldId xmlns:r="http://schemas.openxmlformats.org/officeDocument/2006/relationships" id="261" r:id="R4f5ce802c25b416c"/>
    <p:sldId xmlns:r="http://schemas.openxmlformats.org/officeDocument/2006/relationships" id="262" r:id="R86969ac528e94134"/>
    <p:sldId xmlns:r="http://schemas.openxmlformats.org/officeDocument/2006/relationships" id="263" r:id="R4e9798e2c3f243a7"/>
    <p:sldId xmlns:r="http://schemas.openxmlformats.org/officeDocument/2006/relationships" id="264" r:id="Ra03f0ca77dce4f87"/>
    <p:sldId xmlns:r="http://schemas.openxmlformats.org/officeDocument/2006/relationships" id="265" r:id="Rda58534a370d4182"/>
    <p:sldId xmlns:r="http://schemas.openxmlformats.org/officeDocument/2006/relationships" id="266" r:id="R8355f16126db44c6"/>
    <p:sldId xmlns:r="http://schemas.openxmlformats.org/officeDocument/2006/relationships" id="267" r:id="R4a8ff96e7f67477f"/>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9d5f23c3fb244cc5" /><Relationship Type="http://schemas.openxmlformats.org/officeDocument/2006/relationships/theme" Target="/ppt/theme/theme1.xml" Id="R0b6104ad49644efd" /><Relationship Type="http://schemas.openxmlformats.org/officeDocument/2006/relationships/notesMaster" Target="/ppt/notesMasters/notesMaster1.xml" Id="R08ccb8f0aa7c4714" /><Relationship Type="http://schemas.openxmlformats.org/officeDocument/2006/relationships/presProps" Target="/ppt/presProps.xml" Id="R72f7e32a65e44276" /><Relationship Type="http://schemas.openxmlformats.org/officeDocument/2006/relationships/viewProps" Target="/ppt/viewProps.xml" Id="R00cee2444b7149b0" /><Relationship Type="http://schemas.openxmlformats.org/officeDocument/2006/relationships/tableStyles" Target="/ppt/tableStyles.xml" Id="R7e98dd36fca540e0" /><Relationship Type="http://schemas.openxmlformats.org/officeDocument/2006/relationships/slide" Target="/ppt/slides/slide1.xml" Id="R59c04cdb98bb4e76" /><Relationship Type="http://schemas.openxmlformats.org/officeDocument/2006/relationships/slide" Target="/ppt/slides/slide2.xml" Id="Re43cd2630277410c" /><Relationship Type="http://schemas.openxmlformats.org/officeDocument/2006/relationships/slide" Target="/ppt/slides/slide3.xml" Id="R850cccb3155340c9" /><Relationship Type="http://schemas.openxmlformats.org/officeDocument/2006/relationships/slide" Target="/ppt/slides/slide4.xml" Id="R44c3a14260a94b1f" /><Relationship Type="http://schemas.openxmlformats.org/officeDocument/2006/relationships/slide" Target="/ppt/slides/slide5.xml" Id="Rd863f9937c1742be" /><Relationship Type="http://schemas.openxmlformats.org/officeDocument/2006/relationships/slide" Target="/ppt/slides/slide6.xml" Id="R4f5ce802c25b416c" /><Relationship Type="http://schemas.openxmlformats.org/officeDocument/2006/relationships/slide" Target="/ppt/slides/slide7.xml" Id="R86969ac528e94134" /><Relationship Type="http://schemas.openxmlformats.org/officeDocument/2006/relationships/slide" Target="/ppt/slides/slide8.xml" Id="R4e9798e2c3f243a7" /><Relationship Type="http://schemas.openxmlformats.org/officeDocument/2006/relationships/slide" Target="/ppt/slides/slide9.xml" Id="Ra03f0ca77dce4f87" /><Relationship Type="http://schemas.openxmlformats.org/officeDocument/2006/relationships/slide" Target="/ppt/slides/slide10.xml" Id="Rda58534a370d4182" /><Relationship Type="http://schemas.openxmlformats.org/officeDocument/2006/relationships/slide" Target="/ppt/slides/slide11.xml" Id="R8355f16126db44c6" /><Relationship Type="http://schemas.openxmlformats.org/officeDocument/2006/relationships/slide" Target="/ppt/slides/slide12.xml" Id="R4a8ff96e7f67477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c6b6ee73fb1d4ac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3b2a45ba964f46" /><Relationship Type="http://schemas.openxmlformats.org/officeDocument/2006/relationships/notesMaster" Target="/ppt/notesMasters/notesMaster1.xml" Id="R767590ab7fbf4a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06b5164b2d4fde" /><Relationship Type="http://schemas.openxmlformats.org/officeDocument/2006/relationships/notesMaster" Target="/ppt/notesMasters/notesMaster1.xml" Id="R291556c6ec3742be" /></Relationships>
</file>

<file path=ppt/notesSlides/_rels/notesSlide3.xml.rels>&#65279;<?xml version="1.0" encoding="utf-8"?><Relationships xmlns="http://schemas.openxmlformats.org/package/2006/relationships"><Relationship Type="http://schemas.openxmlformats.org/officeDocument/2006/relationships/slide" Target="/ppt/slides/slide3.xml" Id="Rbed7e2fb9a9d4c71" /><Relationship Type="http://schemas.openxmlformats.org/officeDocument/2006/relationships/notesMaster" Target="/ppt/notesMasters/notesMaster1.xml" Id="Ra507ab0a5d7d418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2e10da87d54831" /><Relationship Type="http://schemas.openxmlformats.org/officeDocument/2006/relationships/notesMaster" Target="/ppt/notesMasters/notesMaster1.xml" Id="Rd36d9b0e71834f3d"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9cf18ea0064b54" /><Relationship Type="http://schemas.openxmlformats.org/officeDocument/2006/relationships/notesMaster" Target="/ppt/notesMasters/notesMaster1.xml" Id="R29679a53ad7f4528" /></Relationships>
</file>

<file path=ppt/notesSlides/_rels/notesSlide6.xml.rels>&#65279;<?xml version="1.0" encoding="utf-8"?><Relationships xmlns="http://schemas.openxmlformats.org/package/2006/relationships"><Relationship Type="http://schemas.openxmlformats.org/officeDocument/2006/relationships/slide" Target="/ppt/slides/slide6.xml" Id="R589409a9c0984f9d" /><Relationship Type="http://schemas.openxmlformats.org/officeDocument/2006/relationships/notesMaster" Target="/ppt/notesMasters/notesMaster1.xml" Id="Rfddb2a015fda465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164dc3c9b854706" /><Relationship Type="http://schemas.openxmlformats.org/officeDocument/2006/relationships/notesMaster" Target="/ppt/notesMasters/notesMaster1.xml" Id="R64ca9ba7ae1c4e0d" /></Relationships>
</file>

<file path=ppt/notesSlides/_rels/notesSlide8.xml.rels>&#65279;<?xml version="1.0" encoding="utf-8"?><Relationships xmlns="http://schemas.openxmlformats.org/package/2006/relationships"><Relationship Type="http://schemas.openxmlformats.org/officeDocument/2006/relationships/slide" Target="/ppt/slides/slide8.xml" Id="R0af8434a04f64b5a" /><Relationship Type="http://schemas.openxmlformats.org/officeDocument/2006/relationships/notesMaster" Target="/ppt/notesMasters/notesMaster1.xml" Id="R3f097dc9ab214a5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446a99795944648" /><Relationship Type="http://schemas.openxmlformats.org/officeDocument/2006/relationships/notesMaster" Target="/ppt/notesMasters/notesMaster1.xml" Id="Ra762f708d7e742d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82ba5732f7544fe" /><Relationship Type="http://schemas.openxmlformats.org/officeDocument/2006/relationships/notesMaster" Target="/ppt/notesMasters/notesMaster1.xml" Id="R2fe2602b3439468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671329cdb184fa8" /><Relationship Type="http://schemas.openxmlformats.org/officeDocument/2006/relationships/notesMaster" Target="/ppt/notesMasters/notesMaster1.xml" Id="Red86b1aaf01b48c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dcf117eb4824454" /><Relationship Type="http://schemas.openxmlformats.org/officeDocument/2006/relationships/notesMaster" Target="/ppt/notesMasters/notesMaster1.xml" Id="R1618aba566804b0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발표는 결론만 요약하는 발표가 아니라, 질문이 위키 안에서 어떻게 정교해졌는지를 보여주는 발표다.</a:t>
            </a:r>
          </a:p>
          <a:p xmlns:a="http://schemas.openxmlformats.org/drawingml/2006/main">
            <a:r>
              <a:t>처음에는 brain subregion별 프로토콜 차이를 비교하고 싶었지만, 정리할수록 reproducibility, fidelity, timing, readout 문제가 분리되기 시작했다.</a:t>
            </a:r>
          </a:p>
          <a:p xmlns:a="http://schemas.openxmlformats.org/drawingml/2006/main">
            <a:r>
              <a:t>오늘의 핵심 문장은 '질문이 바뀌면 비교 기준도 바뀐다'이다.</a:t>
            </a:r>
          </a:p>
          <a:p xmlns:a="http://schemas.openxmlformats.org/drawingml/2006/main">
            <a:r>
              <a:t/>
            </a:r>
          </a:p>
          <a:p xmlns:a="http://schemas.openxmlformats.org/drawingml/2006/main">
            <a:r>
              <a:t>[Sources]</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발표의 목적은 brain organoid 리뷰를 완성형 결론으로 제시하는 것이 아니라, paper_collect 위키에서 질문이 확장되는 과정을 보여주는 것이다.</a:t>
            </a:r>
          </a:p>
          <a:p xmlns:a="http://schemas.openxmlformats.org/drawingml/2006/main">
            <a:r>
              <a:t>이 컬렉션은 active source page 96개, 그중 brain cluster 17개를 갖고 있고, 오늘 발표는 그중 3개의 질문 노트를 핵심 체인으로 삼는다.</a:t>
            </a:r>
          </a:p>
          <a:p xmlns:a="http://schemas.openxmlformats.org/drawingml/2006/main">
            <a:r>
              <a:t>즉 corpus -&gt; 첫 질문 -&gt; 질문 재정의의 흐름 자체가 발표 내용이다.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초반에 이 슬라이드를 넣으면 왜 하필 brain organoid를 사례로 잡았는지 설명하기 좋다.</a:t>
            </a:r>
          </a:p>
          <a:p xmlns:a="http://schemas.openxmlformats.org/drawingml/2006/main">
            <a:r>
              <a:t>brain cluster는 이 corpus에서 source 수가 가장 크고, broad cerebral에서 niche subregion까지 연속체가 있으며, benchmark 논문과 functional readout 논문도 함께 연결된다.</a:t>
            </a:r>
          </a:p>
          <a:p xmlns:a="http://schemas.openxmlformats.org/drawingml/2006/main">
            <a:r>
              <a:t>즉 질문이 자라나는 과정을 보여주기에 가장 적합한 branch였다.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collections/organoid/wiki/concepts/brain-subregion-specific-organoid-protocols.md</a:t>
            </a:r>
          </a:p>
          <a:p xmlns:a="http://schemas.openxmlformats.org/drawingml/2006/main">
            <a:r>
              <a:t>- collections/organoid/wiki/concepts/brain-organoid-fidelity-reproducibility-and-atlases.md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질문 노트는 subregion 중심 비교다.</a:t>
            </a:r>
          </a:p>
          <a:p xmlns:a="http://schemas.openxmlformats.org/drawingml/2006/main">
            <a:r>
              <a:t>Lancaster는 broad cerebral baseline, Sloan과 Fitzgerald는 forebrain or cortical control, Zagare와 Eura와 Valiulahi는 posterior branch, Pomeshchik과 Atamian은 niche specialization으로 묶였다.</a:t>
            </a:r>
          </a:p>
          <a:p xmlns:a="http://schemas.openxmlformats.org/drawingml/2006/main">
            <a:r>
              <a:t>이 단계에서는 brain organoid 설계 문제가 주로 subregion selection 문제처럼 보였다.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collections/organoid/wiki/concepts/brain-subregion-specific-organoid-protocols.md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Fitzgerald 2024 | Generation of semi-guided cortical organoids with complex neural oscillations</a:t>
            </a:r>
          </a:p>
          <a:p xmlns:a="http://schemas.openxmlformats.org/drawingml/2006/main">
            <a:r>
              <a:t>- Zagare 2021 | A robust protocol for the generation of human midbrain organoids</a:t>
            </a:r>
          </a:p>
          <a:p xmlns:a="http://schemas.openxmlformats.org/drawingml/2006/main">
            <a:r>
              <a:t>- Eura 2020 | Brainstem organoids from human pluripotent stem cells</a:t>
            </a:r>
          </a:p>
          <a:p xmlns:a="http://schemas.openxmlformats.org/drawingml/2006/main">
            <a:r>
              <a:t>- Valiulahi 2021 | Generation of caudal-type serotonin neurons and hindbrain-fate organoids</a:t>
            </a:r>
          </a:p>
          <a:p xmlns:a="http://schemas.openxmlformats.org/drawingml/2006/main">
            <a:r>
              <a:t>- Pomeshchik 2020 | Human iPSC-derived hippocampal spheroids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정리에서 얻은 핵심은 세 갈래였다.</a:t>
            </a:r>
          </a:p>
          <a:p xmlns:a="http://schemas.openxmlformats.org/drawingml/2006/main">
            <a:r>
              <a:t>첫째, broad cerebral baseline은 diversity가 크지만 variability도 크다.</a:t>
            </a:r>
          </a:p>
          <a:p xmlns:a="http://schemas.openxmlformats.org/drawingml/2006/main">
            <a:r>
              <a:t>둘째, forebrain or cortical routes는 더 clean한 regional control을 준다.</a:t>
            </a:r>
          </a:p>
          <a:p xmlns:a="http://schemas.openxmlformats.org/drawingml/2006/main">
            <a:r>
              <a:t>셋째, posterior or niche routes는 특정 biological question에 더 직접적이다.</a:t>
            </a:r>
          </a:p>
          <a:p xmlns:a="http://schemas.openxmlformats.org/drawingml/2006/main">
            <a:r>
              <a:t>이 단계의 잠정 결론은 '많은 brain design 문제는 subregion selection 문제다'였다.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collections/organoid/wiki/concepts/brain-organoid-patterning-and-assembloids.md</a:t>
            </a:r>
          </a:p>
          <a:p xmlns:a="http://schemas.openxmlformats.org/drawingml/2006/main">
            <a:r>
              <a:t>- collections/organoid/wiki/syntheses/20260424_organoid-developmental-baseline-and-regionalization-playbook.md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Zagare 2021 | A robust protocol for the generation of human midbrain organoids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subregion 비교는 useful한 출발점이었지만, 그것만으로는 모델의 quality를 설명하지 못했다.</a:t>
            </a:r>
          </a:p>
          <a:p xmlns:a="http://schemas.openxmlformats.org/drawingml/2006/main">
            <a:r>
              <a:t>같은 cortical branch 안에서도 어떤 프로토콜은 더 reproducible하고, 어떤 것은 primary tissue와 더 닮고, 어떤 것은 timing mapping이 더 분명했다.</a:t>
            </a:r>
          </a:p>
          <a:p xmlns:a="http://schemas.openxmlformats.org/drawingml/2006/main">
            <a:r>
              <a:t>그래서 질문이 '어떤 region인가'에서 '어떤 benchmark로 믿을 수 있는가'로 이동했다.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질문 노트는 benchmark question이다.</a:t>
            </a:r>
          </a:p>
          <a:p xmlns:a="http://schemas.openxmlformats.org/drawingml/2006/main">
            <a:r>
              <a:t>Velasco와 Yoon은 reproducibility, Bhaduri는 fidelity, Kanton은 timing, He는 cross-protocol atlas alignment를 제공했다.</a:t>
            </a:r>
          </a:p>
          <a:p xmlns:a="http://schemas.openxmlformats.org/drawingml/2006/main">
            <a:r>
              <a:t>즉 새 논문이 추가되면서 더 많은 근거가 생긴 것이 아니라, 어떤 질문을 던져야 하는지 자체가 바뀌었다.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슬라이드는 benchmark slide와 framework slide 사이의 다리 역할을 한다.</a:t>
            </a:r>
          </a:p>
          <a:p xmlns:a="http://schemas.openxmlformats.org/drawingml/2006/main">
            <a:r>
              <a:t>Velasco와 Yoon은 잘 반복되는 cortical branch를 보여주지만, Bhaduri는 그 branch가 primary fetal cortex와 얼마나 다른지를 보여준다.</a:t>
            </a:r>
          </a:p>
          <a:p xmlns:a="http://schemas.openxmlformats.org/drawingml/2006/main">
            <a:r>
              <a:t>즉 '잘 반복된다'와 '더 진짜 같다'는 다른 질문이며, 이 구분이 이후 5축 프레임워크의 핵심이 된다.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결국 이 컬렉션에서 brain organoid 비교는 다섯 축으로 정리됐다.</a:t>
            </a:r>
          </a:p>
          <a:p xmlns:a="http://schemas.openxmlformats.org/drawingml/2006/main">
            <a:r>
              <a:t>region identity, reproducibility, fidelity, temporal mapping, atlas alignment는 서로 다른 measurement question이다.</a:t>
            </a:r>
          </a:p>
          <a:p xmlns:a="http://schemas.openxmlformats.org/drawingml/2006/main">
            <a:r>
              <a:t>여기서 가장 중요한 메시지는 reproducibility와 fidelity가 같은 말이 아니라는 점이다.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번째 질문 노트에서는 protocol choice가 readout-first rule로 재정리된다.</a:t>
            </a:r>
          </a:p>
          <a:p xmlns:a="http://schemas.openxmlformats.org/drawingml/2006/main">
            <a:r>
              <a:t>composition reproducibility를 원하면 Velasco or Yoon 계열, fidelity를 원하면 Bhaduri or He, timing을 원하면 Kanton, dish function을 원하면 Fitzgerald, host relevance를 원하면 Kelley, screening을 원하면 Chen or Meng이 우선 anchor가 된다.</a:t>
            </a:r>
          </a:p>
          <a:p xmlns:a="http://schemas.openxmlformats.org/drawingml/2006/main">
            <a:r>
              <a:t>즉 최종 질문은 '어느 region을 만들까'보다 '무슨 readout을 먼저 믿고 싶은가'가 됐다.</a:t>
            </a:r>
          </a:p>
          <a:p xmlns:a="http://schemas.openxmlformats.org/drawingml/2006/main">
            <a:r>
              <a:t/>
            </a:r>
          </a:p>
          <a:p xmlns:a="http://schemas.openxmlformats.org/drawingml/2006/main">
            <a:r>
              <a:t>[Sources]</a:t>
            </a:r>
          </a:p>
          <a:p xmlns:a="http://schemas.openxmlformats.org/drawingml/2006/main">
            <a:r>
              <a:t>- collections/organoid/wiki/queries/20260420_172825_brain-functional-readout-selection.md</a:t>
            </a:r>
          </a:p>
          <a:p xmlns:a="http://schemas.openxmlformats.org/drawingml/2006/main">
            <a:r>
              <a:t>- collections/organoid/wiki/concepts/brain-organoid-patterning-and-assembloids.md</a:t>
            </a:r>
          </a:p>
          <a:p xmlns:a="http://schemas.openxmlformats.org/drawingml/2006/main">
            <a:r>
              <a:t>- collections/organoid/wiki/concepts/brain-organoid-fidelity-reproducibility-and-atlases.md</a:t>
            </a:r>
          </a:p>
          <a:p xmlns:a="http://schemas.openxmlformats.org/drawingml/2006/main">
            <a:r>
              <a:t>- Fitzgerald 2024 | Generation of semi-guided cortical organoids with complex neural oscillations</a:t>
            </a:r>
          </a:p>
          <a:p xmlns:a="http://schemas.openxmlformats.org/drawingml/2006/main">
            <a:r>
              <a:t>- Kelley 2024 | Host circuit engagement of human cortical organoids transplanted in rodents</a:t>
            </a:r>
          </a:p>
          <a:p xmlns:a="http://schemas.openxmlformats.org/drawingml/2006/main">
            <a:r>
              <a:t>- Chen 2023 | Protocol for generating reproducible miniaturized controlled midbrain organoids</a:t>
            </a:r>
          </a:p>
          <a:p xmlns:a="http://schemas.openxmlformats.org/drawingml/2006/main">
            <a:r>
              <a:t>- Meng 2025 | CRISPR screens in human neural organoids and assembloids</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기말 과제가 리뷰 논문이므로, 발표가 글쓰기와 어떻게 연결되는지도 짚어주면 좋다.</a:t>
            </a:r>
          </a:p>
          <a:p xmlns:a="http://schemas.openxmlformats.org/drawingml/2006/main">
            <a:r>
              <a:t>이 위키 체인을 따라가면 리뷰 글의 구조도 자연스럽게 나온다.</a:t>
            </a:r>
          </a:p>
          <a:p xmlns:a="http://schemas.openxmlformats.org/drawingml/2006/main">
            <a:r>
              <a:t>예를 들어 첫 장은 subregion baseline, 다음은 benchmark axes, 마지막은 readout-first design rule처럼 배치할 수 있다.</a:t>
            </a:r>
          </a:p>
          <a:p xmlns:a="http://schemas.openxmlformats.org/drawingml/2006/main">
            <a:r>
              <a:t>즉 발표는 process를, 리뷰는 그 process가 남긴 organizing principle을 보여준다.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collections/organoid/wiki/syntheses/20260424_organoid-developmental-baseline-and-regionalization-playbook.md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마무리에서는 세 가지 takeaway를 다시 강조한다.</a:t>
            </a:r>
          </a:p>
          <a:p xmlns:a="http://schemas.openxmlformats.org/drawingml/2006/main">
            <a:r>
              <a:t>첫째, subregion comparison은 출발점으로 유효했다.</a:t>
            </a:r>
          </a:p>
          <a:p xmlns:a="http://schemas.openxmlformats.org/drawingml/2006/main">
            <a:r>
              <a:t>둘째, benchmark 축이 들어오면서 질문이 바뀌었다.</a:t>
            </a:r>
          </a:p>
          <a:p xmlns:a="http://schemas.openxmlformats.org/drawingml/2006/main">
            <a:r>
              <a:t>셋째, 최종 rule은 readout-first protocol selection이다.</a:t>
            </a:r>
          </a:p>
          <a:p xmlns:a="http://schemas.openxmlformats.org/drawingml/2006/main">
            <a:r>
              <a:t>Q and A에서는 reproducibility와 fidelity를 왜 분리해야 하는지, 어느 축을 먼저 볼지, host validation이 언제 필요한지를 중심으로 받으면 된다.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a1735771fc54ec6"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B594F4D4-7053-413B-AA06-E9FB569EB34A}"/>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9C04EAD1-CBDD-4069-A4BA-AA4ECC609695}"/>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9A0EA56D-F042-4F53-B965-BDDD6EEC1F21}"/>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9AE38D5D-2DA4-4A1B-89C3-83D6AD8F91A4}"/>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821508BF-91E3-4E78-84B3-DCBD229C8660}"/>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47276a7b0959447a" /><Relationship Type="http://schemas.openxmlformats.org/officeDocument/2006/relationships/slideLayout" Target="/ppt/slideLayouts/slideLayout2.xml" Id="R3f567348ddb84e0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62CAA3AB-91E2-4307-BCD7-126A01FC7DD5}"/>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f567348ddb84e0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23c987611641457a" /><Relationship Type="http://schemas.openxmlformats.org/officeDocument/2006/relationships/image" Target="/ppt/media/image.png" Id="R95fcabfdd68a4c73" /><Relationship Type="http://schemas.openxmlformats.org/officeDocument/2006/relationships/notesSlide" Target="/ppt/notesSlides/notesSlide1.xml" Id="Rf6bb51f6a778423d"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aa7596c04154410e" /><Relationship Type="http://schemas.openxmlformats.org/officeDocument/2006/relationships/image" Target="/ppt/media/image2.png" Id="R77c6129897444ff4" /><Relationship Type="http://schemas.openxmlformats.org/officeDocument/2006/relationships/notesSlide" Target="/ppt/notesSlides/notesSlide2.xml" Id="R830b933b457b48d4"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1eb2385a2bc741e1" /><Relationship Type="http://schemas.openxmlformats.org/officeDocument/2006/relationships/image" Target="/ppt/media/image3.png" Id="Rdbae293d94904d67" /><Relationship Type="http://schemas.openxmlformats.org/officeDocument/2006/relationships/notesSlide" Target="/ppt/notesSlides/notesSlide3.xml" Id="Ra68b979221134143"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8cf2146bcbc8403e" /><Relationship Type="http://schemas.openxmlformats.org/officeDocument/2006/relationships/image" Target="/ppt/media/image4.png" Id="Re2c25d33617e48fb" /><Relationship Type="http://schemas.openxmlformats.org/officeDocument/2006/relationships/notesSlide" Target="/ppt/notesSlides/notesSlide4.xml" Id="Rb9ea09e67ab5414b"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7df4728572a34d3d" /><Relationship Type="http://schemas.openxmlformats.org/officeDocument/2006/relationships/image" Target="/ppt/media/image5.png" Id="R1846e2eaf49c4c4e" /><Relationship Type="http://schemas.openxmlformats.org/officeDocument/2006/relationships/notesSlide" Target="/ppt/notesSlides/notesSlide5.xml" Id="Rb2c1cafd49574df0"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d4203d5e29754fb0" /><Relationship Type="http://schemas.openxmlformats.org/officeDocument/2006/relationships/image" Target="/ppt/media/image6.png" Id="R82533a4f1c0742c2" /><Relationship Type="http://schemas.openxmlformats.org/officeDocument/2006/relationships/notesSlide" Target="/ppt/notesSlides/notesSlide6.xml" Id="R311f77dde7904ce3"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8fd4b9d240c446fa" /><Relationship Type="http://schemas.openxmlformats.org/officeDocument/2006/relationships/image" Target="/ppt/media/image7.png" Id="R9e066834ffc94efc" /><Relationship Type="http://schemas.openxmlformats.org/officeDocument/2006/relationships/notesSlide" Target="/ppt/notesSlides/notesSlide7.xml" Id="Rc6a4d3a0721849f1"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f82c266f21434b6a" /><Relationship Type="http://schemas.openxmlformats.org/officeDocument/2006/relationships/image" Target="/ppt/media/image8.png" Id="R7dc9c9e4be7b4005" /><Relationship Type="http://schemas.openxmlformats.org/officeDocument/2006/relationships/notesSlide" Target="/ppt/notesSlides/notesSlide8.xml" Id="Rf4192b997bd040d3"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065685997f0d4cd8" /><Relationship Type="http://schemas.openxmlformats.org/officeDocument/2006/relationships/image" Target="/ppt/media/image9.png" Id="R3e61cab364154a35" /><Relationship Type="http://schemas.openxmlformats.org/officeDocument/2006/relationships/notesSlide" Target="/ppt/notesSlides/notesSlide9.xml" Id="Ra8ddb6a4b10e4b4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95a05216394e41ae" /><Relationship Type="http://schemas.openxmlformats.org/officeDocument/2006/relationships/image" Target="/ppt/media/image10.png" Id="R03a9e792bcc64ca9" /><Relationship Type="http://schemas.openxmlformats.org/officeDocument/2006/relationships/notesSlide" Target="/ppt/notesSlides/notesSlide10.xml" Id="R10c2601886984ec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5d78c2692c9e4e93" /><Relationship Type="http://schemas.openxmlformats.org/officeDocument/2006/relationships/image" Target="/ppt/media/image11.png" Id="R55a429a8104b4a62" /><Relationship Type="http://schemas.openxmlformats.org/officeDocument/2006/relationships/notesSlide" Target="/ppt/notesSlides/notesSlide11.xml" Id="Rca938abc4ab7449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d4eb359b50d74f50" /><Relationship Type="http://schemas.openxmlformats.org/officeDocument/2006/relationships/image" Target="/ppt/media/image12.png" Id="R83ce7e75ba5a41cb" /><Relationship Type="http://schemas.openxmlformats.org/officeDocument/2006/relationships/notesSlide" Target="/ppt/notesSlides/notesSlide12.xml" Id="Rb6946d8b316843ce" /></Relationships>
</file>

<file path=ppt/slides/slide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5fcabfdd68a4c73"/>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4135203F-E698-4D19-9ED9-AA9E7F389468}"/>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F002336D-5AD2-4ADD-9262-822687A62145}"/>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E60CE9B8-B881-4A5E-852B-50DFE5D4C899}"/>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00E68DD0-4A9D-48EE-9CA9-11594A5923B9}"/>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2400C212-CD8B-4A34-A88B-B75F0D6D7DCE}"/>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7B134B4A-E7E5-4705-AC43-C9BAEDCCF8C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CD752D20-5207-4A92-A34C-CE7DEEADC505}"/>
              </a:ext>
            </a:extLst>
          </p:cNvPr>
          <p:cNvSpPr>
            <a:spLocks xmlns:a="http://schemas.openxmlformats.org/drawingml/2006/main" noGrp="1"/>
          </p:cNvSpPr>
          <p:nvPr/>
        </p:nvSpPr>
        <p:spPr>
          <a:xfrm xmlns:a="http://schemas.openxmlformats.org/drawingml/2006/main">
            <a:off x="609600" y="819150"/>
            <a:ext cx="76200" cy="436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EC69A68A-A88F-4DE3-AEEE-D5E0C5E44BBC}"/>
              </a:ext>
            </a:extLst>
          </p:cNvPr>
          <p:cNvSpPr>
            <a:spLocks xmlns:a="http://schemas.openxmlformats.org/drawingml/2006/main" noGrp="1"/>
          </p:cNvSpPr>
          <p:nvPr/>
        </p:nvSpPr>
        <p:spPr>
          <a:xfrm xmlns:a="http://schemas.openxmlformats.org/drawingml/2006/main">
            <a:off x="819150" y="83820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BRAIN ORGANOID QUESTION CHAIN</a:t>
            </a:r>
          </a:p>
        </p:txBody>
      </p:sp>
      <p:sp>
        <p:nvSpPr>
          <p:cNvPr id="11" name="">
            <a:extLst xmlns:a="http://schemas.openxmlformats.org/drawingml/2006/main">
              <a:ext uri="{FF2B5EF4-FFF2-40B4-BE49-F238E27FC236}">
                <a16:creationId xmlns:a16="http://schemas.microsoft.com/office/drawing/2014/main" id="{E7941980-7445-4161-AF3D-D1FA45EEB487}"/>
              </a:ext>
            </a:extLst>
          </p:cNvPr>
          <p:cNvSpPr>
            <a:spLocks xmlns:a="http://schemas.openxmlformats.org/drawingml/2006/main" noGrp="1"/>
          </p:cNvSpPr>
          <p:nvPr/>
        </p:nvSpPr>
        <p:spPr>
          <a:xfrm xmlns:a="http://schemas.openxmlformats.org/drawingml/2006/main">
            <a:off x="781050" y="1238250"/>
            <a:ext cx="6572250" cy="1447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75" b="1">
                <a:solidFill>
                  <a:srgbClr val="132024"/>
                </a:solidFill>
              </a:defRPr>
            </a:pPr>
            <a:r>
              <a:rPr sz="3375" b="1">
                <a:solidFill>
                  <a:srgbClr val="132024"/>
                </a:solidFill>
              </a:rPr>
              <a:t>Brain organoid protocol 비교는</a:t>
            </a:r>
          </a:p>
          <a:p xmlns:a="http://schemas.openxmlformats.org/drawingml/2006/main">
            <a:pPr algn="l">
              <a:defRPr sz="3375" b="1">
                <a:solidFill>
                  <a:srgbClr val="132024"/>
                </a:solidFill>
              </a:defRPr>
            </a:pPr>
            <a:r>
              <a:rPr sz="3375" b="1">
                <a:solidFill>
                  <a:srgbClr val="132024"/>
                </a:solidFill>
              </a:rPr>
              <a:t>왜 subregion 비교만으로 끝나지 않는가</a:t>
            </a:r>
          </a:p>
        </p:txBody>
      </p:sp>
      <p:sp>
        <p:nvSpPr>
          <p:cNvPr id="12" name="">
            <a:extLst xmlns:a="http://schemas.openxmlformats.org/drawingml/2006/main">
              <a:ext uri="{FF2B5EF4-FFF2-40B4-BE49-F238E27FC236}">
                <a16:creationId xmlns:a16="http://schemas.microsoft.com/office/drawing/2014/main" id="{23443940-25C1-473E-B83A-9D790F00148F}"/>
              </a:ext>
            </a:extLst>
          </p:cNvPr>
          <p:cNvSpPr>
            <a:spLocks xmlns:a="http://schemas.openxmlformats.org/drawingml/2006/main" noGrp="1"/>
          </p:cNvSpPr>
          <p:nvPr/>
        </p:nvSpPr>
        <p:spPr>
          <a:xfrm xmlns:a="http://schemas.openxmlformats.org/drawingml/2006/main">
            <a:off x="819150" y="2933700"/>
            <a:ext cx="5905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344146"/>
                </a:solidFill>
              </a:defRPr>
            </a:pPr>
            <a:r>
              <a:rPr sz="1500" b="0">
                <a:solidFill>
                  <a:srgbClr val="344146"/>
                </a:solidFill>
              </a:rPr>
              <a:t>organoid 위키를 정리하면서, 단순한 region 비교 질문이</a:t>
            </a:r>
          </a:p>
          <a:p xmlns:a="http://schemas.openxmlformats.org/drawingml/2006/main">
            <a:pPr algn="l">
              <a:defRPr sz="1500" b="0">
                <a:solidFill>
                  <a:srgbClr val="344146"/>
                </a:solidFill>
              </a:defRPr>
            </a:pPr>
            <a:r>
              <a:rPr sz="1500" b="0">
                <a:solidFill>
                  <a:srgbClr val="344146"/>
                </a:solidFill>
              </a:rPr>
              <a:t>benchmark와 readout 중심 질문으로 어떻게 확장됐는지를 보여준다.</a:t>
            </a:r>
          </a:p>
        </p:txBody>
      </p:sp>
      <p:sp>
        <p:nvSpPr>
          <p:cNvPr id="13" name="">
            <a:extLst xmlns:a="http://schemas.openxmlformats.org/drawingml/2006/main">
              <a:ext uri="{FF2B5EF4-FFF2-40B4-BE49-F238E27FC236}">
                <a16:creationId xmlns:a16="http://schemas.microsoft.com/office/drawing/2014/main" id="{6F2D9D53-E184-40D5-AFA9-228AAD70F461}"/>
              </a:ext>
            </a:extLst>
          </p:cNvPr>
          <p:cNvSpPr>
            <a:spLocks xmlns:a="http://schemas.openxmlformats.org/drawingml/2006/main" noGrp="1"/>
          </p:cNvSpPr>
          <p:nvPr/>
        </p:nvSpPr>
        <p:spPr>
          <a:xfrm xmlns:a="http://schemas.openxmlformats.org/drawingml/2006/main">
            <a:off x="819150" y="4210050"/>
            <a:ext cx="4114800" cy="876300"/>
          </a:xfrm>
          <a:prstGeom xmlns:a="http://schemas.openxmlformats.org/drawingml/2006/main" prst="roundRect">
            <a:avLst>
              <a:gd name="adj" fmla="val 869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4" name="">
            <a:extLst xmlns:a="http://schemas.openxmlformats.org/drawingml/2006/main">
              <a:ext uri="{FF2B5EF4-FFF2-40B4-BE49-F238E27FC236}">
                <a16:creationId xmlns:a16="http://schemas.microsoft.com/office/drawing/2014/main" id="{EBAEC967-ACFE-4E53-B3E3-2E4511DB46F7}"/>
              </a:ext>
            </a:extLst>
          </p:cNvPr>
          <p:cNvSpPr>
            <a:spLocks xmlns:a="http://schemas.openxmlformats.org/drawingml/2006/main" noGrp="1"/>
          </p:cNvSpPr>
          <p:nvPr/>
        </p:nvSpPr>
        <p:spPr>
          <a:xfrm xmlns:a="http://schemas.openxmlformats.org/drawingml/2006/main">
            <a:off x="1066800" y="4457700"/>
            <a:ext cx="36957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32024"/>
                </a:solidFill>
              </a:defRPr>
            </a:pPr>
            <a:r>
              <a:rPr sz="1650" b="1">
                <a:solidFill>
                  <a:srgbClr val="132024"/>
                </a:solidFill>
              </a:rPr>
              <a:t>질문이 바뀌면 비교 기준도 바뀐다</a:t>
            </a:r>
          </a:p>
        </p:txBody>
      </p:sp>
      <p:sp>
        <p:nvSpPr>
          <p:cNvPr id="15" name="">
            <a:extLst xmlns:a="http://schemas.openxmlformats.org/drawingml/2006/main">
              <a:ext uri="{FF2B5EF4-FFF2-40B4-BE49-F238E27FC236}">
                <a16:creationId xmlns:a16="http://schemas.microsoft.com/office/drawing/2014/main" id="{7EAA2DD1-1CD7-4B6C-B1E8-0A2F6D0B6AC2}"/>
              </a:ext>
            </a:extLst>
          </p:cNvPr>
          <p:cNvSpPr>
            <a:spLocks xmlns:a="http://schemas.openxmlformats.org/drawingml/2006/main" noGrp="1"/>
          </p:cNvSpPr>
          <p:nvPr/>
        </p:nvSpPr>
        <p:spPr>
          <a:xfrm xmlns:a="http://schemas.openxmlformats.org/drawingml/2006/main">
            <a:off x="8020050" y="1200150"/>
            <a:ext cx="20383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1C4BD8C6-BE38-4BD5-8BC5-54DAAABCBAAF}"/>
              </a:ext>
            </a:extLst>
          </p:cNvPr>
          <p:cNvSpPr>
            <a:spLocks xmlns:a="http://schemas.openxmlformats.org/drawingml/2006/main" noGrp="1"/>
          </p:cNvSpPr>
          <p:nvPr/>
        </p:nvSpPr>
        <p:spPr>
          <a:xfrm xmlns:a="http://schemas.openxmlformats.org/drawingml/2006/main">
            <a:off x="8067675" y="1247775"/>
            <a:ext cx="47625" cy="10096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D33EDC71-79A8-4931-B4CA-86057250E3FC}"/>
              </a:ext>
            </a:extLst>
          </p:cNvPr>
          <p:cNvSpPr>
            <a:spLocks xmlns:a="http://schemas.openxmlformats.org/drawingml/2006/main" noGrp="1"/>
          </p:cNvSpPr>
          <p:nvPr/>
        </p:nvSpPr>
        <p:spPr>
          <a:xfrm xmlns:a="http://schemas.openxmlformats.org/drawingml/2006/main">
            <a:off x="8191500" y="135255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18" name="">
            <a:extLst xmlns:a="http://schemas.openxmlformats.org/drawingml/2006/main">
              <a:ext uri="{FF2B5EF4-FFF2-40B4-BE49-F238E27FC236}">
                <a16:creationId xmlns:a16="http://schemas.microsoft.com/office/drawing/2014/main" id="{BEF1D92C-E63F-451C-A480-03978193D812}"/>
              </a:ext>
            </a:extLst>
          </p:cNvPr>
          <p:cNvSpPr>
            <a:spLocks xmlns:a="http://schemas.openxmlformats.org/drawingml/2006/main" noGrp="1"/>
          </p:cNvSpPr>
          <p:nvPr/>
        </p:nvSpPr>
        <p:spPr>
          <a:xfrm xmlns:a="http://schemas.openxmlformats.org/drawingml/2006/main">
            <a:off x="8191500" y="163830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subregion</a:t>
            </a:r>
          </a:p>
        </p:txBody>
      </p:sp>
      <p:sp>
        <p:nvSpPr>
          <p:cNvPr id="19" name="">
            <a:extLst xmlns:a="http://schemas.openxmlformats.org/drawingml/2006/main">
              <a:ext uri="{FF2B5EF4-FFF2-40B4-BE49-F238E27FC236}">
                <a16:creationId xmlns:a16="http://schemas.microsoft.com/office/drawing/2014/main" id="{319C1CF3-F704-4E39-A329-17C738548D79}"/>
              </a:ext>
            </a:extLst>
          </p:cNvPr>
          <p:cNvSpPr>
            <a:spLocks xmlns:a="http://schemas.openxmlformats.org/drawingml/2006/main" noGrp="1"/>
          </p:cNvSpPr>
          <p:nvPr/>
        </p:nvSpPr>
        <p:spPr>
          <a:xfrm xmlns:a="http://schemas.openxmlformats.org/drawingml/2006/main">
            <a:off x="8191500" y="1885950"/>
            <a:ext cx="1714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a:p xmlns:a="http://schemas.openxmlformats.org/drawingml/2006/main">
            <a:pPr algn="l">
              <a:defRPr sz="825" b="0">
                <a:solidFill>
                  <a:srgbClr val="344146"/>
                </a:solidFill>
              </a:defRPr>
            </a:pPr>
            <a:r>
              <a:rPr sz="825" b="0">
                <a:solidFill>
                  <a:srgbClr val="344146"/>
                </a:solidFill>
              </a:rPr>
              <a:t>forebrain, midbrain</a:t>
            </a:r>
          </a:p>
        </p:txBody>
      </p:sp>
      <p:sp>
        <p:nvSpPr>
          <p:cNvPr id="20" name="">
            <a:extLst xmlns:a="http://schemas.openxmlformats.org/drawingml/2006/main">
              <a:ext uri="{FF2B5EF4-FFF2-40B4-BE49-F238E27FC236}">
                <a16:creationId xmlns:a16="http://schemas.microsoft.com/office/drawing/2014/main" id="{B89F2617-D745-4667-AA30-C989158B3EDD}"/>
              </a:ext>
            </a:extLst>
          </p:cNvPr>
          <p:cNvSpPr>
            <a:spLocks xmlns:a="http://schemas.openxmlformats.org/drawingml/2006/main" noGrp="1"/>
          </p:cNvSpPr>
          <p:nvPr/>
        </p:nvSpPr>
        <p:spPr>
          <a:xfrm xmlns:a="http://schemas.openxmlformats.org/drawingml/2006/main">
            <a:off x="9296400" y="2667000"/>
            <a:ext cx="198120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F673671E-8E5E-4CF4-A581-607848400CBB}"/>
              </a:ext>
            </a:extLst>
          </p:cNvPr>
          <p:cNvSpPr>
            <a:spLocks xmlns:a="http://schemas.openxmlformats.org/drawingml/2006/main" noGrp="1"/>
          </p:cNvSpPr>
          <p:nvPr/>
        </p:nvSpPr>
        <p:spPr>
          <a:xfrm xmlns:a="http://schemas.openxmlformats.org/drawingml/2006/main">
            <a:off x="9344025" y="2714625"/>
            <a:ext cx="47625" cy="10096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85883388-EE98-4ABA-B710-B12A85F8283E}"/>
              </a:ext>
            </a:extLst>
          </p:cNvPr>
          <p:cNvSpPr>
            <a:spLocks xmlns:a="http://schemas.openxmlformats.org/drawingml/2006/main" noGrp="1"/>
          </p:cNvSpPr>
          <p:nvPr/>
        </p:nvSpPr>
        <p:spPr>
          <a:xfrm xmlns:a="http://schemas.openxmlformats.org/drawingml/2006/main">
            <a:off x="9467850" y="2819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3" name="">
            <a:extLst xmlns:a="http://schemas.openxmlformats.org/drawingml/2006/main">
              <a:ext uri="{FF2B5EF4-FFF2-40B4-BE49-F238E27FC236}">
                <a16:creationId xmlns:a16="http://schemas.microsoft.com/office/drawing/2014/main" id="{B69E5FDD-FA9F-4DCD-8AED-8003A1551617}"/>
              </a:ext>
            </a:extLst>
          </p:cNvPr>
          <p:cNvSpPr>
            <a:spLocks xmlns:a="http://schemas.openxmlformats.org/drawingml/2006/main" noGrp="1"/>
          </p:cNvSpPr>
          <p:nvPr/>
        </p:nvSpPr>
        <p:spPr>
          <a:xfrm xmlns:a="http://schemas.openxmlformats.org/drawingml/2006/main">
            <a:off x="9467850" y="31051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benchmark</a:t>
            </a:r>
          </a:p>
        </p:txBody>
      </p:sp>
      <p:sp>
        <p:nvSpPr>
          <p:cNvPr id="24" name="">
            <a:extLst xmlns:a="http://schemas.openxmlformats.org/drawingml/2006/main">
              <a:ext uri="{FF2B5EF4-FFF2-40B4-BE49-F238E27FC236}">
                <a16:creationId xmlns:a16="http://schemas.microsoft.com/office/drawing/2014/main" id="{3AF96F0F-8C4E-4FE9-AE39-5FB50D4824AF}"/>
              </a:ext>
            </a:extLst>
          </p:cNvPr>
          <p:cNvSpPr>
            <a:spLocks xmlns:a="http://schemas.openxmlformats.org/drawingml/2006/main" noGrp="1"/>
          </p:cNvSpPr>
          <p:nvPr/>
        </p:nvSpPr>
        <p:spPr>
          <a:xfrm xmlns:a="http://schemas.openxmlformats.org/drawingml/2006/main">
            <a:off x="9467850" y="3352800"/>
            <a:ext cx="1657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reproducibility,</a:t>
            </a:r>
          </a:p>
          <a:p xmlns:a="http://schemas.openxmlformats.org/drawingml/2006/main">
            <a:pPr algn="l">
              <a:defRPr sz="825" b="0">
                <a:solidFill>
                  <a:srgbClr val="344146"/>
                </a:solidFill>
              </a:defRPr>
            </a:pPr>
            <a:r>
              <a:rPr sz="825" b="0">
                <a:solidFill>
                  <a:srgbClr val="344146"/>
                </a:solidFill>
              </a:rPr>
              <a:t>fidelity, timing</a:t>
            </a:r>
          </a:p>
        </p:txBody>
      </p:sp>
      <p:sp>
        <p:nvSpPr>
          <p:cNvPr id="25" name="">
            <a:extLst xmlns:a="http://schemas.openxmlformats.org/drawingml/2006/main">
              <a:ext uri="{FF2B5EF4-FFF2-40B4-BE49-F238E27FC236}">
                <a16:creationId xmlns:a16="http://schemas.microsoft.com/office/drawing/2014/main" id="{C6D61AFA-D7FE-4725-A91D-D17ABBB5D7D1}"/>
              </a:ext>
            </a:extLst>
          </p:cNvPr>
          <p:cNvSpPr>
            <a:spLocks xmlns:a="http://schemas.openxmlformats.org/drawingml/2006/main" noGrp="1"/>
          </p:cNvSpPr>
          <p:nvPr/>
        </p:nvSpPr>
        <p:spPr>
          <a:xfrm xmlns:a="http://schemas.openxmlformats.org/drawingml/2006/main">
            <a:off x="8001000" y="4191000"/>
            <a:ext cx="21145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D746FE9E-CC90-4F3B-9D81-5DFCBB28E910}"/>
              </a:ext>
            </a:extLst>
          </p:cNvPr>
          <p:cNvSpPr>
            <a:spLocks xmlns:a="http://schemas.openxmlformats.org/drawingml/2006/main" noGrp="1"/>
          </p:cNvSpPr>
          <p:nvPr/>
        </p:nvSpPr>
        <p:spPr>
          <a:xfrm xmlns:a="http://schemas.openxmlformats.org/drawingml/2006/main">
            <a:off x="8048625" y="4238625"/>
            <a:ext cx="47625" cy="10096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5F01CB18-5DCF-4966-8D83-8D44440DD3A1}"/>
              </a:ext>
            </a:extLst>
          </p:cNvPr>
          <p:cNvSpPr>
            <a:spLocks xmlns:a="http://schemas.openxmlformats.org/drawingml/2006/main" noGrp="1"/>
          </p:cNvSpPr>
          <p:nvPr/>
        </p:nvSpPr>
        <p:spPr>
          <a:xfrm xmlns:a="http://schemas.openxmlformats.org/drawingml/2006/main">
            <a:off x="8172450" y="4343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8" name="">
            <a:extLst xmlns:a="http://schemas.openxmlformats.org/drawingml/2006/main">
              <a:ext uri="{FF2B5EF4-FFF2-40B4-BE49-F238E27FC236}">
                <a16:creationId xmlns:a16="http://schemas.microsoft.com/office/drawing/2014/main" id="{38A82BF3-59FF-4FD5-8EF0-C576631AF9A6}"/>
              </a:ext>
            </a:extLst>
          </p:cNvPr>
          <p:cNvSpPr>
            <a:spLocks xmlns:a="http://schemas.openxmlformats.org/drawingml/2006/main" noGrp="1"/>
          </p:cNvSpPr>
          <p:nvPr/>
        </p:nvSpPr>
        <p:spPr>
          <a:xfrm xmlns:a="http://schemas.openxmlformats.org/drawingml/2006/main">
            <a:off x="8172450" y="462915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readout</a:t>
            </a:r>
          </a:p>
        </p:txBody>
      </p:sp>
      <p:sp>
        <p:nvSpPr>
          <p:cNvPr id="29" name="">
            <a:extLst xmlns:a="http://schemas.openxmlformats.org/drawingml/2006/main">
              <a:ext uri="{FF2B5EF4-FFF2-40B4-BE49-F238E27FC236}">
                <a16:creationId xmlns:a16="http://schemas.microsoft.com/office/drawing/2014/main" id="{3825E9B4-D853-4F9D-B1E9-5413BB4D1330}"/>
              </a:ext>
            </a:extLst>
          </p:cNvPr>
          <p:cNvSpPr>
            <a:spLocks xmlns:a="http://schemas.openxmlformats.org/drawingml/2006/main" noGrp="1"/>
          </p:cNvSpPr>
          <p:nvPr/>
        </p:nvSpPr>
        <p:spPr>
          <a:xfrm xmlns:a="http://schemas.openxmlformats.org/drawingml/2006/main">
            <a:off x="8172450" y="4876800"/>
            <a:ext cx="17907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MEA, atlas, host,</a:t>
            </a:r>
          </a:p>
          <a:p xmlns:a="http://schemas.openxmlformats.org/drawingml/2006/main">
            <a:pPr algn="l">
              <a:defRPr sz="825" b="0">
                <a:solidFill>
                  <a:srgbClr val="344146"/>
                </a:solidFill>
              </a:defRPr>
            </a:pPr>
            <a:r>
              <a:rPr sz="825" b="0">
                <a:solidFill>
                  <a:srgbClr val="344146"/>
                </a:solidFill>
              </a:rPr>
              <a:t>screening</a:t>
            </a:r>
          </a:p>
        </p:txBody>
      </p:sp>
      <p:sp>
        <p:nvSpPr>
          <p:cNvPr id="30" name="">
            <a:extLst xmlns:a="http://schemas.openxmlformats.org/drawingml/2006/main">
              <a:ext uri="{FF2B5EF4-FFF2-40B4-BE49-F238E27FC236}">
                <a16:creationId xmlns:a16="http://schemas.microsoft.com/office/drawing/2014/main" id="{F44F6050-7037-49F6-A12E-C7F54943E160}"/>
              </a:ext>
            </a:extLst>
          </p:cNvPr>
          <p:cNvSpPr>
            <a:spLocks xmlns:a="http://schemas.openxmlformats.org/drawingml/2006/main" noGrp="1"/>
          </p:cNvSpPr>
          <p:nvPr/>
        </p:nvSpPr>
        <p:spPr>
          <a:xfrm xmlns:a="http://schemas.openxmlformats.org/drawingml/2006/main">
            <a:off x="7391400" y="2609850"/>
            <a:ext cx="2095500" cy="990600"/>
          </a:xfrm>
          <a:prstGeom xmlns:a="http://schemas.openxmlformats.org/drawingml/2006/main" prst="roundRect">
            <a:avLst>
              <a:gd name="adj" fmla="val 7692"/>
            </a:avLst>
          </a:prstGeom>
          <a:solidFill xmlns:a="http://schemas.openxmlformats.org/drawingml/2006/main">
            <a:srgbClr val="DDF4E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B859E255-CDBF-4CC8-8A36-9D74BB969747}"/>
              </a:ext>
            </a:extLst>
          </p:cNvPr>
          <p:cNvSpPr>
            <a:spLocks xmlns:a="http://schemas.openxmlformats.org/drawingml/2006/main" noGrp="1"/>
          </p:cNvSpPr>
          <p:nvPr/>
        </p:nvSpPr>
        <p:spPr>
          <a:xfrm xmlns:a="http://schemas.openxmlformats.org/drawingml/2006/main">
            <a:off x="7439025" y="2657475"/>
            <a:ext cx="47625" cy="8953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9F0FA9D2-C3B3-4313-9D01-FDA1EA49FA0B}"/>
              </a:ext>
            </a:extLst>
          </p:cNvPr>
          <p:cNvSpPr>
            <a:spLocks xmlns:a="http://schemas.openxmlformats.org/drawingml/2006/main" noGrp="1"/>
          </p:cNvSpPr>
          <p:nvPr/>
        </p:nvSpPr>
        <p:spPr>
          <a:xfrm xmlns:a="http://schemas.openxmlformats.org/drawingml/2006/main">
            <a:off x="7562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33" name="">
            <a:extLst xmlns:a="http://schemas.openxmlformats.org/drawingml/2006/main">
              <a:ext uri="{FF2B5EF4-FFF2-40B4-BE49-F238E27FC236}">
                <a16:creationId xmlns:a16="http://schemas.microsoft.com/office/drawing/2014/main" id="{C57FF973-A83F-4FDC-A266-9244E2AED488}"/>
              </a:ext>
            </a:extLst>
          </p:cNvPr>
          <p:cNvSpPr>
            <a:spLocks xmlns:a="http://schemas.openxmlformats.org/drawingml/2006/main" noGrp="1"/>
          </p:cNvSpPr>
          <p:nvPr/>
        </p:nvSpPr>
        <p:spPr>
          <a:xfrm xmlns:a="http://schemas.openxmlformats.org/drawingml/2006/main">
            <a:off x="7562850" y="304800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질문의 이동</a:t>
            </a:r>
          </a:p>
        </p:txBody>
      </p:sp>
      <p:sp>
        <p:nvSpPr>
          <p:cNvPr id="34" name="">
            <a:extLst xmlns:a="http://schemas.openxmlformats.org/drawingml/2006/main">
              <a:ext uri="{FF2B5EF4-FFF2-40B4-BE49-F238E27FC236}">
                <a16:creationId xmlns:a16="http://schemas.microsoft.com/office/drawing/2014/main" id="{1FACE5B2-DFAB-42C6-8AD7-270A4CB16DC8}"/>
              </a:ext>
            </a:extLst>
          </p:cNvPr>
          <p:cNvSpPr>
            <a:spLocks xmlns:a="http://schemas.openxmlformats.org/drawingml/2006/main" noGrp="1"/>
          </p:cNvSpPr>
          <p:nvPr/>
        </p:nvSpPr>
        <p:spPr>
          <a:xfrm xmlns:a="http://schemas.openxmlformats.org/drawingml/2006/main">
            <a:off x="7562850" y="3295650"/>
            <a:ext cx="1771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what should I compare first?</a:t>
            </a:r>
          </a:p>
        </p:txBody>
      </p:sp>
      <p:sp>
        <p:nvSpPr>
          <p:cNvPr id="35" name="">
            <a:extLst xmlns:a="http://schemas.openxmlformats.org/drawingml/2006/main">
              <a:ext uri="{FF2B5EF4-FFF2-40B4-BE49-F238E27FC236}">
                <a16:creationId xmlns:a16="http://schemas.microsoft.com/office/drawing/2014/main" id="{1334168C-A6D6-43CB-961F-FE7564216903}"/>
              </a:ext>
            </a:extLst>
          </p:cNvPr>
          <p:cNvSpPr>
            <a:spLocks xmlns:a="http://schemas.openxmlformats.org/drawingml/2006/main" noGrp="1"/>
          </p:cNvSpPr>
          <p:nvPr/>
        </p:nvSpPr>
        <p:spPr>
          <a:xfrm xmlns:a="http://schemas.openxmlformats.org/drawingml/2006/main" rot="-3964498">
            <a:off x="7999343" y="2414588"/>
            <a:ext cx="1479690" cy="28575"/>
          </a:xfrm>
          <a:prstGeom xmlns:a="http://schemas.openxmlformats.org/drawingml/2006/main" prst="rect">
            <a:avLst/>
          </a:prstGeom>
          <a:solidFill xmlns:a="http://schemas.openxmlformats.org/drawingml/2006/main">
            <a:srgbClr val="97B7AA"/>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D84867D3-2FB7-4D2D-A937-C713BA877B99}"/>
              </a:ext>
            </a:extLst>
          </p:cNvPr>
          <p:cNvSpPr>
            <a:spLocks xmlns:a="http://schemas.openxmlformats.org/drawingml/2006/main" noGrp="1"/>
          </p:cNvSpPr>
          <p:nvPr/>
        </p:nvSpPr>
        <p:spPr>
          <a:xfrm xmlns:a="http://schemas.openxmlformats.org/drawingml/2006/main" rot="212374">
            <a:off x="8437384" y="3148013"/>
            <a:ext cx="1851382" cy="28575"/>
          </a:xfrm>
          <a:prstGeom xmlns:a="http://schemas.openxmlformats.org/drawingml/2006/main" prst="rect">
            <a:avLst/>
          </a:prstGeom>
          <a:solidFill xmlns:a="http://schemas.openxmlformats.org/drawingml/2006/main">
            <a:srgbClr val="B7B0A1"/>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76975BD1-441D-4269-9798-A31545D49925}"/>
              </a:ext>
            </a:extLst>
          </p:cNvPr>
          <p:cNvSpPr>
            <a:spLocks xmlns:a="http://schemas.openxmlformats.org/drawingml/2006/main" noGrp="1"/>
          </p:cNvSpPr>
          <p:nvPr/>
        </p:nvSpPr>
        <p:spPr>
          <a:xfrm xmlns:a="http://schemas.openxmlformats.org/drawingml/2006/main" rot="4157884">
            <a:off x="7873021" y="3910013"/>
            <a:ext cx="1751383" cy="28575"/>
          </a:xfrm>
          <a:prstGeom xmlns:a="http://schemas.openxmlformats.org/drawingml/2006/main" prst="rect">
            <a:avLst/>
          </a:prstGeom>
          <a:solidFill xmlns:a="http://schemas.openxmlformats.org/drawingml/2006/main">
            <a:srgbClr val="CDA69F"/>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10CC3D05-F315-4095-9AFB-F22242C53630}"/>
              </a:ext>
            </a:extLst>
          </p:cNvPr>
          <p:cNvSpPr>
            <a:spLocks xmlns:a="http://schemas.openxmlformats.org/drawingml/2006/main" noGrp="1"/>
          </p:cNvSpPr>
          <p:nvPr/>
        </p:nvSpPr>
        <p:spPr>
          <a:xfrm xmlns:a="http://schemas.openxmlformats.org/drawingml/2006/main">
            <a:off x="819150" y="5448300"/>
            <a:ext cx="110490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15 min talk</a:t>
            </a:r>
          </a:p>
        </p:txBody>
      </p:sp>
      <p:sp>
        <p:nvSpPr>
          <p:cNvPr id="39" name="">
            <a:extLst xmlns:a="http://schemas.openxmlformats.org/drawingml/2006/main">
              <a:ext uri="{FF2B5EF4-FFF2-40B4-BE49-F238E27FC236}">
                <a16:creationId xmlns:a16="http://schemas.microsoft.com/office/drawing/2014/main" id="{CDE9561F-97F2-4C93-902F-E9E8D5749B1D}"/>
              </a:ext>
            </a:extLst>
          </p:cNvPr>
          <p:cNvSpPr>
            <a:spLocks xmlns:a="http://schemas.openxmlformats.org/drawingml/2006/main" noGrp="1"/>
          </p:cNvSpPr>
          <p:nvPr/>
        </p:nvSpPr>
        <p:spPr>
          <a:xfrm xmlns:a="http://schemas.openxmlformats.org/drawingml/2006/main">
            <a:off x="2038350" y="5448300"/>
            <a:ext cx="15621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question journey</a:t>
            </a:r>
          </a:p>
        </p:txBody>
      </p:sp>
      <p:sp>
        <p:nvSpPr>
          <p:cNvPr id="40" name="">
            <a:extLst xmlns:a="http://schemas.openxmlformats.org/drawingml/2006/main">
              <a:ext uri="{FF2B5EF4-FFF2-40B4-BE49-F238E27FC236}">
                <a16:creationId xmlns:a16="http://schemas.microsoft.com/office/drawing/2014/main" id="{6A4F81BD-0428-4B49-9B45-8C0C10C9C3E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발표 구조: 출발 질문 -&gt; 한계 발견 -&gt; 질문 재정의 -&gt; 최종 선택 규칙</a:t>
            </a:r>
          </a:p>
        </p:txBody>
      </p:sp>
    </p:spTree>
    <p:extLst>
      <p:ext uri="{BB962C8B-B14F-4D97-AF65-F5344CB8AC3E}">
        <p14:creationId xmlns:p14="http://schemas.microsoft.com/office/powerpoint/2010/main" val="721257982"/>
      </p:ext>
    </p:extLst>
  </p:cSld>
</p:sld>
</file>

<file path=ppt/slides/slide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7c6129897444ff4"/>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CC65EC4-058D-4D51-B287-0F141C694AA2}"/>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59696A5-B064-4FC3-9152-D680851FF701}"/>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AB3754C4-39E4-446E-849B-AB4B03298F72}"/>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61029B04-3CFE-4F04-A734-94454A1190AC}"/>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26C5313D-84DE-4694-8AA4-DAD001AF778A}"/>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FB5DC2C-0AC0-4AA1-8A90-61CA7A2447F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78431"/>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18C55A5-E630-4360-9BC9-8CDEF161171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WHY THIS TALK</a:t>
            </a:r>
          </a:p>
        </p:txBody>
      </p:sp>
      <p:sp>
        <p:nvSpPr>
          <p:cNvPr id="10" name="">
            <a:extLst xmlns:a="http://schemas.openxmlformats.org/drawingml/2006/main">
              <a:ext uri="{FF2B5EF4-FFF2-40B4-BE49-F238E27FC236}">
                <a16:creationId xmlns:a16="http://schemas.microsoft.com/office/drawing/2014/main" id="{305A3FC6-A67F-4EBE-9090-6A65FBDEBC8F}"/>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02 / 12</a:t>
            </a:r>
          </a:p>
        </p:txBody>
      </p:sp>
      <p:sp>
        <p:nvSpPr>
          <p:cNvPr id="11" name="">
            <a:extLst xmlns:a="http://schemas.openxmlformats.org/drawingml/2006/main">
              <a:ext uri="{FF2B5EF4-FFF2-40B4-BE49-F238E27FC236}">
                <a16:creationId xmlns:a16="http://schemas.microsoft.com/office/drawing/2014/main" id="{1ED6BD71-A8F9-48CB-90C1-4AA2B53E5576}"/>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9A58EB6D-8881-413F-A0F8-A668FBBF39E4}"/>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25EBE1EE-831C-4758-87CD-6CA922FB0D6D}"/>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교수님 가이드에 맞춘</a:t>
            </a:r>
          </a:p>
          <a:p xmlns:a="http://schemas.openxmlformats.org/drawingml/2006/main">
            <a:pPr algn="l">
              <a:defRPr sz="2850" b="1">
                <a:solidFill>
                  <a:srgbClr val="132024"/>
                </a:solidFill>
              </a:defRPr>
            </a:pPr>
            <a:r>
              <a:rPr sz="2850" b="1">
                <a:solidFill>
                  <a:srgbClr val="132024"/>
                </a:solidFill>
              </a:rPr>
              <a:t>발표 프레임</a:t>
            </a:r>
          </a:p>
        </p:txBody>
      </p:sp>
      <p:sp>
        <p:nvSpPr>
          <p:cNvPr id="14" name="">
            <a:extLst xmlns:a="http://schemas.openxmlformats.org/drawingml/2006/main">
              <a:ext uri="{FF2B5EF4-FFF2-40B4-BE49-F238E27FC236}">
                <a16:creationId xmlns:a16="http://schemas.microsoft.com/office/drawing/2014/main" id="{2014B76A-394E-444C-93D9-AC807BB765BF}"/>
              </a:ext>
            </a:extLst>
          </p:cNvPr>
          <p:cNvSpPr>
            <a:spLocks xmlns:a="http://schemas.openxmlformats.org/drawingml/2006/main" noGrp="1"/>
          </p:cNvSpPr>
          <p:nvPr/>
        </p:nvSpPr>
        <p:spPr>
          <a:xfrm xmlns:a="http://schemas.openxmlformats.org/drawingml/2006/main">
            <a:off x="7772400" y="990600"/>
            <a:ext cx="3714750" cy="876300"/>
          </a:xfrm>
          <a:prstGeom xmlns:a="http://schemas.openxmlformats.org/drawingml/2006/main" prst="roundRect">
            <a:avLst>
              <a:gd name="adj" fmla="val 8696"/>
            </a:avLst>
          </a:prstGeom>
          <a:solidFill xmlns:a="http://schemas.openxmlformats.org/drawingml/2006/main">
            <a:srgbClr val="F4E8C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C6C98D76-5DBE-4689-8520-5932796254A9}"/>
              </a:ext>
            </a:extLst>
          </p:cNvPr>
          <p:cNvSpPr>
            <a:spLocks xmlns:a="http://schemas.openxmlformats.org/drawingml/2006/main" noGrp="1"/>
          </p:cNvSpPr>
          <p:nvPr/>
        </p:nvSpPr>
        <p:spPr>
          <a:xfrm xmlns:a="http://schemas.openxmlformats.org/drawingml/2006/main">
            <a:off x="7820025" y="1038225"/>
            <a:ext cx="57150" cy="7810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8767C49D-4926-4323-864C-6924882B11FE}"/>
              </a:ext>
            </a:extLst>
          </p:cNvPr>
          <p:cNvSpPr>
            <a:spLocks xmlns:a="http://schemas.openxmlformats.org/drawingml/2006/main" noGrp="1"/>
          </p:cNvSpPr>
          <p:nvPr/>
        </p:nvSpPr>
        <p:spPr>
          <a:xfrm xmlns:a="http://schemas.openxmlformats.org/drawingml/2006/main">
            <a:off x="7981950" y="1143000"/>
            <a:ext cx="33337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교수님 포인트: 결론보다 '지식-위키 체인'이 어떻게 만들어졌는지를 보여주는 발표</a:t>
            </a:r>
          </a:p>
        </p:txBody>
      </p:sp>
      <p:sp>
        <p:nvSpPr>
          <p:cNvPr id="17" name="">
            <a:extLst xmlns:a="http://schemas.openxmlformats.org/drawingml/2006/main">
              <a:ext uri="{FF2B5EF4-FFF2-40B4-BE49-F238E27FC236}">
                <a16:creationId xmlns:a16="http://schemas.microsoft.com/office/drawing/2014/main" id="{A5F28CED-E394-4364-ACEC-970740BFD260}"/>
              </a:ext>
            </a:extLst>
          </p:cNvPr>
          <p:cNvSpPr>
            <a:spLocks xmlns:a="http://schemas.openxmlformats.org/drawingml/2006/main" noGrp="1"/>
          </p:cNvSpPr>
          <p:nvPr/>
        </p:nvSpPr>
        <p:spPr>
          <a:xfrm xmlns:a="http://schemas.openxmlformats.org/drawingml/2006/main">
            <a:off x="6096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4055DDA3-CF99-4947-BA18-FF6298CA8BC1}"/>
              </a:ext>
            </a:extLst>
          </p:cNvPr>
          <p:cNvSpPr>
            <a:spLocks xmlns:a="http://schemas.openxmlformats.org/drawingml/2006/main" noGrp="1"/>
          </p:cNvSpPr>
          <p:nvPr/>
        </p:nvSpPr>
        <p:spPr>
          <a:xfrm xmlns:a="http://schemas.openxmlformats.org/drawingml/2006/main">
            <a:off x="666750" y="2266950"/>
            <a:ext cx="31623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3882ABA8-34C7-419B-ACA6-8DD58B8A120B}"/>
              </a:ext>
            </a:extLst>
          </p:cNvPr>
          <p:cNvSpPr>
            <a:spLocks xmlns:a="http://schemas.openxmlformats.org/drawingml/2006/main" noGrp="1"/>
          </p:cNvSpPr>
          <p:nvPr/>
        </p:nvSpPr>
        <p:spPr>
          <a:xfrm xmlns:a="http://schemas.openxmlformats.org/drawingml/2006/main">
            <a:off x="8001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96</a:t>
            </a:r>
          </a:p>
        </p:txBody>
      </p:sp>
      <p:sp>
        <p:nvSpPr>
          <p:cNvPr id="20" name="">
            <a:extLst xmlns:a="http://schemas.openxmlformats.org/drawingml/2006/main">
              <a:ext uri="{FF2B5EF4-FFF2-40B4-BE49-F238E27FC236}">
                <a16:creationId xmlns:a16="http://schemas.microsoft.com/office/drawing/2014/main" id="{D6DD3F03-4864-4B9C-8243-510BB19830E5}"/>
              </a:ext>
            </a:extLst>
          </p:cNvPr>
          <p:cNvSpPr>
            <a:spLocks xmlns:a="http://schemas.openxmlformats.org/drawingml/2006/main" noGrp="1"/>
          </p:cNvSpPr>
          <p:nvPr/>
        </p:nvSpPr>
        <p:spPr>
          <a:xfrm xmlns:a="http://schemas.openxmlformats.org/drawingml/2006/main">
            <a:off x="8001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active source pages</a:t>
            </a:r>
          </a:p>
        </p:txBody>
      </p:sp>
      <p:sp>
        <p:nvSpPr>
          <p:cNvPr id="21" name="">
            <a:extLst xmlns:a="http://schemas.openxmlformats.org/drawingml/2006/main">
              <a:ext uri="{FF2B5EF4-FFF2-40B4-BE49-F238E27FC236}">
                <a16:creationId xmlns:a16="http://schemas.microsoft.com/office/drawing/2014/main" id="{ED47A85A-6F88-4230-94A9-C1802B1731AA}"/>
              </a:ext>
            </a:extLst>
          </p:cNvPr>
          <p:cNvSpPr>
            <a:spLocks xmlns:a="http://schemas.openxmlformats.org/drawingml/2006/main" noGrp="1"/>
          </p:cNvSpPr>
          <p:nvPr/>
        </p:nvSpPr>
        <p:spPr>
          <a:xfrm xmlns:a="http://schemas.openxmlformats.org/drawingml/2006/main">
            <a:off x="8001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a:t>
            </a:r>
          </a:p>
        </p:txBody>
      </p:sp>
      <p:sp>
        <p:nvSpPr>
          <p:cNvPr id="22" name="">
            <a:extLst xmlns:a="http://schemas.openxmlformats.org/drawingml/2006/main">
              <a:ext uri="{FF2B5EF4-FFF2-40B4-BE49-F238E27FC236}">
                <a16:creationId xmlns:a16="http://schemas.microsoft.com/office/drawing/2014/main" id="{67F2EA5E-822A-46D1-B528-AA87E49A11FF}"/>
              </a:ext>
            </a:extLst>
          </p:cNvPr>
          <p:cNvSpPr>
            <a:spLocks xmlns:a="http://schemas.openxmlformats.org/drawingml/2006/main" noGrp="1"/>
          </p:cNvSpPr>
          <p:nvPr/>
        </p:nvSpPr>
        <p:spPr>
          <a:xfrm xmlns:a="http://schemas.openxmlformats.org/drawingml/2006/main">
            <a:off x="41148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D3898373-E979-4E08-BB34-6C76048FBEBB}"/>
              </a:ext>
            </a:extLst>
          </p:cNvPr>
          <p:cNvSpPr>
            <a:spLocks xmlns:a="http://schemas.openxmlformats.org/drawingml/2006/main" noGrp="1"/>
          </p:cNvSpPr>
          <p:nvPr/>
        </p:nvSpPr>
        <p:spPr>
          <a:xfrm xmlns:a="http://schemas.openxmlformats.org/drawingml/2006/main">
            <a:off x="4171950" y="2266950"/>
            <a:ext cx="31623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0F9DB7B8-993A-4466-BC01-F1EA61CAF81D}"/>
              </a:ext>
            </a:extLst>
          </p:cNvPr>
          <p:cNvSpPr>
            <a:spLocks xmlns:a="http://schemas.openxmlformats.org/drawingml/2006/main" noGrp="1"/>
          </p:cNvSpPr>
          <p:nvPr/>
        </p:nvSpPr>
        <p:spPr>
          <a:xfrm xmlns:a="http://schemas.openxmlformats.org/drawingml/2006/main">
            <a:off x="43053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17</a:t>
            </a:r>
          </a:p>
        </p:txBody>
      </p:sp>
      <p:sp>
        <p:nvSpPr>
          <p:cNvPr id="25" name="">
            <a:extLst xmlns:a="http://schemas.openxmlformats.org/drawingml/2006/main">
              <a:ext uri="{FF2B5EF4-FFF2-40B4-BE49-F238E27FC236}">
                <a16:creationId xmlns:a16="http://schemas.microsoft.com/office/drawing/2014/main" id="{CE2DD017-1B51-49DD-A5F6-E43C7176996B}"/>
              </a:ext>
            </a:extLst>
          </p:cNvPr>
          <p:cNvSpPr>
            <a:spLocks xmlns:a="http://schemas.openxmlformats.org/drawingml/2006/main" noGrp="1"/>
          </p:cNvSpPr>
          <p:nvPr/>
        </p:nvSpPr>
        <p:spPr>
          <a:xfrm xmlns:a="http://schemas.openxmlformats.org/drawingml/2006/main">
            <a:off x="43053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brain cluster sources</a:t>
            </a:r>
          </a:p>
        </p:txBody>
      </p:sp>
      <p:sp>
        <p:nvSpPr>
          <p:cNvPr id="26" name="">
            <a:extLst xmlns:a="http://schemas.openxmlformats.org/drawingml/2006/main">
              <a:ext uri="{FF2B5EF4-FFF2-40B4-BE49-F238E27FC236}">
                <a16:creationId xmlns:a16="http://schemas.microsoft.com/office/drawing/2014/main" id="{536070D3-86F2-45E7-A60A-0227BF1E4C49}"/>
              </a:ext>
            </a:extLst>
          </p:cNvPr>
          <p:cNvSpPr>
            <a:spLocks xmlns:a="http://schemas.openxmlformats.org/drawingml/2006/main" noGrp="1"/>
          </p:cNvSpPr>
          <p:nvPr/>
        </p:nvSpPr>
        <p:spPr>
          <a:xfrm xmlns:a="http://schemas.openxmlformats.org/drawingml/2006/main">
            <a:off x="43053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a:t>
            </a:r>
          </a:p>
        </p:txBody>
      </p:sp>
      <p:sp>
        <p:nvSpPr>
          <p:cNvPr id="27" name="">
            <a:extLst xmlns:a="http://schemas.openxmlformats.org/drawingml/2006/main">
              <a:ext uri="{FF2B5EF4-FFF2-40B4-BE49-F238E27FC236}">
                <a16:creationId xmlns:a16="http://schemas.microsoft.com/office/drawing/2014/main" id="{3C223EF0-EBE7-448A-B4CC-A9455CAC184F}"/>
              </a:ext>
            </a:extLst>
          </p:cNvPr>
          <p:cNvSpPr>
            <a:spLocks xmlns:a="http://schemas.openxmlformats.org/drawingml/2006/main" noGrp="1"/>
          </p:cNvSpPr>
          <p:nvPr/>
        </p:nvSpPr>
        <p:spPr>
          <a:xfrm xmlns:a="http://schemas.openxmlformats.org/drawingml/2006/main">
            <a:off x="76200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8" name="">
            <a:extLst xmlns:a="http://schemas.openxmlformats.org/drawingml/2006/main">
              <a:ext uri="{FF2B5EF4-FFF2-40B4-BE49-F238E27FC236}">
                <a16:creationId xmlns:a16="http://schemas.microsoft.com/office/drawing/2014/main" id="{E048FC8A-C892-4398-92B8-D9A75D8A053C}"/>
              </a:ext>
            </a:extLst>
          </p:cNvPr>
          <p:cNvSpPr>
            <a:spLocks xmlns:a="http://schemas.openxmlformats.org/drawingml/2006/main" noGrp="1"/>
          </p:cNvSpPr>
          <p:nvPr/>
        </p:nvSpPr>
        <p:spPr>
          <a:xfrm xmlns:a="http://schemas.openxmlformats.org/drawingml/2006/main">
            <a:off x="7677150" y="2266950"/>
            <a:ext cx="31623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CBF976F3-0B7D-4B5A-B684-28A572FDD210}"/>
              </a:ext>
            </a:extLst>
          </p:cNvPr>
          <p:cNvSpPr>
            <a:spLocks xmlns:a="http://schemas.openxmlformats.org/drawingml/2006/main" noGrp="1"/>
          </p:cNvSpPr>
          <p:nvPr/>
        </p:nvSpPr>
        <p:spPr>
          <a:xfrm xmlns:a="http://schemas.openxmlformats.org/drawingml/2006/main">
            <a:off x="78105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3</a:t>
            </a:r>
          </a:p>
        </p:txBody>
      </p:sp>
      <p:sp>
        <p:nvSpPr>
          <p:cNvPr id="30" name="">
            <a:extLst xmlns:a="http://schemas.openxmlformats.org/drawingml/2006/main">
              <a:ext uri="{FF2B5EF4-FFF2-40B4-BE49-F238E27FC236}">
                <a16:creationId xmlns:a16="http://schemas.microsoft.com/office/drawing/2014/main" id="{874B01D2-13C5-48FB-9172-97964590A431}"/>
              </a:ext>
            </a:extLst>
          </p:cNvPr>
          <p:cNvSpPr>
            <a:spLocks xmlns:a="http://schemas.openxmlformats.org/drawingml/2006/main" noGrp="1"/>
          </p:cNvSpPr>
          <p:nvPr/>
        </p:nvSpPr>
        <p:spPr>
          <a:xfrm xmlns:a="http://schemas.openxmlformats.org/drawingml/2006/main">
            <a:off x="78105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core question notes in this talk</a:t>
            </a:r>
          </a:p>
        </p:txBody>
      </p:sp>
      <p:sp>
        <p:nvSpPr>
          <p:cNvPr id="31" name="">
            <a:extLst xmlns:a="http://schemas.openxmlformats.org/drawingml/2006/main">
              <a:ext uri="{FF2B5EF4-FFF2-40B4-BE49-F238E27FC236}">
                <a16:creationId xmlns:a16="http://schemas.microsoft.com/office/drawing/2014/main" id="{03C8C4AA-4913-40B0-9BB0-E5F87894A407}"/>
              </a:ext>
            </a:extLst>
          </p:cNvPr>
          <p:cNvSpPr>
            <a:spLocks xmlns:a="http://schemas.openxmlformats.org/drawingml/2006/main" noGrp="1"/>
          </p:cNvSpPr>
          <p:nvPr/>
        </p:nvSpPr>
        <p:spPr>
          <a:xfrm xmlns:a="http://schemas.openxmlformats.org/drawingml/2006/main">
            <a:off x="78105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q1 -&gt; q2 -&gt; q3</a:t>
            </a:r>
          </a:p>
        </p:txBody>
      </p:sp>
      <p:sp>
        <p:nvSpPr>
          <p:cNvPr id="32" name="">
            <a:extLst xmlns:a="http://schemas.openxmlformats.org/drawingml/2006/main">
              <a:ext uri="{FF2B5EF4-FFF2-40B4-BE49-F238E27FC236}">
                <a16:creationId xmlns:a16="http://schemas.microsoft.com/office/drawing/2014/main" id="{9962B511-D671-4D8D-8DC8-57B014136C30}"/>
              </a:ext>
            </a:extLst>
          </p:cNvPr>
          <p:cNvSpPr>
            <a:spLocks xmlns:a="http://schemas.openxmlformats.org/drawingml/2006/main" noGrp="1"/>
          </p:cNvSpPr>
          <p:nvPr/>
        </p:nvSpPr>
        <p:spPr>
          <a:xfrm xmlns:a="http://schemas.openxmlformats.org/drawingml/2006/main">
            <a:off x="781050" y="3867150"/>
            <a:ext cx="29908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3" name="">
            <a:extLst xmlns:a="http://schemas.openxmlformats.org/drawingml/2006/main">
              <a:ext uri="{FF2B5EF4-FFF2-40B4-BE49-F238E27FC236}">
                <a16:creationId xmlns:a16="http://schemas.microsoft.com/office/drawing/2014/main" id="{BC20C889-9AED-4276-A80B-BE3ADE777355}"/>
              </a:ext>
            </a:extLst>
          </p:cNvPr>
          <p:cNvSpPr>
            <a:spLocks xmlns:a="http://schemas.openxmlformats.org/drawingml/2006/main" noGrp="1"/>
          </p:cNvSpPr>
          <p:nvPr/>
        </p:nvSpPr>
        <p:spPr>
          <a:xfrm xmlns:a="http://schemas.openxmlformats.org/drawingml/2006/main">
            <a:off x="838200" y="3924300"/>
            <a:ext cx="28765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CEA28CE8-F1E8-4652-A0E8-9BEE9BE86AC0}"/>
              </a:ext>
            </a:extLst>
          </p:cNvPr>
          <p:cNvSpPr>
            <a:spLocks xmlns:a="http://schemas.openxmlformats.org/drawingml/2006/main" noGrp="1"/>
          </p:cNvSpPr>
          <p:nvPr/>
        </p:nvSpPr>
        <p:spPr>
          <a:xfrm xmlns:a="http://schemas.openxmlformats.org/drawingml/2006/main">
            <a:off x="990600" y="4057650"/>
            <a:ext cx="2571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corpus browse</a:t>
            </a:r>
          </a:p>
        </p:txBody>
      </p:sp>
      <p:sp>
        <p:nvSpPr>
          <p:cNvPr id="35" name="">
            <a:extLst xmlns:a="http://schemas.openxmlformats.org/drawingml/2006/main">
              <a:ext uri="{FF2B5EF4-FFF2-40B4-BE49-F238E27FC236}">
                <a16:creationId xmlns:a16="http://schemas.microsoft.com/office/drawing/2014/main" id="{4DF73D21-92A8-4B86-BACE-ECCBBB644C99}"/>
              </a:ext>
            </a:extLst>
          </p:cNvPr>
          <p:cNvSpPr>
            <a:spLocks xmlns:a="http://schemas.openxmlformats.org/drawingml/2006/main" noGrp="1"/>
          </p:cNvSpPr>
          <p:nvPr/>
        </p:nvSpPr>
        <p:spPr>
          <a:xfrm xmlns:a="http://schemas.openxmlformats.org/drawingml/2006/main">
            <a:off x="990600" y="4476750"/>
            <a:ext cx="25717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index와 overview에서 organoid</a:t>
            </a:r>
          </a:p>
          <a:p xmlns:a="http://schemas.openxmlformats.org/drawingml/2006/main">
            <a:pPr algn="l">
              <a:defRPr sz="1200" b="0">
                <a:solidFill>
                  <a:srgbClr val="132024"/>
                </a:solidFill>
              </a:defRPr>
            </a:pPr>
            <a:r>
              <a:rPr sz="1200" b="0">
                <a:solidFill>
                  <a:srgbClr val="132024"/>
                </a:solidFill>
              </a:rPr>
              <a:t>corpus 전체 구조를 잡고, brain 관련</a:t>
            </a:r>
          </a:p>
          <a:p xmlns:a="http://schemas.openxmlformats.org/drawingml/2006/main">
            <a:pPr algn="l">
              <a:defRPr sz="1200" b="0">
                <a:solidFill>
                  <a:srgbClr val="132024"/>
                </a:solidFill>
              </a:defRPr>
            </a:pPr>
            <a:r>
              <a:rPr sz="1200" b="0">
                <a:solidFill>
                  <a:srgbClr val="132024"/>
                </a:solidFill>
              </a:rPr>
              <a:t>source와 concept page를 먼저</a:t>
            </a:r>
          </a:p>
          <a:p xmlns:a="http://schemas.openxmlformats.org/drawingml/2006/main">
            <a:pPr algn="l">
              <a:defRPr sz="1200" b="0">
                <a:solidFill>
                  <a:srgbClr val="132024"/>
                </a:solidFill>
              </a:defRPr>
            </a:pPr>
            <a:r>
              <a:rPr sz="1200" b="0">
                <a:solidFill>
                  <a:srgbClr val="132024"/>
                </a:solidFill>
              </a:rPr>
              <a:t>추렸다.</a:t>
            </a:r>
          </a:p>
        </p:txBody>
      </p:sp>
      <p:sp>
        <p:nvSpPr>
          <p:cNvPr id="36" name="">
            <a:extLst xmlns:a="http://schemas.openxmlformats.org/drawingml/2006/main">
              <a:ext uri="{FF2B5EF4-FFF2-40B4-BE49-F238E27FC236}">
                <a16:creationId xmlns:a16="http://schemas.microsoft.com/office/drawing/2014/main" id="{62527602-52EB-45A5-B421-9BDF6232A100}"/>
              </a:ext>
            </a:extLst>
          </p:cNvPr>
          <p:cNvSpPr>
            <a:spLocks xmlns:a="http://schemas.openxmlformats.org/drawingml/2006/main" noGrp="1"/>
          </p:cNvSpPr>
          <p:nvPr/>
        </p:nvSpPr>
        <p:spPr>
          <a:xfrm xmlns:a="http://schemas.openxmlformats.org/drawingml/2006/main">
            <a:off x="3981450" y="4629150"/>
            <a:ext cx="7239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15A30D3A-DD7B-4B86-924B-C791ACB95E25}"/>
              </a:ext>
            </a:extLst>
          </p:cNvPr>
          <p:cNvSpPr>
            <a:spLocks xmlns:a="http://schemas.openxmlformats.org/drawingml/2006/main" noGrp="1"/>
          </p:cNvSpPr>
          <p:nvPr/>
        </p:nvSpPr>
        <p:spPr>
          <a:xfrm xmlns:a="http://schemas.openxmlformats.org/drawingml/2006/main">
            <a:off x="4819650" y="3867150"/>
            <a:ext cx="29908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8" name="">
            <a:extLst xmlns:a="http://schemas.openxmlformats.org/drawingml/2006/main">
              <a:ext uri="{FF2B5EF4-FFF2-40B4-BE49-F238E27FC236}">
                <a16:creationId xmlns:a16="http://schemas.microsoft.com/office/drawing/2014/main" id="{4F636B83-8542-4106-ACB5-1576C7D1D705}"/>
              </a:ext>
            </a:extLst>
          </p:cNvPr>
          <p:cNvSpPr>
            <a:spLocks xmlns:a="http://schemas.openxmlformats.org/drawingml/2006/main" noGrp="1"/>
          </p:cNvSpPr>
          <p:nvPr/>
        </p:nvSpPr>
        <p:spPr>
          <a:xfrm xmlns:a="http://schemas.openxmlformats.org/drawingml/2006/main">
            <a:off x="4876800" y="3924300"/>
            <a:ext cx="28765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E581D4C2-CB78-44FC-AB4C-1255323618EF}"/>
              </a:ext>
            </a:extLst>
          </p:cNvPr>
          <p:cNvSpPr>
            <a:spLocks xmlns:a="http://schemas.openxmlformats.org/drawingml/2006/main" noGrp="1"/>
          </p:cNvSpPr>
          <p:nvPr/>
        </p:nvSpPr>
        <p:spPr>
          <a:xfrm xmlns:a="http://schemas.openxmlformats.org/drawingml/2006/main">
            <a:off x="5029200" y="4057650"/>
            <a:ext cx="2571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first query</a:t>
            </a:r>
          </a:p>
        </p:txBody>
      </p:sp>
      <p:sp>
        <p:nvSpPr>
          <p:cNvPr id="40" name="">
            <a:extLst xmlns:a="http://schemas.openxmlformats.org/drawingml/2006/main">
              <a:ext uri="{FF2B5EF4-FFF2-40B4-BE49-F238E27FC236}">
                <a16:creationId xmlns:a16="http://schemas.microsoft.com/office/drawing/2014/main" id="{A2759FAD-6A45-4000-9B09-91B688C5D46B}"/>
              </a:ext>
            </a:extLst>
          </p:cNvPr>
          <p:cNvSpPr>
            <a:spLocks xmlns:a="http://schemas.openxmlformats.org/drawingml/2006/main" noGrp="1"/>
          </p:cNvSpPr>
          <p:nvPr/>
        </p:nvSpPr>
        <p:spPr>
          <a:xfrm xmlns:a="http://schemas.openxmlformats.org/drawingml/2006/main">
            <a:off x="5029200" y="4476750"/>
            <a:ext cx="25717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subregion별 프로토콜 차이를 정리하면서</a:t>
            </a:r>
          </a:p>
          <a:p xmlns:a="http://schemas.openxmlformats.org/drawingml/2006/main">
            <a:pPr algn="l">
              <a:defRPr sz="1200" b="0">
                <a:solidFill>
                  <a:srgbClr val="132024"/>
                </a:solidFill>
              </a:defRPr>
            </a:pPr>
            <a:r>
              <a:rPr sz="1200" b="0">
                <a:solidFill>
                  <a:srgbClr val="132024"/>
                </a:solidFill>
              </a:rPr>
              <a:t>region choice를 중심 질문으로</a:t>
            </a:r>
          </a:p>
          <a:p xmlns:a="http://schemas.openxmlformats.org/drawingml/2006/main">
            <a:pPr algn="l">
              <a:defRPr sz="1200" b="0">
                <a:solidFill>
                  <a:srgbClr val="132024"/>
                </a:solidFill>
              </a:defRPr>
            </a:pPr>
            <a:r>
              <a:rPr sz="1200" b="0">
                <a:solidFill>
                  <a:srgbClr val="132024"/>
                </a:solidFill>
              </a:rPr>
              <a:t>세웠다.</a:t>
            </a:r>
          </a:p>
        </p:txBody>
      </p:sp>
      <p:sp>
        <p:nvSpPr>
          <p:cNvPr id="41" name="">
            <a:extLst xmlns:a="http://schemas.openxmlformats.org/drawingml/2006/main">
              <a:ext uri="{FF2B5EF4-FFF2-40B4-BE49-F238E27FC236}">
                <a16:creationId xmlns:a16="http://schemas.microsoft.com/office/drawing/2014/main" id="{803F3182-4600-41A7-8C24-5D144992A56A}"/>
              </a:ext>
            </a:extLst>
          </p:cNvPr>
          <p:cNvSpPr>
            <a:spLocks xmlns:a="http://schemas.openxmlformats.org/drawingml/2006/main" noGrp="1"/>
          </p:cNvSpPr>
          <p:nvPr/>
        </p:nvSpPr>
        <p:spPr>
          <a:xfrm xmlns:a="http://schemas.openxmlformats.org/drawingml/2006/main">
            <a:off x="8020050" y="4629150"/>
            <a:ext cx="7239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42" name="">
            <a:extLst xmlns:a="http://schemas.openxmlformats.org/drawingml/2006/main">
              <a:ext uri="{FF2B5EF4-FFF2-40B4-BE49-F238E27FC236}">
                <a16:creationId xmlns:a16="http://schemas.microsoft.com/office/drawing/2014/main" id="{0ABAEC01-6EB3-4B88-B019-95558316B755}"/>
              </a:ext>
            </a:extLst>
          </p:cNvPr>
          <p:cNvSpPr>
            <a:spLocks xmlns:a="http://schemas.openxmlformats.org/drawingml/2006/main" noGrp="1"/>
          </p:cNvSpPr>
          <p:nvPr/>
        </p:nvSpPr>
        <p:spPr>
          <a:xfrm xmlns:a="http://schemas.openxmlformats.org/drawingml/2006/main">
            <a:off x="8858250" y="3867150"/>
            <a:ext cx="243840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43" name="">
            <a:extLst xmlns:a="http://schemas.openxmlformats.org/drawingml/2006/main">
              <a:ext uri="{FF2B5EF4-FFF2-40B4-BE49-F238E27FC236}">
                <a16:creationId xmlns:a16="http://schemas.microsoft.com/office/drawing/2014/main" id="{9988100E-A804-4C8F-8BF3-325CE3EB1367}"/>
              </a:ext>
            </a:extLst>
          </p:cNvPr>
          <p:cNvSpPr>
            <a:spLocks xmlns:a="http://schemas.openxmlformats.org/drawingml/2006/main" noGrp="1"/>
          </p:cNvSpPr>
          <p:nvPr/>
        </p:nvSpPr>
        <p:spPr>
          <a:xfrm xmlns:a="http://schemas.openxmlformats.org/drawingml/2006/main">
            <a:off x="8915400" y="3924300"/>
            <a:ext cx="2324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671D9F60-BF80-4961-8719-682F78415D12}"/>
              </a:ext>
            </a:extLst>
          </p:cNvPr>
          <p:cNvSpPr>
            <a:spLocks xmlns:a="http://schemas.openxmlformats.org/drawingml/2006/main" noGrp="1"/>
          </p:cNvSpPr>
          <p:nvPr/>
        </p:nvSpPr>
        <p:spPr>
          <a:xfrm xmlns:a="http://schemas.openxmlformats.org/drawingml/2006/main">
            <a:off x="9067800" y="4057650"/>
            <a:ext cx="2019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refined query</a:t>
            </a:r>
          </a:p>
        </p:txBody>
      </p:sp>
      <p:sp>
        <p:nvSpPr>
          <p:cNvPr id="45" name="">
            <a:extLst xmlns:a="http://schemas.openxmlformats.org/drawingml/2006/main">
              <a:ext uri="{FF2B5EF4-FFF2-40B4-BE49-F238E27FC236}">
                <a16:creationId xmlns:a16="http://schemas.microsoft.com/office/drawing/2014/main" id="{AE332DA5-8C18-4DD6-A4DE-A83452311784}"/>
              </a:ext>
            </a:extLst>
          </p:cNvPr>
          <p:cNvSpPr>
            <a:spLocks xmlns:a="http://schemas.openxmlformats.org/drawingml/2006/main" noGrp="1"/>
          </p:cNvSpPr>
          <p:nvPr/>
        </p:nvSpPr>
        <p:spPr>
          <a:xfrm xmlns:a="http://schemas.openxmlformats.org/drawingml/2006/main">
            <a:off x="9067800" y="4476750"/>
            <a:ext cx="201930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질문만으로는 부족하다는 걸 발견하고</a:t>
            </a:r>
          </a:p>
          <a:p xmlns:a="http://schemas.openxmlformats.org/drawingml/2006/main">
            <a:pPr algn="l">
              <a:defRPr sz="1200" b="0">
                <a:solidFill>
                  <a:srgbClr val="132024"/>
                </a:solidFill>
              </a:defRPr>
            </a:pPr>
            <a:r>
              <a:rPr sz="1200" b="0">
                <a:solidFill>
                  <a:srgbClr val="132024"/>
                </a:solidFill>
              </a:rPr>
              <a:t>benchmark와 readout</a:t>
            </a:r>
          </a:p>
          <a:p xmlns:a="http://schemas.openxmlformats.org/drawingml/2006/main">
            <a:pPr algn="l">
              <a:defRPr sz="1200" b="0">
                <a:solidFill>
                  <a:srgbClr val="132024"/>
                </a:solidFill>
              </a:defRPr>
            </a:pPr>
            <a:r>
              <a:rPr sz="1200" b="0">
                <a:solidFill>
                  <a:srgbClr val="132024"/>
                </a:solidFill>
              </a:rPr>
              <a:t>질문으로 확장했다.</a:t>
            </a:r>
          </a:p>
        </p:txBody>
      </p:sp>
      <p:sp>
        <p:nvSpPr>
          <p:cNvPr id="46" name="">
            <a:extLst xmlns:a="http://schemas.openxmlformats.org/drawingml/2006/main">
              <a:ext uri="{FF2B5EF4-FFF2-40B4-BE49-F238E27FC236}">
                <a16:creationId xmlns:a16="http://schemas.microsoft.com/office/drawing/2014/main" id="{1638D1A4-B268-4F9B-86F5-EC23A911CC4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오늘 발표는 이 세 단계 자체를 보여주는 발표다.</a:t>
            </a:r>
          </a:p>
        </p:txBody>
      </p:sp>
    </p:spTree>
    <p:extLst>
      <p:ext uri="{BB962C8B-B14F-4D97-AF65-F5344CB8AC3E}">
        <p14:creationId xmlns:p14="http://schemas.microsoft.com/office/powerpoint/2010/main" val="113637826"/>
      </p:ext>
    </p:extLst>
  </p:cSld>
</p:sld>
</file>

<file path=ppt/slides/slide3.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bae293d94904d67"/>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0B3D9B3-A1F3-44BB-914C-3C4A1285A1E5}"/>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CE0FCA8-C0DF-412E-84C7-3E257338FE88}"/>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8B5DE45A-F75D-4E24-8770-3F2E3A8054C1}"/>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A0BD5025-7669-415C-857C-BC93BBB4B49F}"/>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B9C89542-4EFA-4755-BB1A-CA493D9FEFA4}"/>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98D07353-606A-429A-87A9-9F1D1D345A8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3CD2E60-6223-41B5-AD10-F6B8F80542C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SCOPE</a:t>
            </a:r>
          </a:p>
        </p:txBody>
      </p:sp>
      <p:sp>
        <p:nvSpPr>
          <p:cNvPr id="10" name="">
            <a:extLst xmlns:a="http://schemas.openxmlformats.org/drawingml/2006/main">
              <a:ext uri="{FF2B5EF4-FFF2-40B4-BE49-F238E27FC236}">
                <a16:creationId xmlns:a16="http://schemas.microsoft.com/office/drawing/2014/main" id="{51C5CCEE-7F25-4D7C-ACBF-F272AFF10CDC}"/>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03 / 12</a:t>
            </a:r>
          </a:p>
        </p:txBody>
      </p:sp>
      <p:sp>
        <p:nvSpPr>
          <p:cNvPr id="11" name="">
            <a:extLst xmlns:a="http://schemas.openxmlformats.org/drawingml/2006/main">
              <a:ext uri="{FF2B5EF4-FFF2-40B4-BE49-F238E27FC236}">
                <a16:creationId xmlns:a16="http://schemas.microsoft.com/office/drawing/2014/main" id="{222F04D1-B718-4FDB-ACAB-6A7C7AB89148}"/>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6549A890-69D2-4CA4-A584-5F14AB83F3FF}"/>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664D7953-A5AD-4D73-9611-19C53E37A385}"/>
              </a:ext>
            </a:extLst>
          </p:cNvPr>
          <p:cNvSpPr>
            <a:spLocks xmlns:a="http://schemas.openxmlformats.org/drawingml/2006/main" noGrp="1"/>
          </p:cNvSpPr>
          <p:nvPr/>
        </p:nvSpPr>
        <p:spPr>
          <a:xfrm xmlns:a="http://schemas.openxmlformats.org/drawingml/2006/main">
            <a:off x="609600" y="838200"/>
            <a:ext cx="70485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왜 이 corpus에서</a:t>
            </a:r>
          </a:p>
          <a:p xmlns:a="http://schemas.openxmlformats.org/drawingml/2006/main">
            <a:pPr algn="l">
              <a:defRPr sz="2850" b="1">
                <a:solidFill>
                  <a:srgbClr val="132024"/>
                </a:solidFill>
              </a:defRPr>
            </a:pPr>
            <a:r>
              <a:rPr sz="2850" b="1">
                <a:solidFill>
                  <a:srgbClr val="132024"/>
                </a:solidFill>
              </a:rPr>
              <a:t>brain branch를 먼저 잡았나</a:t>
            </a:r>
          </a:p>
        </p:txBody>
      </p:sp>
      <p:sp>
        <p:nvSpPr>
          <p:cNvPr id="14" name="">
            <a:extLst xmlns:a="http://schemas.openxmlformats.org/drawingml/2006/main">
              <a:ext uri="{FF2B5EF4-FFF2-40B4-BE49-F238E27FC236}">
                <a16:creationId xmlns:a16="http://schemas.microsoft.com/office/drawing/2014/main" id="{3675DDEB-55FE-4680-B2DC-114E99E115A2}"/>
              </a:ext>
            </a:extLst>
          </p:cNvPr>
          <p:cNvSpPr>
            <a:spLocks xmlns:a="http://schemas.openxmlformats.org/drawingml/2006/main" noGrp="1"/>
          </p:cNvSpPr>
          <p:nvPr/>
        </p:nvSpPr>
        <p:spPr>
          <a:xfrm xmlns:a="http://schemas.openxmlformats.org/drawingml/2006/main">
            <a:off x="685800" y="21717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D333A0B2-8E81-4849-BBB7-BED0F4E9232E}"/>
              </a:ext>
            </a:extLst>
          </p:cNvPr>
          <p:cNvSpPr>
            <a:spLocks xmlns:a="http://schemas.openxmlformats.org/drawingml/2006/main" noGrp="1"/>
          </p:cNvSpPr>
          <p:nvPr/>
        </p:nvSpPr>
        <p:spPr>
          <a:xfrm xmlns:a="http://schemas.openxmlformats.org/drawingml/2006/main">
            <a:off x="742950" y="2228850"/>
            <a:ext cx="31623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69B385C7-D9B5-4D26-9243-6A7BAA445E93}"/>
              </a:ext>
            </a:extLst>
          </p:cNvPr>
          <p:cNvSpPr>
            <a:spLocks xmlns:a="http://schemas.openxmlformats.org/drawingml/2006/main" noGrp="1"/>
          </p:cNvSpPr>
          <p:nvPr/>
        </p:nvSpPr>
        <p:spPr>
          <a:xfrm xmlns:a="http://schemas.openxmlformats.org/drawingml/2006/main">
            <a:off x="876300" y="23431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17</a:t>
            </a:r>
          </a:p>
        </p:txBody>
      </p:sp>
      <p:sp>
        <p:nvSpPr>
          <p:cNvPr id="17" name="">
            <a:extLst xmlns:a="http://schemas.openxmlformats.org/drawingml/2006/main">
              <a:ext uri="{FF2B5EF4-FFF2-40B4-BE49-F238E27FC236}">
                <a16:creationId xmlns:a16="http://schemas.microsoft.com/office/drawing/2014/main" id="{D1FE0E59-AD52-4933-BFEB-4BBA3EF17606}"/>
              </a:ext>
            </a:extLst>
          </p:cNvPr>
          <p:cNvSpPr>
            <a:spLocks xmlns:a="http://schemas.openxmlformats.org/drawingml/2006/main" noGrp="1"/>
          </p:cNvSpPr>
          <p:nvPr/>
        </p:nvSpPr>
        <p:spPr>
          <a:xfrm xmlns:a="http://schemas.openxmlformats.org/drawingml/2006/main">
            <a:off x="876300" y="28003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brain-related active sources</a:t>
            </a:r>
          </a:p>
        </p:txBody>
      </p:sp>
      <p:sp>
        <p:nvSpPr>
          <p:cNvPr id="18" name="">
            <a:extLst xmlns:a="http://schemas.openxmlformats.org/drawingml/2006/main">
              <a:ext uri="{FF2B5EF4-FFF2-40B4-BE49-F238E27FC236}">
                <a16:creationId xmlns:a16="http://schemas.microsoft.com/office/drawing/2014/main" id="{A9A5066A-F192-43C6-9E2A-42E9713FBE1A}"/>
              </a:ext>
            </a:extLst>
          </p:cNvPr>
          <p:cNvSpPr>
            <a:spLocks xmlns:a="http://schemas.openxmlformats.org/drawingml/2006/main" noGrp="1"/>
          </p:cNvSpPr>
          <p:nvPr/>
        </p:nvSpPr>
        <p:spPr>
          <a:xfrm xmlns:a="http://schemas.openxmlformats.org/drawingml/2006/main">
            <a:off x="876300" y="30099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 cluster count</a:t>
            </a:r>
          </a:p>
        </p:txBody>
      </p:sp>
      <p:sp>
        <p:nvSpPr>
          <p:cNvPr id="19" name="">
            <a:extLst xmlns:a="http://schemas.openxmlformats.org/drawingml/2006/main">
              <a:ext uri="{FF2B5EF4-FFF2-40B4-BE49-F238E27FC236}">
                <a16:creationId xmlns:a16="http://schemas.microsoft.com/office/drawing/2014/main" id="{B4E2547D-DBE0-48A1-8A6E-4DFB9F32016E}"/>
              </a:ext>
            </a:extLst>
          </p:cNvPr>
          <p:cNvSpPr>
            <a:spLocks xmlns:a="http://schemas.openxmlformats.org/drawingml/2006/main" noGrp="1"/>
          </p:cNvSpPr>
          <p:nvPr/>
        </p:nvSpPr>
        <p:spPr>
          <a:xfrm xmlns:a="http://schemas.openxmlformats.org/drawingml/2006/main">
            <a:off x="4191000" y="21717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47884E3A-2064-4F6A-93E2-7D02C0485A86}"/>
              </a:ext>
            </a:extLst>
          </p:cNvPr>
          <p:cNvSpPr>
            <a:spLocks xmlns:a="http://schemas.openxmlformats.org/drawingml/2006/main" noGrp="1"/>
          </p:cNvSpPr>
          <p:nvPr/>
        </p:nvSpPr>
        <p:spPr>
          <a:xfrm xmlns:a="http://schemas.openxmlformats.org/drawingml/2006/main">
            <a:off x="4248150" y="2228850"/>
            <a:ext cx="31623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D096A2D9-EC04-4F8B-9CB9-B8BA5F9579A2}"/>
              </a:ext>
            </a:extLst>
          </p:cNvPr>
          <p:cNvSpPr>
            <a:spLocks xmlns:a="http://schemas.openxmlformats.org/drawingml/2006/main" noGrp="1"/>
          </p:cNvSpPr>
          <p:nvPr/>
        </p:nvSpPr>
        <p:spPr>
          <a:xfrm xmlns:a="http://schemas.openxmlformats.org/drawingml/2006/main">
            <a:off x="4381500" y="23431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3</a:t>
            </a:r>
          </a:p>
        </p:txBody>
      </p:sp>
      <p:sp>
        <p:nvSpPr>
          <p:cNvPr id="22" name="">
            <a:extLst xmlns:a="http://schemas.openxmlformats.org/drawingml/2006/main">
              <a:ext uri="{FF2B5EF4-FFF2-40B4-BE49-F238E27FC236}">
                <a16:creationId xmlns:a16="http://schemas.microsoft.com/office/drawing/2014/main" id="{D76E4668-F47E-4082-B69E-66D7EA34EA5C}"/>
              </a:ext>
            </a:extLst>
          </p:cNvPr>
          <p:cNvSpPr>
            <a:spLocks xmlns:a="http://schemas.openxmlformats.org/drawingml/2006/main" noGrp="1"/>
          </p:cNvSpPr>
          <p:nvPr/>
        </p:nvSpPr>
        <p:spPr>
          <a:xfrm xmlns:a="http://schemas.openxmlformats.org/drawingml/2006/main">
            <a:off x="4381500" y="28003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core question notes</a:t>
            </a:r>
          </a:p>
        </p:txBody>
      </p:sp>
      <p:sp>
        <p:nvSpPr>
          <p:cNvPr id="23" name="">
            <a:extLst xmlns:a="http://schemas.openxmlformats.org/drawingml/2006/main">
              <a:ext uri="{FF2B5EF4-FFF2-40B4-BE49-F238E27FC236}">
                <a16:creationId xmlns:a16="http://schemas.microsoft.com/office/drawing/2014/main" id="{53787DC9-6F43-4AF1-B28D-7B10E26B5B88}"/>
              </a:ext>
            </a:extLst>
          </p:cNvPr>
          <p:cNvSpPr>
            <a:spLocks xmlns:a="http://schemas.openxmlformats.org/drawingml/2006/main" noGrp="1"/>
          </p:cNvSpPr>
          <p:nvPr/>
        </p:nvSpPr>
        <p:spPr>
          <a:xfrm xmlns:a="http://schemas.openxmlformats.org/drawingml/2006/main">
            <a:off x="4381500" y="30099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q1 -&gt; q2 -&gt; q3</a:t>
            </a:r>
          </a:p>
        </p:txBody>
      </p:sp>
      <p:sp>
        <p:nvSpPr>
          <p:cNvPr id="24" name="">
            <a:extLst xmlns:a="http://schemas.openxmlformats.org/drawingml/2006/main">
              <a:ext uri="{FF2B5EF4-FFF2-40B4-BE49-F238E27FC236}">
                <a16:creationId xmlns:a16="http://schemas.microsoft.com/office/drawing/2014/main" id="{6E41B26D-D282-43FB-A30A-055289E1F116}"/>
              </a:ext>
            </a:extLst>
          </p:cNvPr>
          <p:cNvSpPr>
            <a:spLocks xmlns:a="http://schemas.openxmlformats.org/drawingml/2006/main" noGrp="1"/>
          </p:cNvSpPr>
          <p:nvPr/>
        </p:nvSpPr>
        <p:spPr>
          <a:xfrm xmlns:a="http://schemas.openxmlformats.org/drawingml/2006/main">
            <a:off x="7696200" y="21717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5" name="">
            <a:extLst xmlns:a="http://schemas.openxmlformats.org/drawingml/2006/main">
              <a:ext uri="{FF2B5EF4-FFF2-40B4-BE49-F238E27FC236}">
                <a16:creationId xmlns:a16="http://schemas.microsoft.com/office/drawing/2014/main" id="{A8009134-7666-4F1B-9CBB-483CE06AB96B}"/>
              </a:ext>
            </a:extLst>
          </p:cNvPr>
          <p:cNvSpPr>
            <a:spLocks xmlns:a="http://schemas.openxmlformats.org/drawingml/2006/main" noGrp="1"/>
          </p:cNvSpPr>
          <p:nvPr/>
        </p:nvSpPr>
        <p:spPr>
          <a:xfrm xmlns:a="http://schemas.openxmlformats.org/drawingml/2006/main">
            <a:off x="7753350" y="2228850"/>
            <a:ext cx="31623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C59BD3EB-ED18-4C8C-AA59-88161B497095}"/>
              </a:ext>
            </a:extLst>
          </p:cNvPr>
          <p:cNvSpPr>
            <a:spLocks xmlns:a="http://schemas.openxmlformats.org/drawingml/2006/main" noGrp="1"/>
          </p:cNvSpPr>
          <p:nvPr/>
        </p:nvSpPr>
        <p:spPr>
          <a:xfrm xmlns:a="http://schemas.openxmlformats.org/drawingml/2006/main">
            <a:off x="7886700" y="23431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5</a:t>
            </a:r>
          </a:p>
        </p:txBody>
      </p:sp>
      <p:sp>
        <p:nvSpPr>
          <p:cNvPr id="27" name="">
            <a:extLst xmlns:a="http://schemas.openxmlformats.org/drawingml/2006/main">
              <a:ext uri="{FF2B5EF4-FFF2-40B4-BE49-F238E27FC236}">
                <a16:creationId xmlns:a16="http://schemas.microsoft.com/office/drawing/2014/main" id="{DD2DDDB6-7854-45D9-915E-169C915942BD}"/>
              </a:ext>
            </a:extLst>
          </p:cNvPr>
          <p:cNvSpPr>
            <a:spLocks xmlns:a="http://schemas.openxmlformats.org/drawingml/2006/main" noGrp="1"/>
          </p:cNvSpPr>
          <p:nvPr/>
        </p:nvSpPr>
        <p:spPr>
          <a:xfrm xmlns:a="http://schemas.openxmlformats.org/drawingml/2006/main">
            <a:off x="7886700" y="28003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benchmark axes in final frame</a:t>
            </a:r>
          </a:p>
        </p:txBody>
      </p:sp>
      <p:sp>
        <p:nvSpPr>
          <p:cNvPr id="28" name="">
            <a:extLst xmlns:a="http://schemas.openxmlformats.org/drawingml/2006/main">
              <a:ext uri="{FF2B5EF4-FFF2-40B4-BE49-F238E27FC236}">
                <a16:creationId xmlns:a16="http://schemas.microsoft.com/office/drawing/2014/main" id="{FAD5EC4A-3A8E-4230-A185-5F685272A3A5}"/>
              </a:ext>
            </a:extLst>
          </p:cNvPr>
          <p:cNvSpPr>
            <a:spLocks xmlns:a="http://schemas.openxmlformats.org/drawingml/2006/main" noGrp="1"/>
          </p:cNvSpPr>
          <p:nvPr/>
        </p:nvSpPr>
        <p:spPr>
          <a:xfrm xmlns:a="http://schemas.openxmlformats.org/drawingml/2006/main">
            <a:off x="7886700" y="30099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region / reproducibility / fidelity / timing / atlas</a:t>
            </a:r>
          </a:p>
        </p:txBody>
      </p:sp>
      <p:sp>
        <p:nvSpPr>
          <p:cNvPr id="29" name="">
            <a:extLst xmlns:a="http://schemas.openxmlformats.org/drawingml/2006/main">
              <a:ext uri="{FF2B5EF4-FFF2-40B4-BE49-F238E27FC236}">
                <a16:creationId xmlns:a16="http://schemas.microsoft.com/office/drawing/2014/main" id="{E8BF4855-E7DC-472C-AE1E-F683D9BEDDBC}"/>
              </a:ext>
            </a:extLst>
          </p:cNvPr>
          <p:cNvSpPr>
            <a:spLocks xmlns:a="http://schemas.openxmlformats.org/drawingml/2006/main" noGrp="1"/>
          </p:cNvSpPr>
          <p:nvPr/>
        </p:nvSpPr>
        <p:spPr>
          <a:xfrm xmlns:a="http://schemas.openxmlformats.org/drawingml/2006/main">
            <a:off x="781050" y="3771900"/>
            <a:ext cx="31432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C3EF6258-1B3D-4EBA-9982-73B770599AF3}"/>
              </a:ext>
            </a:extLst>
          </p:cNvPr>
          <p:cNvSpPr>
            <a:spLocks xmlns:a="http://schemas.openxmlformats.org/drawingml/2006/main" noGrp="1"/>
          </p:cNvSpPr>
          <p:nvPr/>
        </p:nvSpPr>
        <p:spPr>
          <a:xfrm xmlns:a="http://schemas.openxmlformats.org/drawingml/2006/main">
            <a:off x="838200" y="382905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D946F6B4-3A9E-4465-A153-C1B50A920B5F}"/>
              </a:ext>
            </a:extLst>
          </p:cNvPr>
          <p:cNvSpPr>
            <a:spLocks xmlns:a="http://schemas.openxmlformats.org/drawingml/2006/main" noGrp="1"/>
          </p:cNvSpPr>
          <p:nvPr/>
        </p:nvSpPr>
        <p:spPr>
          <a:xfrm xmlns:a="http://schemas.openxmlformats.org/drawingml/2006/main">
            <a:off x="990600" y="39624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왜 brain인가</a:t>
            </a:r>
          </a:p>
        </p:txBody>
      </p:sp>
      <p:sp>
        <p:nvSpPr>
          <p:cNvPr id="32" name="">
            <a:extLst xmlns:a="http://schemas.openxmlformats.org/drawingml/2006/main">
              <a:ext uri="{FF2B5EF4-FFF2-40B4-BE49-F238E27FC236}">
                <a16:creationId xmlns:a16="http://schemas.microsoft.com/office/drawing/2014/main" id="{CF993867-C577-4634-AFAE-36E14B570358}"/>
              </a:ext>
            </a:extLst>
          </p:cNvPr>
          <p:cNvSpPr>
            <a:spLocks xmlns:a="http://schemas.openxmlformats.org/drawingml/2006/main" noGrp="1"/>
          </p:cNvSpPr>
          <p:nvPr/>
        </p:nvSpPr>
        <p:spPr>
          <a:xfrm xmlns:a="http://schemas.openxmlformats.org/drawingml/2006/main">
            <a:off x="990600" y="4381500"/>
            <a:ext cx="27241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이 corpus에서 brain branch는</a:t>
            </a:r>
          </a:p>
          <a:p xmlns:a="http://schemas.openxmlformats.org/drawingml/2006/main">
            <a:pPr algn="l">
              <a:defRPr sz="1200" b="0">
                <a:solidFill>
                  <a:srgbClr val="132024"/>
                </a:solidFill>
              </a:defRPr>
            </a:pPr>
            <a:r>
              <a:rPr sz="1200" b="0">
                <a:solidFill>
                  <a:srgbClr val="132024"/>
                </a:solidFill>
              </a:rPr>
              <a:t>source 수가 크고, subregion</a:t>
            </a:r>
          </a:p>
          <a:p xmlns:a="http://schemas.openxmlformats.org/drawingml/2006/main">
            <a:pPr algn="l">
              <a:defRPr sz="1200" b="0">
                <a:solidFill>
                  <a:srgbClr val="132024"/>
                </a:solidFill>
              </a:defRPr>
            </a:pPr>
            <a:r>
              <a:rPr sz="1200" b="0">
                <a:solidFill>
                  <a:srgbClr val="132024"/>
                </a:solidFill>
              </a:rPr>
              <a:t>protocol과 benchmark 논문,</a:t>
            </a:r>
          </a:p>
          <a:p xmlns:a="http://schemas.openxmlformats.org/drawingml/2006/main">
            <a:pPr algn="l">
              <a:defRPr sz="1200" b="0">
                <a:solidFill>
                  <a:srgbClr val="132024"/>
                </a:solidFill>
              </a:defRPr>
            </a:pPr>
            <a:r>
              <a:rPr sz="1200" b="0">
                <a:solidFill>
                  <a:srgbClr val="132024"/>
                </a:solidFill>
              </a:rPr>
              <a:t>functional readout 논문이 동시에</a:t>
            </a:r>
          </a:p>
          <a:p xmlns:a="http://schemas.openxmlformats.org/drawingml/2006/main">
            <a:pPr algn="l">
              <a:defRPr sz="1200" b="0">
                <a:solidFill>
                  <a:srgbClr val="132024"/>
                </a:solidFill>
              </a:defRPr>
            </a:pPr>
            <a:r>
              <a:rPr sz="1200" b="0">
                <a:solidFill>
                  <a:srgbClr val="132024"/>
                </a:solidFill>
              </a:rPr>
              <a:t>연결돼 있다.</a:t>
            </a:r>
          </a:p>
        </p:txBody>
      </p:sp>
      <p:sp>
        <p:nvSpPr>
          <p:cNvPr id="33" name="">
            <a:extLst xmlns:a="http://schemas.openxmlformats.org/drawingml/2006/main">
              <a:ext uri="{FF2B5EF4-FFF2-40B4-BE49-F238E27FC236}">
                <a16:creationId xmlns:a16="http://schemas.microsoft.com/office/drawing/2014/main" id="{ED789CE5-E431-4892-AE0E-3B5E3AF3AAC8}"/>
              </a:ext>
            </a:extLst>
          </p:cNvPr>
          <p:cNvSpPr>
            <a:spLocks xmlns:a="http://schemas.openxmlformats.org/drawingml/2006/main" noGrp="1"/>
          </p:cNvSpPr>
          <p:nvPr/>
        </p:nvSpPr>
        <p:spPr>
          <a:xfrm xmlns:a="http://schemas.openxmlformats.org/drawingml/2006/main">
            <a:off x="4514850" y="3771900"/>
            <a:ext cx="31432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4" name="">
            <a:extLst xmlns:a="http://schemas.openxmlformats.org/drawingml/2006/main">
              <a:ext uri="{FF2B5EF4-FFF2-40B4-BE49-F238E27FC236}">
                <a16:creationId xmlns:a16="http://schemas.microsoft.com/office/drawing/2014/main" id="{079D33E6-64C9-49FB-B4A0-862664C0E255}"/>
              </a:ext>
            </a:extLst>
          </p:cNvPr>
          <p:cNvSpPr>
            <a:spLocks xmlns:a="http://schemas.openxmlformats.org/drawingml/2006/main" noGrp="1"/>
          </p:cNvSpPr>
          <p:nvPr/>
        </p:nvSpPr>
        <p:spPr>
          <a:xfrm xmlns:a="http://schemas.openxmlformats.org/drawingml/2006/main">
            <a:off x="4572000" y="382905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F3E5AA6C-A387-43D9-85EF-599364501439}"/>
              </a:ext>
            </a:extLst>
          </p:cNvPr>
          <p:cNvSpPr>
            <a:spLocks xmlns:a="http://schemas.openxmlformats.org/drawingml/2006/main" noGrp="1"/>
          </p:cNvSpPr>
          <p:nvPr/>
        </p:nvSpPr>
        <p:spPr>
          <a:xfrm xmlns:a="http://schemas.openxmlformats.org/drawingml/2006/main">
            <a:off x="4724400" y="39624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왜 좋은 발표 소재인가</a:t>
            </a:r>
          </a:p>
        </p:txBody>
      </p:sp>
      <p:sp>
        <p:nvSpPr>
          <p:cNvPr id="36" name="">
            <a:extLst xmlns:a="http://schemas.openxmlformats.org/drawingml/2006/main">
              <a:ext uri="{FF2B5EF4-FFF2-40B4-BE49-F238E27FC236}">
                <a16:creationId xmlns:a16="http://schemas.microsoft.com/office/drawing/2014/main" id="{5D38648F-9AF6-4AC8-862D-D9DFD69B6D6A}"/>
              </a:ext>
            </a:extLst>
          </p:cNvPr>
          <p:cNvSpPr>
            <a:spLocks xmlns:a="http://schemas.openxmlformats.org/drawingml/2006/main" noGrp="1"/>
          </p:cNvSpPr>
          <p:nvPr/>
        </p:nvSpPr>
        <p:spPr>
          <a:xfrm xmlns:a="http://schemas.openxmlformats.org/drawingml/2006/main">
            <a:off x="4724400" y="4381500"/>
            <a:ext cx="27241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질문이 subregion selection에서</a:t>
            </a:r>
          </a:p>
          <a:p xmlns:a="http://schemas.openxmlformats.org/drawingml/2006/main">
            <a:pPr algn="l">
              <a:defRPr sz="1200" b="0">
                <a:solidFill>
                  <a:srgbClr val="132024"/>
                </a:solidFill>
              </a:defRPr>
            </a:pPr>
            <a:r>
              <a:rPr sz="1200" b="0">
                <a:solidFill>
                  <a:srgbClr val="132024"/>
                </a:solidFill>
              </a:rPr>
              <a:t>benchmark question, 그리고</a:t>
            </a:r>
          </a:p>
          <a:p xmlns:a="http://schemas.openxmlformats.org/drawingml/2006/main">
            <a:pPr algn="l">
              <a:defRPr sz="1200" b="0">
                <a:solidFill>
                  <a:srgbClr val="132024"/>
                </a:solidFill>
              </a:defRPr>
            </a:pPr>
            <a:r>
              <a:rPr sz="1200" b="0">
                <a:solidFill>
                  <a:srgbClr val="132024"/>
                </a:solidFill>
              </a:rPr>
              <a:t>readout-first rule로 자라나는</a:t>
            </a:r>
          </a:p>
          <a:p xmlns:a="http://schemas.openxmlformats.org/drawingml/2006/main">
            <a:pPr algn="l">
              <a:defRPr sz="1200" b="0">
                <a:solidFill>
                  <a:srgbClr val="132024"/>
                </a:solidFill>
              </a:defRPr>
            </a:pPr>
            <a:r>
              <a:rPr sz="1200" b="0">
                <a:solidFill>
                  <a:srgbClr val="132024"/>
                </a:solidFill>
              </a:rPr>
              <a:t>과정이 가장 뚜렷하게 보인다.</a:t>
            </a:r>
          </a:p>
        </p:txBody>
      </p:sp>
      <p:sp>
        <p:nvSpPr>
          <p:cNvPr id="37" name="">
            <a:extLst xmlns:a="http://schemas.openxmlformats.org/drawingml/2006/main">
              <a:ext uri="{FF2B5EF4-FFF2-40B4-BE49-F238E27FC236}">
                <a16:creationId xmlns:a16="http://schemas.microsoft.com/office/drawing/2014/main" id="{3A5EC72D-35A1-471B-8358-2850BB73BBB6}"/>
              </a:ext>
            </a:extLst>
          </p:cNvPr>
          <p:cNvSpPr>
            <a:spLocks xmlns:a="http://schemas.openxmlformats.org/drawingml/2006/main" noGrp="1"/>
          </p:cNvSpPr>
          <p:nvPr/>
        </p:nvSpPr>
        <p:spPr>
          <a:xfrm xmlns:a="http://schemas.openxmlformats.org/drawingml/2006/main">
            <a:off x="8248650" y="3771900"/>
            <a:ext cx="31432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8" name="">
            <a:extLst xmlns:a="http://schemas.openxmlformats.org/drawingml/2006/main">
              <a:ext uri="{FF2B5EF4-FFF2-40B4-BE49-F238E27FC236}">
                <a16:creationId xmlns:a16="http://schemas.microsoft.com/office/drawing/2014/main" id="{93884BB2-2A45-437C-9078-13463D521615}"/>
              </a:ext>
            </a:extLst>
          </p:cNvPr>
          <p:cNvSpPr>
            <a:spLocks xmlns:a="http://schemas.openxmlformats.org/drawingml/2006/main" noGrp="1"/>
          </p:cNvSpPr>
          <p:nvPr/>
        </p:nvSpPr>
        <p:spPr>
          <a:xfrm xmlns:a="http://schemas.openxmlformats.org/drawingml/2006/main">
            <a:off x="8305800" y="3829050"/>
            <a:ext cx="302895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180DDC3A-8059-435D-A123-DA1710E73132}"/>
              </a:ext>
            </a:extLst>
          </p:cNvPr>
          <p:cNvSpPr>
            <a:spLocks xmlns:a="http://schemas.openxmlformats.org/drawingml/2006/main" noGrp="1"/>
          </p:cNvSpPr>
          <p:nvPr/>
        </p:nvSpPr>
        <p:spPr>
          <a:xfrm xmlns:a="http://schemas.openxmlformats.org/drawingml/2006/main">
            <a:off x="8458200" y="39624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왜 리뷰 글과도 맞나</a:t>
            </a:r>
          </a:p>
        </p:txBody>
      </p:sp>
      <p:sp>
        <p:nvSpPr>
          <p:cNvPr id="40" name="">
            <a:extLst xmlns:a="http://schemas.openxmlformats.org/drawingml/2006/main">
              <a:ext uri="{FF2B5EF4-FFF2-40B4-BE49-F238E27FC236}">
                <a16:creationId xmlns:a16="http://schemas.microsoft.com/office/drawing/2014/main" id="{BCF4D525-814D-4C4A-B472-1626E21DDE6E}"/>
              </a:ext>
            </a:extLst>
          </p:cNvPr>
          <p:cNvSpPr>
            <a:spLocks xmlns:a="http://schemas.openxmlformats.org/drawingml/2006/main" noGrp="1"/>
          </p:cNvSpPr>
          <p:nvPr/>
        </p:nvSpPr>
        <p:spPr>
          <a:xfrm xmlns:a="http://schemas.openxmlformats.org/drawingml/2006/main">
            <a:off x="8458200" y="4381500"/>
            <a:ext cx="27241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결론만 요약하는 대신, protocol</a:t>
            </a:r>
          </a:p>
          <a:p xmlns:a="http://schemas.openxmlformats.org/drawingml/2006/main">
            <a:pPr algn="l">
              <a:defRPr sz="1200" b="0">
                <a:solidFill>
                  <a:srgbClr val="132024"/>
                </a:solidFill>
              </a:defRPr>
            </a:pPr>
            <a:r>
              <a:rPr sz="1200" b="0">
                <a:solidFill>
                  <a:srgbClr val="132024"/>
                </a:solidFill>
              </a:rPr>
              <a:t>family와 평가 기준이 분기되는 구조를</a:t>
            </a:r>
          </a:p>
          <a:p xmlns:a="http://schemas.openxmlformats.org/drawingml/2006/main">
            <a:pPr algn="l">
              <a:defRPr sz="1200" b="0">
                <a:solidFill>
                  <a:srgbClr val="132024"/>
                </a:solidFill>
              </a:defRPr>
            </a:pPr>
            <a:r>
              <a:rPr sz="1200" b="0">
                <a:solidFill>
                  <a:srgbClr val="132024"/>
                </a:solidFill>
              </a:rPr>
              <a:t>review article의 장 구조로 바꾸기</a:t>
            </a:r>
          </a:p>
          <a:p xmlns:a="http://schemas.openxmlformats.org/drawingml/2006/main">
            <a:pPr algn="l">
              <a:defRPr sz="1200" b="0">
                <a:solidFill>
                  <a:srgbClr val="132024"/>
                </a:solidFill>
              </a:defRPr>
            </a:pPr>
            <a:r>
              <a:rPr sz="1200" b="0">
                <a:solidFill>
                  <a:srgbClr val="132024"/>
                </a:solidFill>
              </a:rPr>
              <a:t>좋다.</a:t>
            </a:r>
          </a:p>
        </p:txBody>
      </p:sp>
      <p:sp>
        <p:nvSpPr>
          <p:cNvPr id="41" name="">
            <a:extLst xmlns:a="http://schemas.openxmlformats.org/drawingml/2006/main">
              <a:ext uri="{FF2B5EF4-FFF2-40B4-BE49-F238E27FC236}">
                <a16:creationId xmlns:a16="http://schemas.microsoft.com/office/drawing/2014/main" id="{49F3FFC7-B104-4D5A-8686-7176CFDCEAF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brain branch는 scope, benchmark, readout이 모두 살아 있어서 question journey를 보여주기 좋았다.</a:t>
            </a:r>
          </a:p>
        </p:txBody>
      </p:sp>
    </p:spTree>
    <p:extLst>
      <p:ext uri="{BB962C8B-B14F-4D97-AF65-F5344CB8AC3E}">
        <p14:creationId xmlns:p14="http://schemas.microsoft.com/office/powerpoint/2010/main" val="1237867467"/>
      </p:ext>
    </p:extLst>
  </p:cSld>
</p:sld>
</file>

<file path=ppt/slides/slide4.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2c25d33617e48fb"/>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5F830A1-B52F-46B3-ADE1-625936B0E395}"/>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C6F1B92-DEE9-41A0-A4B2-DE5D7BA73F19}"/>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05AF92C3-7100-4F5B-A334-717559CD7317}"/>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91FDD3FB-B4A1-4AB6-93B6-EAD1BA33E6A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BA448CC0-4FDD-4FBD-8D0B-C99279F0D511}"/>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3FF93357-503B-46FB-A417-E05CAEC0B70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8EB9D4A-E3AD-4345-AD06-2F9BB11CD72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1</a:t>
            </a:r>
          </a:p>
        </p:txBody>
      </p:sp>
      <p:sp>
        <p:nvSpPr>
          <p:cNvPr id="10" name="">
            <a:extLst xmlns:a="http://schemas.openxmlformats.org/drawingml/2006/main">
              <a:ext uri="{FF2B5EF4-FFF2-40B4-BE49-F238E27FC236}">
                <a16:creationId xmlns:a16="http://schemas.microsoft.com/office/drawing/2014/main" id="{BCDEAA0B-0A07-4ED1-88E7-93FEFD79167B}"/>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04 / 12</a:t>
            </a:r>
          </a:p>
        </p:txBody>
      </p:sp>
      <p:sp>
        <p:nvSpPr>
          <p:cNvPr id="11" name="">
            <a:extLst xmlns:a="http://schemas.openxmlformats.org/drawingml/2006/main">
              <a:ext uri="{FF2B5EF4-FFF2-40B4-BE49-F238E27FC236}">
                <a16:creationId xmlns:a16="http://schemas.microsoft.com/office/drawing/2014/main" id="{F55E2B99-B97E-4BDF-AABB-735AFA264609}"/>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5B4E95C6-D9C3-40D3-8A8C-40F64977BD72}"/>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ACFDF1E2-524A-47FE-B92C-026958DD54A3}"/>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질문: brain subregion별</a:t>
            </a:r>
          </a:p>
          <a:p xmlns:a="http://schemas.openxmlformats.org/drawingml/2006/main">
            <a:pPr algn="l">
              <a:defRPr sz="2850" b="1">
                <a:solidFill>
                  <a:srgbClr val="132024"/>
                </a:solidFill>
              </a:defRPr>
            </a:pPr>
            <a:r>
              <a:rPr sz="2850" b="1">
                <a:solidFill>
                  <a:srgbClr val="132024"/>
                </a:solidFill>
              </a:rPr>
              <a:t>프로토콜 비교</a:t>
            </a:r>
          </a:p>
        </p:txBody>
      </p:sp>
      <p:sp>
        <p:nvSpPr>
          <p:cNvPr id="14" name="">
            <a:extLst xmlns:a="http://schemas.openxmlformats.org/drawingml/2006/main">
              <a:ext uri="{FF2B5EF4-FFF2-40B4-BE49-F238E27FC236}">
                <a16:creationId xmlns:a16="http://schemas.microsoft.com/office/drawing/2014/main" id="{EECB16AC-EAC1-437D-BB16-B4BF4B12AC90}"/>
              </a:ext>
            </a:extLst>
          </p:cNvPr>
          <p:cNvSpPr>
            <a:spLocks xmlns:a="http://schemas.openxmlformats.org/drawingml/2006/main" noGrp="1"/>
          </p:cNvSpPr>
          <p:nvPr/>
        </p:nvSpPr>
        <p:spPr>
          <a:xfrm xmlns:a="http://schemas.openxmlformats.org/drawingml/2006/main">
            <a:off x="4495800" y="2971800"/>
            <a:ext cx="2667000" cy="1104900"/>
          </a:xfrm>
          <a:prstGeom xmlns:a="http://schemas.openxmlformats.org/drawingml/2006/main" prst="roundRect">
            <a:avLst>
              <a:gd name="adj" fmla="val 6897"/>
            </a:avLst>
          </a:prstGeom>
          <a:solidFill xmlns:a="http://schemas.openxmlformats.org/drawingml/2006/main">
            <a:srgbClr val="DDF4E8"/>
          </a:solidFill>
          <a:ln xmlns:a="http://schemas.openxmlformats.org/drawingml/2006/main" w="10478">
            <a:solidFill>
              <a:srgbClr val="132024"/>
            </a:solidFill>
            <a:prstDash val="solid"/>
          </a:ln>
        </p:spPr>
      </p:sp>
      <p:sp>
        <p:nvSpPr>
          <p:cNvPr id="15" name="">
            <a:extLst xmlns:a="http://schemas.openxmlformats.org/drawingml/2006/main">
              <a:ext uri="{FF2B5EF4-FFF2-40B4-BE49-F238E27FC236}">
                <a16:creationId xmlns:a16="http://schemas.microsoft.com/office/drawing/2014/main" id="{6E76B2A5-B3D5-45C3-9296-38C8893774F5}"/>
              </a:ext>
            </a:extLst>
          </p:cNvPr>
          <p:cNvSpPr>
            <a:spLocks xmlns:a="http://schemas.openxmlformats.org/drawingml/2006/main" noGrp="1"/>
          </p:cNvSpPr>
          <p:nvPr/>
        </p:nvSpPr>
        <p:spPr>
          <a:xfrm xmlns:a="http://schemas.openxmlformats.org/drawingml/2006/main">
            <a:off x="4543425" y="3019425"/>
            <a:ext cx="47625" cy="10096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B498026B-AF79-4D0E-A9B1-0D068908E2AF}"/>
              </a:ext>
            </a:extLst>
          </p:cNvPr>
          <p:cNvSpPr>
            <a:spLocks xmlns:a="http://schemas.openxmlformats.org/drawingml/2006/main" noGrp="1"/>
          </p:cNvSpPr>
          <p:nvPr/>
        </p:nvSpPr>
        <p:spPr>
          <a:xfrm xmlns:a="http://schemas.openxmlformats.org/drawingml/2006/main">
            <a:off x="4667250" y="312420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17" name="">
            <a:extLst xmlns:a="http://schemas.openxmlformats.org/drawingml/2006/main">
              <a:ext uri="{FF2B5EF4-FFF2-40B4-BE49-F238E27FC236}">
                <a16:creationId xmlns:a16="http://schemas.microsoft.com/office/drawing/2014/main" id="{B5B490C8-7F85-46D5-9C62-DA1B9DC5D4B8}"/>
              </a:ext>
            </a:extLst>
          </p:cNvPr>
          <p:cNvSpPr>
            <a:spLocks xmlns:a="http://schemas.openxmlformats.org/drawingml/2006/main" noGrp="1"/>
          </p:cNvSpPr>
          <p:nvPr/>
        </p:nvSpPr>
        <p:spPr>
          <a:xfrm xmlns:a="http://schemas.openxmlformats.org/drawingml/2006/main">
            <a:off x="4667250" y="3409950"/>
            <a:ext cx="2343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Q1 | brain subregion별 프로토콜 비교</a:t>
            </a:r>
          </a:p>
        </p:txBody>
      </p:sp>
      <p:sp>
        <p:nvSpPr>
          <p:cNvPr id="18" name="">
            <a:extLst xmlns:a="http://schemas.openxmlformats.org/drawingml/2006/main">
              <a:ext uri="{FF2B5EF4-FFF2-40B4-BE49-F238E27FC236}">
                <a16:creationId xmlns:a16="http://schemas.microsoft.com/office/drawing/2014/main" id="{357FD728-C17A-4311-8780-918593AA3D20}"/>
              </a:ext>
            </a:extLst>
          </p:cNvPr>
          <p:cNvSpPr>
            <a:spLocks xmlns:a="http://schemas.openxmlformats.org/drawingml/2006/main" noGrp="1"/>
          </p:cNvSpPr>
          <p:nvPr/>
        </p:nvSpPr>
        <p:spPr>
          <a:xfrm xmlns:a="http://schemas.openxmlformats.org/drawingml/2006/main">
            <a:off x="4667250" y="3657600"/>
            <a:ext cx="23431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어느 region을 만들 것인가?</a:t>
            </a:r>
          </a:p>
        </p:txBody>
      </p:sp>
      <p:sp>
        <p:nvSpPr>
          <p:cNvPr id="19" name="">
            <a:extLst xmlns:a="http://schemas.openxmlformats.org/drawingml/2006/main">
              <a:ext uri="{FF2B5EF4-FFF2-40B4-BE49-F238E27FC236}">
                <a16:creationId xmlns:a16="http://schemas.microsoft.com/office/drawing/2014/main" id="{3C3685CC-D5A3-4F9B-A008-459D677FF9B2}"/>
              </a:ext>
            </a:extLst>
          </p:cNvPr>
          <p:cNvSpPr>
            <a:spLocks xmlns:a="http://schemas.openxmlformats.org/drawingml/2006/main" noGrp="1"/>
          </p:cNvSpPr>
          <p:nvPr/>
        </p:nvSpPr>
        <p:spPr>
          <a:xfrm xmlns:a="http://schemas.openxmlformats.org/drawingml/2006/main">
            <a:off x="933450" y="224790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20" name="">
            <a:extLst xmlns:a="http://schemas.openxmlformats.org/drawingml/2006/main">
              <a:ext uri="{FF2B5EF4-FFF2-40B4-BE49-F238E27FC236}">
                <a16:creationId xmlns:a16="http://schemas.microsoft.com/office/drawing/2014/main" id="{58204CDC-C681-461A-B9AE-F66E656A0916}"/>
              </a:ext>
            </a:extLst>
          </p:cNvPr>
          <p:cNvSpPr>
            <a:spLocks xmlns:a="http://schemas.openxmlformats.org/drawingml/2006/main" noGrp="1"/>
          </p:cNvSpPr>
          <p:nvPr/>
        </p:nvSpPr>
        <p:spPr>
          <a:xfrm xmlns:a="http://schemas.openxmlformats.org/drawingml/2006/main">
            <a:off x="981075" y="229552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47C6ECB4-5553-43C0-8C8D-41D125B2A895}"/>
              </a:ext>
            </a:extLst>
          </p:cNvPr>
          <p:cNvSpPr>
            <a:spLocks xmlns:a="http://schemas.openxmlformats.org/drawingml/2006/main" noGrp="1"/>
          </p:cNvSpPr>
          <p:nvPr/>
        </p:nvSpPr>
        <p:spPr>
          <a:xfrm xmlns:a="http://schemas.openxmlformats.org/drawingml/2006/main">
            <a:off x="1104900" y="24003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2" name="">
            <a:extLst xmlns:a="http://schemas.openxmlformats.org/drawingml/2006/main">
              <a:ext uri="{FF2B5EF4-FFF2-40B4-BE49-F238E27FC236}">
                <a16:creationId xmlns:a16="http://schemas.microsoft.com/office/drawing/2014/main" id="{51A1538A-3CBE-4B30-BB56-3C203C44FF2F}"/>
              </a:ext>
            </a:extLst>
          </p:cNvPr>
          <p:cNvSpPr>
            <a:spLocks xmlns:a="http://schemas.openxmlformats.org/drawingml/2006/main" noGrp="1"/>
          </p:cNvSpPr>
          <p:nvPr/>
        </p:nvSpPr>
        <p:spPr>
          <a:xfrm xmlns:a="http://schemas.openxmlformats.org/drawingml/2006/main">
            <a:off x="1104900" y="268605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Lancaster 2014</a:t>
            </a:r>
          </a:p>
        </p:txBody>
      </p:sp>
      <p:sp>
        <p:nvSpPr>
          <p:cNvPr id="23" name="">
            <a:extLst xmlns:a="http://schemas.openxmlformats.org/drawingml/2006/main">
              <a:ext uri="{FF2B5EF4-FFF2-40B4-BE49-F238E27FC236}">
                <a16:creationId xmlns:a16="http://schemas.microsoft.com/office/drawing/2014/main" id="{D5DC7F29-12EB-4819-B4AE-7F176D4DC485}"/>
              </a:ext>
            </a:extLst>
          </p:cNvPr>
          <p:cNvSpPr>
            <a:spLocks xmlns:a="http://schemas.openxmlformats.org/drawingml/2006/main" noGrp="1"/>
          </p:cNvSpPr>
          <p:nvPr/>
        </p:nvSpPr>
        <p:spPr>
          <a:xfrm xmlns:a="http://schemas.openxmlformats.org/drawingml/2006/main">
            <a:off x="1104900" y="293370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p:txBody>
      </p:sp>
      <p:sp>
        <p:nvSpPr>
          <p:cNvPr id="24" name="">
            <a:extLst xmlns:a="http://schemas.openxmlformats.org/drawingml/2006/main">
              <a:ext uri="{FF2B5EF4-FFF2-40B4-BE49-F238E27FC236}">
                <a16:creationId xmlns:a16="http://schemas.microsoft.com/office/drawing/2014/main" id="{D21AC2A4-11B5-4B60-AFFF-C58F64509328}"/>
              </a:ext>
            </a:extLst>
          </p:cNvPr>
          <p:cNvSpPr>
            <a:spLocks xmlns:a="http://schemas.openxmlformats.org/drawingml/2006/main" noGrp="1"/>
          </p:cNvSpPr>
          <p:nvPr/>
        </p:nvSpPr>
        <p:spPr>
          <a:xfrm xmlns:a="http://schemas.openxmlformats.org/drawingml/2006/main">
            <a:off x="2933700" y="186690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25" name="">
            <a:extLst xmlns:a="http://schemas.openxmlformats.org/drawingml/2006/main">
              <a:ext uri="{FF2B5EF4-FFF2-40B4-BE49-F238E27FC236}">
                <a16:creationId xmlns:a16="http://schemas.microsoft.com/office/drawing/2014/main" id="{91429D49-EC71-4F9D-B81D-CE007490F8F2}"/>
              </a:ext>
            </a:extLst>
          </p:cNvPr>
          <p:cNvSpPr>
            <a:spLocks xmlns:a="http://schemas.openxmlformats.org/drawingml/2006/main" noGrp="1"/>
          </p:cNvSpPr>
          <p:nvPr/>
        </p:nvSpPr>
        <p:spPr>
          <a:xfrm xmlns:a="http://schemas.openxmlformats.org/drawingml/2006/main">
            <a:off x="2981325" y="191452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27273D1B-1D7C-4B6F-A265-2B443E75F854}"/>
              </a:ext>
            </a:extLst>
          </p:cNvPr>
          <p:cNvSpPr>
            <a:spLocks xmlns:a="http://schemas.openxmlformats.org/drawingml/2006/main" noGrp="1"/>
          </p:cNvSpPr>
          <p:nvPr/>
        </p:nvSpPr>
        <p:spPr>
          <a:xfrm xmlns:a="http://schemas.openxmlformats.org/drawingml/2006/main">
            <a:off x="3105150" y="20193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7" name="">
            <a:extLst xmlns:a="http://schemas.openxmlformats.org/drawingml/2006/main">
              <a:ext uri="{FF2B5EF4-FFF2-40B4-BE49-F238E27FC236}">
                <a16:creationId xmlns:a16="http://schemas.microsoft.com/office/drawing/2014/main" id="{B7AF2AEC-FF4B-4493-B649-C7A9DC08822E}"/>
              </a:ext>
            </a:extLst>
          </p:cNvPr>
          <p:cNvSpPr>
            <a:spLocks xmlns:a="http://schemas.openxmlformats.org/drawingml/2006/main" noGrp="1"/>
          </p:cNvSpPr>
          <p:nvPr/>
        </p:nvSpPr>
        <p:spPr>
          <a:xfrm xmlns:a="http://schemas.openxmlformats.org/drawingml/2006/main">
            <a:off x="3105150" y="230505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Sloan 2018</a:t>
            </a:r>
          </a:p>
        </p:txBody>
      </p:sp>
      <p:sp>
        <p:nvSpPr>
          <p:cNvPr id="28" name="">
            <a:extLst xmlns:a="http://schemas.openxmlformats.org/drawingml/2006/main">
              <a:ext uri="{FF2B5EF4-FFF2-40B4-BE49-F238E27FC236}">
                <a16:creationId xmlns:a16="http://schemas.microsoft.com/office/drawing/2014/main" id="{47B1329D-6EED-425C-847F-B9AF313751A0}"/>
              </a:ext>
            </a:extLst>
          </p:cNvPr>
          <p:cNvSpPr>
            <a:spLocks xmlns:a="http://schemas.openxmlformats.org/drawingml/2006/main" noGrp="1"/>
          </p:cNvSpPr>
          <p:nvPr/>
        </p:nvSpPr>
        <p:spPr>
          <a:xfrm xmlns:a="http://schemas.openxmlformats.org/drawingml/2006/main">
            <a:off x="3105150" y="255270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dorsal / ventral</a:t>
            </a:r>
          </a:p>
          <a:p xmlns:a="http://schemas.openxmlformats.org/drawingml/2006/main">
            <a:pPr algn="l">
              <a:defRPr sz="825" b="0">
                <a:solidFill>
                  <a:srgbClr val="344146"/>
                </a:solidFill>
              </a:defRPr>
            </a:pPr>
            <a:r>
              <a:rPr sz="825" b="0">
                <a:solidFill>
                  <a:srgbClr val="344146"/>
                </a:solidFill>
              </a:rPr>
              <a:t>forebrain</a:t>
            </a:r>
          </a:p>
        </p:txBody>
      </p:sp>
      <p:sp>
        <p:nvSpPr>
          <p:cNvPr id="29" name="">
            <a:extLst xmlns:a="http://schemas.openxmlformats.org/drawingml/2006/main">
              <a:ext uri="{FF2B5EF4-FFF2-40B4-BE49-F238E27FC236}">
                <a16:creationId xmlns:a16="http://schemas.microsoft.com/office/drawing/2014/main" id="{2A50C413-2E50-4A3F-8994-B358AF23B7AC}"/>
              </a:ext>
            </a:extLst>
          </p:cNvPr>
          <p:cNvSpPr>
            <a:spLocks xmlns:a="http://schemas.openxmlformats.org/drawingml/2006/main" noGrp="1"/>
          </p:cNvSpPr>
          <p:nvPr/>
        </p:nvSpPr>
        <p:spPr>
          <a:xfrm xmlns:a="http://schemas.openxmlformats.org/drawingml/2006/main">
            <a:off x="7600950" y="194310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30" name="">
            <a:extLst xmlns:a="http://schemas.openxmlformats.org/drawingml/2006/main">
              <a:ext uri="{FF2B5EF4-FFF2-40B4-BE49-F238E27FC236}">
                <a16:creationId xmlns:a16="http://schemas.microsoft.com/office/drawing/2014/main" id="{F44E93E2-AC62-417E-A4D9-C44E5B7C3CE5}"/>
              </a:ext>
            </a:extLst>
          </p:cNvPr>
          <p:cNvSpPr>
            <a:spLocks xmlns:a="http://schemas.openxmlformats.org/drawingml/2006/main" noGrp="1"/>
          </p:cNvSpPr>
          <p:nvPr/>
        </p:nvSpPr>
        <p:spPr>
          <a:xfrm xmlns:a="http://schemas.openxmlformats.org/drawingml/2006/main">
            <a:off x="7648575" y="199072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2BC30686-329B-40FB-A685-D8616259A29B}"/>
              </a:ext>
            </a:extLst>
          </p:cNvPr>
          <p:cNvSpPr>
            <a:spLocks xmlns:a="http://schemas.openxmlformats.org/drawingml/2006/main" noGrp="1"/>
          </p:cNvSpPr>
          <p:nvPr/>
        </p:nvSpPr>
        <p:spPr>
          <a:xfrm xmlns:a="http://schemas.openxmlformats.org/drawingml/2006/main">
            <a:off x="7772400" y="20955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2" name="">
            <a:extLst xmlns:a="http://schemas.openxmlformats.org/drawingml/2006/main">
              <a:ext uri="{FF2B5EF4-FFF2-40B4-BE49-F238E27FC236}">
                <a16:creationId xmlns:a16="http://schemas.microsoft.com/office/drawing/2014/main" id="{417E6FD5-036E-44FC-87CB-F3824D5D471E}"/>
              </a:ext>
            </a:extLst>
          </p:cNvPr>
          <p:cNvSpPr>
            <a:spLocks xmlns:a="http://schemas.openxmlformats.org/drawingml/2006/main" noGrp="1"/>
          </p:cNvSpPr>
          <p:nvPr/>
        </p:nvSpPr>
        <p:spPr>
          <a:xfrm xmlns:a="http://schemas.openxmlformats.org/drawingml/2006/main">
            <a:off x="7772400" y="238125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Fitzgerald 2024</a:t>
            </a:r>
          </a:p>
        </p:txBody>
      </p:sp>
      <p:sp>
        <p:nvSpPr>
          <p:cNvPr id="33" name="">
            <a:extLst xmlns:a="http://schemas.openxmlformats.org/drawingml/2006/main">
              <a:ext uri="{FF2B5EF4-FFF2-40B4-BE49-F238E27FC236}">
                <a16:creationId xmlns:a16="http://schemas.microsoft.com/office/drawing/2014/main" id="{9B5BD373-A972-436B-A188-D9BF266E029A}"/>
              </a:ext>
            </a:extLst>
          </p:cNvPr>
          <p:cNvSpPr>
            <a:spLocks xmlns:a="http://schemas.openxmlformats.org/drawingml/2006/main" noGrp="1"/>
          </p:cNvSpPr>
          <p:nvPr/>
        </p:nvSpPr>
        <p:spPr>
          <a:xfrm xmlns:a="http://schemas.openxmlformats.org/drawingml/2006/main">
            <a:off x="7772400" y="262890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semi-guided</a:t>
            </a:r>
          </a:p>
          <a:p xmlns:a="http://schemas.openxmlformats.org/drawingml/2006/main">
            <a:pPr algn="l">
              <a:defRPr sz="825" b="0">
                <a:solidFill>
                  <a:srgbClr val="344146"/>
                </a:solidFill>
              </a:defRPr>
            </a:pPr>
            <a:r>
              <a:rPr sz="825" b="0">
                <a:solidFill>
                  <a:srgbClr val="344146"/>
                </a:solidFill>
              </a:rPr>
              <a:t>cortical</a:t>
            </a:r>
          </a:p>
        </p:txBody>
      </p:sp>
      <p:sp>
        <p:nvSpPr>
          <p:cNvPr id="34" name="">
            <a:extLst xmlns:a="http://schemas.openxmlformats.org/drawingml/2006/main">
              <a:ext uri="{FF2B5EF4-FFF2-40B4-BE49-F238E27FC236}">
                <a16:creationId xmlns:a16="http://schemas.microsoft.com/office/drawing/2014/main" id="{CC42C6EB-950D-409E-9339-13FD07C3FD5B}"/>
              </a:ext>
            </a:extLst>
          </p:cNvPr>
          <p:cNvSpPr>
            <a:spLocks xmlns:a="http://schemas.openxmlformats.org/drawingml/2006/main" noGrp="1"/>
          </p:cNvSpPr>
          <p:nvPr/>
        </p:nvSpPr>
        <p:spPr>
          <a:xfrm xmlns:a="http://schemas.openxmlformats.org/drawingml/2006/main">
            <a:off x="9563100" y="2724150"/>
            <a:ext cx="16573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35" name="">
            <a:extLst xmlns:a="http://schemas.openxmlformats.org/drawingml/2006/main">
              <a:ext uri="{FF2B5EF4-FFF2-40B4-BE49-F238E27FC236}">
                <a16:creationId xmlns:a16="http://schemas.microsoft.com/office/drawing/2014/main" id="{2A2F96BA-CB5F-409B-815A-D467377367C2}"/>
              </a:ext>
            </a:extLst>
          </p:cNvPr>
          <p:cNvSpPr>
            <a:spLocks xmlns:a="http://schemas.openxmlformats.org/drawingml/2006/main" noGrp="1"/>
          </p:cNvSpPr>
          <p:nvPr/>
        </p:nvSpPr>
        <p:spPr>
          <a:xfrm xmlns:a="http://schemas.openxmlformats.org/drawingml/2006/main">
            <a:off x="9610725" y="277177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39323A3A-6FDE-4013-AADB-A898DC845738}"/>
              </a:ext>
            </a:extLst>
          </p:cNvPr>
          <p:cNvSpPr>
            <a:spLocks xmlns:a="http://schemas.openxmlformats.org/drawingml/2006/main" noGrp="1"/>
          </p:cNvSpPr>
          <p:nvPr/>
        </p:nvSpPr>
        <p:spPr>
          <a:xfrm xmlns:a="http://schemas.openxmlformats.org/drawingml/2006/main">
            <a:off x="9734550" y="28765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7" name="">
            <a:extLst xmlns:a="http://schemas.openxmlformats.org/drawingml/2006/main">
              <a:ext uri="{FF2B5EF4-FFF2-40B4-BE49-F238E27FC236}">
                <a16:creationId xmlns:a16="http://schemas.microsoft.com/office/drawing/2014/main" id="{6B74E63E-E255-4CB0-A2C1-6D828D8F45F4}"/>
              </a:ext>
            </a:extLst>
          </p:cNvPr>
          <p:cNvSpPr>
            <a:spLocks xmlns:a="http://schemas.openxmlformats.org/drawingml/2006/main" noGrp="1"/>
          </p:cNvSpPr>
          <p:nvPr/>
        </p:nvSpPr>
        <p:spPr>
          <a:xfrm xmlns:a="http://schemas.openxmlformats.org/drawingml/2006/main">
            <a:off x="9734550" y="3162300"/>
            <a:ext cx="1333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Zagare 2021</a:t>
            </a:r>
          </a:p>
        </p:txBody>
      </p:sp>
      <p:sp>
        <p:nvSpPr>
          <p:cNvPr id="38" name="">
            <a:extLst xmlns:a="http://schemas.openxmlformats.org/drawingml/2006/main">
              <a:ext uri="{FF2B5EF4-FFF2-40B4-BE49-F238E27FC236}">
                <a16:creationId xmlns:a16="http://schemas.microsoft.com/office/drawing/2014/main" id="{6EF32FAE-E80C-4C4F-8002-E82C242E4041}"/>
              </a:ext>
            </a:extLst>
          </p:cNvPr>
          <p:cNvSpPr>
            <a:spLocks xmlns:a="http://schemas.openxmlformats.org/drawingml/2006/main" noGrp="1"/>
          </p:cNvSpPr>
          <p:nvPr/>
        </p:nvSpPr>
        <p:spPr>
          <a:xfrm xmlns:a="http://schemas.openxmlformats.org/drawingml/2006/main">
            <a:off x="9734550" y="3409950"/>
            <a:ext cx="1333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midbrain</a:t>
            </a:r>
          </a:p>
        </p:txBody>
      </p:sp>
      <p:sp>
        <p:nvSpPr>
          <p:cNvPr id="39" name="">
            <a:extLst xmlns:a="http://schemas.openxmlformats.org/drawingml/2006/main">
              <a:ext uri="{FF2B5EF4-FFF2-40B4-BE49-F238E27FC236}">
                <a16:creationId xmlns:a16="http://schemas.microsoft.com/office/drawing/2014/main" id="{6C4D1EC4-75F1-418D-9EAB-F88460CAF0BC}"/>
              </a:ext>
            </a:extLst>
          </p:cNvPr>
          <p:cNvSpPr>
            <a:spLocks xmlns:a="http://schemas.openxmlformats.org/drawingml/2006/main" noGrp="1"/>
          </p:cNvSpPr>
          <p:nvPr/>
        </p:nvSpPr>
        <p:spPr>
          <a:xfrm xmlns:a="http://schemas.openxmlformats.org/drawingml/2006/main">
            <a:off x="9467850" y="447675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40" name="">
            <a:extLst xmlns:a="http://schemas.openxmlformats.org/drawingml/2006/main">
              <a:ext uri="{FF2B5EF4-FFF2-40B4-BE49-F238E27FC236}">
                <a16:creationId xmlns:a16="http://schemas.microsoft.com/office/drawing/2014/main" id="{F0D2E7DC-CA1F-4D42-B8D9-7FDA4ACEB452}"/>
              </a:ext>
            </a:extLst>
          </p:cNvPr>
          <p:cNvSpPr>
            <a:spLocks xmlns:a="http://schemas.openxmlformats.org/drawingml/2006/main" noGrp="1"/>
          </p:cNvSpPr>
          <p:nvPr/>
        </p:nvSpPr>
        <p:spPr>
          <a:xfrm xmlns:a="http://schemas.openxmlformats.org/drawingml/2006/main">
            <a:off x="9515475" y="452437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A8F10F98-8389-4462-95EE-E859C8C19DEF}"/>
              </a:ext>
            </a:extLst>
          </p:cNvPr>
          <p:cNvSpPr>
            <a:spLocks xmlns:a="http://schemas.openxmlformats.org/drawingml/2006/main" noGrp="1"/>
          </p:cNvSpPr>
          <p:nvPr/>
        </p:nvSpPr>
        <p:spPr>
          <a:xfrm xmlns:a="http://schemas.openxmlformats.org/drawingml/2006/main">
            <a:off x="9639300" y="4629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2" name="">
            <a:extLst xmlns:a="http://schemas.openxmlformats.org/drawingml/2006/main">
              <a:ext uri="{FF2B5EF4-FFF2-40B4-BE49-F238E27FC236}">
                <a16:creationId xmlns:a16="http://schemas.microsoft.com/office/drawing/2014/main" id="{8A49CCD2-784F-4DBB-928D-A222249D184C}"/>
              </a:ext>
            </a:extLst>
          </p:cNvPr>
          <p:cNvSpPr>
            <a:spLocks xmlns:a="http://schemas.openxmlformats.org/drawingml/2006/main" noGrp="1"/>
          </p:cNvSpPr>
          <p:nvPr/>
        </p:nvSpPr>
        <p:spPr>
          <a:xfrm xmlns:a="http://schemas.openxmlformats.org/drawingml/2006/main">
            <a:off x="9639300" y="491490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Atamian 2024</a:t>
            </a:r>
          </a:p>
        </p:txBody>
      </p:sp>
      <p:sp>
        <p:nvSpPr>
          <p:cNvPr id="43" name="">
            <a:extLst xmlns:a="http://schemas.openxmlformats.org/drawingml/2006/main">
              <a:ext uri="{FF2B5EF4-FFF2-40B4-BE49-F238E27FC236}">
                <a16:creationId xmlns:a16="http://schemas.microsoft.com/office/drawing/2014/main" id="{CD8B06D4-E75C-484E-B855-FE16F947C26B}"/>
              </a:ext>
            </a:extLst>
          </p:cNvPr>
          <p:cNvSpPr>
            <a:spLocks xmlns:a="http://schemas.openxmlformats.org/drawingml/2006/main" noGrp="1"/>
          </p:cNvSpPr>
          <p:nvPr/>
        </p:nvSpPr>
        <p:spPr>
          <a:xfrm xmlns:a="http://schemas.openxmlformats.org/drawingml/2006/main">
            <a:off x="9639300" y="51625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cerebellum</a:t>
            </a:r>
          </a:p>
        </p:txBody>
      </p:sp>
      <p:sp>
        <p:nvSpPr>
          <p:cNvPr id="44" name="">
            <a:extLst xmlns:a="http://schemas.openxmlformats.org/drawingml/2006/main">
              <a:ext uri="{FF2B5EF4-FFF2-40B4-BE49-F238E27FC236}">
                <a16:creationId xmlns:a16="http://schemas.microsoft.com/office/drawing/2014/main" id="{D4AEBA5C-386E-428E-9C58-3170D27BE2FA}"/>
              </a:ext>
            </a:extLst>
          </p:cNvPr>
          <p:cNvSpPr>
            <a:spLocks xmlns:a="http://schemas.openxmlformats.org/drawingml/2006/main" noGrp="1"/>
          </p:cNvSpPr>
          <p:nvPr/>
        </p:nvSpPr>
        <p:spPr>
          <a:xfrm xmlns:a="http://schemas.openxmlformats.org/drawingml/2006/main">
            <a:off x="7105650" y="493395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45" name="">
            <a:extLst xmlns:a="http://schemas.openxmlformats.org/drawingml/2006/main">
              <a:ext uri="{FF2B5EF4-FFF2-40B4-BE49-F238E27FC236}">
                <a16:creationId xmlns:a16="http://schemas.microsoft.com/office/drawing/2014/main" id="{A059F9F3-54DD-4532-B732-F00C2AD66F79}"/>
              </a:ext>
            </a:extLst>
          </p:cNvPr>
          <p:cNvSpPr>
            <a:spLocks xmlns:a="http://schemas.openxmlformats.org/drawingml/2006/main" noGrp="1"/>
          </p:cNvSpPr>
          <p:nvPr/>
        </p:nvSpPr>
        <p:spPr>
          <a:xfrm xmlns:a="http://schemas.openxmlformats.org/drawingml/2006/main">
            <a:off x="7153275" y="498157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FA9E4222-967C-4436-9ACD-CFC2C69B2116}"/>
              </a:ext>
            </a:extLst>
          </p:cNvPr>
          <p:cNvSpPr>
            <a:spLocks xmlns:a="http://schemas.openxmlformats.org/drawingml/2006/main" noGrp="1"/>
          </p:cNvSpPr>
          <p:nvPr/>
        </p:nvSpPr>
        <p:spPr>
          <a:xfrm xmlns:a="http://schemas.openxmlformats.org/drawingml/2006/main">
            <a:off x="7277100" y="50863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7" name="">
            <a:extLst xmlns:a="http://schemas.openxmlformats.org/drawingml/2006/main">
              <a:ext uri="{FF2B5EF4-FFF2-40B4-BE49-F238E27FC236}">
                <a16:creationId xmlns:a16="http://schemas.microsoft.com/office/drawing/2014/main" id="{2FB41341-0C97-4982-B076-11A0799C98F3}"/>
              </a:ext>
            </a:extLst>
          </p:cNvPr>
          <p:cNvSpPr>
            <a:spLocks xmlns:a="http://schemas.openxmlformats.org/drawingml/2006/main" noGrp="1"/>
          </p:cNvSpPr>
          <p:nvPr/>
        </p:nvSpPr>
        <p:spPr>
          <a:xfrm xmlns:a="http://schemas.openxmlformats.org/drawingml/2006/main">
            <a:off x="7277100" y="537210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Pomeshchik 2020</a:t>
            </a:r>
          </a:p>
        </p:txBody>
      </p:sp>
      <p:sp>
        <p:nvSpPr>
          <p:cNvPr id="48" name="">
            <a:extLst xmlns:a="http://schemas.openxmlformats.org/drawingml/2006/main">
              <a:ext uri="{FF2B5EF4-FFF2-40B4-BE49-F238E27FC236}">
                <a16:creationId xmlns:a16="http://schemas.microsoft.com/office/drawing/2014/main" id="{21291009-4293-4BB0-9CAB-12B7B3859CFB}"/>
              </a:ext>
            </a:extLst>
          </p:cNvPr>
          <p:cNvSpPr>
            <a:spLocks xmlns:a="http://schemas.openxmlformats.org/drawingml/2006/main" noGrp="1"/>
          </p:cNvSpPr>
          <p:nvPr/>
        </p:nvSpPr>
        <p:spPr>
          <a:xfrm xmlns:a="http://schemas.openxmlformats.org/drawingml/2006/main">
            <a:off x="7277100" y="56197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hippocampus</a:t>
            </a:r>
          </a:p>
        </p:txBody>
      </p:sp>
      <p:sp>
        <p:nvSpPr>
          <p:cNvPr id="49" name="">
            <a:extLst xmlns:a="http://schemas.openxmlformats.org/drawingml/2006/main">
              <a:ext uri="{FF2B5EF4-FFF2-40B4-BE49-F238E27FC236}">
                <a16:creationId xmlns:a16="http://schemas.microsoft.com/office/drawing/2014/main" id="{77DC9F20-319E-467D-A701-3715410362C3}"/>
              </a:ext>
            </a:extLst>
          </p:cNvPr>
          <p:cNvSpPr>
            <a:spLocks xmlns:a="http://schemas.openxmlformats.org/drawingml/2006/main" noGrp="1"/>
          </p:cNvSpPr>
          <p:nvPr/>
        </p:nvSpPr>
        <p:spPr>
          <a:xfrm xmlns:a="http://schemas.openxmlformats.org/drawingml/2006/main">
            <a:off x="3276600" y="495300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50" name="">
            <a:extLst xmlns:a="http://schemas.openxmlformats.org/drawingml/2006/main">
              <a:ext uri="{FF2B5EF4-FFF2-40B4-BE49-F238E27FC236}">
                <a16:creationId xmlns:a16="http://schemas.microsoft.com/office/drawing/2014/main" id="{5850A301-5DFC-4154-BF1D-A8EFC83948D4}"/>
              </a:ext>
            </a:extLst>
          </p:cNvPr>
          <p:cNvSpPr>
            <a:spLocks xmlns:a="http://schemas.openxmlformats.org/drawingml/2006/main" noGrp="1"/>
          </p:cNvSpPr>
          <p:nvPr/>
        </p:nvSpPr>
        <p:spPr>
          <a:xfrm xmlns:a="http://schemas.openxmlformats.org/drawingml/2006/main">
            <a:off x="3324225" y="500062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D698420A-7D20-494D-A9D5-1AB179E9F82B}"/>
              </a:ext>
            </a:extLst>
          </p:cNvPr>
          <p:cNvSpPr>
            <a:spLocks xmlns:a="http://schemas.openxmlformats.org/drawingml/2006/main" noGrp="1"/>
          </p:cNvSpPr>
          <p:nvPr/>
        </p:nvSpPr>
        <p:spPr>
          <a:xfrm xmlns:a="http://schemas.openxmlformats.org/drawingml/2006/main">
            <a:off x="3448050" y="51054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52" name="">
            <a:extLst xmlns:a="http://schemas.openxmlformats.org/drawingml/2006/main">
              <a:ext uri="{FF2B5EF4-FFF2-40B4-BE49-F238E27FC236}">
                <a16:creationId xmlns:a16="http://schemas.microsoft.com/office/drawing/2014/main" id="{314E4C9B-755B-445A-949D-98201CBE5BDB}"/>
              </a:ext>
            </a:extLst>
          </p:cNvPr>
          <p:cNvSpPr>
            <a:spLocks xmlns:a="http://schemas.openxmlformats.org/drawingml/2006/main" noGrp="1"/>
          </p:cNvSpPr>
          <p:nvPr/>
        </p:nvSpPr>
        <p:spPr>
          <a:xfrm xmlns:a="http://schemas.openxmlformats.org/drawingml/2006/main">
            <a:off x="3448050" y="539115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Valiulahi 2021</a:t>
            </a:r>
          </a:p>
        </p:txBody>
      </p:sp>
      <p:sp>
        <p:nvSpPr>
          <p:cNvPr id="53" name="">
            <a:extLst xmlns:a="http://schemas.openxmlformats.org/drawingml/2006/main">
              <a:ext uri="{FF2B5EF4-FFF2-40B4-BE49-F238E27FC236}">
                <a16:creationId xmlns:a16="http://schemas.microsoft.com/office/drawing/2014/main" id="{04A6D925-BD6A-4ECF-97FD-068ED51CF83E}"/>
              </a:ext>
            </a:extLst>
          </p:cNvPr>
          <p:cNvSpPr>
            <a:spLocks xmlns:a="http://schemas.openxmlformats.org/drawingml/2006/main" noGrp="1"/>
          </p:cNvSpPr>
          <p:nvPr/>
        </p:nvSpPr>
        <p:spPr>
          <a:xfrm xmlns:a="http://schemas.openxmlformats.org/drawingml/2006/main">
            <a:off x="3448050" y="563880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hindbrain / 5-HT</a:t>
            </a:r>
          </a:p>
        </p:txBody>
      </p:sp>
      <p:sp>
        <p:nvSpPr>
          <p:cNvPr id="54" name="">
            <a:extLst xmlns:a="http://schemas.openxmlformats.org/drawingml/2006/main">
              <a:ext uri="{FF2B5EF4-FFF2-40B4-BE49-F238E27FC236}">
                <a16:creationId xmlns:a16="http://schemas.microsoft.com/office/drawing/2014/main" id="{2C87A010-9EC3-41B2-B9EC-9A399BBAE162}"/>
              </a:ext>
            </a:extLst>
          </p:cNvPr>
          <p:cNvSpPr>
            <a:spLocks xmlns:a="http://schemas.openxmlformats.org/drawingml/2006/main" noGrp="1"/>
          </p:cNvSpPr>
          <p:nvPr/>
        </p:nvSpPr>
        <p:spPr>
          <a:xfrm xmlns:a="http://schemas.openxmlformats.org/drawingml/2006/main">
            <a:off x="1047750" y="409575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55" name="">
            <a:extLst xmlns:a="http://schemas.openxmlformats.org/drawingml/2006/main">
              <a:ext uri="{FF2B5EF4-FFF2-40B4-BE49-F238E27FC236}">
                <a16:creationId xmlns:a16="http://schemas.microsoft.com/office/drawing/2014/main" id="{ADF1849F-7EC3-447B-B6D8-137F7FFE0B40}"/>
              </a:ext>
            </a:extLst>
          </p:cNvPr>
          <p:cNvSpPr>
            <a:spLocks xmlns:a="http://schemas.openxmlformats.org/drawingml/2006/main" noGrp="1"/>
          </p:cNvSpPr>
          <p:nvPr/>
        </p:nvSpPr>
        <p:spPr>
          <a:xfrm xmlns:a="http://schemas.openxmlformats.org/drawingml/2006/main">
            <a:off x="1095375" y="414337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388F35AE-5912-4916-8146-A2C29F9539B6}"/>
              </a:ext>
            </a:extLst>
          </p:cNvPr>
          <p:cNvSpPr>
            <a:spLocks xmlns:a="http://schemas.openxmlformats.org/drawingml/2006/main" noGrp="1"/>
          </p:cNvSpPr>
          <p:nvPr/>
        </p:nvSpPr>
        <p:spPr>
          <a:xfrm xmlns:a="http://schemas.openxmlformats.org/drawingml/2006/main">
            <a:off x="1219200" y="4248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57" name="">
            <a:extLst xmlns:a="http://schemas.openxmlformats.org/drawingml/2006/main">
              <a:ext uri="{FF2B5EF4-FFF2-40B4-BE49-F238E27FC236}">
                <a16:creationId xmlns:a16="http://schemas.microsoft.com/office/drawing/2014/main" id="{24B83E07-2B1B-4747-A5C2-E0E321E27E26}"/>
              </a:ext>
            </a:extLst>
          </p:cNvPr>
          <p:cNvSpPr>
            <a:spLocks xmlns:a="http://schemas.openxmlformats.org/drawingml/2006/main" noGrp="1"/>
          </p:cNvSpPr>
          <p:nvPr/>
        </p:nvSpPr>
        <p:spPr>
          <a:xfrm xmlns:a="http://schemas.openxmlformats.org/drawingml/2006/main">
            <a:off x="1219200" y="453390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Eura 2020</a:t>
            </a:r>
          </a:p>
        </p:txBody>
      </p:sp>
      <p:sp>
        <p:nvSpPr>
          <p:cNvPr id="58" name="">
            <a:extLst xmlns:a="http://schemas.openxmlformats.org/drawingml/2006/main">
              <a:ext uri="{FF2B5EF4-FFF2-40B4-BE49-F238E27FC236}">
                <a16:creationId xmlns:a16="http://schemas.microsoft.com/office/drawing/2014/main" id="{6BD549E6-42B7-4C62-BCCF-6975A33D302E}"/>
              </a:ext>
            </a:extLst>
          </p:cNvPr>
          <p:cNvSpPr>
            <a:spLocks xmlns:a="http://schemas.openxmlformats.org/drawingml/2006/main" noGrp="1"/>
          </p:cNvSpPr>
          <p:nvPr/>
        </p:nvSpPr>
        <p:spPr>
          <a:xfrm xmlns:a="http://schemas.openxmlformats.org/drawingml/2006/main">
            <a:off x="1219200" y="478155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brainstem</a:t>
            </a:r>
          </a:p>
        </p:txBody>
      </p:sp>
      <p:sp>
        <p:nvSpPr>
          <p:cNvPr id="59" name="">
            <a:extLst xmlns:a="http://schemas.openxmlformats.org/drawingml/2006/main">
              <a:ext uri="{FF2B5EF4-FFF2-40B4-BE49-F238E27FC236}">
                <a16:creationId xmlns:a16="http://schemas.microsoft.com/office/drawing/2014/main" id="{A6BE04CD-A395-4EB4-AED1-6767F532A174}"/>
              </a:ext>
            </a:extLst>
          </p:cNvPr>
          <p:cNvSpPr>
            <a:spLocks xmlns:a="http://schemas.openxmlformats.org/drawingml/2006/main" noGrp="1"/>
          </p:cNvSpPr>
          <p:nvPr/>
        </p:nvSpPr>
        <p:spPr>
          <a:xfrm xmlns:a="http://schemas.openxmlformats.org/drawingml/2006/main" rot="-10176016">
            <a:off x="1747369" y="3138488"/>
            <a:ext cx="411573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0" name="">
            <a:extLst xmlns:a="http://schemas.openxmlformats.org/drawingml/2006/main">
              <a:ext uri="{FF2B5EF4-FFF2-40B4-BE49-F238E27FC236}">
                <a16:creationId xmlns:a16="http://schemas.microsoft.com/office/drawing/2014/main" id="{3043DAC4-D41F-4860-A920-5A6468EC2752}"/>
              </a:ext>
            </a:extLst>
          </p:cNvPr>
          <p:cNvSpPr>
            <a:spLocks xmlns:a="http://schemas.openxmlformats.org/drawingml/2006/main" noGrp="1"/>
          </p:cNvSpPr>
          <p:nvPr/>
        </p:nvSpPr>
        <p:spPr>
          <a:xfrm xmlns:a="http://schemas.openxmlformats.org/drawingml/2006/main" rot="-9074423">
            <a:off x="3637345" y="2947988"/>
            <a:ext cx="233603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1" name="">
            <a:extLst xmlns:a="http://schemas.openxmlformats.org/drawingml/2006/main">
              <a:ext uri="{FF2B5EF4-FFF2-40B4-BE49-F238E27FC236}">
                <a16:creationId xmlns:a16="http://schemas.microsoft.com/office/drawing/2014/main" id="{B114F453-1242-4CD7-B6AB-F0F708053757}"/>
              </a:ext>
            </a:extLst>
          </p:cNvPr>
          <p:cNvSpPr>
            <a:spLocks xmlns:a="http://schemas.openxmlformats.org/drawingml/2006/main" noGrp="1"/>
          </p:cNvSpPr>
          <p:nvPr/>
        </p:nvSpPr>
        <p:spPr>
          <a:xfrm xmlns:a="http://schemas.openxmlformats.org/drawingml/2006/main" rot="-1299517">
            <a:off x="5729088" y="2986088"/>
            <a:ext cx="2838850"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2" name="">
            <a:extLst xmlns:a="http://schemas.openxmlformats.org/drawingml/2006/main">
              <a:ext uri="{FF2B5EF4-FFF2-40B4-BE49-F238E27FC236}">
                <a16:creationId xmlns:a16="http://schemas.microsoft.com/office/drawing/2014/main" id="{AAF40435-E445-49C0-A3A6-9383C83A2475}"/>
              </a:ext>
            </a:extLst>
          </p:cNvPr>
          <p:cNvSpPr>
            <a:spLocks xmlns:a="http://schemas.openxmlformats.org/drawingml/2006/main" noGrp="1"/>
          </p:cNvSpPr>
          <p:nvPr/>
        </p:nvSpPr>
        <p:spPr>
          <a:xfrm xmlns:a="http://schemas.openxmlformats.org/drawingml/2006/main" rot="-200725">
            <a:off x="5825406" y="3376613"/>
            <a:ext cx="457026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3" name="">
            <a:extLst xmlns:a="http://schemas.openxmlformats.org/drawingml/2006/main">
              <a:ext uri="{FF2B5EF4-FFF2-40B4-BE49-F238E27FC236}">
                <a16:creationId xmlns:a16="http://schemas.microsoft.com/office/drawing/2014/main" id="{3AD22275-6D2B-40CE-A383-80315E54ACE9}"/>
              </a:ext>
            </a:extLst>
          </p:cNvPr>
          <p:cNvSpPr>
            <a:spLocks xmlns:a="http://schemas.openxmlformats.org/drawingml/2006/main" noGrp="1"/>
          </p:cNvSpPr>
          <p:nvPr/>
        </p:nvSpPr>
        <p:spPr>
          <a:xfrm xmlns:a="http://schemas.openxmlformats.org/drawingml/2006/main" rot="1095183">
            <a:off x="5709946" y="4252913"/>
            <a:ext cx="474403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4" name="">
            <a:extLst xmlns:a="http://schemas.openxmlformats.org/drawingml/2006/main">
              <a:ext uri="{FF2B5EF4-FFF2-40B4-BE49-F238E27FC236}">
                <a16:creationId xmlns:a16="http://schemas.microsoft.com/office/drawing/2014/main" id="{CA4DA60A-EE20-4092-9117-7106A4D9104E}"/>
              </a:ext>
            </a:extLst>
          </p:cNvPr>
          <p:cNvSpPr>
            <a:spLocks xmlns:a="http://schemas.openxmlformats.org/drawingml/2006/main" noGrp="1"/>
          </p:cNvSpPr>
          <p:nvPr/>
        </p:nvSpPr>
        <p:spPr>
          <a:xfrm xmlns:a="http://schemas.openxmlformats.org/drawingml/2006/main" rot="2531853">
            <a:off x="5454434" y="4481513"/>
            <a:ext cx="289285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5" name="">
            <a:extLst xmlns:a="http://schemas.openxmlformats.org/drawingml/2006/main">
              <a:ext uri="{FF2B5EF4-FFF2-40B4-BE49-F238E27FC236}">
                <a16:creationId xmlns:a16="http://schemas.microsoft.com/office/drawing/2014/main" id="{1212DC02-437E-4352-8E87-B978D8281138}"/>
              </a:ext>
            </a:extLst>
          </p:cNvPr>
          <p:cNvSpPr>
            <a:spLocks xmlns:a="http://schemas.openxmlformats.org/drawingml/2006/main" noGrp="1"/>
          </p:cNvSpPr>
          <p:nvPr/>
        </p:nvSpPr>
        <p:spPr>
          <a:xfrm xmlns:a="http://schemas.openxmlformats.org/drawingml/2006/main" rot="7840196">
            <a:off x="3692856" y="4491038"/>
            <a:ext cx="258696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6" name="">
            <a:extLst xmlns:a="http://schemas.openxmlformats.org/drawingml/2006/main">
              <a:ext uri="{FF2B5EF4-FFF2-40B4-BE49-F238E27FC236}">
                <a16:creationId xmlns:a16="http://schemas.microsoft.com/office/drawing/2014/main" id="{7765F66E-5AB3-4CF6-BA1A-182814942076}"/>
              </a:ext>
            </a:extLst>
          </p:cNvPr>
          <p:cNvSpPr>
            <a:spLocks xmlns:a="http://schemas.openxmlformats.org/drawingml/2006/main" noGrp="1"/>
          </p:cNvSpPr>
          <p:nvPr/>
        </p:nvSpPr>
        <p:spPr>
          <a:xfrm xmlns:a="http://schemas.openxmlformats.org/drawingml/2006/main" rot="9858687">
            <a:off x="1819364" y="4062413"/>
            <a:ext cx="408604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7" name="">
            <a:extLst xmlns:a="http://schemas.openxmlformats.org/drawingml/2006/main">
              <a:ext uri="{FF2B5EF4-FFF2-40B4-BE49-F238E27FC236}">
                <a16:creationId xmlns:a16="http://schemas.microsoft.com/office/drawing/2014/main" id="{65E0B8D6-7FC9-440F-9E24-6CC6A1D8604B}"/>
              </a:ext>
            </a:extLst>
          </p:cNvPr>
          <p:cNvSpPr>
            <a:spLocks xmlns:a="http://schemas.openxmlformats.org/drawingml/2006/main" noGrp="1"/>
          </p:cNvSpPr>
          <p:nvPr/>
        </p:nvSpPr>
        <p:spPr>
          <a:xfrm xmlns:a="http://schemas.openxmlformats.org/drawingml/2006/main">
            <a:off x="609600" y="6115050"/>
            <a:ext cx="12573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whole cerebral</a:t>
            </a:r>
          </a:p>
        </p:txBody>
      </p:sp>
      <p:sp>
        <p:nvSpPr>
          <p:cNvPr id="68" name="">
            <a:extLst xmlns:a="http://schemas.openxmlformats.org/drawingml/2006/main">
              <a:ext uri="{FF2B5EF4-FFF2-40B4-BE49-F238E27FC236}">
                <a16:creationId xmlns:a16="http://schemas.microsoft.com/office/drawing/2014/main" id="{E3DBBE9B-50E8-430E-A12E-D46046E77169}"/>
              </a:ext>
            </a:extLst>
          </p:cNvPr>
          <p:cNvSpPr>
            <a:spLocks xmlns:a="http://schemas.openxmlformats.org/drawingml/2006/main" noGrp="1"/>
          </p:cNvSpPr>
          <p:nvPr/>
        </p:nvSpPr>
        <p:spPr>
          <a:xfrm xmlns:a="http://schemas.openxmlformats.org/drawingml/2006/main">
            <a:off x="2000250" y="6115050"/>
            <a:ext cx="17145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forebrain / cortical</a:t>
            </a:r>
          </a:p>
        </p:txBody>
      </p:sp>
      <p:sp>
        <p:nvSpPr>
          <p:cNvPr id="69" name="">
            <a:extLst xmlns:a="http://schemas.openxmlformats.org/drawingml/2006/main">
              <a:ext uri="{FF2B5EF4-FFF2-40B4-BE49-F238E27FC236}">
                <a16:creationId xmlns:a16="http://schemas.microsoft.com/office/drawing/2014/main" id="{A55EBB1C-05E7-4C40-B7F9-147DBB9FA9B5}"/>
              </a:ext>
            </a:extLst>
          </p:cNvPr>
          <p:cNvSpPr>
            <a:spLocks xmlns:a="http://schemas.openxmlformats.org/drawingml/2006/main" noGrp="1"/>
          </p:cNvSpPr>
          <p:nvPr/>
        </p:nvSpPr>
        <p:spPr>
          <a:xfrm xmlns:a="http://schemas.openxmlformats.org/drawingml/2006/main">
            <a:off x="3848100" y="6115050"/>
            <a:ext cx="14859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posterior / niche</a:t>
            </a:r>
          </a:p>
        </p:txBody>
      </p:sp>
      <p:sp>
        <p:nvSpPr>
          <p:cNvPr id="70" name="">
            <a:extLst xmlns:a="http://schemas.openxmlformats.org/drawingml/2006/main">
              <a:ext uri="{FF2B5EF4-FFF2-40B4-BE49-F238E27FC236}">
                <a16:creationId xmlns:a16="http://schemas.microsoft.com/office/drawing/2014/main" id="{6E787CA5-012E-4836-BB80-1F6496515F3B}"/>
              </a:ext>
            </a:extLst>
          </p:cNvPr>
          <p:cNvSpPr>
            <a:spLocks xmlns:a="http://schemas.openxmlformats.org/drawingml/2006/main" noGrp="1"/>
          </p:cNvSpPr>
          <p:nvPr/>
        </p:nvSpPr>
        <p:spPr>
          <a:xfrm xmlns:a="http://schemas.openxmlformats.org/drawingml/2006/main">
            <a:off x="6915150" y="5905500"/>
            <a:ext cx="4667250" cy="552450"/>
          </a:xfrm>
          <a:prstGeom xmlns:a="http://schemas.openxmlformats.org/drawingml/2006/main" prst="roundRect">
            <a:avLst>
              <a:gd name="adj" fmla="val 1379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71" name="">
            <a:extLst xmlns:a="http://schemas.openxmlformats.org/drawingml/2006/main">
              <a:ext uri="{FF2B5EF4-FFF2-40B4-BE49-F238E27FC236}">
                <a16:creationId xmlns:a16="http://schemas.microsoft.com/office/drawing/2014/main" id="{4740F9C1-1412-42A9-A253-A73C4FF189B1}"/>
              </a:ext>
            </a:extLst>
          </p:cNvPr>
          <p:cNvSpPr>
            <a:spLocks xmlns:a="http://schemas.openxmlformats.org/drawingml/2006/main" noGrp="1"/>
          </p:cNvSpPr>
          <p:nvPr/>
        </p:nvSpPr>
        <p:spPr>
          <a:xfrm xmlns:a="http://schemas.openxmlformats.org/drawingml/2006/main">
            <a:off x="6962775" y="5953125"/>
            <a:ext cx="57150" cy="457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72" name="">
            <a:extLst xmlns:a="http://schemas.openxmlformats.org/drawingml/2006/main">
              <a:ext uri="{FF2B5EF4-FFF2-40B4-BE49-F238E27FC236}">
                <a16:creationId xmlns:a16="http://schemas.microsoft.com/office/drawing/2014/main" id="{8F625846-7CEA-4B38-AD14-790917D88193}"/>
              </a:ext>
            </a:extLst>
          </p:cNvPr>
          <p:cNvSpPr>
            <a:spLocks xmlns:a="http://schemas.openxmlformats.org/drawingml/2006/main" noGrp="1"/>
          </p:cNvSpPr>
          <p:nvPr/>
        </p:nvSpPr>
        <p:spPr>
          <a:xfrm xmlns:a="http://schemas.openxmlformats.org/drawingml/2006/main">
            <a:off x="7124700" y="6057900"/>
            <a:ext cx="4286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질문이 잘 풀어준 것: brain design 문제를 subregion selection 문제로 읽기 시작했다.</a:t>
            </a:r>
          </a:p>
        </p:txBody>
      </p:sp>
      <p:sp>
        <p:nvSpPr>
          <p:cNvPr id="73" name="">
            <a:extLst xmlns:a="http://schemas.openxmlformats.org/drawingml/2006/main">
              <a:ext uri="{FF2B5EF4-FFF2-40B4-BE49-F238E27FC236}">
                <a16:creationId xmlns:a16="http://schemas.microsoft.com/office/drawing/2014/main" id="{34D5919E-297F-46E8-8D38-4B3B8FD694D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graph-style view: question note를 중심으로 source cluster가 확장되는 모습</a:t>
            </a:r>
          </a:p>
        </p:txBody>
      </p:sp>
    </p:spTree>
    <p:extLst>
      <p:ext uri="{BB962C8B-B14F-4D97-AF65-F5344CB8AC3E}">
        <p14:creationId xmlns:p14="http://schemas.microsoft.com/office/powerpoint/2010/main" val="1685945174"/>
      </p:ext>
    </p:extLst>
  </p:cSld>
</p:sld>
</file>

<file path=ppt/slides/slide5.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846e2eaf49c4c4e"/>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E8B2F91-0A97-41F5-805F-BF2501023068}"/>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ADB7D0D6-CFAB-4996-B9C3-07A7F611D0BB}"/>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7BC7978E-E9FD-4F23-B812-39E037998672}"/>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60AF29AB-F9A9-4E3D-9125-F635779A4BF0}"/>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547DD3CA-450B-400D-9574-C07965E29768}"/>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D8B18764-EE6D-42B4-800A-370A2E5B9DD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A6CF537-0232-4E2E-BEAC-587F276201D9}"/>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FIRST ANSWER</a:t>
            </a:r>
          </a:p>
        </p:txBody>
      </p:sp>
      <p:sp>
        <p:nvSpPr>
          <p:cNvPr id="10" name="">
            <a:extLst xmlns:a="http://schemas.openxmlformats.org/drawingml/2006/main">
              <a:ext uri="{FF2B5EF4-FFF2-40B4-BE49-F238E27FC236}">
                <a16:creationId xmlns:a16="http://schemas.microsoft.com/office/drawing/2014/main" id="{7D641C38-48A6-4AF8-A619-89CD14E42E53}"/>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05 / 12</a:t>
            </a:r>
          </a:p>
        </p:txBody>
      </p:sp>
      <p:sp>
        <p:nvSpPr>
          <p:cNvPr id="11" name="">
            <a:extLst xmlns:a="http://schemas.openxmlformats.org/drawingml/2006/main">
              <a:ext uri="{FF2B5EF4-FFF2-40B4-BE49-F238E27FC236}">
                <a16:creationId xmlns:a16="http://schemas.microsoft.com/office/drawing/2014/main" id="{7426FD63-CD0E-4039-AAF9-34280F67D50B}"/>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BB03BA19-F47B-46FD-A3A3-5FEACF84B068}"/>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18EE5782-F268-45A9-9970-33A68B7B7D5F}"/>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정리에서 얻은 답</a:t>
            </a:r>
          </a:p>
        </p:txBody>
      </p:sp>
      <p:sp>
        <p:nvSpPr>
          <p:cNvPr id="14" name="">
            <a:extLst xmlns:a="http://schemas.openxmlformats.org/drawingml/2006/main">
              <a:ext uri="{FF2B5EF4-FFF2-40B4-BE49-F238E27FC236}">
                <a16:creationId xmlns:a16="http://schemas.microsoft.com/office/drawing/2014/main" id="{7F4B6C0E-8DAB-47AD-BF06-8CB515C7EFBA}"/>
              </a:ext>
            </a:extLst>
          </p:cNvPr>
          <p:cNvSpPr>
            <a:spLocks xmlns:a="http://schemas.openxmlformats.org/drawingml/2006/main" noGrp="1"/>
          </p:cNvSpPr>
          <p:nvPr/>
        </p:nvSpPr>
        <p:spPr>
          <a:xfrm xmlns:a="http://schemas.openxmlformats.org/drawingml/2006/main">
            <a:off x="7429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43B6F928-F8CC-455C-9BFE-69F51A913508}"/>
              </a:ext>
            </a:extLst>
          </p:cNvPr>
          <p:cNvSpPr>
            <a:spLocks xmlns:a="http://schemas.openxmlformats.org/drawingml/2006/main" noGrp="1"/>
          </p:cNvSpPr>
          <p:nvPr/>
        </p:nvSpPr>
        <p:spPr>
          <a:xfrm xmlns:a="http://schemas.openxmlformats.org/drawingml/2006/main">
            <a:off x="800100" y="2266950"/>
            <a:ext cx="32004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FA2088E7-4A37-4032-8673-2CF84EC59295}"/>
              </a:ext>
            </a:extLst>
          </p:cNvPr>
          <p:cNvSpPr>
            <a:spLocks xmlns:a="http://schemas.openxmlformats.org/drawingml/2006/main" noGrp="1"/>
          </p:cNvSpPr>
          <p:nvPr/>
        </p:nvSpPr>
        <p:spPr>
          <a:xfrm xmlns:a="http://schemas.openxmlformats.org/drawingml/2006/main">
            <a:off x="9525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broad cerebral baseline</a:t>
            </a:r>
          </a:p>
        </p:txBody>
      </p:sp>
      <p:sp>
        <p:nvSpPr>
          <p:cNvPr id="17" name="">
            <a:extLst xmlns:a="http://schemas.openxmlformats.org/drawingml/2006/main">
              <a:ext uri="{FF2B5EF4-FFF2-40B4-BE49-F238E27FC236}">
                <a16:creationId xmlns:a16="http://schemas.microsoft.com/office/drawing/2014/main" id="{5B7CBC81-DE08-4660-921D-1534A4F73745}"/>
              </a:ext>
            </a:extLst>
          </p:cNvPr>
          <p:cNvSpPr>
            <a:spLocks xmlns:a="http://schemas.openxmlformats.org/drawingml/2006/main" noGrp="1"/>
          </p:cNvSpPr>
          <p:nvPr/>
        </p:nvSpPr>
        <p:spPr>
          <a:xfrm xmlns:a="http://schemas.openxmlformats.org/drawingml/2006/main">
            <a:off x="9525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자가조직화 기반. regional diversity가</a:t>
            </a:r>
          </a:p>
          <a:p xmlns:a="http://schemas.openxmlformats.org/drawingml/2006/main">
            <a:pPr algn="l">
              <a:defRPr sz="1200" b="0">
                <a:solidFill>
                  <a:srgbClr val="132024"/>
                </a:solidFill>
              </a:defRPr>
            </a:pPr>
            <a:r>
              <a:rPr sz="1200" b="0">
                <a:solidFill>
                  <a:srgbClr val="132024"/>
                </a:solidFill>
              </a:rPr>
              <a:t>넓고 emergent architecture를 보기</a:t>
            </a:r>
          </a:p>
          <a:p xmlns:a="http://schemas.openxmlformats.org/drawingml/2006/main">
            <a:pPr algn="l">
              <a:defRPr sz="1200" b="0">
                <a:solidFill>
                  <a:srgbClr val="132024"/>
                </a:solidFill>
              </a:defRPr>
            </a:pPr>
            <a:r>
              <a:rPr sz="1200" b="0">
                <a:solidFill>
                  <a:srgbClr val="132024"/>
                </a:solidFill>
              </a:rPr>
              <a:t>좋지만, batch variability와 mixed</a:t>
            </a:r>
          </a:p>
          <a:p xmlns:a="http://schemas.openxmlformats.org/drawingml/2006/main">
            <a:pPr algn="l">
              <a:defRPr sz="1200" b="0">
                <a:solidFill>
                  <a:srgbClr val="132024"/>
                </a:solidFill>
              </a:defRPr>
            </a:pPr>
            <a:r>
              <a:rPr sz="1200" b="0">
                <a:solidFill>
                  <a:srgbClr val="132024"/>
                </a:solidFill>
              </a:rPr>
              <a:t>identity가 커진다. 대표 anchor:</a:t>
            </a:r>
          </a:p>
          <a:p xmlns:a="http://schemas.openxmlformats.org/drawingml/2006/main">
            <a:pPr algn="l">
              <a:defRPr sz="1200" b="0">
                <a:solidFill>
                  <a:srgbClr val="132024"/>
                </a:solidFill>
              </a:defRPr>
            </a:pPr>
            <a:r>
              <a:rPr sz="1200" b="0">
                <a:solidFill>
                  <a:srgbClr val="132024"/>
                </a:solidFill>
              </a:rPr>
              <a:t>Lancaster 2014.</a:t>
            </a:r>
          </a:p>
        </p:txBody>
      </p:sp>
      <p:sp>
        <p:nvSpPr>
          <p:cNvPr id="18" name="">
            <a:extLst xmlns:a="http://schemas.openxmlformats.org/drawingml/2006/main">
              <a:ext uri="{FF2B5EF4-FFF2-40B4-BE49-F238E27FC236}">
                <a16:creationId xmlns:a16="http://schemas.microsoft.com/office/drawing/2014/main" id="{5B69BED1-45BE-4A1F-A5FC-FAEF26D55C4B}"/>
              </a:ext>
            </a:extLst>
          </p:cNvPr>
          <p:cNvSpPr>
            <a:spLocks xmlns:a="http://schemas.openxmlformats.org/drawingml/2006/main" noGrp="1"/>
          </p:cNvSpPr>
          <p:nvPr/>
        </p:nvSpPr>
        <p:spPr>
          <a:xfrm xmlns:a="http://schemas.openxmlformats.org/drawingml/2006/main">
            <a:off x="44386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A3115452-4459-444F-A20B-416D293C192B}"/>
              </a:ext>
            </a:extLst>
          </p:cNvPr>
          <p:cNvSpPr>
            <a:spLocks xmlns:a="http://schemas.openxmlformats.org/drawingml/2006/main" noGrp="1"/>
          </p:cNvSpPr>
          <p:nvPr/>
        </p:nvSpPr>
        <p:spPr>
          <a:xfrm xmlns:a="http://schemas.openxmlformats.org/drawingml/2006/main">
            <a:off x="4495800" y="2266950"/>
            <a:ext cx="32004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07C3DBE1-A5DF-4CAD-AB22-D4DF622057E8}"/>
              </a:ext>
            </a:extLst>
          </p:cNvPr>
          <p:cNvSpPr>
            <a:spLocks xmlns:a="http://schemas.openxmlformats.org/drawingml/2006/main" noGrp="1"/>
          </p:cNvSpPr>
          <p:nvPr/>
        </p:nvSpPr>
        <p:spPr>
          <a:xfrm xmlns:a="http://schemas.openxmlformats.org/drawingml/2006/main">
            <a:off x="46482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forebrain / cortical control</a:t>
            </a:r>
          </a:p>
        </p:txBody>
      </p:sp>
      <p:sp>
        <p:nvSpPr>
          <p:cNvPr id="21" name="">
            <a:extLst xmlns:a="http://schemas.openxmlformats.org/drawingml/2006/main">
              <a:ext uri="{FF2B5EF4-FFF2-40B4-BE49-F238E27FC236}">
                <a16:creationId xmlns:a16="http://schemas.microsoft.com/office/drawing/2014/main" id="{2712609C-DC14-41E6-8F1E-26CCC800DE51}"/>
              </a:ext>
            </a:extLst>
          </p:cNvPr>
          <p:cNvSpPr>
            <a:spLocks xmlns:a="http://schemas.openxmlformats.org/drawingml/2006/main" noGrp="1"/>
          </p:cNvSpPr>
          <p:nvPr/>
        </p:nvSpPr>
        <p:spPr>
          <a:xfrm xmlns:a="http://schemas.openxmlformats.org/drawingml/2006/main">
            <a:off x="46482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dual SMAD 또는 semi-guided</a:t>
            </a:r>
          </a:p>
          <a:p xmlns:a="http://schemas.openxmlformats.org/drawingml/2006/main">
            <a:pPr algn="l">
              <a:defRPr sz="1200" b="0">
                <a:solidFill>
                  <a:srgbClr val="132024"/>
                </a:solidFill>
              </a:defRPr>
            </a:pPr>
            <a:r>
              <a:rPr sz="1200" b="0">
                <a:solidFill>
                  <a:srgbClr val="132024"/>
                </a:solidFill>
              </a:rPr>
              <a:t>control을 통해 cleaner regional</a:t>
            </a:r>
          </a:p>
          <a:p xmlns:a="http://schemas.openxmlformats.org/drawingml/2006/main">
            <a:pPr algn="l">
              <a:defRPr sz="1200" b="0">
                <a:solidFill>
                  <a:srgbClr val="132024"/>
                </a:solidFill>
              </a:defRPr>
            </a:pPr>
            <a:r>
              <a:rPr sz="1200" b="0">
                <a:solidFill>
                  <a:srgbClr val="132024"/>
                </a:solidFill>
              </a:rPr>
              <a:t>identity와 더 높은 재현성을 노린다. 대표</a:t>
            </a:r>
          </a:p>
          <a:p xmlns:a="http://schemas.openxmlformats.org/drawingml/2006/main">
            <a:pPr algn="l">
              <a:defRPr sz="1200" b="0">
                <a:solidFill>
                  <a:srgbClr val="132024"/>
                </a:solidFill>
              </a:defRPr>
            </a:pPr>
            <a:r>
              <a:rPr sz="1200" b="0">
                <a:solidFill>
                  <a:srgbClr val="132024"/>
                </a:solidFill>
              </a:rPr>
              <a:t>anchor: Sloan 2018,</a:t>
            </a:r>
          </a:p>
          <a:p xmlns:a="http://schemas.openxmlformats.org/drawingml/2006/main">
            <a:pPr algn="l">
              <a:defRPr sz="1200" b="0">
                <a:solidFill>
                  <a:srgbClr val="132024"/>
                </a:solidFill>
              </a:defRPr>
            </a:pPr>
            <a:r>
              <a:rPr sz="1200" b="0">
                <a:solidFill>
                  <a:srgbClr val="132024"/>
                </a:solidFill>
              </a:rPr>
              <a:t>Fitzgerald 2024, Ullah 2025.</a:t>
            </a:r>
          </a:p>
        </p:txBody>
      </p:sp>
      <p:sp>
        <p:nvSpPr>
          <p:cNvPr id="22" name="">
            <a:extLst xmlns:a="http://schemas.openxmlformats.org/drawingml/2006/main">
              <a:ext uri="{FF2B5EF4-FFF2-40B4-BE49-F238E27FC236}">
                <a16:creationId xmlns:a16="http://schemas.microsoft.com/office/drawing/2014/main" id="{2A94D741-3E82-41CA-8EC0-5BF608AC3860}"/>
              </a:ext>
            </a:extLst>
          </p:cNvPr>
          <p:cNvSpPr>
            <a:spLocks xmlns:a="http://schemas.openxmlformats.org/drawingml/2006/main" noGrp="1"/>
          </p:cNvSpPr>
          <p:nvPr/>
        </p:nvSpPr>
        <p:spPr>
          <a:xfrm xmlns:a="http://schemas.openxmlformats.org/drawingml/2006/main">
            <a:off x="81343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AC0F53A9-EBE0-472E-82E2-6E0AE6E1853B}"/>
              </a:ext>
            </a:extLst>
          </p:cNvPr>
          <p:cNvSpPr>
            <a:spLocks xmlns:a="http://schemas.openxmlformats.org/drawingml/2006/main" noGrp="1"/>
          </p:cNvSpPr>
          <p:nvPr/>
        </p:nvSpPr>
        <p:spPr>
          <a:xfrm xmlns:a="http://schemas.openxmlformats.org/drawingml/2006/main">
            <a:off x="8191500" y="2266950"/>
            <a:ext cx="32004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D40D890F-2B0B-4A65-92C1-1EA808827DC8}"/>
              </a:ext>
            </a:extLst>
          </p:cNvPr>
          <p:cNvSpPr>
            <a:spLocks xmlns:a="http://schemas.openxmlformats.org/drawingml/2006/main" noGrp="1"/>
          </p:cNvSpPr>
          <p:nvPr/>
        </p:nvSpPr>
        <p:spPr>
          <a:xfrm xmlns:a="http://schemas.openxmlformats.org/drawingml/2006/main">
            <a:off x="83439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posterior / niche specialization</a:t>
            </a:r>
          </a:p>
        </p:txBody>
      </p:sp>
      <p:sp>
        <p:nvSpPr>
          <p:cNvPr id="25" name="">
            <a:extLst xmlns:a="http://schemas.openxmlformats.org/drawingml/2006/main">
              <a:ext uri="{FF2B5EF4-FFF2-40B4-BE49-F238E27FC236}">
                <a16:creationId xmlns:a16="http://schemas.microsoft.com/office/drawing/2014/main" id="{00CD57F8-5288-4D48-ADAE-1447E8940FAA}"/>
              </a:ext>
            </a:extLst>
          </p:cNvPr>
          <p:cNvSpPr>
            <a:spLocks xmlns:a="http://schemas.openxmlformats.org/drawingml/2006/main" noGrp="1"/>
          </p:cNvSpPr>
          <p:nvPr/>
        </p:nvSpPr>
        <p:spPr>
          <a:xfrm xmlns:a="http://schemas.openxmlformats.org/drawingml/2006/main">
            <a:off x="83439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midbrain, brainstem,</a:t>
            </a:r>
          </a:p>
          <a:p xmlns:a="http://schemas.openxmlformats.org/drawingml/2006/main">
            <a:pPr algn="l">
              <a:defRPr sz="1200" b="0">
                <a:solidFill>
                  <a:srgbClr val="132024"/>
                </a:solidFill>
              </a:defRPr>
            </a:pPr>
            <a:r>
              <a:rPr sz="1200" b="0">
                <a:solidFill>
                  <a:srgbClr val="132024"/>
                </a:solidFill>
              </a:rPr>
              <a:t>hindbrain, hippocampus,</a:t>
            </a:r>
          </a:p>
          <a:p xmlns:a="http://schemas.openxmlformats.org/drawingml/2006/main">
            <a:pPr algn="l">
              <a:defRPr sz="1200" b="0">
                <a:solidFill>
                  <a:srgbClr val="132024"/>
                </a:solidFill>
              </a:defRPr>
            </a:pPr>
            <a:r>
              <a:rPr sz="1200" b="0">
                <a:solidFill>
                  <a:srgbClr val="132024"/>
                </a:solidFill>
              </a:rPr>
              <a:t>cerebellum처럼 질문 특이적인</a:t>
            </a:r>
          </a:p>
          <a:p xmlns:a="http://schemas.openxmlformats.org/drawingml/2006/main">
            <a:pPr algn="l">
              <a:defRPr sz="1200" b="0">
                <a:solidFill>
                  <a:srgbClr val="132024"/>
                </a:solidFill>
              </a:defRPr>
            </a:pPr>
            <a:r>
              <a:rPr sz="1200" b="0">
                <a:solidFill>
                  <a:srgbClr val="132024"/>
                </a:solidFill>
              </a:rPr>
              <a:t>posterior or niche branch로</a:t>
            </a:r>
          </a:p>
          <a:p xmlns:a="http://schemas.openxmlformats.org/drawingml/2006/main">
            <a:pPr algn="l">
              <a:defRPr sz="1200" b="0">
                <a:solidFill>
                  <a:srgbClr val="132024"/>
                </a:solidFill>
              </a:defRPr>
            </a:pPr>
            <a:r>
              <a:rPr sz="1200" b="0">
                <a:solidFill>
                  <a:srgbClr val="132024"/>
                </a:solidFill>
              </a:rPr>
              <a:t>간다. 대표 anchor: Zagare, Eura,</a:t>
            </a:r>
          </a:p>
          <a:p xmlns:a="http://schemas.openxmlformats.org/drawingml/2006/main">
            <a:pPr algn="l">
              <a:defRPr sz="1200" b="0">
                <a:solidFill>
                  <a:srgbClr val="132024"/>
                </a:solidFill>
              </a:defRPr>
            </a:pPr>
            <a:r>
              <a:rPr sz="1200" b="0">
                <a:solidFill>
                  <a:srgbClr val="132024"/>
                </a:solidFill>
              </a:rPr>
              <a:t>Pomeshchik, Atamian.</a:t>
            </a:r>
          </a:p>
        </p:txBody>
      </p:sp>
      <p:sp>
        <p:nvSpPr>
          <p:cNvPr id="26" name="">
            <a:extLst xmlns:a="http://schemas.openxmlformats.org/drawingml/2006/main">
              <a:ext uri="{FF2B5EF4-FFF2-40B4-BE49-F238E27FC236}">
                <a16:creationId xmlns:a16="http://schemas.microsoft.com/office/drawing/2014/main" id="{90E35C17-C3D6-4F2B-A9B0-355F633901D7}"/>
              </a:ext>
            </a:extLst>
          </p:cNvPr>
          <p:cNvSpPr>
            <a:spLocks xmlns:a="http://schemas.openxmlformats.org/drawingml/2006/main" noGrp="1"/>
          </p:cNvSpPr>
          <p:nvPr/>
        </p:nvSpPr>
        <p:spPr>
          <a:xfrm xmlns:a="http://schemas.openxmlformats.org/drawingml/2006/main">
            <a:off x="857250" y="5353050"/>
            <a:ext cx="10572750" cy="704850"/>
          </a:xfrm>
          <a:prstGeom xmlns:a="http://schemas.openxmlformats.org/drawingml/2006/main" prst="roundRect">
            <a:avLst>
              <a:gd name="adj" fmla="val 10811"/>
            </a:avLst>
          </a:prstGeom>
          <a:solidFill xmlns:a="http://schemas.openxmlformats.org/drawingml/2006/main">
            <a:srgbClr val="F4E8C8"/>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D96A606E-451E-4A17-A737-B7D24BB69406}"/>
              </a:ext>
            </a:extLst>
          </p:cNvPr>
          <p:cNvSpPr>
            <a:spLocks xmlns:a="http://schemas.openxmlformats.org/drawingml/2006/main" noGrp="1"/>
          </p:cNvSpPr>
          <p:nvPr/>
        </p:nvSpPr>
        <p:spPr>
          <a:xfrm xmlns:a="http://schemas.openxmlformats.org/drawingml/2006/main">
            <a:off x="904875" y="5400675"/>
            <a:ext cx="57150" cy="6096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801239D8-F7B3-4F38-8E23-0C3F2D489E3B}"/>
              </a:ext>
            </a:extLst>
          </p:cNvPr>
          <p:cNvSpPr>
            <a:spLocks xmlns:a="http://schemas.openxmlformats.org/drawingml/2006/main" noGrp="1"/>
          </p:cNvSpPr>
          <p:nvPr/>
        </p:nvSpPr>
        <p:spPr>
          <a:xfrm xmlns:a="http://schemas.openxmlformats.org/drawingml/2006/main">
            <a:off x="1066800" y="5505450"/>
            <a:ext cx="10191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결론: 많은 brain organoid design 문제는 'brain vs brain'이 아니라 subregion selection 문제다.</a:t>
            </a:r>
          </a:p>
        </p:txBody>
      </p:sp>
      <p:sp>
        <p:nvSpPr>
          <p:cNvPr id="29" name="">
            <a:extLst xmlns:a="http://schemas.openxmlformats.org/drawingml/2006/main">
              <a:ext uri="{FF2B5EF4-FFF2-40B4-BE49-F238E27FC236}">
                <a16:creationId xmlns:a16="http://schemas.microsoft.com/office/drawing/2014/main" id="{A37A00D7-2FAE-46A3-8125-504BC3ED1D2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subregion logic는 출발점으로 강력했지만, 아직 quality question을 충분히 설명하지 못했다.</a:t>
            </a:r>
          </a:p>
        </p:txBody>
      </p:sp>
    </p:spTree>
    <p:extLst>
      <p:ext uri="{BB962C8B-B14F-4D97-AF65-F5344CB8AC3E}">
        <p14:creationId xmlns:p14="http://schemas.microsoft.com/office/powerpoint/2010/main" val="2006811059"/>
      </p:ext>
    </p:extLst>
  </p:cSld>
</p:sld>
</file>

<file path=ppt/slides/slide6.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2533a4f1c0742c2"/>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997A331-F7ED-4F55-A35B-A9CC14428B75}"/>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ED04F50-4404-47E5-95DE-CC44977F8E72}"/>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609235C7-C023-4F41-B119-389DC4DEC11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44541279-6D7C-4F2B-8903-F84CAC14F883}"/>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06ADBAF5-431F-45C3-8A77-62ACF922E183}"/>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00DCFE12-7D1B-4CAB-AC64-2F6DDBD8F72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FDE5B5FB-6AA6-410D-BEB0-96491A9E031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LIMITATION</a:t>
            </a:r>
          </a:p>
        </p:txBody>
      </p:sp>
      <p:sp>
        <p:nvSpPr>
          <p:cNvPr id="10" name="">
            <a:extLst xmlns:a="http://schemas.openxmlformats.org/drawingml/2006/main">
              <a:ext uri="{FF2B5EF4-FFF2-40B4-BE49-F238E27FC236}">
                <a16:creationId xmlns:a16="http://schemas.microsoft.com/office/drawing/2014/main" id="{8B3A45E3-47EF-44CD-A025-83101D9B3789}"/>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06 / 12</a:t>
            </a:r>
          </a:p>
        </p:txBody>
      </p:sp>
      <p:sp>
        <p:nvSpPr>
          <p:cNvPr id="11" name="">
            <a:extLst xmlns:a="http://schemas.openxmlformats.org/drawingml/2006/main">
              <a:ext uri="{FF2B5EF4-FFF2-40B4-BE49-F238E27FC236}">
                <a16:creationId xmlns:a16="http://schemas.microsoft.com/office/drawing/2014/main" id="{BE10A77D-6EEA-41ED-BE02-788B9A2E2235}"/>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DB38882A-FE28-49A8-9646-44656EE1E4EE}"/>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0EF8F0E9-3A68-4BC5-AEB6-24F53118CE22}"/>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하지만 이 질문만으로는 부족했다</a:t>
            </a:r>
          </a:p>
        </p:txBody>
      </p:sp>
      <p:sp>
        <p:nvSpPr>
          <p:cNvPr id="14" name="">
            <a:extLst xmlns:a="http://schemas.openxmlformats.org/drawingml/2006/main">
              <a:ext uri="{FF2B5EF4-FFF2-40B4-BE49-F238E27FC236}">
                <a16:creationId xmlns:a16="http://schemas.microsoft.com/office/drawing/2014/main" id="{8FD983C7-D0FC-42C4-B3F7-67C2541F0D88}"/>
              </a:ext>
            </a:extLst>
          </p:cNvPr>
          <p:cNvSpPr>
            <a:spLocks xmlns:a="http://schemas.openxmlformats.org/drawingml/2006/main" noGrp="1"/>
          </p:cNvSpPr>
          <p:nvPr/>
        </p:nvSpPr>
        <p:spPr>
          <a:xfrm xmlns:a="http://schemas.openxmlformats.org/drawingml/2006/main">
            <a:off x="800100" y="2133600"/>
            <a:ext cx="10591800" cy="971550"/>
          </a:xfrm>
          <a:prstGeom xmlns:a="http://schemas.openxmlformats.org/drawingml/2006/main" prst="roundRect">
            <a:avLst>
              <a:gd name="adj" fmla="val 7843"/>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DCA1B17A-EFFE-414C-B98D-8EF6DF6B0779}"/>
              </a:ext>
            </a:extLst>
          </p:cNvPr>
          <p:cNvSpPr>
            <a:spLocks xmlns:a="http://schemas.openxmlformats.org/drawingml/2006/main" noGrp="1"/>
          </p:cNvSpPr>
          <p:nvPr/>
        </p:nvSpPr>
        <p:spPr>
          <a:xfrm xmlns:a="http://schemas.openxmlformats.org/drawingml/2006/main">
            <a:off x="847725" y="2181225"/>
            <a:ext cx="57150" cy="8763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615C837C-B2B9-4E4F-A0EF-23A5D9698947}"/>
              </a:ext>
            </a:extLst>
          </p:cNvPr>
          <p:cNvSpPr>
            <a:spLocks xmlns:a="http://schemas.openxmlformats.org/drawingml/2006/main" noGrp="1"/>
          </p:cNvSpPr>
          <p:nvPr/>
        </p:nvSpPr>
        <p:spPr>
          <a:xfrm xmlns:a="http://schemas.openxmlformats.org/drawingml/2006/main">
            <a:off x="1009650" y="2286000"/>
            <a:ext cx="102108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같은 forebrain branch 안에서도 어떤 protocol은 더 reproducible하고, 어떤 protocol은 primary fetal brain에 더 닮고, 어떤 protocol은 발달 timing 해석이 더 쉽다.</a:t>
            </a:r>
          </a:p>
        </p:txBody>
      </p:sp>
      <p:sp>
        <p:nvSpPr>
          <p:cNvPr id="17" name="">
            <a:extLst xmlns:a="http://schemas.openxmlformats.org/drawingml/2006/main">
              <a:ext uri="{FF2B5EF4-FFF2-40B4-BE49-F238E27FC236}">
                <a16:creationId xmlns:a16="http://schemas.microsoft.com/office/drawing/2014/main" id="{3346162E-BA06-4608-957C-B13FCBA7606D}"/>
              </a:ext>
            </a:extLst>
          </p:cNvPr>
          <p:cNvSpPr>
            <a:spLocks xmlns:a="http://schemas.openxmlformats.org/drawingml/2006/main" noGrp="1"/>
          </p:cNvSpPr>
          <p:nvPr/>
        </p:nvSpPr>
        <p:spPr>
          <a:xfrm xmlns:a="http://schemas.openxmlformats.org/drawingml/2006/main">
            <a:off x="8001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063A13F6-ACD5-4E0C-A0D1-55FAAC755BC5}"/>
              </a:ext>
            </a:extLst>
          </p:cNvPr>
          <p:cNvSpPr>
            <a:spLocks xmlns:a="http://schemas.openxmlformats.org/drawingml/2006/main" noGrp="1"/>
          </p:cNvSpPr>
          <p:nvPr/>
        </p:nvSpPr>
        <p:spPr>
          <a:xfrm xmlns:a="http://schemas.openxmlformats.org/drawingml/2006/main">
            <a:off x="857250" y="369570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4A944755-D49D-4066-8A23-1AB64517E3DD}"/>
              </a:ext>
            </a:extLst>
          </p:cNvPr>
          <p:cNvSpPr>
            <a:spLocks xmlns:a="http://schemas.openxmlformats.org/drawingml/2006/main" noGrp="1"/>
          </p:cNvSpPr>
          <p:nvPr/>
        </p:nvSpPr>
        <p:spPr>
          <a:xfrm xmlns:a="http://schemas.openxmlformats.org/drawingml/2006/main">
            <a:off x="10096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a:t>
            </a:r>
          </a:p>
        </p:txBody>
      </p:sp>
      <p:sp>
        <p:nvSpPr>
          <p:cNvPr id="20" name="">
            <a:extLst xmlns:a="http://schemas.openxmlformats.org/drawingml/2006/main">
              <a:ext uri="{FF2B5EF4-FFF2-40B4-BE49-F238E27FC236}">
                <a16:creationId xmlns:a16="http://schemas.microsoft.com/office/drawing/2014/main" id="{98A303C6-C7FC-4ED9-95BF-E6F7A054BD33}"/>
              </a:ext>
            </a:extLst>
          </p:cNvPr>
          <p:cNvSpPr>
            <a:spLocks xmlns:a="http://schemas.openxmlformats.org/drawingml/2006/main" noGrp="1"/>
          </p:cNvSpPr>
          <p:nvPr/>
        </p:nvSpPr>
        <p:spPr>
          <a:xfrm xmlns:a="http://schemas.openxmlformats.org/drawingml/2006/main">
            <a:off x="10096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cell composition과 success</a:t>
            </a:r>
          </a:p>
          <a:p xmlns:a="http://schemas.openxmlformats.org/drawingml/2006/main">
            <a:pPr algn="l">
              <a:defRPr sz="1200" b="0">
                <a:solidFill>
                  <a:srgbClr val="132024"/>
                </a:solidFill>
              </a:defRPr>
            </a:pPr>
            <a:r>
              <a:rPr sz="1200" b="0">
                <a:solidFill>
                  <a:srgbClr val="132024"/>
                </a:solidFill>
              </a:rPr>
              <a:t>rate가 얼마나 안정적인가?</a:t>
            </a:r>
          </a:p>
        </p:txBody>
      </p:sp>
      <p:sp>
        <p:nvSpPr>
          <p:cNvPr id="21" name="">
            <a:extLst xmlns:a="http://schemas.openxmlformats.org/drawingml/2006/main">
              <a:ext uri="{FF2B5EF4-FFF2-40B4-BE49-F238E27FC236}">
                <a16:creationId xmlns:a16="http://schemas.microsoft.com/office/drawing/2014/main" id="{7EF83724-1653-47C0-9612-FF9FE2B769E3}"/>
              </a:ext>
            </a:extLst>
          </p:cNvPr>
          <p:cNvSpPr>
            <a:spLocks xmlns:a="http://schemas.openxmlformats.org/drawingml/2006/main" noGrp="1"/>
          </p:cNvSpPr>
          <p:nvPr/>
        </p:nvSpPr>
        <p:spPr>
          <a:xfrm xmlns:a="http://schemas.openxmlformats.org/drawingml/2006/main">
            <a:off x="451485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B1DFE731-8A47-4C83-80F4-E59F486D67EB}"/>
              </a:ext>
            </a:extLst>
          </p:cNvPr>
          <p:cNvSpPr>
            <a:spLocks xmlns:a="http://schemas.openxmlformats.org/drawingml/2006/main" noGrp="1"/>
          </p:cNvSpPr>
          <p:nvPr/>
        </p:nvSpPr>
        <p:spPr>
          <a:xfrm xmlns:a="http://schemas.openxmlformats.org/drawingml/2006/main">
            <a:off x="4572000" y="369570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4EDFFA91-93D2-43B1-A587-7456D938887C}"/>
              </a:ext>
            </a:extLst>
          </p:cNvPr>
          <p:cNvSpPr>
            <a:spLocks xmlns:a="http://schemas.openxmlformats.org/drawingml/2006/main" noGrp="1"/>
          </p:cNvSpPr>
          <p:nvPr/>
        </p:nvSpPr>
        <p:spPr>
          <a:xfrm xmlns:a="http://schemas.openxmlformats.org/drawingml/2006/main">
            <a:off x="472440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a:t>
            </a:r>
          </a:p>
        </p:txBody>
      </p:sp>
      <p:sp>
        <p:nvSpPr>
          <p:cNvPr id="24" name="">
            <a:extLst xmlns:a="http://schemas.openxmlformats.org/drawingml/2006/main">
              <a:ext uri="{FF2B5EF4-FFF2-40B4-BE49-F238E27FC236}">
                <a16:creationId xmlns:a16="http://schemas.microsoft.com/office/drawing/2014/main" id="{3872002D-7B5A-4196-90A9-5000119B7566}"/>
              </a:ext>
            </a:extLst>
          </p:cNvPr>
          <p:cNvSpPr>
            <a:spLocks xmlns:a="http://schemas.openxmlformats.org/drawingml/2006/main" noGrp="1"/>
          </p:cNvSpPr>
          <p:nvPr/>
        </p:nvSpPr>
        <p:spPr>
          <a:xfrm xmlns:a="http://schemas.openxmlformats.org/drawingml/2006/main">
            <a:off x="472440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cell state가</a:t>
            </a:r>
          </a:p>
          <a:p xmlns:a="http://schemas.openxmlformats.org/drawingml/2006/main">
            <a:pPr algn="l">
              <a:defRPr sz="1200" b="0">
                <a:solidFill>
                  <a:srgbClr val="132024"/>
                </a:solidFill>
              </a:defRPr>
            </a:pPr>
            <a:r>
              <a:rPr sz="1200" b="0">
                <a:solidFill>
                  <a:srgbClr val="132024"/>
                </a:solidFill>
              </a:rPr>
              <a:t>primary fetal brain과 얼마나</a:t>
            </a:r>
          </a:p>
          <a:p xmlns:a="http://schemas.openxmlformats.org/drawingml/2006/main">
            <a:pPr algn="l">
              <a:defRPr sz="1200" b="0">
                <a:solidFill>
                  <a:srgbClr val="132024"/>
                </a:solidFill>
              </a:defRPr>
            </a:pPr>
            <a:r>
              <a:rPr sz="1200" b="0">
                <a:solidFill>
                  <a:srgbClr val="132024"/>
                </a:solidFill>
              </a:rPr>
              <a:t>가까운가?</a:t>
            </a:r>
          </a:p>
        </p:txBody>
      </p:sp>
      <p:sp>
        <p:nvSpPr>
          <p:cNvPr id="25" name="">
            <a:extLst xmlns:a="http://schemas.openxmlformats.org/drawingml/2006/main">
              <a:ext uri="{FF2B5EF4-FFF2-40B4-BE49-F238E27FC236}">
                <a16:creationId xmlns:a16="http://schemas.microsoft.com/office/drawing/2014/main" id="{B7104D2D-8C1B-4C7E-B693-EA77CF95D692}"/>
              </a:ext>
            </a:extLst>
          </p:cNvPr>
          <p:cNvSpPr>
            <a:spLocks xmlns:a="http://schemas.openxmlformats.org/drawingml/2006/main" noGrp="1"/>
          </p:cNvSpPr>
          <p:nvPr/>
        </p:nvSpPr>
        <p:spPr>
          <a:xfrm xmlns:a="http://schemas.openxmlformats.org/drawingml/2006/main">
            <a:off x="82296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9EFE221E-6209-49EC-973E-04C323B874C5}"/>
              </a:ext>
            </a:extLst>
          </p:cNvPr>
          <p:cNvSpPr>
            <a:spLocks xmlns:a="http://schemas.openxmlformats.org/drawingml/2006/main" noGrp="1"/>
          </p:cNvSpPr>
          <p:nvPr/>
        </p:nvSpPr>
        <p:spPr>
          <a:xfrm xmlns:a="http://schemas.openxmlformats.org/drawingml/2006/main">
            <a:off x="8286750" y="3695700"/>
            <a:ext cx="302895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1406D03C-D7B6-4F91-8747-51245C4973E2}"/>
              </a:ext>
            </a:extLst>
          </p:cNvPr>
          <p:cNvSpPr>
            <a:spLocks xmlns:a="http://schemas.openxmlformats.org/drawingml/2006/main" noGrp="1"/>
          </p:cNvSpPr>
          <p:nvPr/>
        </p:nvSpPr>
        <p:spPr>
          <a:xfrm xmlns:a="http://schemas.openxmlformats.org/drawingml/2006/main">
            <a:off x="84391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temporal mapping</a:t>
            </a:r>
          </a:p>
        </p:txBody>
      </p:sp>
      <p:sp>
        <p:nvSpPr>
          <p:cNvPr id="28" name="">
            <a:extLst xmlns:a="http://schemas.openxmlformats.org/drawingml/2006/main">
              <a:ext uri="{FF2B5EF4-FFF2-40B4-BE49-F238E27FC236}">
                <a16:creationId xmlns:a16="http://schemas.microsoft.com/office/drawing/2014/main" id="{1654B727-8023-486F-AA16-23C70DE9AC6A}"/>
              </a:ext>
            </a:extLst>
          </p:cNvPr>
          <p:cNvSpPr>
            <a:spLocks xmlns:a="http://schemas.openxmlformats.org/drawingml/2006/main" noGrp="1"/>
          </p:cNvSpPr>
          <p:nvPr/>
        </p:nvSpPr>
        <p:spPr>
          <a:xfrm xmlns:a="http://schemas.openxmlformats.org/drawingml/2006/main">
            <a:off x="84391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day 30, day 60 같은 culture</a:t>
            </a:r>
          </a:p>
          <a:p xmlns:a="http://schemas.openxmlformats.org/drawingml/2006/main">
            <a:pPr algn="l">
              <a:defRPr sz="1200" b="0">
                <a:solidFill>
                  <a:srgbClr val="132024"/>
                </a:solidFill>
              </a:defRPr>
            </a:pPr>
            <a:r>
              <a:rPr sz="1200" b="0">
                <a:solidFill>
                  <a:srgbClr val="132024"/>
                </a:solidFill>
              </a:rPr>
              <a:t>day가 실제 human developmental</a:t>
            </a:r>
          </a:p>
          <a:p xmlns:a="http://schemas.openxmlformats.org/drawingml/2006/main">
            <a:pPr algn="l">
              <a:defRPr sz="1200" b="0">
                <a:solidFill>
                  <a:srgbClr val="132024"/>
                </a:solidFill>
              </a:defRPr>
            </a:pPr>
            <a:r>
              <a:rPr sz="1200" b="0">
                <a:solidFill>
                  <a:srgbClr val="132024"/>
                </a:solidFill>
              </a:rPr>
              <a:t>stage와 어떻게 대응되는가?</a:t>
            </a:r>
          </a:p>
        </p:txBody>
      </p:sp>
      <p:sp>
        <p:nvSpPr>
          <p:cNvPr id="29" name="">
            <a:extLst xmlns:a="http://schemas.openxmlformats.org/drawingml/2006/main">
              <a:ext uri="{FF2B5EF4-FFF2-40B4-BE49-F238E27FC236}">
                <a16:creationId xmlns:a16="http://schemas.microsoft.com/office/drawing/2014/main" id="{D4A5B8CC-7F65-4B95-A604-254A469BF05D}"/>
              </a:ext>
            </a:extLst>
          </p:cNvPr>
          <p:cNvSpPr>
            <a:spLocks xmlns:a="http://schemas.openxmlformats.org/drawingml/2006/main" noGrp="1"/>
          </p:cNvSpPr>
          <p:nvPr/>
        </p:nvSpPr>
        <p:spPr>
          <a:xfrm xmlns:a="http://schemas.openxmlformats.org/drawingml/2006/main">
            <a:off x="9810750" y="5543550"/>
            <a:ext cx="120015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Q1 -&gt; Q2</a:t>
            </a:r>
          </a:p>
        </p:txBody>
      </p:sp>
      <p:sp>
        <p:nvSpPr>
          <p:cNvPr id="30" name="">
            <a:extLst xmlns:a="http://schemas.openxmlformats.org/drawingml/2006/main">
              <a:ext uri="{FF2B5EF4-FFF2-40B4-BE49-F238E27FC236}">
                <a16:creationId xmlns:a16="http://schemas.microsoft.com/office/drawing/2014/main" id="{CB2E9EF9-9914-4BA7-B1D9-A949C756AB9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한계 발견의 순간: region question만으로는 모델의 믿을 만함을 설명할 수 없었다.</a:t>
            </a:r>
          </a:p>
        </p:txBody>
      </p:sp>
    </p:spTree>
    <p:extLst>
      <p:ext uri="{BB962C8B-B14F-4D97-AF65-F5344CB8AC3E}">
        <p14:creationId xmlns:p14="http://schemas.microsoft.com/office/powerpoint/2010/main" val="2047330770"/>
      </p:ext>
    </p:extLst>
  </p:cSld>
</p:sld>
</file>

<file path=ppt/slides/slide7.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e066834ffc94efc"/>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25A3700-8D23-4725-98B9-C96681BD15A3}"/>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224B2E21-8F80-4BC9-A239-2CF5BD16F193}"/>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684AF2C6-4CE5-4A5D-A061-1AA7BB428AD0}"/>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64D5D436-E8CF-4849-A808-A4D257D02A9D}"/>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F8B64131-BFA0-4122-9713-129778394C43}"/>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2D5285CC-06B5-4316-AA9F-5A947EB587C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5863B54-1A56-4C05-AEBF-01EE4E37802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2</a:t>
            </a:r>
          </a:p>
        </p:txBody>
      </p:sp>
      <p:sp>
        <p:nvSpPr>
          <p:cNvPr id="10" name="">
            <a:extLst xmlns:a="http://schemas.openxmlformats.org/drawingml/2006/main">
              <a:ext uri="{FF2B5EF4-FFF2-40B4-BE49-F238E27FC236}">
                <a16:creationId xmlns:a16="http://schemas.microsoft.com/office/drawing/2014/main" id="{DA268A0B-6C12-4EFE-816A-4D23F2F87777}"/>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07 / 12</a:t>
            </a:r>
          </a:p>
        </p:txBody>
      </p:sp>
      <p:sp>
        <p:nvSpPr>
          <p:cNvPr id="11" name="">
            <a:extLst xmlns:a="http://schemas.openxmlformats.org/drawingml/2006/main">
              <a:ext uri="{FF2B5EF4-FFF2-40B4-BE49-F238E27FC236}">
                <a16:creationId xmlns:a16="http://schemas.microsoft.com/office/drawing/2014/main" id="{C010A9C3-A85D-4BAB-9D17-E0174B0980A9}"/>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2EAF8926-03C7-4DDE-BA05-F25CA4B4BA0A}"/>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99585C38-B1A4-4EBE-83E1-DF5BAE988906}"/>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75" b="1">
                <a:solidFill>
                  <a:srgbClr val="132024"/>
                </a:solidFill>
              </a:defRPr>
            </a:pPr>
            <a:r>
              <a:rPr sz="2775" b="1">
                <a:solidFill>
                  <a:srgbClr val="132024"/>
                </a:solidFill>
              </a:rPr>
              <a:t>2차 질문: 발달정도·동기화 비교는</a:t>
            </a:r>
          </a:p>
          <a:p xmlns:a="http://schemas.openxmlformats.org/drawingml/2006/main">
            <a:pPr algn="l">
              <a:defRPr sz="2775" b="1">
                <a:solidFill>
                  <a:srgbClr val="132024"/>
                </a:solidFill>
              </a:defRPr>
            </a:pPr>
            <a:r>
              <a:rPr sz="2775" b="1">
                <a:solidFill>
                  <a:srgbClr val="132024"/>
                </a:solidFill>
              </a:rPr>
              <a:t>어느 수준의 세분화가 필요한가</a:t>
            </a:r>
          </a:p>
        </p:txBody>
      </p:sp>
      <p:sp>
        <p:nvSpPr>
          <p:cNvPr id="14" name="">
            <a:extLst xmlns:a="http://schemas.openxmlformats.org/drawingml/2006/main">
              <a:ext uri="{FF2B5EF4-FFF2-40B4-BE49-F238E27FC236}">
                <a16:creationId xmlns:a16="http://schemas.microsoft.com/office/drawing/2014/main" id="{ABCE2983-BFEB-418D-8F00-403E8DFED29C}"/>
              </a:ext>
            </a:extLst>
          </p:cNvPr>
          <p:cNvSpPr>
            <a:spLocks xmlns:a="http://schemas.openxmlformats.org/drawingml/2006/main" noGrp="1"/>
          </p:cNvSpPr>
          <p:nvPr/>
        </p:nvSpPr>
        <p:spPr>
          <a:xfrm xmlns:a="http://schemas.openxmlformats.org/drawingml/2006/main">
            <a:off x="8362950" y="876300"/>
            <a:ext cx="154305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Round 2-4 added</a:t>
            </a:r>
          </a:p>
        </p:txBody>
      </p:sp>
      <p:sp>
        <p:nvSpPr>
          <p:cNvPr id="15" name="">
            <a:extLst xmlns:a="http://schemas.openxmlformats.org/drawingml/2006/main">
              <a:ext uri="{FF2B5EF4-FFF2-40B4-BE49-F238E27FC236}">
                <a16:creationId xmlns:a16="http://schemas.microsoft.com/office/drawing/2014/main" id="{7CA189B4-5B58-4AA1-8146-1CEA797C8D78}"/>
              </a:ext>
            </a:extLst>
          </p:cNvPr>
          <p:cNvSpPr>
            <a:spLocks xmlns:a="http://schemas.openxmlformats.org/drawingml/2006/main" noGrp="1"/>
          </p:cNvSpPr>
          <p:nvPr/>
        </p:nvSpPr>
        <p:spPr>
          <a:xfrm xmlns:a="http://schemas.openxmlformats.org/drawingml/2006/main">
            <a:off x="4343400" y="2609850"/>
            <a:ext cx="3048000" cy="1181100"/>
          </a:xfrm>
          <a:prstGeom xmlns:a="http://schemas.openxmlformats.org/drawingml/2006/main" prst="roundRect">
            <a:avLst>
              <a:gd name="adj" fmla="val 6452"/>
            </a:avLst>
          </a:prstGeom>
          <a:solidFill xmlns:a="http://schemas.openxmlformats.org/drawingml/2006/main">
            <a:srgbClr val="DDF4E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B5E2B769-B9C7-4E53-98A2-209C318ADE41}"/>
              </a:ext>
            </a:extLst>
          </p:cNvPr>
          <p:cNvSpPr>
            <a:spLocks xmlns:a="http://schemas.openxmlformats.org/drawingml/2006/main" noGrp="1"/>
          </p:cNvSpPr>
          <p:nvPr/>
        </p:nvSpPr>
        <p:spPr>
          <a:xfrm xmlns:a="http://schemas.openxmlformats.org/drawingml/2006/main">
            <a:off x="4391025" y="2657475"/>
            <a:ext cx="47625" cy="10858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C988C17A-41AD-429B-B991-1CE26028DE34}"/>
              </a:ext>
            </a:extLst>
          </p:cNvPr>
          <p:cNvSpPr>
            <a:spLocks xmlns:a="http://schemas.openxmlformats.org/drawingml/2006/main" noGrp="1"/>
          </p:cNvSpPr>
          <p:nvPr/>
        </p:nvSpPr>
        <p:spPr>
          <a:xfrm xmlns:a="http://schemas.openxmlformats.org/drawingml/2006/main">
            <a:off x="4514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18" name="">
            <a:extLst xmlns:a="http://schemas.openxmlformats.org/drawingml/2006/main">
              <a:ext uri="{FF2B5EF4-FFF2-40B4-BE49-F238E27FC236}">
                <a16:creationId xmlns:a16="http://schemas.microsoft.com/office/drawing/2014/main" id="{D91758B5-9B8F-4263-A857-906879E1ACBB}"/>
              </a:ext>
            </a:extLst>
          </p:cNvPr>
          <p:cNvSpPr>
            <a:spLocks xmlns:a="http://schemas.openxmlformats.org/drawingml/2006/main" noGrp="1"/>
          </p:cNvSpPr>
          <p:nvPr/>
        </p:nvSpPr>
        <p:spPr>
          <a:xfrm xmlns:a="http://schemas.openxmlformats.org/drawingml/2006/main">
            <a:off x="4514850" y="3048000"/>
            <a:ext cx="2724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Q2 | 발달정도·동기화 비교 프레임워크</a:t>
            </a:r>
          </a:p>
        </p:txBody>
      </p:sp>
      <p:sp>
        <p:nvSpPr>
          <p:cNvPr id="19" name="">
            <a:extLst xmlns:a="http://schemas.openxmlformats.org/drawingml/2006/main">
              <a:ext uri="{FF2B5EF4-FFF2-40B4-BE49-F238E27FC236}">
                <a16:creationId xmlns:a16="http://schemas.microsoft.com/office/drawing/2014/main" id="{FCE56D77-3CB2-4B8B-92F2-B88E0A0F58DE}"/>
              </a:ext>
            </a:extLst>
          </p:cNvPr>
          <p:cNvSpPr>
            <a:spLocks xmlns:a="http://schemas.openxmlformats.org/drawingml/2006/main" noGrp="1"/>
          </p:cNvSpPr>
          <p:nvPr/>
        </p:nvSpPr>
        <p:spPr>
          <a:xfrm xmlns:a="http://schemas.openxmlformats.org/drawingml/2006/main">
            <a:off x="4514850" y="3295650"/>
            <a:ext cx="2724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어느 수준의 세분화가 필요한가?</a:t>
            </a:r>
          </a:p>
        </p:txBody>
      </p:sp>
      <p:sp>
        <p:nvSpPr>
          <p:cNvPr id="20" name="">
            <a:extLst xmlns:a="http://schemas.openxmlformats.org/drawingml/2006/main">
              <a:ext uri="{FF2B5EF4-FFF2-40B4-BE49-F238E27FC236}">
                <a16:creationId xmlns:a16="http://schemas.microsoft.com/office/drawing/2014/main" id="{CEB54C8A-FCC4-4631-A4A0-8300394292E0}"/>
              </a:ext>
            </a:extLst>
          </p:cNvPr>
          <p:cNvSpPr>
            <a:spLocks xmlns:a="http://schemas.openxmlformats.org/drawingml/2006/main" noGrp="1"/>
          </p:cNvSpPr>
          <p:nvPr/>
        </p:nvSpPr>
        <p:spPr>
          <a:xfrm xmlns:a="http://schemas.openxmlformats.org/drawingml/2006/main">
            <a:off x="971550" y="2000250"/>
            <a:ext cx="1943100" cy="1143000"/>
          </a:xfrm>
          <a:prstGeom xmlns:a="http://schemas.openxmlformats.org/drawingml/2006/main" prst="roundRect">
            <a:avLst>
              <a:gd name="adj" fmla="val 666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A01A40DF-E91F-40A8-A234-7E49220E4CE7}"/>
              </a:ext>
            </a:extLst>
          </p:cNvPr>
          <p:cNvSpPr>
            <a:spLocks xmlns:a="http://schemas.openxmlformats.org/drawingml/2006/main" noGrp="1"/>
          </p:cNvSpPr>
          <p:nvPr/>
        </p:nvSpPr>
        <p:spPr>
          <a:xfrm xmlns:a="http://schemas.openxmlformats.org/drawingml/2006/main">
            <a:off x="1019175" y="2047875"/>
            <a:ext cx="47625" cy="10477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B3A5C3F6-EDCC-4A45-82CC-7DF3E0A49D63}"/>
              </a:ext>
            </a:extLst>
          </p:cNvPr>
          <p:cNvSpPr>
            <a:spLocks xmlns:a="http://schemas.openxmlformats.org/drawingml/2006/main" noGrp="1"/>
          </p:cNvSpPr>
          <p:nvPr/>
        </p:nvSpPr>
        <p:spPr>
          <a:xfrm xmlns:a="http://schemas.openxmlformats.org/drawingml/2006/main">
            <a:off x="1143000" y="21526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3" name="">
            <a:extLst xmlns:a="http://schemas.openxmlformats.org/drawingml/2006/main">
              <a:ext uri="{FF2B5EF4-FFF2-40B4-BE49-F238E27FC236}">
                <a16:creationId xmlns:a16="http://schemas.microsoft.com/office/drawing/2014/main" id="{EE12F20C-A454-42C8-B86E-B08E8B765148}"/>
              </a:ext>
            </a:extLst>
          </p:cNvPr>
          <p:cNvSpPr>
            <a:spLocks xmlns:a="http://schemas.openxmlformats.org/drawingml/2006/main" noGrp="1"/>
          </p:cNvSpPr>
          <p:nvPr/>
        </p:nvSpPr>
        <p:spPr>
          <a:xfrm xmlns:a="http://schemas.openxmlformats.org/drawingml/2006/main">
            <a:off x="1143000" y="243840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Velasco 2019</a:t>
            </a:r>
          </a:p>
        </p:txBody>
      </p:sp>
      <p:sp>
        <p:nvSpPr>
          <p:cNvPr id="24" name="">
            <a:extLst xmlns:a="http://schemas.openxmlformats.org/drawingml/2006/main">
              <a:ext uri="{FF2B5EF4-FFF2-40B4-BE49-F238E27FC236}">
                <a16:creationId xmlns:a16="http://schemas.microsoft.com/office/drawing/2014/main" id="{9E61305A-6614-40D2-9C95-B8DA44D32564}"/>
              </a:ext>
            </a:extLst>
          </p:cNvPr>
          <p:cNvSpPr>
            <a:spLocks xmlns:a="http://schemas.openxmlformats.org/drawingml/2006/main" noGrp="1"/>
          </p:cNvSpPr>
          <p:nvPr/>
        </p:nvSpPr>
        <p:spPr>
          <a:xfrm xmlns:a="http://schemas.openxmlformats.org/drawingml/2006/main">
            <a:off x="1143000" y="268605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within-protocol</a:t>
            </a:r>
          </a:p>
          <a:p xmlns:a="http://schemas.openxmlformats.org/drawingml/2006/main">
            <a:pPr algn="l">
              <a:defRPr sz="825" b="0">
                <a:solidFill>
                  <a:srgbClr val="344146"/>
                </a:solidFill>
              </a:defRPr>
            </a:pPr>
            <a:r>
              <a:rPr sz="825" b="0">
                <a:solidFill>
                  <a:srgbClr val="344146"/>
                </a:solidFill>
              </a:rPr>
              <a:t>reproducibility</a:t>
            </a:r>
          </a:p>
        </p:txBody>
      </p:sp>
      <p:sp>
        <p:nvSpPr>
          <p:cNvPr id="25" name="">
            <a:extLst xmlns:a="http://schemas.openxmlformats.org/drawingml/2006/main">
              <a:ext uri="{FF2B5EF4-FFF2-40B4-BE49-F238E27FC236}">
                <a16:creationId xmlns:a16="http://schemas.microsoft.com/office/drawing/2014/main" id="{0F52EAD7-4188-4355-98CB-590C7E8C9139}"/>
              </a:ext>
            </a:extLst>
          </p:cNvPr>
          <p:cNvSpPr>
            <a:spLocks xmlns:a="http://schemas.openxmlformats.org/drawingml/2006/main" noGrp="1"/>
          </p:cNvSpPr>
          <p:nvPr/>
        </p:nvSpPr>
        <p:spPr>
          <a:xfrm xmlns:a="http://schemas.openxmlformats.org/drawingml/2006/main">
            <a:off x="1562100" y="3924300"/>
            <a:ext cx="1943100" cy="1143000"/>
          </a:xfrm>
          <a:prstGeom xmlns:a="http://schemas.openxmlformats.org/drawingml/2006/main" prst="roundRect">
            <a:avLst>
              <a:gd name="adj" fmla="val 666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7EDF99CB-0F75-467C-9FBC-39227244177E}"/>
              </a:ext>
            </a:extLst>
          </p:cNvPr>
          <p:cNvSpPr>
            <a:spLocks xmlns:a="http://schemas.openxmlformats.org/drawingml/2006/main" noGrp="1"/>
          </p:cNvSpPr>
          <p:nvPr/>
        </p:nvSpPr>
        <p:spPr>
          <a:xfrm xmlns:a="http://schemas.openxmlformats.org/drawingml/2006/main">
            <a:off x="1609725" y="3971925"/>
            <a:ext cx="47625" cy="10477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90F96437-348F-4A86-AB7A-2B3D01785393}"/>
              </a:ext>
            </a:extLst>
          </p:cNvPr>
          <p:cNvSpPr>
            <a:spLocks xmlns:a="http://schemas.openxmlformats.org/drawingml/2006/main" noGrp="1"/>
          </p:cNvSpPr>
          <p:nvPr/>
        </p:nvSpPr>
        <p:spPr>
          <a:xfrm xmlns:a="http://schemas.openxmlformats.org/drawingml/2006/main">
            <a:off x="17335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8" name="">
            <a:extLst xmlns:a="http://schemas.openxmlformats.org/drawingml/2006/main">
              <a:ext uri="{FF2B5EF4-FFF2-40B4-BE49-F238E27FC236}">
                <a16:creationId xmlns:a16="http://schemas.microsoft.com/office/drawing/2014/main" id="{B3B04DFC-AA15-41AE-98E8-855CB744CA66}"/>
              </a:ext>
            </a:extLst>
          </p:cNvPr>
          <p:cNvSpPr>
            <a:spLocks xmlns:a="http://schemas.openxmlformats.org/drawingml/2006/main" noGrp="1"/>
          </p:cNvSpPr>
          <p:nvPr/>
        </p:nvSpPr>
        <p:spPr>
          <a:xfrm xmlns:a="http://schemas.openxmlformats.org/drawingml/2006/main">
            <a:off x="1733550" y="436245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Yoon 2019</a:t>
            </a:r>
          </a:p>
        </p:txBody>
      </p:sp>
      <p:sp>
        <p:nvSpPr>
          <p:cNvPr id="29" name="">
            <a:extLst xmlns:a="http://schemas.openxmlformats.org/drawingml/2006/main">
              <a:ext uri="{FF2B5EF4-FFF2-40B4-BE49-F238E27FC236}">
                <a16:creationId xmlns:a16="http://schemas.microsoft.com/office/drawing/2014/main" id="{7F273D6A-DE7A-435C-A7D1-5BBDB6BFB533}"/>
              </a:ext>
            </a:extLst>
          </p:cNvPr>
          <p:cNvSpPr>
            <a:spLocks xmlns:a="http://schemas.openxmlformats.org/drawingml/2006/main" noGrp="1"/>
          </p:cNvSpPr>
          <p:nvPr/>
        </p:nvSpPr>
        <p:spPr>
          <a:xfrm xmlns:a="http://schemas.openxmlformats.org/drawingml/2006/main">
            <a:off x="1733550" y="461010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cross-line</a:t>
            </a:r>
          </a:p>
          <a:p xmlns:a="http://schemas.openxmlformats.org/drawingml/2006/main">
            <a:pPr algn="l">
              <a:defRPr sz="825" b="0">
                <a:solidFill>
                  <a:srgbClr val="344146"/>
                </a:solidFill>
              </a:defRPr>
            </a:pPr>
            <a:r>
              <a:rPr sz="825" b="0">
                <a:solidFill>
                  <a:srgbClr val="344146"/>
                </a:solidFill>
              </a:rPr>
              <a:t>reliability</a:t>
            </a:r>
          </a:p>
        </p:txBody>
      </p:sp>
      <p:sp>
        <p:nvSpPr>
          <p:cNvPr id="30" name="">
            <a:extLst xmlns:a="http://schemas.openxmlformats.org/drawingml/2006/main">
              <a:ext uri="{FF2B5EF4-FFF2-40B4-BE49-F238E27FC236}">
                <a16:creationId xmlns:a16="http://schemas.microsoft.com/office/drawing/2014/main" id="{DF5A4458-3C84-4D3E-B6B2-EBF9E0DA2526}"/>
              </a:ext>
            </a:extLst>
          </p:cNvPr>
          <p:cNvSpPr>
            <a:spLocks xmlns:a="http://schemas.openxmlformats.org/drawingml/2006/main" noGrp="1"/>
          </p:cNvSpPr>
          <p:nvPr/>
        </p:nvSpPr>
        <p:spPr>
          <a:xfrm xmlns:a="http://schemas.openxmlformats.org/drawingml/2006/main">
            <a:off x="8191500" y="1562100"/>
            <a:ext cx="2038350" cy="1219200"/>
          </a:xfrm>
          <a:prstGeom xmlns:a="http://schemas.openxmlformats.org/drawingml/2006/main" prst="roundRect">
            <a:avLst>
              <a:gd name="adj" fmla="val 6250"/>
            </a:avLst>
          </a:prstGeom>
          <a:solidFill xmlns:a="http://schemas.openxmlformats.org/drawingml/2006/main">
            <a:srgbClr val="FFFDF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E2C3E8A3-C1C8-41B4-BCC0-AFA5CAAB7404}"/>
              </a:ext>
            </a:extLst>
          </p:cNvPr>
          <p:cNvSpPr>
            <a:spLocks xmlns:a="http://schemas.openxmlformats.org/drawingml/2006/main" noGrp="1"/>
          </p:cNvSpPr>
          <p:nvPr/>
        </p:nvSpPr>
        <p:spPr>
          <a:xfrm xmlns:a="http://schemas.openxmlformats.org/drawingml/2006/main">
            <a:off x="8239125" y="1609725"/>
            <a:ext cx="47625" cy="11239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7B464AED-D9C2-4BF4-A341-D70F1846478D}"/>
              </a:ext>
            </a:extLst>
          </p:cNvPr>
          <p:cNvSpPr>
            <a:spLocks xmlns:a="http://schemas.openxmlformats.org/drawingml/2006/main" noGrp="1"/>
          </p:cNvSpPr>
          <p:nvPr/>
        </p:nvSpPr>
        <p:spPr>
          <a:xfrm xmlns:a="http://schemas.openxmlformats.org/drawingml/2006/main">
            <a:off x="8362950" y="17145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3" name="">
            <a:extLst xmlns:a="http://schemas.openxmlformats.org/drawingml/2006/main">
              <a:ext uri="{FF2B5EF4-FFF2-40B4-BE49-F238E27FC236}">
                <a16:creationId xmlns:a16="http://schemas.microsoft.com/office/drawing/2014/main" id="{2748FC99-D7C4-4754-9258-9CD18AB3657B}"/>
              </a:ext>
            </a:extLst>
          </p:cNvPr>
          <p:cNvSpPr>
            <a:spLocks xmlns:a="http://schemas.openxmlformats.org/drawingml/2006/main" noGrp="1"/>
          </p:cNvSpPr>
          <p:nvPr/>
        </p:nvSpPr>
        <p:spPr>
          <a:xfrm xmlns:a="http://schemas.openxmlformats.org/drawingml/2006/main">
            <a:off x="8362950" y="200025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Bhaduri 2020</a:t>
            </a:r>
          </a:p>
        </p:txBody>
      </p:sp>
      <p:sp>
        <p:nvSpPr>
          <p:cNvPr id="34" name="">
            <a:extLst xmlns:a="http://schemas.openxmlformats.org/drawingml/2006/main">
              <a:ext uri="{FF2B5EF4-FFF2-40B4-BE49-F238E27FC236}">
                <a16:creationId xmlns:a16="http://schemas.microsoft.com/office/drawing/2014/main" id="{2CD6B731-E7FA-40F1-B205-4336C1CAC185}"/>
              </a:ext>
            </a:extLst>
          </p:cNvPr>
          <p:cNvSpPr>
            <a:spLocks xmlns:a="http://schemas.openxmlformats.org/drawingml/2006/main" noGrp="1"/>
          </p:cNvSpPr>
          <p:nvPr/>
        </p:nvSpPr>
        <p:spPr>
          <a:xfrm xmlns:a="http://schemas.openxmlformats.org/drawingml/2006/main">
            <a:off x="8362950" y="2247900"/>
            <a:ext cx="1714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fidelity versus</a:t>
            </a:r>
          </a:p>
          <a:p xmlns:a="http://schemas.openxmlformats.org/drawingml/2006/main">
            <a:pPr algn="l">
              <a:defRPr sz="825" b="0">
                <a:solidFill>
                  <a:srgbClr val="344146"/>
                </a:solidFill>
              </a:defRPr>
            </a:pPr>
            <a:r>
              <a:rPr sz="825" b="0">
                <a:solidFill>
                  <a:srgbClr val="344146"/>
                </a:solidFill>
              </a:rPr>
              <a:t>stress</a:t>
            </a:r>
          </a:p>
        </p:txBody>
      </p:sp>
      <p:sp>
        <p:nvSpPr>
          <p:cNvPr id="35" name="">
            <a:extLst xmlns:a="http://schemas.openxmlformats.org/drawingml/2006/main">
              <a:ext uri="{FF2B5EF4-FFF2-40B4-BE49-F238E27FC236}">
                <a16:creationId xmlns:a16="http://schemas.microsoft.com/office/drawing/2014/main" id="{E13B7440-C02F-4EC7-8EFD-189C62192BA5}"/>
              </a:ext>
            </a:extLst>
          </p:cNvPr>
          <p:cNvSpPr>
            <a:spLocks xmlns:a="http://schemas.openxmlformats.org/drawingml/2006/main" noGrp="1"/>
          </p:cNvSpPr>
          <p:nvPr/>
        </p:nvSpPr>
        <p:spPr>
          <a:xfrm xmlns:a="http://schemas.openxmlformats.org/drawingml/2006/main">
            <a:off x="8858250" y="3200400"/>
            <a:ext cx="2038350" cy="1219200"/>
          </a:xfrm>
          <a:prstGeom xmlns:a="http://schemas.openxmlformats.org/drawingml/2006/main" prst="roundRect">
            <a:avLst>
              <a:gd name="adj" fmla="val 6250"/>
            </a:avLst>
          </a:prstGeom>
          <a:solidFill xmlns:a="http://schemas.openxmlformats.org/drawingml/2006/main">
            <a:srgbClr val="FFFDF8"/>
          </a:solidFill>
          <a:ln xmlns:a="http://schemas.openxmlformats.org/drawingml/2006/main" w="10478">
            <a:solidFill>
              <a:srgbClr val="132024"/>
            </a:solidFill>
            <a:prstDash val="solid"/>
          </a:ln>
        </p:spPr>
      </p:sp>
      <p:sp>
        <p:nvSpPr>
          <p:cNvPr id="36" name="">
            <a:extLst xmlns:a="http://schemas.openxmlformats.org/drawingml/2006/main">
              <a:ext uri="{FF2B5EF4-FFF2-40B4-BE49-F238E27FC236}">
                <a16:creationId xmlns:a16="http://schemas.microsoft.com/office/drawing/2014/main" id="{BA543EF9-5C5B-4C79-B6D3-4D987E29399B}"/>
              </a:ext>
            </a:extLst>
          </p:cNvPr>
          <p:cNvSpPr>
            <a:spLocks xmlns:a="http://schemas.openxmlformats.org/drawingml/2006/main" noGrp="1"/>
          </p:cNvSpPr>
          <p:nvPr/>
        </p:nvSpPr>
        <p:spPr>
          <a:xfrm xmlns:a="http://schemas.openxmlformats.org/drawingml/2006/main">
            <a:off x="8905875" y="3248025"/>
            <a:ext cx="47625" cy="11239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5AD0FC12-FFBF-4E35-BA98-15E83B08762A}"/>
              </a:ext>
            </a:extLst>
          </p:cNvPr>
          <p:cNvSpPr>
            <a:spLocks xmlns:a="http://schemas.openxmlformats.org/drawingml/2006/main" noGrp="1"/>
          </p:cNvSpPr>
          <p:nvPr/>
        </p:nvSpPr>
        <p:spPr>
          <a:xfrm xmlns:a="http://schemas.openxmlformats.org/drawingml/2006/main">
            <a:off x="9029700" y="33528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8" name="">
            <a:extLst xmlns:a="http://schemas.openxmlformats.org/drawingml/2006/main">
              <a:ext uri="{FF2B5EF4-FFF2-40B4-BE49-F238E27FC236}">
                <a16:creationId xmlns:a16="http://schemas.microsoft.com/office/drawing/2014/main" id="{89C290EC-621D-43B9-82CD-1E99EF6B652C}"/>
              </a:ext>
            </a:extLst>
          </p:cNvPr>
          <p:cNvSpPr>
            <a:spLocks xmlns:a="http://schemas.openxmlformats.org/drawingml/2006/main" noGrp="1"/>
          </p:cNvSpPr>
          <p:nvPr/>
        </p:nvSpPr>
        <p:spPr>
          <a:xfrm xmlns:a="http://schemas.openxmlformats.org/drawingml/2006/main">
            <a:off x="9029700" y="363855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Kanton 2019</a:t>
            </a:r>
          </a:p>
        </p:txBody>
      </p:sp>
      <p:sp>
        <p:nvSpPr>
          <p:cNvPr id="39" name="">
            <a:extLst xmlns:a="http://schemas.openxmlformats.org/drawingml/2006/main">
              <a:ext uri="{FF2B5EF4-FFF2-40B4-BE49-F238E27FC236}">
                <a16:creationId xmlns:a16="http://schemas.microsoft.com/office/drawing/2014/main" id="{31F8EA1D-81CF-4441-A188-78D82294DE75}"/>
              </a:ext>
            </a:extLst>
          </p:cNvPr>
          <p:cNvSpPr>
            <a:spLocks xmlns:a="http://schemas.openxmlformats.org/drawingml/2006/main" noGrp="1"/>
          </p:cNvSpPr>
          <p:nvPr/>
        </p:nvSpPr>
        <p:spPr>
          <a:xfrm xmlns:a="http://schemas.openxmlformats.org/drawingml/2006/main">
            <a:off x="9029700" y="3886200"/>
            <a:ext cx="1714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temporal map</a:t>
            </a:r>
          </a:p>
        </p:txBody>
      </p:sp>
      <p:sp>
        <p:nvSpPr>
          <p:cNvPr id="40" name="">
            <a:extLst xmlns:a="http://schemas.openxmlformats.org/drawingml/2006/main">
              <a:ext uri="{FF2B5EF4-FFF2-40B4-BE49-F238E27FC236}">
                <a16:creationId xmlns:a16="http://schemas.microsoft.com/office/drawing/2014/main" id="{4C545E09-4AD1-438E-9542-643FABD75D0B}"/>
              </a:ext>
            </a:extLst>
          </p:cNvPr>
          <p:cNvSpPr>
            <a:spLocks xmlns:a="http://schemas.openxmlformats.org/drawingml/2006/main" noGrp="1"/>
          </p:cNvSpPr>
          <p:nvPr/>
        </p:nvSpPr>
        <p:spPr>
          <a:xfrm xmlns:a="http://schemas.openxmlformats.org/drawingml/2006/main">
            <a:off x="7981950" y="4857750"/>
            <a:ext cx="2419350" cy="1047750"/>
          </a:xfrm>
          <a:prstGeom xmlns:a="http://schemas.openxmlformats.org/drawingml/2006/main" prst="roundRect">
            <a:avLst>
              <a:gd name="adj" fmla="val 7273"/>
            </a:avLst>
          </a:prstGeom>
          <a:solidFill xmlns:a="http://schemas.openxmlformats.org/drawingml/2006/main">
            <a:srgbClr val="FFFDF8"/>
          </a:solidFill>
          <a:ln xmlns:a="http://schemas.openxmlformats.org/drawingml/2006/main" w="10478">
            <a:solidFill>
              <a:srgbClr val="132024"/>
            </a:solidFill>
            <a:prstDash val="solid"/>
          </a:ln>
        </p:spPr>
      </p:sp>
      <p:sp>
        <p:nvSpPr>
          <p:cNvPr id="41" name="">
            <a:extLst xmlns:a="http://schemas.openxmlformats.org/drawingml/2006/main">
              <a:ext uri="{FF2B5EF4-FFF2-40B4-BE49-F238E27FC236}">
                <a16:creationId xmlns:a16="http://schemas.microsoft.com/office/drawing/2014/main" id="{69EF7A7C-95DE-4F52-847A-EB7E661CAAC5}"/>
              </a:ext>
            </a:extLst>
          </p:cNvPr>
          <p:cNvSpPr>
            <a:spLocks xmlns:a="http://schemas.openxmlformats.org/drawingml/2006/main" noGrp="1"/>
          </p:cNvSpPr>
          <p:nvPr/>
        </p:nvSpPr>
        <p:spPr>
          <a:xfrm xmlns:a="http://schemas.openxmlformats.org/drawingml/2006/main">
            <a:off x="8029575" y="4905375"/>
            <a:ext cx="47625" cy="95250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1F038F2F-B4FA-4608-A2D8-E66C9EF52C67}"/>
              </a:ext>
            </a:extLst>
          </p:cNvPr>
          <p:cNvSpPr>
            <a:spLocks xmlns:a="http://schemas.openxmlformats.org/drawingml/2006/main" noGrp="1"/>
          </p:cNvSpPr>
          <p:nvPr/>
        </p:nvSpPr>
        <p:spPr>
          <a:xfrm xmlns:a="http://schemas.openxmlformats.org/drawingml/2006/main">
            <a:off x="8153400" y="5010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3" name="">
            <a:extLst xmlns:a="http://schemas.openxmlformats.org/drawingml/2006/main">
              <a:ext uri="{FF2B5EF4-FFF2-40B4-BE49-F238E27FC236}">
                <a16:creationId xmlns:a16="http://schemas.microsoft.com/office/drawing/2014/main" id="{6155B6F0-D65E-4B50-9824-C1AE8B412628}"/>
              </a:ext>
            </a:extLst>
          </p:cNvPr>
          <p:cNvSpPr>
            <a:spLocks xmlns:a="http://schemas.openxmlformats.org/drawingml/2006/main" noGrp="1"/>
          </p:cNvSpPr>
          <p:nvPr/>
        </p:nvSpPr>
        <p:spPr>
          <a:xfrm xmlns:a="http://schemas.openxmlformats.org/drawingml/2006/main">
            <a:off x="8153400" y="5295900"/>
            <a:ext cx="209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He 2024</a:t>
            </a:r>
          </a:p>
        </p:txBody>
      </p:sp>
      <p:sp>
        <p:nvSpPr>
          <p:cNvPr id="44" name="">
            <a:extLst xmlns:a="http://schemas.openxmlformats.org/drawingml/2006/main">
              <a:ext uri="{FF2B5EF4-FFF2-40B4-BE49-F238E27FC236}">
                <a16:creationId xmlns:a16="http://schemas.microsoft.com/office/drawing/2014/main" id="{90F93CD9-0BCD-4873-905D-3CED4F033412}"/>
              </a:ext>
            </a:extLst>
          </p:cNvPr>
          <p:cNvSpPr>
            <a:spLocks xmlns:a="http://schemas.openxmlformats.org/drawingml/2006/main" noGrp="1"/>
          </p:cNvSpPr>
          <p:nvPr/>
        </p:nvSpPr>
        <p:spPr>
          <a:xfrm xmlns:a="http://schemas.openxmlformats.org/drawingml/2006/main">
            <a:off x="8153400" y="5543550"/>
            <a:ext cx="20955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integrated atlas</a:t>
            </a:r>
          </a:p>
          <a:p xmlns:a="http://schemas.openxmlformats.org/drawingml/2006/main">
            <a:pPr algn="l">
              <a:defRPr sz="825" b="0">
                <a:solidFill>
                  <a:srgbClr val="344146"/>
                </a:solidFill>
              </a:defRPr>
            </a:pPr>
            <a:r>
              <a:rPr sz="825" b="0">
                <a:solidFill>
                  <a:srgbClr val="344146"/>
                </a:solidFill>
              </a:rPr>
              <a:t>alignment</a:t>
            </a:r>
          </a:p>
        </p:txBody>
      </p:sp>
      <p:sp>
        <p:nvSpPr>
          <p:cNvPr id="45" name="">
            <a:extLst xmlns:a="http://schemas.openxmlformats.org/drawingml/2006/main">
              <a:ext uri="{FF2B5EF4-FFF2-40B4-BE49-F238E27FC236}">
                <a16:creationId xmlns:a16="http://schemas.microsoft.com/office/drawing/2014/main" id="{C51802D3-252C-48B9-AC56-2390EEA8AB1C}"/>
              </a:ext>
            </a:extLst>
          </p:cNvPr>
          <p:cNvSpPr>
            <a:spLocks xmlns:a="http://schemas.openxmlformats.org/drawingml/2006/main" noGrp="1"/>
          </p:cNvSpPr>
          <p:nvPr/>
        </p:nvSpPr>
        <p:spPr>
          <a:xfrm xmlns:a="http://schemas.openxmlformats.org/drawingml/2006/main" rot="-10253933">
            <a:off x="1918083" y="2871788"/>
            <a:ext cx="397433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B19B87B3-76FF-4BF9-9697-A0E29DB9A260}"/>
              </a:ext>
            </a:extLst>
          </p:cNvPr>
          <p:cNvSpPr>
            <a:spLocks xmlns:a="http://schemas.openxmlformats.org/drawingml/2006/main" noGrp="1"/>
          </p:cNvSpPr>
          <p:nvPr/>
        </p:nvSpPr>
        <p:spPr>
          <a:xfrm xmlns:a="http://schemas.openxmlformats.org/drawingml/2006/main" rot="9525918">
            <a:off x="2412233" y="3833813"/>
            <a:ext cx="357658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7ACD2C6D-F892-4900-8756-2FA9B9660ADC}"/>
              </a:ext>
            </a:extLst>
          </p:cNvPr>
          <p:cNvSpPr>
            <a:spLocks xmlns:a="http://schemas.openxmlformats.org/drawingml/2006/main" noGrp="1"/>
          </p:cNvSpPr>
          <p:nvPr/>
        </p:nvSpPr>
        <p:spPr>
          <a:xfrm xmlns:a="http://schemas.openxmlformats.org/drawingml/2006/main" rot="-1026164">
            <a:off x="5790058" y="2671763"/>
            <a:ext cx="3497958"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27E47690-C0D2-4910-9714-E25213BFECA8}"/>
              </a:ext>
            </a:extLst>
          </p:cNvPr>
          <p:cNvSpPr>
            <a:spLocks xmlns:a="http://schemas.openxmlformats.org/drawingml/2006/main" noGrp="1"/>
          </p:cNvSpPr>
          <p:nvPr/>
        </p:nvSpPr>
        <p:spPr>
          <a:xfrm xmlns:a="http://schemas.openxmlformats.org/drawingml/2006/main" rot="518632">
            <a:off x="5844365" y="3490913"/>
            <a:ext cx="4056096"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E157E7E5-F9FC-4A27-94F5-EDC08477E230}"/>
              </a:ext>
            </a:extLst>
          </p:cNvPr>
          <p:cNvSpPr>
            <a:spLocks xmlns:a="http://schemas.openxmlformats.org/drawingml/2006/main" noGrp="1"/>
          </p:cNvSpPr>
          <p:nvPr/>
        </p:nvSpPr>
        <p:spPr>
          <a:xfrm xmlns:a="http://schemas.openxmlformats.org/drawingml/2006/main" rot="1996278">
            <a:off x="5541535" y="4276725"/>
            <a:ext cx="3975955"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1D9C8354-5021-464F-A660-F31A803C2987}"/>
              </a:ext>
            </a:extLst>
          </p:cNvPr>
          <p:cNvSpPr>
            <a:spLocks xmlns:a="http://schemas.openxmlformats.org/drawingml/2006/main" noGrp="1"/>
          </p:cNvSpPr>
          <p:nvPr/>
        </p:nvSpPr>
        <p:spPr>
          <a:xfrm xmlns:a="http://schemas.openxmlformats.org/drawingml/2006/main">
            <a:off x="609600" y="6153150"/>
            <a:ext cx="171450" cy="171450"/>
          </a:xfrm>
          <a:prstGeom xmlns:a="http://schemas.openxmlformats.org/drawingml/2006/main" prst="roundRect">
            <a:avLst>
              <a:gd name="adj" fmla="val 44444"/>
            </a:avLst>
          </a:prstGeom>
          <a:solidFill xmlns:a="http://schemas.openxmlformats.org/drawingml/2006/main">
            <a:srgbClr val="DDF4E8"/>
          </a:solidFill>
          <a:ln xmlns:a="http://schemas.openxmlformats.org/drawingml/2006/main" w="9525">
            <a:solidFill>
              <a:srgbClr val="132024"/>
            </a:solidFill>
            <a:prstDash val="solid"/>
          </a:ln>
        </p:spPr>
      </p:sp>
      <p:sp>
        <p:nvSpPr>
          <p:cNvPr id="51" name="">
            <a:extLst xmlns:a="http://schemas.openxmlformats.org/drawingml/2006/main">
              <a:ext uri="{FF2B5EF4-FFF2-40B4-BE49-F238E27FC236}">
                <a16:creationId xmlns:a16="http://schemas.microsoft.com/office/drawing/2014/main" id="{8F2FB8E5-F8B2-4158-B10F-B300C51EEE63}"/>
              </a:ext>
            </a:extLst>
          </p:cNvPr>
          <p:cNvSpPr>
            <a:spLocks xmlns:a="http://schemas.openxmlformats.org/drawingml/2006/main" noGrp="1"/>
          </p:cNvSpPr>
          <p:nvPr/>
        </p:nvSpPr>
        <p:spPr>
          <a:xfrm xmlns:a="http://schemas.openxmlformats.org/drawingml/2006/main">
            <a:off x="876300" y="6143625"/>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query note</a:t>
            </a:r>
          </a:p>
        </p:txBody>
      </p:sp>
      <p:sp>
        <p:nvSpPr>
          <p:cNvPr id="52" name="">
            <a:extLst xmlns:a="http://schemas.openxmlformats.org/drawingml/2006/main">
              <a:ext uri="{FF2B5EF4-FFF2-40B4-BE49-F238E27FC236}">
                <a16:creationId xmlns:a16="http://schemas.microsoft.com/office/drawing/2014/main" id="{CCED1B1E-1670-4FFA-AC21-417B0C173E75}"/>
              </a:ext>
            </a:extLst>
          </p:cNvPr>
          <p:cNvSpPr>
            <a:spLocks xmlns:a="http://schemas.openxmlformats.org/drawingml/2006/main" noGrp="1"/>
          </p:cNvSpPr>
          <p:nvPr/>
        </p:nvSpPr>
        <p:spPr>
          <a:xfrm xmlns:a="http://schemas.openxmlformats.org/drawingml/2006/main">
            <a:off x="2038350" y="6153150"/>
            <a:ext cx="171450" cy="171450"/>
          </a:xfrm>
          <a:prstGeom xmlns:a="http://schemas.openxmlformats.org/drawingml/2006/main" prst="roundRect">
            <a:avLst>
              <a:gd name="adj" fmla="val 44444"/>
            </a:avLst>
          </a:prstGeom>
          <a:solidFill xmlns:a="http://schemas.openxmlformats.org/drawingml/2006/main">
            <a:srgbClr val="FFFDF8"/>
          </a:solidFill>
          <a:ln xmlns:a="http://schemas.openxmlformats.org/drawingml/2006/main" w="9525">
            <a:solidFill>
              <a:srgbClr val="132024"/>
            </a:solidFill>
            <a:prstDash val="solid"/>
          </a:ln>
        </p:spPr>
      </p:sp>
      <p:sp>
        <p:nvSpPr>
          <p:cNvPr id="53" name="">
            <a:extLst xmlns:a="http://schemas.openxmlformats.org/drawingml/2006/main">
              <a:ext uri="{FF2B5EF4-FFF2-40B4-BE49-F238E27FC236}">
                <a16:creationId xmlns:a16="http://schemas.microsoft.com/office/drawing/2014/main" id="{791E1527-6CF3-483D-9FF6-AD89EC0895C6}"/>
              </a:ext>
            </a:extLst>
          </p:cNvPr>
          <p:cNvSpPr>
            <a:spLocks xmlns:a="http://schemas.openxmlformats.org/drawingml/2006/main" noGrp="1"/>
          </p:cNvSpPr>
          <p:nvPr/>
        </p:nvSpPr>
        <p:spPr>
          <a:xfrm xmlns:a="http://schemas.openxmlformats.org/drawingml/2006/main">
            <a:off x="2305050" y="6143625"/>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benchmark source</a:t>
            </a:r>
          </a:p>
        </p:txBody>
      </p:sp>
      <p:sp>
        <p:nvSpPr>
          <p:cNvPr id="54" name="">
            <a:extLst xmlns:a="http://schemas.openxmlformats.org/drawingml/2006/main">
              <a:ext uri="{FF2B5EF4-FFF2-40B4-BE49-F238E27FC236}">
                <a16:creationId xmlns:a16="http://schemas.microsoft.com/office/drawing/2014/main" id="{8A63AEAE-886B-4F5E-9C3B-ECDE5EA059D8}"/>
              </a:ext>
            </a:extLst>
          </p:cNvPr>
          <p:cNvSpPr>
            <a:spLocks xmlns:a="http://schemas.openxmlformats.org/drawingml/2006/main" noGrp="1"/>
          </p:cNvSpPr>
          <p:nvPr/>
        </p:nvSpPr>
        <p:spPr>
          <a:xfrm xmlns:a="http://schemas.openxmlformats.org/drawingml/2006/main">
            <a:off x="6057900" y="5905500"/>
            <a:ext cx="5524500" cy="552450"/>
          </a:xfrm>
          <a:prstGeom xmlns:a="http://schemas.openxmlformats.org/drawingml/2006/main" prst="roundRect">
            <a:avLst>
              <a:gd name="adj" fmla="val 1379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55" name="">
            <a:extLst xmlns:a="http://schemas.openxmlformats.org/drawingml/2006/main">
              <a:ext uri="{FF2B5EF4-FFF2-40B4-BE49-F238E27FC236}">
                <a16:creationId xmlns:a16="http://schemas.microsoft.com/office/drawing/2014/main" id="{8F14BB60-1E74-4761-BC13-C88D6616FE9F}"/>
              </a:ext>
            </a:extLst>
          </p:cNvPr>
          <p:cNvSpPr>
            <a:spLocks xmlns:a="http://schemas.openxmlformats.org/drawingml/2006/main" noGrp="1"/>
          </p:cNvSpPr>
          <p:nvPr/>
        </p:nvSpPr>
        <p:spPr>
          <a:xfrm xmlns:a="http://schemas.openxmlformats.org/drawingml/2006/main">
            <a:off x="6105525" y="5953125"/>
            <a:ext cx="57150" cy="457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669E1434-AF0F-4C55-9AC5-15106BDE6303}"/>
              </a:ext>
            </a:extLst>
          </p:cNvPr>
          <p:cNvSpPr>
            <a:spLocks xmlns:a="http://schemas.openxmlformats.org/drawingml/2006/main" noGrp="1"/>
          </p:cNvSpPr>
          <p:nvPr/>
        </p:nvSpPr>
        <p:spPr>
          <a:xfrm xmlns:a="http://schemas.openxmlformats.org/drawingml/2006/main">
            <a:off x="6267450" y="6057900"/>
            <a:ext cx="5143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새 논문이 추가되면서 '더 많이 안다'가 아니라 '무엇을 따로 질문해야 하는가'가 바뀌었다.</a:t>
            </a:r>
          </a:p>
        </p:txBody>
      </p:sp>
      <p:sp>
        <p:nvSpPr>
          <p:cNvPr id="57" name="">
            <a:extLst xmlns:a="http://schemas.openxmlformats.org/drawingml/2006/main">
              <a:ext uri="{FF2B5EF4-FFF2-40B4-BE49-F238E27FC236}">
                <a16:creationId xmlns:a16="http://schemas.microsoft.com/office/drawing/2014/main" id="{B0A40E9D-093C-4F79-95E1-46E08596A736}"/>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graph-style view: subregion map 위에 benchmark branch가 새로 얹힌 순간</a:t>
            </a:r>
          </a:p>
        </p:txBody>
      </p:sp>
    </p:spTree>
    <p:extLst>
      <p:ext uri="{BB962C8B-B14F-4D97-AF65-F5344CB8AC3E}">
        <p14:creationId xmlns:p14="http://schemas.microsoft.com/office/powerpoint/2010/main" val="1452701621"/>
      </p:ext>
    </p:extLst>
  </p:cSld>
</p:sld>
</file>

<file path=ppt/slides/slide8.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dc9c9e4be7b400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EE6513C-032F-4295-83E4-6A5527FA59F0}"/>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78610F57-B1BD-4FCB-AC6F-D02DD75C015E}"/>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463E0690-8E42-47C6-AA8A-9A84601ED919}"/>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26EE496C-91EE-4507-BA41-620A502A6B5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1E6E88FD-CFDD-4533-A24B-E419EFE2301C}"/>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BD002ACF-D3D4-4690-94C5-BC24553992B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9CACEF77-A55B-4409-978E-7009E67CE1A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KEY TENSION</a:t>
            </a:r>
          </a:p>
        </p:txBody>
      </p:sp>
      <p:sp>
        <p:nvSpPr>
          <p:cNvPr id="10" name="">
            <a:extLst xmlns:a="http://schemas.openxmlformats.org/drawingml/2006/main">
              <a:ext uri="{FF2B5EF4-FFF2-40B4-BE49-F238E27FC236}">
                <a16:creationId xmlns:a16="http://schemas.microsoft.com/office/drawing/2014/main" id="{8444F6E1-78AA-4AC4-B5C0-B09CC1FCB835}"/>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08 / 12</a:t>
            </a:r>
          </a:p>
        </p:txBody>
      </p:sp>
      <p:sp>
        <p:nvSpPr>
          <p:cNvPr id="11" name="">
            <a:extLst xmlns:a="http://schemas.openxmlformats.org/drawingml/2006/main">
              <a:ext uri="{FF2B5EF4-FFF2-40B4-BE49-F238E27FC236}">
                <a16:creationId xmlns:a16="http://schemas.microsoft.com/office/drawing/2014/main" id="{732F21EA-99B6-41B1-81E7-AFD1A955B794}"/>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B0989534-8783-49BD-A476-01BB650091C9}"/>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470C0455-423A-4383-8A6C-3CB4C01E4D91}"/>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재현성이 높다고</a:t>
            </a:r>
          </a:p>
          <a:p xmlns:a="http://schemas.openxmlformats.org/drawingml/2006/main">
            <a:pPr algn="l">
              <a:defRPr sz="2850" b="1">
                <a:solidFill>
                  <a:srgbClr val="132024"/>
                </a:solidFill>
              </a:defRPr>
            </a:pPr>
            <a:r>
              <a:rPr sz="2850" b="1">
                <a:solidFill>
                  <a:srgbClr val="132024"/>
                </a:solidFill>
              </a:rPr>
              <a:t>더 faithful한 것은 아니다</a:t>
            </a:r>
          </a:p>
        </p:txBody>
      </p:sp>
      <p:sp>
        <p:nvSpPr>
          <p:cNvPr id="14" name="">
            <a:extLst xmlns:a="http://schemas.openxmlformats.org/drawingml/2006/main">
              <a:ext uri="{FF2B5EF4-FFF2-40B4-BE49-F238E27FC236}">
                <a16:creationId xmlns:a16="http://schemas.microsoft.com/office/drawing/2014/main" id="{BC2E87CE-2484-4BFF-9C41-C6FADDF8F642}"/>
              </a:ext>
            </a:extLst>
          </p:cNvPr>
          <p:cNvSpPr>
            <a:spLocks xmlns:a="http://schemas.openxmlformats.org/drawingml/2006/main" noGrp="1"/>
          </p:cNvSpPr>
          <p:nvPr/>
        </p:nvSpPr>
        <p:spPr>
          <a:xfrm xmlns:a="http://schemas.openxmlformats.org/drawingml/2006/main">
            <a:off x="742950" y="2000250"/>
            <a:ext cx="10706100" cy="819150"/>
          </a:xfrm>
          <a:prstGeom xmlns:a="http://schemas.openxmlformats.org/drawingml/2006/main" prst="roundRect">
            <a:avLst>
              <a:gd name="adj" fmla="val 9302"/>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201E9DE1-C062-47E1-8FF6-C3585E4097B4}"/>
              </a:ext>
            </a:extLst>
          </p:cNvPr>
          <p:cNvSpPr>
            <a:spLocks xmlns:a="http://schemas.openxmlformats.org/drawingml/2006/main" noGrp="1"/>
          </p:cNvSpPr>
          <p:nvPr/>
        </p:nvSpPr>
        <p:spPr>
          <a:xfrm xmlns:a="http://schemas.openxmlformats.org/drawingml/2006/main">
            <a:off x="790575" y="2047875"/>
            <a:ext cx="57150" cy="7239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C7A2CDDF-92B8-4B06-A971-3CD0556B6C3F}"/>
              </a:ext>
            </a:extLst>
          </p:cNvPr>
          <p:cNvSpPr>
            <a:spLocks xmlns:a="http://schemas.openxmlformats.org/drawingml/2006/main" noGrp="1"/>
          </p:cNvSpPr>
          <p:nvPr/>
        </p:nvSpPr>
        <p:spPr>
          <a:xfrm xmlns:a="http://schemas.openxmlformats.org/drawingml/2006/main">
            <a:off x="952500" y="2152650"/>
            <a:ext cx="103251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Velasco / Yoon이 보여준 것은 '잘 반복되는 cortical branch'이고, Bhaduri가 보여준 것은 '그 branch가 primary brain과 어디서 어긋나는가'이다.</a:t>
            </a:r>
          </a:p>
        </p:txBody>
      </p:sp>
      <p:sp>
        <p:nvSpPr>
          <p:cNvPr id="17" name="">
            <a:extLst xmlns:a="http://schemas.openxmlformats.org/drawingml/2006/main">
              <a:ext uri="{FF2B5EF4-FFF2-40B4-BE49-F238E27FC236}">
                <a16:creationId xmlns:a16="http://schemas.microsoft.com/office/drawing/2014/main" id="{212EA124-0C6D-4E82-857A-31208E63C9C2}"/>
              </a:ext>
            </a:extLst>
          </p:cNvPr>
          <p:cNvSpPr>
            <a:spLocks xmlns:a="http://schemas.openxmlformats.org/drawingml/2006/main" noGrp="1"/>
          </p:cNvSpPr>
          <p:nvPr/>
        </p:nvSpPr>
        <p:spPr>
          <a:xfrm xmlns:a="http://schemas.openxmlformats.org/drawingml/2006/main">
            <a:off x="8763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9EDCD5AF-D9FA-4BCC-9BB9-7390381832D4}"/>
              </a:ext>
            </a:extLst>
          </p:cNvPr>
          <p:cNvSpPr>
            <a:spLocks xmlns:a="http://schemas.openxmlformats.org/drawingml/2006/main" noGrp="1"/>
          </p:cNvSpPr>
          <p:nvPr/>
        </p:nvSpPr>
        <p:spPr>
          <a:xfrm xmlns:a="http://schemas.openxmlformats.org/drawingml/2006/main">
            <a:off x="933450" y="3333750"/>
            <a:ext cx="45148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8E4B862E-CEA6-40B3-9FA1-E39221F8AA7C}"/>
              </a:ext>
            </a:extLst>
          </p:cNvPr>
          <p:cNvSpPr>
            <a:spLocks xmlns:a="http://schemas.openxmlformats.org/drawingml/2006/main" noGrp="1"/>
          </p:cNvSpPr>
          <p:nvPr/>
        </p:nvSpPr>
        <p:spPr>
          <a:xfrm xmlns:a="http://schemas.openxmlformats.org/drawingml/2006/main">
            <a:off x="10858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 쪽 질문</a:t>
            </a:r>
          </a:p>
        </p:txBody>
      </p:sp>
      <p:sp>
        <p:nvSpPr>
          <p:cNvPr id="20" name="">
            <a:extLst xmlns:a="http://schemas.openxmlformats.org/drawingml/2006/main">
              <a:ext uri="{FF2B5EF4-FFF2-40B4-BE49-F238E27FC236}">
                <a16:creationId xmlns:a16="http://schemas.microsoft.com/office/drawing/2014/main" id="{5F91277C-0396-47B7-ACA6-CB27272B11B7}"/>
              </a:ext>
            </a:extLst>
          </p:cNvPr>
          <p:cNvSpPr>
            <a:spLocks xmlns:a="http://schemas.openxmlformats.org/drawingml/2006/main" noGrp="1"/>
          </p:cNvSpPr>
          <p:nvPr/>
        </p:nvSpPr>
        <p:spPr>
          <a:xfrm xmlns:a="http://schemas.openxmlformats.org/drawingml/2006/main">
            <a:off x="10858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organoid-to-organoid variance가 얼마나 낮은가?</a:t>
            </a:r>
          </a:p>
          <a:p xmlns:a="http://schemas.openxmlformats.org/drawingml/2006/main">
            <a:pPr algn="l">
              <a:defRPr sz="1200" b="0">
                <a:solidFill>
                  <a:srgbClr val="132024"/>
                </a:solidFill>
              </a:defRPr>
            </a:pPr>
            <a:r>
              <a:rPr sz="1200" b="0">
                <a:solidFill>
                  <a:srgbClr val="132024"/>
                </a:solidFill>
              </a:rPr>
              <a:t>대표 anchor: Velasco 2019, Yoon 2019</a:t>
            </a:r>
          </a:p>
        </p:txBody>
      </p:sp>
      <p:sp>
        <p:nvSpPr>
          <p:cNvPr id="21" name="">
            <a:extLst xmlns:a="http://schemas.openxmlformats.org/drawingml/2006/main">
              <a:ext uri="{FF2B5EF4-FFF2-40B4-BE49-F238E27FC236}">
                <a16:creationId xmlns:a16="http://schemas.microsoft.com/office/drawing/2014/main" id="{91481650-523F-4CF1-AF40-8E32B58DD8D5}"/>
              </a:ext>
            </a:extLst>
          </p:cNvPr>
          <p:cNvSpPr>
            <a:spLocks xmlns:a="http://schemas.openxmlformats.org/drawingml/2006/main" noGrp="1"/>
          </p:cNvSpPr>
          <p:nvPr/>
        </p:nvSpPr>
        <p:spPr>
          <a:xfrm xmlns:a="http://schemas.openxmlformats.org/drawingml/2006/main">
            <a:off x="66675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B7DC8406-B4A3-4DF4-B589-5289E6D96C76}"/>
              </a:ext>
            </a:extLst>
          </p:cNvPr>
          <p:cNvSpPr>
            <a:spLocks xmlns:a="http://schemas.openxmlformats.org/drawingml/2006/main" noGrp="1"/>
          </p:cNvSpPr>
          <p:nvPr/>
        </p:nvSpPr>
        <p:spPr>
          <a:xfrm xmlns:a="http://schemas.openxmlformats.org/drawingml/2006/main">
            <a:off x="6724650" y="3333750"/>
            <a:ext cx="45148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E46AEC25-26E8-44AA-89F4-B71921DD7E03}"/>
              </a:ext>
            </a:extLst>
          </p:cNvPr>
          <p:cNvSpPr>
            <a:spLocks xmlns:a="http://schemas.openxmlformats.org/drawingml/2006/main" noGrp="1"/>
          </p:cNvSpPr>
          <p:nvPr/>
        </p:nvSpPr>
        <p:spPr>
          <a:xfrm xmlns:a="http://schemas.openxmlformats.org/drawingml/2006/main">
            <a:off x="68770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 쪽 질문</a:t>
            </a:r>
          </a:p>
        </p:txBody>
      </p:sp>
      <p:sp>
        <p:nvSpPr>
          <p:cNvPr id="24" name="">
            <a:extLst xmlns:a="http://schemas.openxmlformats.org/drawingml/2006/main">
              <a:ext uri="{FF2B5EF4-FFF2-40B4-BE49-F238E27FC236}">
                <a16:creationId xmlns:a16="http://schemas.microsoft.com/office/drawing/2014/main" id="{F8E21D70-923A-4588-B711-106DD7E90244}"/>
              </a:ext>
            </a:extLst>
          </p:cNvPr>
          <p:cNvSpPr>
            <a:spLocks xmlns:a="http://schemas.openxmlformats.org/drawingml/2006/main" noGrp="1"/>
          </p:cNvSpPr>
          <p:nvPr/>
        </p:nvSpPr>
        <p:spPr>
          <a:xfrm xmlns:a="http://schemas.openxmlformats.org/drawingml/2006/main">
            <a:off x="68770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organoid cell state가 primary fetal</a:t>
            </a:r>
          </a:p>
          <a:p xmlns:a="http://schemas.openxmlformats.org/drawingml/2006/main">
            <a:pPr algn="l">
              <a:defRPr sz="1200" b="0">
                <a:solidFill>
                  <a:srgbClr val="132024"/>
                </a:solidFill>
              </a:defRPr>
            </a:pPr>
            <a:r>
              <a:rPr sz="1200" b="0">
                <a:solidFill>
                  <a:srgbClr val="132024"/>
                </a:solidFill>
              </a:rPr>
              <a:t>cortex와 얼마나 가까운가? stress-linked</a:t>
            </a:r>
          </a:p>
          <a:p xmlns:a="http://schemas.openxmlformats.org/drawingml/2006/main">
            <a:pPr algn="l">
              <a:defRPr sz="1200" b="0">
                <a:solidFill>
                  <a:srgbClr val="132024"/>
                </a:solidFill>
              </a:defRPr>
            </a:pPr>
            <a:r>
              <a:rPr sz="1200" b="0">
                <a:solidFill>
                  <a:srgbClr val="132024"/>
                </a:solidFill>
              </a:rPr>
              <a:t>divergence는 없는가? 대표 anchor: Bhaduri</a:t>
            </a:r>
          </a:p>
          <a:p xmlns:a="http://schemas.openxmlformats.org/drawingml/2006/main">
            <a:pPr algn="l">
              <a:defRPr sz="1200" b="0">
                <a:solidFill>
                  <a:srgbClr val="132024"/>
                </a:solidFill>
              </a:defRPr>
            </a:pPr>
            <a:r>
              <a:rPr sz="1200" b="0">
                <a:solidFill>
                  <a:srgbClr val="132024"/>
                </a:solidFill>
              </a:rPr>
              <a:t>2020, He 2024</a:t>
            </a:r>
          </a:p>
        </p:txBody>
      </p:sp>
      <p:sp>
        <p:nvSpPr>
          <p:cNvPr id="25" name="">
            <a:extLst xmlns:a="http://schemas.openxmlformats.org/drawingml/2006/main">
              <a:ext uri="{FF2B5EF4-FFF2-40B4-BE49-F238E27FC236}">
                <a16:creationId xmlns:a16="http://schemas.microsoft.com/office/drawing/2014/main" id="{BA86B7A1-CAD8-48D2-A828-0B1EBC83360B}"/>
              </a:ext>
            </a:extLst>
          </p:cNvPr>
          <p:cNvSpPr>
            <a:spLocks xmlns:a="http://schemas.openxmlformats.org/drawingml/2006/main" noGrp="1"/>
          </p:cNvSpPr>
          <p:nvPr/>
        </p:nvSpPr>
        <p:spPr>
          <a:xfrm xmlns:a="http://schemas.openxmlformats.org/drawingml/2006/main">
            <a:off x="5581650" y="4343400"/>
            <a:ext cx="8572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6" name="">
            <a:extLst xmlns:a="http://schemas.openxmlformats.org/drawingml/2006/main">
              <a:ext uri="{FF2B5EF4-FFF2-40B4-BE49-F238E27FC236}">
                <a16:creationId xmlns:a16="http://schemas.microsoft.com/office/drawing/2014/main" id="{4060898C-2D2B-46AA-8E1F-94C100446FDD}"/>
              </a:ext>
            </a:extLst>
          </p:cNvPr>
          <p:cNvSpPr>
            <a:spLocks xmlns:a="http://schemas.openxmlformats.org/drawingml/2006/main" noGrp="1"/>
          </p:cNvSpPr>
          <p:nvPr/>
        </p:nvSpPr>
        <p:spPr>
          <a:xfrm xmlns:a="http://schemas.openxmlformats.org/drawingml/2006/main">
            <a:off x="4457700" y="5753100"/>
            <a:ext cx="25527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same region, different question</a:t>
            </a:r>
          </a:p>
        </p:txBody>
      </p:sp>
      <p:sp>
        <p:nvSpPr>
          <p:cNvPr id="27" name="">
            <a:extLst xmlns:a="http://schemas.openxmlformats.org/drawingml/2006/main">
              <a:ext uri="{FF2B5EF4-FFF2-40B4-BE49-F238E27FC236}">
                <a16:creationId xmlns:a16="http://schemas.microsoft.com/office/drawing/2014/main" id="{67E72423-C532-40C2-B81D-1A716F6F203A}"/>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이 구분이 있어야 5축 프레임워크가 단순 taxonomy가 아니라 실제 비교 도구가 된다.</a:t>
            </a:r>
          </a:p>
        </p:txBody>
      </p:sp>
    </p:spTree>
    <p:extLst>
      <p:ext uri="{BB962C8B-B14F-4D97-AF65-F5344CB8AC3E}">
        <p14:creationId xmlns:p14="http://schemas.microsoft.com/office/powerpoint/2010/main" val="808700728"/>
      </p:ext>
    </p:extLst>
  </p:cSld>
</p:sld>
</file>

<file path=ppt/slides/slide9.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e61cab364154a3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656A6253-E556-40BA-BE3F-124296DD255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468322F4-4ED7-4B36-9FB7-44BE1FBF6FD3}"/>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F4C778DD-2938-4232-A16C-EFAE108E43BC}"/>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B4D58B5F-A4C3-4A19-BC72-89A0C571B4F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BED0F2D0-38C7-49AD-B50F-3E68763A0D68}"/>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14D17EA6-52C6-491C-A9BC-AACD43FDAB7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2353"/>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7816107B-B4CD-40A3-9876-D8BB0B4B630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FRAMEWORK</a:t>
            </a:r>
          </a:p>
        </p:txBody>
      </p:sp>
      <p:sp>
        <p:nvSpPr>
          <p:cNvPr id="10" name="">
            <a:extLst xmlns:a="http://schemas.openxmlformats.org/drawingml/2006/main">
              <a:ext uri="{FF2B5EF4-FFF2-40B4-BE49-F238E27FC236}">
                <a16:creationId xmlns:a16="http://schemas.microsoft.com/office/drawing/2014/main" id="{0A0A160A-5C40-410B-B497-2E1F85980B59}"/>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09 / 12</a:t>
            </a:r>
          </a:p>
        </p:txBody>
      </p:sp>
      <p:sp>
        <p:nvSpPr>
          <p:cNvPr id="11" name="">
            <a:extLst xmlns:a="http://schemas.openxmlformats.org/drawingml/2006/main">
              <a:ext uri="{FF2B5EF4-FFF2-40B4-BE49-F238E27FC236}">
                <a16:creationId xmlns:a16="http://schemas.microsoft.com/office/drawing/2014/main" id="{61928987-0904-4AF7-B0B6-9C5293974BEE}"/>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DD8A2B2C-E118-4F1A-88D0-10A3421B7662}"/>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F525F956-9FB8-4266-8731-32A45A613D25}"/>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최종적으로 얻은 5축 프레임워크</a:t>
            </a:r>
          </a:p>
        </p:txBody>
      </p:sp>
      <p:sp>
        <p:nvSpPr>
          <p:cNvPr id="14" name="">
            <a:extLst xmlns:a="http://schemas.openxmlformats.org/drawingml/2006/main">
              <a:ext uri="{FF2B5EF4-FFF2-40B4-BE49-F238E27FC236}">
                <a16:creationId xmlns:a16="http://schemas.microsoft.com/office/drawing/2014/main" id="{65B4E764-5EBE-4E84-86B4-456948E1E427}"/>
              </a:ext>
            </a:extLst>
          </p:cNvPr>
          <p:cNvSpPr>
            <a:spLocks xmlns:a="http://schemas.openxmlformats.org/drawingml/2006/main" noGrp="1"/>
          </p:cNvSpPr>
          <p:nvPr/>
        </p:nvSpPr>
        <p:spPr>
          <a:xfrm xmlns:a="http://schemas.openxmlformats.org/drawingml/2006/main">
            <a:off x="6858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D5CA1698-6372-4367-A131-E5E3F4FA21B9}"/>
              </a:ext>
            </a:extLst>
          </p:cNvPr>
          <p:cNvSpPr>
            <a:spLocks xmlns:a="http://schemas.openxmlformats.org/drawingml/2006/main" noGrp="1"/>
          </p:cNvSpPr>
          <p:nvPr/>
        </p:nvSpPr>
        <p:spPr>
          <a:xfrm xmlns:a="http://schemas.openxmlformats.org/drawingml/2006/main">
            <a:off x="742950" y="2152650"/>
            <a:ext cx="32385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4E2CE8CB-CED9-4FB9-9276-081039518CF9}"/>
              </a:ext>
            </a:extLst>
          </p:cNvPr>
          <p:cNvSpPr>
            <a:spLocks xmlns:a="http://schemas.openxmlformats.org/drawingml/2006/main" noGrp="1"/>
          </p:cNvSpPr>
          <p:nvPr/>
        </p:nvSpPr>
        <p:spPr>
          <a:xfrm xmlns:a="http://schemas.openxmlformats.org/drawingml/2006/main">
            <a:off x="8953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region identity</a:t>
            </a:r>
          </a:p>
        </p:txBody>
      </p:sp>
      <p:sp>
        <p:nvSpPr>
          <p:cNvPr id="17" name="">
            <a:extLst xmlns:a="http://schemas.openxmlformats.org/drawingml/2006/main">
              <a:ext uri="{FF2B5EF4-FFF2-40B4-BE49-F238E27FC236}">
                <a16:creationId xmlns:a16="http://schemas.microsoft.com/office/drawing/2014/main" id="{07047A2E-CD82-416D-A7CE-D0CD59460C9E}"/>
              </a:ext>
            </a:extLst>
          </p:cNvPr>
          <p:cNvSpPr>
            <a:spLocks xmlns:a="http://schemas.openxmlformats.org/drawingml/2006/main" noGrp="1"/>
          </p:cNvSpPr>
          <p:nvPr/>
        </p:nvSpPr>
        <p:spPr>
          <a:xfrm xmlns:a="http://schemas.openxmlformats.org/drawingml/2006/main">
            <a:off x="8953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어떤 brain region 또는 subregion을</a:t>
            </a:r>
          </a:p>
          <a:p xmlns:a="http://schemas.openxmlformats.org/drawingml/2006/main">
            <a:pPr algn="l">
              <a:defRPr sz="1200" b="0">
                <a:solidFill>
                  <a:srgbClr val="132024"/>
                </a:solidFill>
              </a:defRPr>
            </a:pPr>
            <a:r>
              <a:rPr sz="1200" b="0">
                <a:solidFill>
                  <a:srgbClr val="132024"/>
                </a:solidFill>
              </a:rPr>
              <a:t>만들고 있는가? anchor: Q1, Sloan,</a:t>
            </a:r>
          </a:p>
          <a:p xmlns:a="http://schemas.openxmlformats.org/drawingml/2006/main">
            <a:pPr algn="l">
              <a:defRPr sz="1200" b="0">
                <a:solidFill>
                  <a:srgbClr val="132024"/>
                </a:solidFill>
              </a:defRPr>
            </a:pPr>
            <a:r>
              <a:rPr sz="1200" b="0">
                <a:solidFill>
                  <a:srgbClr val="132024"/>
                </a:solidFill>
              </a:rPr>
              <a:t>Atamian</a:t>
            </a:r>
          </a:p>
        </p:txBody>
      </p:sp>
      <p:sp>
        <p:nvSpPr>
          <p:cNvPr id="18" name="">
            <a:extLst xmlns:a="http://schemas.openxmlformats.org/drawingml/2006/main">
              <a:ext uri="{FF2B5EF4-FFF2-40B4-BE49-F238E27FC236}">
                <a16:creationId xmlns:a16="http://schemas.microsoft.com/office/drawing/2014/main" id="{94315ED1-2756-48FA-8987-5B46E5ECE0E6}"/>
              </a:ext>
            </a:extLst>
          </p:cNvPr>
          <p:cNvSpPr>
            <a:spLocks xmlns:a="http://schemas.openxmlformats.org/drawingml/2006/main" noGrp="1"/>
          </p:cNvSpPr>
          <p:nvPr/>
        </p:nvSpPr>
        <p:spPr>
          <a:xfrm xmlns:a="http://schemas.openxmlformats.org/drawingml/2006/main">
            <a:off x="44196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A3D751BB-5026-4C46-88A6-4C4F3E0FBA6A}"/>
              </a:ext>
            </a:extLst>
          </p:cNvPr>
          <p:cNvSpPr>
            <a:spLocks xmlns:a="http://schemas.openxmlformats.org/drawingml/2006/main" noGrp="1"/>
          </p:cNvSpPr>
          <p:nvPr/>
        </p:nvSpPr>
        <p:spPr>
          <a:xfrm xmlns:a="http://schemas.openxmlformats.org/drawingml/2006/main">
            <a:off x="4476750" y="2152650"/>
            <a:ext cx="32385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AB6F301B-993E-49B6-AC04-7105C3BEE2F4}"/>
              </a:ext>
            </a:extLst>
          </p:cNvPr>
          <p:cNvSpPr>
            <a:spLocks xmlns:a="http://schemas.openxmlformats.org/drawingml/2006/main" noGrp="1"/>
          </p:cNvSpPr>
          <p:nvPr/>
        </p:nvSpPr>
        <p:spPr>
          <a:xfrm xmlns:a="http://schemas.openxmlformats.org/drawingml/2006/main">
            <a:off x="46291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reproducibility</a:t>
            </a:r>
          </a:p>
        </p:txBody>
      </p:sp>
      <p:sp>
        <p:nvSpPr>
          <p:cNvPr id="21" name="">
            <a:extLst xmlns:a="http://schemas.openxmlformats.org/drawingml/2006/main">
              <a:ext uri="{FF2B5EF4-FFF2-40B4-BE49-F238E27FC236}">
                <a16:creationId xmlns:a16="http://schemas.microsoft.com/office/drawing/2014/main" id="{A1AA2EE1-0D24-4279-AB16-6B2F4B9BC764}"/>
              </a:ext>
            </a:extLst>
          </p:cNvPr>
          <p:cNvSpPr>
            <a:spLocks xmlns:a="http://schemas.openxmlformats.org/drawingml/2006/main" noGrp="1"/>
          </p:cNvSpPr>
          <p:nvPr/>
        </p:nvSpPr>
        <p:spPr>
          <a:xfrm xmlns:a="http://schemas.openxmlformats.org/drawingml/2006/main">
            <a:off x="46291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 안에서 cell</a:t>
            </a:r>
          </a:p>
          <a:p xmlns:a="http://schemas.openxmlformats.org/drawingml/2006/main">
            <a:pPr algn="l">
              <a:defRPr sz="1200" b="0">
                <a:solidFill>
                  <a:srgbClr val="132024"/>
                </a:solidFill>
              </a:defRPr>
            </a:pPr>
            <a:r>
              <a:rPr sz="1200" b="0">
                <a:solidFill>
                  <a:srgbClr val="132024"/>
                </a:solidFill>
              </a:rPr>
              <a:t>composition variance가 얼마나</a:t>
            </a:r>
          </a:p>
          <a:p xmlns:a="http://schemas.openxmlformats.org/drawingml/2006/main">
            <a:pPr algn="l">
              <a:defRPr sz="1200" b="0">
                <a:solidFill>
                  <a:srgbClr val="132024"/>
                </a:solidFill>
              </a:defRPr>
            </a:pPr>
            <a:r>
              <a:rPr sz="1200" b="0">
                <a:solidFill>
                  <a:srgbClr val="132024"/>
                </a:solidFill>
              </a:rPr>
              <a:t>낮은가? anchor: Velasco, Yoon</a:t>
            </a:r>
          </a:p>
        </p:txBody>
      </p:sp>
      <p:sp>
        <p:nvSpPr>
          <p:cNvPr id="22" name="">
            <a:extLst xmlns:a="http://schemas.openxmlformats.org/drawingml/2006/main">
              <a:ext uri="{FF2B5EF4-FFF2-40B4-BE49-F238E27FC236}">
                <a16:creationId xmlns:a16="http://schemas.microsoft.com/office/drawing/2014/main" id="{CD47AF5D-F89D-40DA-93E4-F6D3BF63FE50}"/>
              </a:ext>
            </a:extLst>
          </p:cNvPr>
          <p:cNvSpPr>
            <a:spLocks xmlns:a="http://schemas.openxmlformats.org/drawingml/2006/main" noGrp="1"/>
          </p:cNvSpPr>
          <p:nvPr/>
        </p:nvSpPr>
        <p:spPr>
          <a:xfrm xmlns:a="http://schemas.openxmlformats.org/drawingml/2006/main">
            <a:off x="81534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715880A0-BF34-4B11-88DB-8EAA5DBDB5DD}"/>
              </a:ext>
            </a:extLst>
          </p:cNvPr>
          <p:cNvSpPr>
            <a:spLocks xmlns:a="http://schemas.openxmlformats.org/drawingml/2006/main" noGrp="1"/>
          </p:cNvSpPr>
          <p:nvPr/>
        </p:nvSpPr>
        <p:spPr>
          <a:xfrm xmlns:a="http://schemas.openxmlformats.org/drawingml/2006/main">
            <a:off x="8210550" y="2152650"/>
            <a:ext cx="32385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876FC3C3-4BD9-4428-9C2D-786846568C84}"/>
              </a:ext>
            </a:extLst>
          </p:cNvPr>
          <p:cNvSpPr>
            <a:spLocks xmlns:a="http://schemas.openxmlformats.org/drawingml/2006/main" noGrp="1"/>
          </p:cNvSpPr>
          <p:nvPr/>
        </p:nvSpPr>
        <p:spPr>
          <a:xfrm xmlns:a="http://schemas.openxmlformats.org/drawingml/2006/main">
            <a:off x="83629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fidelity</a:t>
            </a:r>
          </a:p>
        </p:txBody>
      </p:sp>
      <p:sp>
        <p:nvSpPr>
          <p:cNvPr id="25" name="">
            <a:extLst xmlns:a="http://schemas.openxmlformats.org/drawingml/2006/main">
              <a:ext uri="{FF2B5EF4-FFF2-40B4-BE49-F238E27FC236}">
                <a16:creationId xmlns:a16="http://schemas.microsoft.com/office/drawing/2014/main" id="{DCF8B8C3-D60F-4512-9DE7-2D61074C1A70}"/>
              </a:ext>
            </a:extLst>
          </p:cNvPr>
          <p:cNvSpPr>
            <a:spLocks xmlns:a="http://schemas.openxmlformats.org/drawingml/2006/main" noGrp="1"/>
          </p:cNvSpPr>
          <p:nvPr/>
        </p:nvSpPr>
        <p:spPr>
          <a:xfrm xmlns:a="http://schemas.openxmlformats.org/drawingml/2006/main">
            <a:off x="83629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primary fetal brain과의</a:t>
            </a:r>
          </a:p>
          <a:p xmlns:a="http://schemas.openxmlformats.org/drawingml/2006/main">
            <a:pPr algn="l">
              <a:defRPr sz="1200" b="0">
                <a:solidFill>
                  <a:srgbClr val="132024"/>
                </a:solidFill>
              </a:defRPr>
            </a:pPr>
            <a:r>
              <a:rPr sz="1200" b="0">
                <a:solidFill>
                  <a:srgbClr val="132024"/>
                </a:solidFill>
              </a:rPr>
              <a:t>distance를 어떻게 볼 것인가? anchor:</a:t>
            </a:r>
          </a:p>
          <a:p xmlns:a="http://schemas.openxmlformats.org/drawingml/2006/main">
            <a:pPr algn="l">
              <a:defRPr sz="1200" b="0">
                <a:solidFill>
                  <a:srgbClr val="132024"/>
                </a:solidFill>
              </a:defRPr>
            </a:pPr>
            <a:r>
              <a:rPr sz="1200" b="0">
                <a:solidFill>
                  <a:srgbClr val="132024"/>
                </a:solidFill>
              </a:rPr>
              <a:t>Bhaduri, He</a:t>
            </a:r>
          </a:p>
        </p:txBody>
      </p:sp>
      <p:sp>
        <p:nvSpPr>
          <p:cNvPr id="26" name="">
            <a:extLst xmlns:a="http://schemas.openxmlformats.org/drawingml/2006/main">
              <a:ext uri="{FF2B5EF4-FFF2-40B4-BE49-F238E27FC236}">
                <a16:creationId xmlns:a16="http://schemas.microsoft.com/office/drawing/2014/main" id="{B1F1694A-E662-4B31-AC01-BC1405111C6F}"/>
              </a:ext>
            </a:extLst>
          </p:cNvPr>
          <p:cNvSpPr>
            <a:spLocks xmlns:a="http://schemas.openxmlformats.org/drawingml/2006/main" noGrp="1"/>
          </p:cNvSpPr>
          <p:nvPr/>
        </p:nvSpPr>
        <p:spPr>
          <a:xfrm xmlns:a="http://schemas.openxmlformats.org/drawingml/2006/main">
            <a:off x="13716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D2103044-4D5B-4A15-9752-3132C46BD814}"/>
              </a:ext>
            </a:extLst>
          </p:cNvPr>
          <p:cNvSpPr>
            <a:spLocks xmlns:a="http://schemas.openxmlformats.org/drawingml/2006/main" noGrp="1"/>
          </p:cNvSpPr>
          <p:nvPr/>
        </p:nvSpPr>
        <p:spPr>
          <a:xfrm xmlns:a="http://schemas.openxmlformats.org/drawingml/2006/main">
            <a:off x="1428750" y="3848100"/>
            <a:ext cx="428625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BC50FA7B-E262-42E1-8D94-905E8E50AF13}"/>
              </a:ext>
            </a:extLst>
          </p:cNvPr>
          <p:cNvSpPr>
            <a:spLocks xmlns:a="http://schemas.openxmlformats.org/drawingml/2006/main" noGrp="1"/>
          </p:cNvSpPr>
          <p:nvPr/>
        </p:nvSpPr>
        <p:spPr>
          <a:xfrm xmlns:a="http://schemas.openxmlformats.org/drawingml/2006/main">
            <a:off x="15811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4. temporal mapping</a:t>
            </a:r>
          </a:p>
        </p:txBody>
      </p:sp>
      <p:sp>
        <p:nvSpPr>
          <p:cNvPr id="29" name="">
            <a:extLst xmlns:a="http://schemas.openxmlformats.org/drawingml/2006/main">
              <a:ext uri="{FF2B5EF4-FFF2-40B4-BE49-F238E27FC236}">
                <a16:creationId xmlns:a16="http://schemas.microsoft.com/office/drawing/2014/main" id="{0CCFC469-1A1A-472A-9662-F3EC59F9DC57}"/>
              </a:ext>
            </a:extLst>
          </p:cNvPr>
          <p:cNvSpPr>
            <a:spLocks xmlns:a="http://schemas.openxmlformats.org/drawingml/2006/main" noGrp="1"/>
          </p:cNvSpPr>
          <p:nvPr/>
        </p:nvSpPr>
        <p:spPr>
          <a:xfrm xmlns:a="http://schemas.openxmlformats.org/drawingml/2006/main">
            <a:off x="15811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culture day를 developmental stage로 어떻게</a:t>
            </a:r>
          </a:p>
          <a:p xmlns:a="http://schemas.openxmlformats.org/drawingml/2006/main">
            <a:pPr algn="l">
              <a:defRPr sz="1200" b="0">
                <a:solidFill>
                  <a:srgbClr val="132024"/>
                </a:solidFill>
              </a:defRPr>
            </a:pPr>
            <a:r>
              <a:rPr sz="1200" b="0">
                <a:solidFill>
                  <a:srgbClr val="132024"/>
                </a:solidFill>
              </a:rPr>
              <a:t>읽을 것인가? anchor: Kanton, Giandomenico</a:t>
            </a:r>
          </a:p>
        </p:txBody>
      </p:sp>
      <p:sp>
        <p:nvSpPr>
          <p:cNvPr id="30" name="">
            <a:extLst xmlns:a="http://schemas.openxmlformats.org/drawingml/2006/main">
              <a:ext uri="{FF2B5EF4-FFF2-40B4-BE49-F238E27FC236}">
                <a16:creationId xmlns:a16="http://schemas.microsoft.com/office/drawing/2014/main" id="{168B1781-FCB8-48DB-AF55-952A714558B9}"/>
              </a:ext>
            </a:extLst>
          </p:cNvPr>
          <p:cNvSpPr>
            <a:spLocks xmlns:a="http://schemas.openxmlformats.org/drawingml/2006/main" noGrp="1"/>
          </p:cNvSpPr>
          <p:nvPr/>
        </p:nvSpPr>
        <p:spPr>
          <a:xfrm xmlns:a="http://schemas.openxmlformats.org/drawingml/2006/main">
            <a:off x="64389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1" name="">
            <a:extLst xmlns:a="http://schemas.openxmlformats.org/drawingml/2006/main">
              <a:ext uri="{FF2B5EF4-FFF2-40B4-BE49-F238E27FC236}">
                <a16:creationId xmlns:a16="http://schemas.microsoft.com/office/drawing/2014/main" id="{4CD1A700-F2A1-42E5-B34C-B644A285E5D0}"/>
              </a:ext>
            </a:extLst>
          </p:cNvPr>
          <p:cNvSpPr>
            <a:spLocks xmlns:a="http://schemas.openxmlformats.org/drawingml/2006/main" noGrp="1"/>
          </p:cNvSpPr>
          <p:nvPr/>
        </p:nvSpPr>
        <p:spPr>
          <a:xfrm xmlns:a="http://schemas.openxmlformats.org/drawingml/2006/main">
            <a:off x="6496050" y="3848100"/>
            <a:ext cx="4286250" cy="571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085013D8-17A0-4C62-B9BE-1BB21217A953}"/>
              </a:ext>
            </a:extLst>
          </p:cNvPr>
          <p:cNvSpPr>
            <a:spLocks xmlns:a="http://schemas.openxmlformats.org/drawingml/2006/main" noGrp="1"/>
          </p:cNvSpPr>
          <p:nvPr/>
        </p:nvSpPr>
        <p:spPr>
          <a:xfrm xmlns:a="http://schemas.openxmlformats.org/drawingml/2006/main">
            <a:off x="66484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5. atlas alignment</a:t>
            </a:r>
          </a:p>
        </p:txBody>
      </p:sp>
      <p:sp>
        <p:nvSpPr>
          <p:cNvPr id="33" name="">
            <a:extLst xmlns:a="http://schemas.openxmlformats.org/drawingml/2006/main">
              <a:ext uri="{FF2B5EF4-FFF2-40B4-BE49-F238E27FC236}">
                <a16:creationId xmlns:a16="http://schemas.microsoft.com/office/drawing/2014/main" id="{17C0F41F-74B4-4A74-88FE-65DDEC5B9F86}"/>
              </a:ext>
            </a:extLst>
          </p:cNvPr>
          <p:cNvSpPr>
            <a:spLocks xmlns:a="http://schemas.openxmlformats.org/drawingml/2006/main" noGrp="1"/>
          </p:cNvSpPr>
          <p:nvPr/>
        </p:nvSpPr>
        <p:spPr>
          <a:xfrm xmlns:a="http://schemas.openxmlformats.org/drawingml/2006/main">
            <a:off x="66484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여러 protocol을 같은 reference atlas 좌표계에서</a:t>
            </a:r>
          </a:p>
          <a:p xmlns:a="http://schemas.openxmlformats.org/drawingml/2006/main">
            <a:pPr algn="l">
              <a:defRPr sz="1200" b="0">
                <a:solidFill>
                  <a:srgbClr val="132024"/>
                </a:solidFill>
              </a:defRPr>
            </a:pPr>
            <a:r>
              <a:rPr sz="1200" b="0">
                <a:solidFill>
                  <a:srgbClr val="132024"/>
                </a:solidFill>
              </a:rPr>
              <a:t>어떻게 정렬할 것인가? anchor: He 2024</a:t>
            </a:r>
          </a:p>
        </p:txBody>
      </p:sp>
      <p:sp>
        <p:nvSpPr>
          <p:cNvPr id="34" name="">
            <a:extLst xmlns:a="http://schemas.openxmlformats.org/drawingml/2006/main">
              <a:ext uri="{FF2B5EF4-FFF2-40B4-BE49-F238E27FC236}">
                <a16:creationId xmlns:a16="http://schemas.microsoft.com/office/drawing/2014/main" id="{54047C12-7449-49AB-BFFB-42DFFBDD53FD}"/>
              </a:ext>
            </a:extLst>
          </p:cNvPr>
          <p:cNvSpPr>
            <a:spLocks xmlns:a="http://schemas.openxmlformats.org/drawingml/2006/main" noGrp="1"/>
          </p:cNvSpPr>
          <p:nvPr/>
        </p:nvSpPr>
        <p:spPr>
          <a:xfrm xmlns:a="http://schemas.openxmlformats.org/drawingml/2006/main">
            <a:off x="2038350" y="5581650"/>
            <a:ext cx="8115300" cy="609600"/>
          </a:xfrm>
          <a:prstGeom xmlns:a="http://schemas.openxmlformats.org/drawingml/2006/main" prst="roundRect">
            <a:avLst>
              <a:gd name="adj" fmla="val 12500"/>
            </a:avLst>
          </a:prstGeom>
          <a:solidFill xmlns:a="http://schemas.openxmlformats.org/drawingml/2006/main">
            <a:srgbClr val="F7DDD8"/>
          </a:solidFill>
          <a:ln xmlns:a="http://schemas.openxmlformats.org/drawingml/2006/main" w="11430">
            <a:solidFill>
              <a:srgbClr val="132024"/>
            </a:solidFill>
            <a:prstDash val="solid"/>
          </a:ln>
        </p:spPr>
      </p:sp>
      <p:sp>
        <p:nvSpPr>
          <p:cNvPr id="35" name="">
            <a:extLst xmlns:a="http://schemas.openxmlformats.org/drawingml/2006/main">
              <a:ext uri="{FF2B5EF4-FFF2-40B4-BE49-F238E27FC236}">
                <a16:creationId xmlns:a16="http://schemas.microsoft.com/office/drawing/2014/main" id="{E1DD22AF-27E9-41D3-B35E-431DCA164B48}"/>
              </a:ext>
            </a:extLst>
          </p:cNvPr>
          <p:cNvSpPr>
            <a:spLocks xmlns:a="http://schemas.openxmlformats.org/drawingml/2006/main" noGrp="1"/>
          </p:cNvSpPr>
          <p:nvPr/>
        </p:nvSpPr>
        <p:spPr>
          <a:xfrm xmlns:a="http://schemas.openxmlformats.org/drawingml/2006/main">
            <a:off x="2085975" y="5629275"/>
            <a:ext cx="57150" cy="5143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8C2257F2-B485-4643-8DC0-8250BF310F81}"/>
              </a:ext>
            </a:extLst>
          </p:cNvPr>
          <p:cNvSpPr>
            <a:spLocks xmlns:a="http://schemas.openxmlformats.org/drawingml/2006/main" noGrp="1"/>
          </p:cNvSpPr>
          <p:nvPr/>
        </p:nvSpPr>
        <p:spPr>
          <a:xfrm xmlns:a="http://schemas.openxmlformats.org/drawingml/2006/main">
            <a:off x="2247900" y="5734050"/>
            <a:ext cx="77343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핵심 메시지: reproducibility와 fidelity는 같은 말이 아니다.</a:t>
            </a:r>
          </a:p>
        </p:txBody>
      </p:sp>
      <p:sp>
        <p:nvSpPr>
          <p:cNvPr id="37" name="">
            <a:extLst xmlns:a="http://schemas.openxmlformats.org/drawingml/2006/main">
              <a:ext uri="{FF2B5EF4-FFF2-40B4-BE49-F238E27FC236}">
                <a16:creationId xmlns:a16="http://schemas.microsoft.com/office/drawing/2014/main" id="{92E0BC1C-9BE0-41C8-943D-AA783C24255C}"/>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5축은 서로 다른 benchmark question이며, 한 축의 강점이 다른 축의 답을 대신하지 않는다.</a:t>
            </a:r>
          </a:p>
        </p:txBody>
      </p:sp>
    </p:spTree>
    <p:extLst>
      <p:ext uri="{BB962C8B-B14F-4D97-AF65-F5344CB8AC3E}">
        <p14:creationId xmlns:p14="http://schemas.microsoft.com/office/powerpoint/2010/main" val="250517712"/>
      </p:ext>
    </p:extLst>
  </p:cSld>
</p:sld>
</file>

<file path=ppt/slides/slide10.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3a9e792bcc64ca9"/>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C090206B-885B-49A4-87F9-56001D15FFE9}"/>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CE630618-38E2-4A04-8BD7-D2E34ADFAEF2}"/>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4C6E6C54-E008-49AF-B1AD-25ABCA4D407E}"/>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F4CAC02F-7DD5-49ED-BD52-6D07FABCAF21}"/>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DEF273E2-F613-450F-BEED-416797A72D31}"/>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BBAEAA45-E7A8-4F43-A567-9A84F16EE8C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B98C368-514D-49EF-9B03-CA2F28AB936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3</a:t>
            </a:r>
          </a:p>
        </p:txBody>
      </p:sp>
      <p:sp>
        <p:nvSpPr>
          <p:cNvPr id="10" name="">
            <a:extLst xmlns:a="http://schemas.openxmlformats.org/drawingml/2006/main">
              <a:ext uri="{FF2B5EF4-FFF2-40B4-BE49-F238E27FC236}">
                <a16:creationId xmlns:a16="http://schemas.microsoft.com/office/drawing/2014/main" id="{D095EBEB-D630-4598-860A-85029EB03516}"/>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10 / 12</a:t>
            </a:r>
          </a:p>
        </p:txBody>
      </p:sp>
      <p:sp>
        <p:nvSpPr>
          <p:cNvPr id="11" name="">
            <a:extLst xmlns:a="http://schemas.openxmlformats.org/drawingml/2006/main">
              <a:ext uri="{FF2B5EF4-FFF2-40B4-BE49-F238E27FC236}">
                <a16:creationId xmlns:a16="http://schemas.microsoft.com/office/drawing/2014/main" id="{A83C7A56-B01E-452B-944A-40D6092C827B}"/>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AB755F0D-47EE-478E-BF83-21B250F03F23}"/>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A48E631F-75E0-4E5D-9F9C-243930E76F2B}"/>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다음 단계: 결국 무엇을</a:t>
            </a:r>
          </a:p>
          <a:p xmlns:a="http://schemas.openxmlformats.org/drawingml/2006/main">
            <a:pPr algn="l">
              <a:defRPr sz="2850" b="1">
                <a:solidFill>
                  <a:srgbClr val="132024"/>
                </a:solidFill>
              </a:defRPr>
            </a:pPr>
            <a:r>
              <a:rPr sz="2850" b="1">
                <a:solidFill>
                  <a:srgbClr val="132024"/>
                </a:solidFill>
              </a:rPr>
              <a:t>먼저 믿고 싶은가</a:t>
            </a:r>
          </a:p>
        </p:txBody>
      </p:sp>
      <p:sp>
        <p:nvSpPr>
          <p:cNvPr id="14" name="">
            <a:extLst xmlns:a="http://schemas.openxmlformats.org/drawingml/2006/main">
              <a:ext uri="{FF2B5EF4-FFF2-40B4-BE49-F238E27FC236}">
                <a16:creationId xmlns:a16="http://schemas.microsoft.com/office/drawing/2014/main" id="{14566768-CE95-4E50-88D3-1976B67E604F}"/>
              </a:ext>
            </a:extLst>
          </p:cNvPr>
          <p:cNvSpPr>
            <a:spLocks xmlns:a="http://schemas.openxmlformats.org/drawingml/2006/main" noGrp="1"/>
          </p:cNvSpPr>
          <p:nvPr/>
        </p:nvSpPr>
        <p:spPr>
          <a:xfrm xmlns:a="http://schemas.openxmlformats.org/drawingml/2006/main">
            <a:off x="628650" y="2076450"/>
            <a:ext cx="2857500" cy="3562350"/>
          </a:xfrm>
          <a:prstGeom xmlns:a="http://schemas.openxmlformats.org/drawingml/2006/main" prst="roundRect">
            <a:avLst>
              <a:gd name="adj" fmla="val 2667"/>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CFA0D215-B8A3-4D8A-A018-F8082487700A}"/>
              </a:ext>
            </a:extLst>
          </p:cNvPr>
          <p:cNvSpPr>
            <a:spLocks xmlns:a="http://schemas.openxmlformats.org/drawingml/2006/main" noGrp="1"/>
          </p:cNvSpPr>
          <p:nvPr/>
        </p:nvSpPr>
        <p:spPr>
          <a:xfrm xmlns:a="http://schemas.openxmlformats.org/drawingml/2006/main">
            <a:off x="685800" y="2133600"/>
            <a:ext cx="27432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290714FC-6E44-4942-9621-EE10EA75EEBA}"/>
              </a:ext>
            </a:extLst>
          </p:cNvPr>
          <p:cNvSpPr>
            <a:spLocks xmlns:a="http://schemas.openxmlformats.org/drawingml/2006/main" noGrp="1"/>
          </p:cNvSpPr>
          <p:nvPr/>
        </p:nvSpPr>
        <p:spPr>
          <a:xfrm xmlns:a="http://schemas.openxmlformats.org/drawingml/2006/main">
            <a:off x="838200" y="2266950"/>
            <a:ext cx="2438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readout-first rule</a:t>
            </a:r>
          </a:p>
        </p:txBody>
      </p:sp>
      <p:sp>
        <p:nvSpPr>
          <p:cNvPr id="17" name="">
            <a:extLst xmlns:a="http://schemas.openxmlformats.org/drawingml/2006/main">
              <a:ext uri="{FF2B5EF4-FFF2-40B4-BE49-F238E27FC236}">
                <a16:creationId xmlns:a16="http://schemas.microsoft.com/office/drawing/2014/main" id="{3EB95513-A959-476A-ADC1-67BC00887658}"/>
              </a:ext>
            </a:extLst>
          </p:cNvPr>
          <p:cNvSpPr>
            <a:spLocks xmlns:a="http://schemas.openxmlformats.org/drawingml/2006/main" noGrp="1"/>
          </p:cNvSpPr>
          <p:nvPr/>
        </p:nvSpPr>
        <p:spPr>
          <a:xfrm xmlns:a="http://schemas.openxmlformats.org/drawingml/2006/main">
            <a:off x="838200" y="2686050"/>
            <a:ext cx="2438400" cy="2781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1. 먼저 가장 중요한 readout을</a:t>
            </a:r>
          </a:p>
          <a:p xmlns:a="http://schemas.openxmlformats.org/drawingml/2006/main">
            <a:pPr algn="l">
              <a:defRPr sz="1200" b="0">
                <a:solidFill>
                  <a:srgbClr val="132024"/>
                </a:solidFill>
              </a:defRPr>
            </a:pPr>
            <a:r>
              <a:rPr sz="1200" b="0">
                <a:solidFill>
                  <a:srgbClr val="132024"/>
                </a:solidFill>
              </a:rPr>
              <a:t>적는다. 2. 그 readout을 가장</a:t>
            </a:r>
          </a:p>
          <a:p xmlns:a="http://schemas.openxmlformats.org/drawingml/2006/main">
            <a:pPr algn="l">
              <a:defRPr sz="1200" b="0">
                <a:solidFill>
                  <a:srgbClr val="132024"/>
                </a:solidFill>
              </a:defRPr>
            </a:pPr>
            <a:r>
              <a:rPr sz="1200" b="0">
                <a:solidFill>
                  <a:srgbClr val="132024"/>
                </a:solidFill>
              </a:rPr>
              <a:t>직접적으로 최적화한 branch를 고른다.</a:t>
            </a:r>
          </a:p>
          <a:p xmlns:a="http://schemas.openxmlformats.org/drawingml/2006/main">
            <a:pPr algn="l">
              <a:defRPr sz="1200" b="0">
                <a:solidFill>
                  <a:srgbClr val="132024"/>
                </a:solidFill>
              </a:defRPr>
            </a:pPr>
            <a:r>
              <a:rPr sz="1200" b="0">
                <a:solidFill>
                  <a:srgbClr val="132024"/>
                </a:solidFill>
              </a:rPr>
              <a:t>3. region, benchmark,</a:t>
            </a:r>
          </a:p>
          <a:p xmlns:a="http://schemas.openxmlformats.org/drawingml/2006/main">
            <a:pPr algn="l">
              <a:defRPr sz="1200" b="0">
                <a:solidFill>
                  <a:srgbClr val="132024"/>
                </a:solidFill>
              </a:defRPr>
            </a:pPr>
            <a:r>
              <a:rPr sz="1200" b="0">
                <a:solidFill>
                  <a:srgbClr val="132024"/>
                </a:solidFill>
              </a:rPr>
              <a:t>host validation은 그다음 순서로</a:t>
            </a:r>
          </a:p>
          <a:p xmlns:a="http://schemas.openxmlformats.org/drawingml/2006/main">
            <a:pPr algn="l">
              <a:defRPr sz="1200" b="0">
                <a:solidFill>
                  <a:srgbClr val="132024"/>
                </a:solidFill>
              </a:defRPr>
            </a:pPr>
            <a:r>
              <a:rPr sz="1200" b="0">
                <a:solidFill>
                  <a:srgbClr val="132024"/>
                </a:solidFill>
              </a:rPr>
              <a:t>붙인다.</a:t>
            </a:r>
          </a:p>
        </p:txBody>
      </p:sp>
      <p:sp>
        <p:nvSpPr>
          <p:cNvPr id="18" name="">
            <a:extLst xmlns:a="http://schemas.openxmlformats.org/drawingml/2006/main">
              <a:ext uri="{FF2B5EF4-FFF2-40B4-BE49-F238E27FC236}">
                <a16:creationId xmlns:a16="http://schemas.microsoft.com/office/drawing/2014/main" id="{C2A8236C-C152-4481-BDB6-98C3B25B2FC3}"/>
              </a:ext>
            </a:extLst>
          </p:cNvPr>
          <p:cNvSpPr>
            <a:spLocks xmlns:a="http://schemas.openxmlformats.org/drawingml/2006/main" noGrp="1"/>
          </p:cNvSpPr>
          <p:nvPr/>
        </p:nvSpPr>
        <p:spPr>
          <a:xfrm xmlns:a="http://schemas.openxmlformats.org/drawingml/2006/main">
            <a:off x="384810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19" name="">
            <a:extLst xmlns:a="http://schemas.openxmlformats.org/drawingml/2006/main">
              <a:ext uri="{FF2B5EF4-FFF2-40B4-BE49-F238E27FC236}">
                <a16:creationId xmlns:a16="http://schemas.microsoft.com/office/drawing/2014/main" id="{601EFACC-FCE5-48F8-98DD-EE4705A35F09}"/>
              </a:ext>
            </a:extLst>
          </p:cNvPr>
          <p:cNvSpPr>
            <a:spLocks xmlns:a="http://schemas.openxmlformats.org/drawingml/2006/main" noGrp="1"/>
          </p:cNvSpPr>
          <p:nvPr/>
        </p:nvSpPr>
        <p:spPr>
          <a:xfrm xmlns:a="http://schemas.openxmlformats.org/drawingml/2006/main">
            <a:off x="3895725" y="2162175"/>
            <a:ext cx="47625" cy="11620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9FC27201-7147-4468-850E-C43655CD1567}"/>
              </a:ext>
            </a:extLst>
          </p:cNvPr>
          <p:cNvSpPr>
            <a:spLocks xmlns:a="http://schemas.openxmlformats.org/drawingml/2006/main" noGrp="1"/>
          </p:cNvSpPr>
          <p:nvPr/>
        </p:nvSpPr>
        <p:spPr>
          <a:xfrm xmlns:a="http://schemas.openxmlformats.org/drawingml/2006/main">
            <a:off x="401955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1" name="">
            <a:extLst xmlns:a="http://schemas.openxmlformats.org/drawingml/2006/main">
              <a:ext uri="{FF2B5EF4-FFF2-40B4-BE49-F238E27FC236}">
                <a16:creationId xmlns:a16="http://schemas.microsoft.com/office/drawing/2014/main" id="{862B034F-C636-448E-AB2A-8FDFA5A3900E}"/>
              </a:ext>
            </a:extLst>
          </p:cNvPr>
          <p:cNvSpPr>
            <a:spLocks xmlns:a="http://schemas.openxmlformats.org/drawingml/2006/main" noGrp="1"/>
          </p:cNvSpPr>
          <p:nvPr/>
        </p:nvSpPr>
        <p:spPr>
          <a:xfrm xmlns:a="http://schemas.openxmlformats.org/drawingml/2006/main">
            <a:off x="401955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composition</a:t>
            </a:r>
          </a:p>
        </p:txBody>
      </p:sp>
      <p:sp>
        <p:nvSpPr>
          <p:cNvPr id="22" name="">
            <a:extLst xmlns:a="http://schemas.openxmlformats.org/drawingml/2006/main">
              <a:ext uri="{FF2B5EF4-FFF2-40B4-BE49-F238E27FC236}">
                <a16:creationId xmlns:a16="http://schemas.microsoft.com/office/drawing/2014/main" id="{BA918CF9-9B47-42D0-ACEC-9B5326B2FA06}"/>
              </a:ext>
            </a:extLst>
          </p:cNvPr>
          <p:cNvSpPr>
            <a:spLocks xmlns:a="http://schemas.openxmlformats.org/drawingml/2006/main" noGrp="1"/>
          </p:cNvSpPr>
          <p:nvPr/>
        </p:nvSpPr>
        <p:spPr>
          <a:xfrm xmlns:a="http://schemas.openxmlformats.org/drawingml/2006/main">
            <a:off x="401955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stability</a:t>
            </a:r>
          </a:p>
          <a:p xmlns:a="http://schemas.openxmlformats.org/drawingml/2006/main">
            <a:pPr algn="l">
              <a:defRPr sz="825" b="0">
                <a:solidFill>
                  <a:srgbClr val="344146"/>
                </a:solidFill>
              </a:defRPr>
            </a:pPr>
            <a:r>
              <a:rPr sz="825" b="0">
                <a:solidFill>
                  <a:srgbClr val="344146"/>
                </a:solidFill>
              </a:rPr>
              <a:t>Velasco / Yoon</a:t>
            </a:r>
          </a:p>
        </p:txBody>
      </p:sp>
      <p:sp>
        <p:nvSpPr>
          <p:cNvPr id="23" name="">
            <a:extLst xmlns:a="http://schemas.openxmlformats.org/drawingml/2006/main">
              <a:ext uri="{FF2B5EF4-FFF2-40B4-BE49-F238E27FC236}">
                <a16:creationId xmlns:a16="http://schemas.microsoft.com/office/drawing/2014/main" id="{15249BC5-70E7-4141-9F95-7532F8817966}"/>
              </a:ext>
            </a:extLst>
          </p:cNvPr>
          <p:cNvSpPr>
            <a:spLocks xmlns:a="http://schemas.openxmlformats.org/drawingml/2006/main" noGrp="1"/>
          </p:cNvSpPr>
          <p:nvPr/>
        </p:nvSpPr>
        <p:spPr>
          <a:xfrm xmlns:a="http://schemas.openxmlformats.org/drawingml/2006/main">
            <a:off x="657225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24" name="">
            <a:extLst xmlns:a="http://schemas.openxmlformats.org/drawingml/2006/main">
              <a:ext uri="{FF2B5EF4-FFF2-40B4-BE49-F238E27FC236}">
                <a16:creationId xmlns:a16="http://schemas.microsoft.com/office/drawing/2014/main" id="{FB4C32C6-9C50-4BB3-8A5C-5E303E938582}"/>
              </a:ext>
            </a:extLst>
          </p:cNvPr>
          <p:cNvSpPr>
            <a:spLocks xmlns:a="http://schemas.openxmlformats.org/drawingml/2006/main" noGrp="1"/>
          </p:cNvSpPr>
          <p:nvPr/>
        </p:nvSpPr>
        <p:spPr>
          <a:xfrm xmlns:a="http://schemas.openxmlformats.org/drawingml/2006/main">
            <a:off x="6619875" y="2162175"/>
            <a:ext cx="47625" cy="11620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F4B176F1-4CE1-4A8A-973C-720445D9B2A6}"/>
              </a:ext>
            </a:extLst>
          </p:cNvPr>
          <p:cNvSpPr>
            <a:spLocks xmlns:a="http://schemas.openxmlformats.org/drawingml/2006/main" noGrp="1"/>
          </p:cNvSpPr>
          <p:nvPr/>
        </p:nvSpPr>
        <p:spPr>
          <a:xfrm xmlns:a="http://schemas.openxmlformats.org/drawingml/2006/main">
            <a:off x="674370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6" name="">
            <a:extLst xmlns:a="http://schemas.openxmlformats.org/drawingml/2006/main">
              <a:ext uri="{FF2B5EF4-FFF2-40B4-BE49-F238E27FC236}">
                <a16:creationId xmlns:a16="http://schemas.microsoft.com/office/drawing/2014/main" id="{E50A460D-4F07-4CD9-9C96-4BBB81C75849}"/>
              </a:ext>
            </a:extLst>
          </p:cNvPr>
          <p:cNvSpPr>
            <a:spLocks xmlns:a="http://schemas.openxmlformats.org/drawingml/2006/main" noGrp="1"/>
          </p:cNvSpPr>
          <p:nvPr/>
        </p:nvSpPr>
        <p:spPr>
          <a:xfrm xmlns:a="http://schemas.openxmlformats.org/drawingml/2006/main">
            <a:off x="674370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fidelity</a:t>
            </a:r>
          </a:p>
        </p:txBody>
      </p:sp>
      <p:sp>
        <p:nvSpPr>
          <p:cNvPr id="27" name="">
            <a:extLst xmlns:a="http://schemas.openxmlformats.org/drawingml/2006/main">
              <a:ext uri="{FF2B5EF4-FFF2-40B4-BE49-F238E27FC236}">
                <a16:creationId xmlns:a16="http://schemas.microsoft.com/office/drawing/2014/main" id="{B36FC948-407C-4F7D-B563-B339142D7E60}"/>
              </a:ext>
            </a:extLst>
          </p:cNvPr>
          <p:cNvSpPr>
            <a:spLocks xmlns:a="http://schemas.openxmlformats.org/drawingml/2006/main" noGrp="1"/>
          </p:cNvSpPr>
          <p:nvPr/>
        </p:nvSpPr>
        <p:spPr>
          <a:xfrm xmlns:a="http://schemas.openxmlformats.org/drawingml/2006/main">
            <a:off x="674370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primary-like</a:t>
            </a:r>
          </a:p>
          <a:p xmlns:a="http://schemas.openxmlformats.org/drawingml/2006/main">
            <a:pPr algn="l">
              <a:defRPr sz="825" b="0">
                <a:solidFill>
                  <a:srgbClr val="344146"/>
                </a:solidFill>
              </a:defRPr>
            </a:pPr>
            <a:r>
              <a:rPr sz="825" b="0">
                <a:solidFill>
                  <a:srgbClr val="344146"/>
                </a:solidFill>
              </a:rPr>
              <a:t>Bhaduri / He</a:t>
            </a:r>
          </a:p>
        </p:txBody>
      </p:sp>
      <p:sp>
        <p:nvSpPr>
          <p:cNvPr id="28" name="">
            <a:extLst xmlns:a="http://schemas.openxmlformats.org/drawingml/2006/main">
              <a:ext uri="{FF2B5EF4-FFF2-40B4-BE49-F238E27FC236}">
                <a16:creationId xmlns:a16="http://schemas.microsoft.com/office/drawing/2014/main" id="{B0AC76B9-DCE0-41F2-96E4-09F91EAD034E}"/>
              </a:ext>
            </a:extLst>
          </p:cNvPr>
          <p:cNvSpPr>
            <a:spLocks xmlns:a="http://schemas.openxmlformats.org/drawingml/2006/main" noGrp="1"/>
          </p:cNvSpPr>
          <p:nvPr/>
        </p:nvSpPr>
        <p:spPr>
          <a:xfrm xmlns:a="http://schemas.openxmlformats.org/drawingml/2006/main">
            <a:off x="929640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29" name="">
            <a:extLst xmlns:a="http://schemas.openxmlformats.org/drawingml/2006/main">
              <a:ext uri="{FF2B5EF4-FFF2-40B4-BE49-F238E27FC236}">
                <a16:creationId xmlns:a16="http://schemas.microsoft.com/office/drawing/2014/main" id="{75738BC3-9EFA-48B4-947E-9FE958D74A1B}"/>
              </a:ext>
            </a:extLst>
          </p:cNvPr>
          <p:cNvSpPr>
            <a:spLocks xmlns:a="http://schemas.openxmlformats.org/drawingml/2006/main" noGrp="1"/>
          </p:cNvSpPr>
          <p:nvPr/>
        </p:nvSpPr>
        <p:spPr>
          <a:xfrm xmlns:a="http://schemas.openxmlformats.org/drawingml/2006/main">
            <a:off x="9344025" y="2162175"/>
            <a:ext cx="47625" cy="11620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4CD06E01-89F8-40D6-A7D7-CBFDEF0B3CB9}"/>
              </a:ext>
            </a:extLst>
          </p:cNvPr>
          <p:cNvSpPr>
            <a:spLocks xmlns:a="http://schemas.openxmlformats.org/drawingml/2006/main" noGrp="1"/>
          </p:cNvSpPr>
          <p:nvPr/>
        </p:nvSpPr>
        <p:spPr>
          <a:xfrm xmlns:a="http://schemas.openxmlformats.org/drawingml/2006/main">
            <a:off x="946785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1" name="">
            <a:extLst xmlns:a="http://schemas.openxmlformats.org/drawingml/2006/main">
              <a:ext uri="{FF2B5EF4-FFF2-40B4-BE49-F238E27FC236}">
                <a16:creationId xmlns:a16="http://schemas.microsoft.com/office/drawing/2014/main" id="{429F62EA-B903-4FFB-90AE-999C32E0589D}"/>
              </a:ext>
            </a:extLst>
          </p:cNvPr>
          <p:cNvSpPr>
            <a:spLocks xmlns:a="http://schemas.openxmlformats.org/drawingml/2006/main" noGrp="1"/>
          </p:cNvSpPr>
          <p:nvPr/>
        </p:nvSpPr>
        <p:spPr>
          <a:xfrm xmlns:a="http://schemas.openxmlformats.org/drawingml/2006/main">
            <a:off x="946785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timing</a:t>
            </a:r>
          </a:p>
        </p:txBody>
      </p:sp>
      <p:sp>
        <p:nvSpPr>
          <p:cNvPr id="32" name="">
            <a:extLst xmlns:a="http://schemas.openxmlformats.org/drawingml/2006/main">
              <a:ext uri="{FF2B5EF4-FFF2-40B4-BE49-F238E27FC236}">
                <a16:creationId xmlns:a16="http://schemas.microsoft.com/office/drawing/2014/main" id="{32643431-C328-47EB-81B5-C16C7CBDAA5B}"/>
              </a:ext>
            </a:extLst>
          </p:cNvPr>
          <p:cNvSpPr>
            <a:spLocks xmlns:a="http://schemas.openxmlformats.org/drawingml/2006/main" noGrp="1"/>
          </p:cNvSpPr>
          <p:nvPr/>
        </p:nvSpPr>
        <p:spPr>
          <a:xfrm xmlns:a="http://schemas.openxmlformats.org/drawingml/2006/main">
            <a:off x="946785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maturation map</a:t>
            </a:r>
          </a:p>
          <a:p xmlns:a="http://schemas.openxmlformats.org/drawingml/2006/main">
            <a:pPr algn="l">
              <a:defRPr sz="825" b="0">
                <a:solidFill>
                  <a:srgbClr val="344146"/>
                </a:solidFill>
              </a:defRPr>
            </a:pPr>
            <a:r>
              <a:rPr sz="825" b="0">
                <a:solidFill>
                  <a:srgbClr val="344146"/>
                </a:solidFill>
              </a:rPr>
              <a:t>Kanton / Giandomenico</a:t>
            </a:r>
          </a:p>
        </p:txBody>
      </p:sp>
      <p:sp>
        <p:nvSpPr>
          <p:cNvPr id="33" name="">
            <a:extLst xmlns:a="http://schemas.openxmlformats.org/drawingml/2006/main">
              <a:ext uri="{FF2B5EF4-FFF2-40B4-BE49-F238E27FC236}">
                <a16:creationId xmlns:a16="http://schemas.microsoft.com/office/drawing/2014/main" id="{3290A54D-C059-49E2-8D1F-F9789F275193}"/>
              </a:ext>
            </a:extLst>
          </p:cNvPr>
          <p:cNvSpPr>
            <a:spLocks xmlns:a="http://schemas.openxmlformats.org/drawingml/2006/main" noGrp="1"/>
          </p:cNvSpPr>
          <p:nvPr/>
        </p:nvSpPr>
        <p:spPr>
          <a:xfrm xmlns:a="http://schemas.openxmlformats.org/drawingml/2006/main">
            <a:off x="384810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34" name="">
            <a:extLst xmlns:a="http://schemas.openxmlformats.org/drawingml/2006/main">
              <a:ext uri="{FF2B5EF4-FFF2-40B4-BE49-F238E27FC236}">
                <a16:creationId xmlns:a16="http://schemas.microsoft.com/office/drawing/2014/main" id="{D92DE7DA-95B4-4ECE-95AE-74465A3E666F}"/>
              </a:ext>
            </a:extLst>
          </p:cNvPr>
          <p:cNvSpPr>
            <a:spLocks xmlns:a="http://schemas.openxmlformats.org/drawingml/2006/main" noGrp="1"/>
          </p:cNvSpPr>
          <p:nvPr/>
        </p:nvSpPr>
        <p:spPr>
          <a:xfrm xmlns:a="http://schemas.openxmlformats.org/drawingml/2006/main">
            <a:off x="3895725" y="3971925"/>
            <a:ext cx="47625" cy="11620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0E6E3534-F705-403F-A19A-7B0319122791}"/>
              </a:ext>
            </a:extLst>
          </p:cNvPr>
          <p:cNvSpPr>
            <a:spLocks xmlns:a="http://schemas.openxmlformats.org/drawingml/2006/main" noGrp="1"/>
          </p:cNvSpPr>
          <p:nvPr/>
        </p:nvSpPr>
        <p:spPr>
          <a:xfrm xmlns:a="http://schemas.openxmlformats.org/drawingml/2006/main">
            <a:off x="40195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6" name="">
            <a:extLst xmlns:a="http://schemas.openxmlformats.org/drawingml/2006/main">
              <a:ext uri="{FF2B5EF4-FFF2-40B4-BE49-F238E27FC236}">
                <a16:creationId xmlns:a16="http://schemas.microsoft.com/office/drawing/2014/main" id="{9945486C-2AE1-45F0-8F4F-9AF64D26B3D7}"/>
              </a:ext>
            </a:extLst>
          </p:cNvPr>
          <p:cNvSpPr>
            <a:spLocks xmlns:a="http://schemas.openxmlformats.org/drawingml/2006/main" noGrp="1"/>
          </p:cNvSpPr>
          <p:nvPr/>
        </p:nvSpPr>
        <p:spPr>
          <a:xfrm xmlns:a="http://schemas.openxmlformats.org/drawingml/2006/main">
            <a:off x="401955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MEA</a:t>
            </a:r>
          </a:p>
        </p:txBody>
      </p:sp>
      <p:sp>
        <p:nvSpPr>
          <p:cNvPr id="37" name="">
            <a:extLst xmlns:a="http://schemas.openxmlformats.org/drawingml/2006/main">
              <a:ext uri="{FF2B5EF4-FFF2-40B4-BE49-F238E27FC236}">
                <a16:creationId xmlns:a16="http://schemas.microsoft.com/office/drawing/2014/main" id="{6F841BF1-1C2D-4BB2-8D1B-4624257CC4E8}"/>
              </a:ext>
            </a:extLst>
          </p:cNvPr>
          <p:cNvSpPr>
            <a:spLocks xmlns:a="http://schemas.openxmlformats.org/drawingml/2006/main" noGrp="1"/>
          </p:cNvSpPr>
          <p:nvPr/>
        </p:nvSpPr>
        <p:spPr>
          <a:xfrm xmlns:a="http://schemas.openxmlformats.org/drawingml/2006/main">
            <a:off x="401955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oscillation</a:t>
            </a:r>
          </a:p>
          <a:p xmlns:a="http://schemas.openxmlformats.org/drawingml/2006/main">
            <a:pPr algn="l">
              <a:defRPr sz="825" b="0">
                <a:solidFill>
                  <a:srgbClr val="344146"/>
                </a:solidFill>
              </a:defRPr>
            </a:pPr>
            <a:r>
              <a:rPr sz="825" b="0">
                <a:solidFill>
                  <a:srgbClr val="344146"/>
                </a:solidFill>
              </a:rPr>
              <a:t>Fitzgerald</a:t>
            </a:r>
          </a:p>
        </p:txBody>
      </p:sp>
      <p:sp>
        <p:nvSpPr>
          <p:cNvPr id="38" name="">
            <a:extLst xmlns:a="http://schemas.openxmlformats.org/drawingml/2006/main">
              <a:ext uri="{FF2B5EF4-FFF2-40B4-BE49-F238E27FC236}">
                <a16:creationId xmlns:a16="http://schemas.microsoft.com/office/drawing/2014/main" id="{12191C65-6305-4773-9A31-E7A31227FC17}"/>
              </a:ext>
            </a:extLst>
          </p:cNvPr>
          <p:cNvSpPr>
            <a:spLocks xmlns:a="http://schemas.openxmlformats.org/drawingml/2006/main" noGrp="1"/>
          </p:cNvSpPr>
          <p:nvPr/>
        </p:nvSpPr>
        <p:spPr>
          <a:xfrm xmlns:a="http://schemas.openxmlformats.org/drawingml/2006/main">
            <a:off x="657225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39" name="">
            <a:extLst xmlns:a="http://schemas.openxmlformats.org/drawingml/2006/main">
              <a:ext uri="{FF2B5EF4-FFF2-40B4-BE49-F238E27FC236}">
                <a16:creationId xmlns:a16="http://schemas.microsoft.com/office/drawing/2014/main" id="{FD06B8F0-4F4A-4A9D-A8CC-228B32D7B011}"/>
              </a:ext>
            </a:extLst>
          </p:cNvPr>
          <p:cNvSpPr>
            <a:spLocks xmlns:a="http://schemas.openxmlformats.org/drawingml/2006/main" noGrp="1"/>
          </p:cNvSpPr>
          <p:nvPr/>
        </p:nvSpPr>
        <p:spPr>
          <a:xfrm xmlns:a="http://schemas.openxmlformats.org/drawingml/2006/main">
            <a:off x="6619875" y="3971925"/>
            <a:ext cx="47625" cy="11620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75E692B1-C672-47D7-A6F5-8C184FFB82FA}"/>
              </a:ext>
            </a:extLst>
          </p:cNvPr>
          <p:cNvSpPr>
            <a:spLocks xmlns:a="http://schemas.openxmlformats.org/drawingml/2006/main" noGrp="1"/>
          </p:cNvSpPr>
          <p:nvPr/>
        </p:nvSpPr>
        <p:spPr>
          <a:xfrm xmlns:a="http://schemas.openxmlformats.org/drawingml/2006/main">
            <a:off x="674370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1" name="">
            <a:extLst xmlns:a="http://schemas.openxmlformats.org/drawingml/2006/main">
              <a:ext uri="{FF2B5EF4-FFF2-40B4-BE49-F238E27FC236}">
                <a16:creationId xmlns:a16="http://schemas.microsoft.com/office/drawing/2014/main" id="{D05C581A-B066-4D42-B89B-AC2D3EB58777}"/>
              </a:ext>
            </a:extLst>
          </p:cNvPr>
          <p:cNvSpPr>
            <a:spLocks xmlns:a="http://schemas.openxmlformats.org/drawingml/2006/main" noGrp="1"/>
          </p:cNvSpPr>
          <p:nvPr/>
        </p:nvSpPr>
        <p:spPr>
          <a:xfrm xmlns:a="http://schemas.openxmlformats.org/drawingml/2006/main">
            <a:off x="674370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host circuit</a:t>
            </a:r>
          </a:p>
        </p:txBody>
      </p:sp>
      <p:sp>
        <p:nvSpPr>
          <p:cNvPr id="42" name="">
            <a:extLst xmlns:a="http://schemas.openxmlformats.org/drawingml/2006/main">
              <a:ext uri="{FF2B5EF4-FFF2-40B4-BE49-F238E27FC236}">
                <a16:creationId xmlns:a16="http://schemas.microsoft.com/office/drawing/2014/main" id="{1780D057-0E44-48D7-B328-730F0D168444}"/>
              </a:ext>
            </a:extLst>
          </p:cNvPr>
          <p:cNvSpPr>
            <a:spLocks xmlns:a="http://schemas.openxmlformats.org/drawingml/2006/main" noGrp="1"/>
          </p:cNvSpPr>
          <p:nvPr/>
        </p:nvSpPr>
        <p:spPr>
          <a:xfrm xmlns:a="http://schemas.openxmlformats.org/drawingml/2006/main">
            <a:off x="674370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integration</a:t>
            </a:r>
          </a:p>
          <a:p xmlns:a="http://schemas.openxmlformats.org/drawingml/2006/main">
            <a:pPr algn="l">
              <a:defRPr sz="825" b="0">
                <a:solidFill>
                  <a:srgbClr val="344146"/>
                </a:solidFill>
              </a:defRPr>
            </a:pPr>
            <a:r>
              <a:rPr sz="825" b="0">
                <a:solidFill>
                  <a:srgbClr val="344146"/>
                </a:solidFill>
              </a:rPr>
              <a:t>Kelley</a:t>
            </a:r>
          </a:p>
        </p:txBody>
      </p:sp>
      <p:sp>
        <p:nvSpPr>
          <p:cNvPr id="43" name="">
            <a:extLst xmlns:a="http://schemas.openxmlformats.org/drawingml/2006/main">
              <a:ext uri="{FF2B5EF4-FFF2-40B4-BE49-F238E27FC236}">
                <a16:creationId xmlns:a16="http://schemas.microsoft.com/office/drawing/2014/main" id="{FB0D0291-5949-414B-86F5-EFEF2925819E}"/>
              </a:ext>
            </a:extLst>
          </p:cNvPr>
          <p:cNvSpPr>
            <a:spLocks xmlns:a="http://schemas.openxmlformats.org/drawingml/2006/main" noGrp="1"/>
          </p:cNvSpPr>
          <p:nvPr/>
        </p:nvSpPr>
        <p:spPr>
          <a:xfrm xmlns:a="http://schemas.openxmlformats.org/drawingml/2006/main">
            <a:off x="929640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44" name="">
            <a:extLst xmlns:a="http://schemas.openxmlformats.org/drawingml/2006/main">
              <a:ext uri="{FF2B5EF4-FFF2-40B4-BE49-F238E27FC236}">
                <a16:creationId xmlns:a16="http://schemas.microsoft.com/office/drawing/2014/main" id="{8516B33C-0726-4487-8121-19C8F6343A98}"/>
              </a:ext>
            </a:extLst>
          </p:cNvPr>
          <p:cNvSpPr>
            <a:spLocks xmlns:a="http://schemas.openxmlformats.org/drawingml/2006/main" noGrp="1"/>
          </p:cNvSpPr>
          <p:nvPr/>
        </p:nvSpPr>
        <p:spPr>
          <a:xfrm xmlns:a="http://schemas.openxmlformats.org/drawingml/2006/main">
            <a:off x="9344025" y="3971925"/>
            <a:ext cx="47625" cy="1162050"/>
          </a:xfrm>
          <a:prstGeom xmlns:a="http://schemas.openxmlformats.org/drawingml/2006/main" prst="rect">
            <a:avLst/>
          </a:prstGeom>
          <a:solidFill xmlns:a="http://schemas.openxmlformats.org/drawingml/2006/main">
            <a:srgbClr val="7D6AA7"/>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E87FA2F6-CB1F-4CD9-85F6-13CDBA6DF8BC}"/>
              </a:ext>
            </a:extLst>
          </p:cNvPr>
          <p:cNvSpPr>
            <a:spLocks xmlns:a="http://schemas.openxmlformats.org/drawingml/2006/main" noGrp="1"/>
          </p:cNvSpPr>
          <p:nvPr/>
        </p:nvSpPr>
        <p:spPr>
          <a:xfrm xmlns:a="http://schemas.openxmlformats.org/drawingml/2006/main">
            <a:off x="94678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6" name="">
            <a:extLst xmlns:a="http://schemas.openxmlformats.org/drawingml/2006/main">
              <a:ext uri="{FF2B5EF4-FFF2-40B4-BE49-F238E27FC236}">
                <a16:creationId xmlns:a16="http://schemas.microsoft.com/office/drawing/2014/main" id="{19ED3336-5F22-4262-9C07-4425BABE5F0E}"/>
              </a:ext>
            </a:extLst>
          </p:cNvPr>
          <p:cNvSpPr>
            <a:spLocks xmlns:a="http://schemas.openxmlformats.org/drawingml/2006/main" noGrp="1"/>
          </p:cNvSpPr>
          <p:nvPr/>
        </p:nvSpPr>
        <p:spPr>
          <a:xfrm xmlns:a="http://schemas.openxmlformats.org/drawingml/2006/main">
            <a:off x="946785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screening</a:t>
            </a:r>
          </a:p>
        </p:txBody>
      </p:sp>
      <p:sp>
        <p:nvSpPr>
          <p:cNvPr id="47" name="">
            <a:extLst xmlns:a="http://schemas.openxmlformats.org/drawingml/2006/main">
              <a:ext uri="{FF2B5EF4-FFF2-40B4-BE49-F238E27FC236}">
                <a16:creationId xmlns:a16="http://schemas.microsoft.com/office/drawing/2014/main" id="{E0265174-9959-4E40-9878-0B0A0FFFD198}"/>
              </a:ext>
            </a:extLst>
          </p:cNvPr>
          <p:cNvSpPr>
            <a:spLocks xmlns:a="http://schemas.openxmlformats.org/drawingml/2006/main" noGrp="1"/>
          </p:cNvSpPr>
          <p:nvPr/>
        </p:nvSpPr>
        <p:spPr>
          <a:xfrm xmlns:a="http://schemas.openxmlformats.org/drawingml/2006/main">
            <a:off x="946785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perturbation</a:t>
            </a:r>
          </a:p>
          <a:p xmlns:a="http://schemas.openxmlformats.org/drawingml/2006/main">
            <a:pPr algn="l">
              <a:defRPr sz="825" b="0">
                <a:solidFill>
                  <a:srgbClr val="344146"/>
                </a:solidFill>
              </a:defRPr>
            </a:pPr>
            <a:r>
              <a:rPr sz="825" b="0">
                <a:solidFill>
                  <a:srgbClr val="344146"/>
                </a:solidFill>
              </a:rPr>
              <a:t>Chen / Meng</a:t>
            </a:r>
          </a:p>
        </p:txBody>
      </p:sp>
      <p:sp>
        <p:nvSpPr>
          <p:cNvPr id="48" name="">
            <a:extLst xmlns:a="http://schemas.openxmlformats.org/drawingml/2006/main">
              <a:ext uri="{FF2B5EF4-FFF2-40B4-BE49-F238E27FC236}">
                <a16:creationId xmlns:a16="http://schemas.microsoft.com/office/drawing/2014/main" id="{A0CD3C8F-18E3-4E20-97CB-A4712CB636C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최종 질문: 어느 region을 만들까? 보다 무엇을 먼저 믿고 싶은가?</a:t>
            </a:r>
          </a:p>
        </p:txBody>
      </p:sp>
    </p:spTree>
    <p:extLst>
      <p:ext uri="{BB962C8B-B14F-4D97-AF65-F5344CB8AC3E}">
        <p14:creationId xmlns:p14="http://schemas.microsoft.com/office/powerpoint/2010/main" val="1747143341"/>
      </p:ext>
    </p:extLst>
  </p:cSld>
</p:sld>
</file>

<file path=ppt/slides/slide1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5a429a8104b4a62"/>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52230EC-2926-4373-9A13-11DA5981AA4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0E6F7F5-02C7-40D1-A1B8-2FE657025465}"/>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33490542-ADDF-4C85-9DF6-5C8E59FAA2A8}"/>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2DD9C5F6-7393-488C-BF7D-307F049F70E2}"/>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F5C5D73C-83F1-4923-BD03-EC3A114D77A0}"/>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68FC44BF-416E-453A-8779-6381B105D14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C1CBA0DE-F33D-4C6A-BACE-FC271A5EC84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REVIEW WRITING</a:t>
            </a:r>
          </a:p>
        </p:txBody>
      </p:sp>
      <p:sp>
        <p:nvSpPr>
          <p:cNvPr id="10" name="">
            <a:extLst xmlns:a="http://schemas.openxmlformats.org/drawingml/2006/main">
              <a:ext uri="{FF2B5EF4-FFF2-40B4-BE49-F238E27FC236}">
                <a16:creationId xmlns:a16="http://schemas.microsoft.com/office/drawing/2014/main" id="{CE9893DB-C1CD-498E-9D01-69F6D95C68A9}"/>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11 / 12</a:t>
            </a:r>
          </a:p>
        </p:txBody>
      </p:sp>
      <p:sp>
        <p:nvSpPr>
          <p:cNvPr id="11" name="">
            <a:extLst xmlns:a="http://schemas.openxmlformats.org/drawingml/2006/main">
              <a:ext uri="{FF2B5EF4-FFF2-40B4-BE49-F238E27FC236}">
                <a16:creationId xmlns:a16="http://schemas.microsoft.com/office/drawing/2014/main" id="{D8E04E29-556D-4CE3-A5EC-605CA9893DBF}"/>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0157BCBF-0D7A-4158-80F2-6F13FF1825AC}"/>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1F7B0E0F-9B1A-4ABE-92EA-21156651B7B9}"/>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이 질문 체인이</a:t>
            </a:r>
          </a:p>
          <a:p xmlns:a="http://schemas.openxmlformats.org/drawingml/2006/main">
            <a:pPr algn="l">
              <a:defRPr sz="2850" b="1">
                <a:solidFill>
                  <a:srgbClr val="132024"/>
                </a:solidFill>
              </a:defRPr>
            </a:pPr>
            <a:r>
              <a:rPr sz="2850" b="1">
                <a:solidFill>
                  <a:srgbClr val="132024"/>
                </a:solidFill>
              </a:rPr>
              <a:t>리뷰 논문 구조에 준 영향</a:t>
            </a:r>
          </a:p>
        </p:txBody>
      </p:sp>
      <p:sp>
        <p:nvSpPr>
          <p:cNvPr id="14" name="">
            <a:extLst xmlns:a="http://schemas.openxmlformats.org/drawingml/2006/main">
              <a:ext uri="{FF2B5EF4-FFF2-40B4-BE49-F238E27FC236}">
                <a16:creationId xmlns:a16="http://schemas.microsoft.com/office/drawing/2014/main" id="{E3236730-E948-46D5-977D-7C744856DD72}"/>
              </a:ext>
            </a:extLst>
          </p:cNvPr>
          <p:cNvSpPr>
            <a:spLocks xmlns:a="http://schemas.openxmlformats.org/drawingml/2006/main" noGrp="1"/>
          </p:cNvSpPr>
          <p:nvPr/>
        </p:nvSpPr>
        <p:spPr>
          <a:xfrm xmlns:a="http://schemas.openxmlformats.org/drawingml/2006/main">
            <a:off x="704850" y="2209800"/>
            <a:ext cx="3162300" cy="2400300"/>
          </a:xfrm>
          <a:prstGeom xmlns:a="http://schemas.openxmlformats.org/drawingml/2006/main" prst="roundRect">
            <a:avLst>
              <a:gd name="adj" fmla="val 317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50361F0B-77A8-4BEB-AE0C-A0BB82B39528}"/>
              </a:ext>
            </a:extLst>
          </p:cNvPr>
          <p:cNvSpPr>
            <a:spLocks xmlns:a="http://schemas.openxmlformats.org/drawingml/2006/main" noGrp="1"/>
          </p:cNvSpPr>
          <p:nvPr/>
        </p:nvSpPr>
        <p:spPr>
          <a:xfrm xmlns:a="http://schemas.openxmlformats.org/drawingml/2006/main">
            <a:off x="762000" y="2266950"/>
            <a:ext cx="30480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FF5C96E2-0EFF-4E8E-90E5-5DC995712A11}"/>
              </a:ext>
            </a:extLst>
          </p:cNvPr>
          <p:cNvSpPr>
            <a:spLocks xmlns:a="http://schemas.openxmlformats.org/drawingml/2006/main" noGrp="1"/>
          </p:cNvSpPr>
          <p:nvPr/>
        </p:nvSpPr>
        <p:spPr>
          <a:xfrm xmlns:a="http://schemas.openxmlformats.org/drawingml/2006/main">
            <a:off x="914400" y="240030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리뷰 1장</a:t>
            </a:r>
          </a:p>
        </p:txBody>
      </p:sp>
      <p:sp>
        <p:nvSpPr>
          <p:cNvPr id="17" name="">
            <a:extLst xmlns:a="http://schemas.openxmlformats.org/drawingml/2006/main">
              <a:ext uri="{FF2B5EF4-FFF2-40B4-BE49-F238E27FC236}">
                <a16:creationId xmlns:a16="http://schemas.microsoft.com/office/drawing/2014/main" id="{A4C729C8-4E3D-4C8E-B33F-F62046A6C8EC}"/>
              </a:ext>
            </a:extLst>
          </p:cNvPr>
          <p:cNvSpPr>
            <a:spLocks xmlns:a="http://schemas.openxmlformats.org/drawingml/2006/main" noGrp="1"/>
          </p:cNvSpPr>
          <p:nvPr/>
        </p:nvSpPr>
        <p:spPr>
          <a:xfrm xmlns:a="http://schemas.openxmlformats.org/drawingml/2006/main">
            <a:off x="914400" y="2819400"/>
            <a:ext cx="2743200" cy="1619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brain organoid baseline</a:t>
            </a:r>
          </a:p>
          <a:p xmlns:a="http://schemas.openxmlformats.org/drawingml/2006/main">
            <a:pPr algn="l">
              <a:defRPr sz="1200" b="0">
                <a:solidFill>
                  <a:srgbClr val="132024"/>
                </a:solidFill>
              </a:defRPr>
            </a:pPr>
            <a:r>
              <a:rPr sz="1200" b="0">
                <a:solidFill>
                  <a:srgbClr val="132024"/>
                </a:solidFill>
              </a:rPr>
              <a:t>family whole cerebral -&gt;</a:t>
            </a:r>
          </a:p>
          <a:p xmlns:a="http://schemas.openxmlformats.org/drawingml/2006/main">
            <a:pPr algn="l">
              <a:defRPr sz="1200" b="0">
                <a:solidFill>
                  <a:srgbClr val="132024"/>
                </a:solidFill>
              </a:defRPr>
            </a:pPr>
            <a:r>
              <a:rPr sz="1200" b="0">
                <a:solidFill>
                  <a:srgbClr val="132024"/>
                </a:solidFill>
              </a:rPr>
              <a:t>forebrain / cortical -&gt;</a:t>
            </a:r>
          </a:p>
          <a:p xmlns:a="http://schemas.openxmlformats.org/drawingml/2006/main">
            <a:pPr algn="l">
              <a:defRPr sz="1200" b="0">
                <a:solidFill>
                  <a:srgbClr val="132024"/>
                </a:solidFill>
              </a:defRPr>
            </a:pPr>
            <a:r>
              <a:rPr sz="1200" b="0">
                <a:solidFill>
                  <a:srgbClr val="132024"/>
                </a:solidFill>
              </a:rPr>
              <a:t>posterior / niche routes</a:t>
            </a:r>
          </a:p>
        </p:txBody>
      </p:sp>
      <p:sp>
        <p:nvSpPr>
          <p:cNvPr id="18" name="">
            <a:extLst xmlns:a="http://schemas.openxmlformats.org/drawingml/2006/main">
              <a:ext uri="{FF2B5EF4-FFF2-40B4-BE49-F238E27FC236}">
                <a16:creationId xmlns:a16="http://schemas.microsoft.com/office/drawing/2014/main" id="{9EA1337F-4FD2-455A-970B-363F28A6B86C}"/>
              </a:ext>
            </a:extLst>
          </p:cNvPr>
          <p:cNvSpPr>
            <a:spLocks xmlns:a="http://schemas.openxmlformats.org/drawingml/2006/main" noGrp="1"/>
          </p:cNvSpPr>
          <p:nvPr/>
        </p:nvSpPr>
        <p:spPr>
          <a:xfrm xmlns:a="http://schemas.openxmlformats.org/drawingml/2006/main">
            <a:off x="400050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19" name="">
            <a:extLst xmlns:a="http://schemas.openxmlformats.org/drawingml/2006/main">
              <a:ext uri="{FF2B5EF4-FFF2-40B4-BE49-F238E27FC236}">
                <a16:creationId xmlns:a16="http://schemas.microsoft.com/office/drawing/2014/main" id="{EA668988-77B6-4926-93EE-FDDCB9C4F5E7}"/>
              </a:ext>
            </a:extLst>
          </p:cNvPr>
          <p:cNvSpPr>
            <a:spLocks xmlns:a="http://schemas.openxmlformats.org/drawingml/2006/main" noGrp="1"/>
          </p:cNvSpPr>
          <p:nvPr/>
        </p:nvSpPr>
        <p:spPr>
          <a:xfrm xmlns:a="http://schemas.openxmlformats.org/drawingml/2006/main">
            <a:off x="4762500" y="2209800"/>
            <a:ext cx="3162300" cy="2400300"/>
          </a:xfrm>
          <a:prstGeom xmlns:a="http://schemas.openxmlformats.org/drawingml/2006/main" prst="roundRect">
            <a:avLst>
              <a:gd name="adj" fmla="val 317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0307687A-9FF9-4D6E-9FA3-0E88122C0C11}"/>
              </a:ext>
            </a:extLst>
          </p:cNvPr>
          <p:cNvSpPr>
            <a:spLocks xmlns:a="http://schemas.openxmlformats.org/drawingml/2006/main" noGrp="1"/>
          </p:cNvSpPr>
          <p:nvPr/>
        </p:nvSpPr>
        <p:spPr>
          <a:xfrm xmlns:a="http://schemas.openxmlformats.org/drawingml/2006/main">
            <a:off x="4819650" y="2266950"/>
            <a:ext cx="30480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C90474FA-1F73-49BA-A7E8-7158A0734E14}"/>
              </a:ext>
            </a:extLst>
          </p:cNvPr>
          <p:cNvSpPr>
            <a:spLocks xmlns:a="http://schemas.openxmlformats.org/drawingml/2006/main" noGrp="1"/>
          </p:cNvSpPr>
          <p:nvPr/>
        </p:nvSpPr>
        <p:spPr>
          <a:xfrm xmlns:a="http://schemas.openxmlformats.org/drawingml/2006/main">
            <a:off x="4972050" y="240030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리뷰 2장</a:t>
            </a:r>
          </a:p>
        </p:txBody>
      </p:sp>
      <p:sp>
        <p:nvSpPr>
          <p:cNvPr id="22" name="">
            <a:extLst xmlns:a="http://schemas.openxmlformats.org/drawingml/2006/main">
              <a:ext uri="{FF2B5EF4-FFF2-40B4-BE49-F238E27FC236}">
                <a16:creationId xmlns:a16="http://schemas.microsoft.com/office/drawing/2014/main" id="{3FD80DB5-EC63-49B5-BD45-D3AD44BE19C6}"/>
              </a:ext>
            </a:extLst>
          </p:cNvPr>
          <p:cNvSpPr>
            <a:spLocks xmlns:a="http://schemas.openxmlformats.org/drawingml/2006/main" noGrp="1"/>
          </p:cNvSpPr>
          <p:nvPr/>
        </p:nvSpPr>
        <p:spPr>
          <a:xfrm xmlns:a="http://schemas.openxmlformats.org/drawingml/2006/main">
            <a:off x="4972050" y="2819400"/>
            <a:ext cx="2743200" cy="1619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protocol benchmark axes</a:t>
            </a:r>
          </a:p>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 atlas alignment</a:t>
            </a:r>
          </a:p>
        </p:txBody>
      </p:sp>
      <p:sp>
        <p:nvSpPr>
          <p:cNvPr id="23" name="">
            <a:extLst xmlns:a="http://schemas.openxmlformats.org/drawingml/2006/main">
              <a:ext uri="{FF2B5EF4-FFF2-40B4-BE49-F238E27FC236}">
                <a16:creationId xmlns:a16="http://schemas.microsoft.com/office/drawing/2014/main" id="{ABA45EDC-C2CD-40B1-BF76-F8F161588161}"/>
              </a:ext>
            </a:extLst>
          </p:cNvPr>
          <p:cNvSpPr>
            <a:spLocks xmlns:a="http://schemas.openxmlformats.org/drawingml/2006/main" noGrp="1"/>
          </p:cNvSpPr>
          <p:nvPr/>
        </p:nvSpPr>
        <p:spPr>
          <a:xfrm xmlns:a="http://schemas.openxmlformats.org/drawingml/2006/main">
            <a:off x="805815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4" name="">
            <a:extLst xmlns:a="http://schemas.openxmlformats.org/drawingml/2006/main">
              <a:ext uri="{FF2B5EF4-FFF2-40B4-BE49-F238E27FC236}">
                <a16:creationId xmlns:a16="http://schemas.microsoft.com/office/drawing/2014/main" id="{F19BC522-95A2-4D10-B971-474B16DF5A17}"/>
              </a:ext>
            </a:extLst>
          </p:cNvPr>
          <p:cNvSpPr>
            <a:spLocks xmlns:a="http://schemas.openxmlformats.org/drawingml/2006/main" noGrp="1"/>
          </p:cNvSpPr>
          <p:nvPr/>
        </p:nvSpPr>
        <p:spPr>
          <a:xfrm xmlns:a="http://schemas.openxmlformats.org/drawingml/2006/main">
            <a:off x="8820150" y="2209800"/>
            <a:ext cx="2667000" cy="2400300"/>
          </a:xfrm>
          <a:prstGeom xmlns:a="http://schemas.openxmlformats.org/drawingml/2006/main" prst="roundRect">
            <a:avLst>
              <a:gd name="adj" fmla="val 317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5" name="">
            <a:extLst xmlns:a="http://schemas.openxmlformats.org/drawingml/2006/main">
              <a:ext uri="{FF2B5EF4-FFF2-40B4-BE49-F238E27FC236}">
                <a16:creationId xmlns:a16="http://schemas.microsoft.com/office/drawing/2014/main" id="{D83D6569-1440-4D5D-959D-A29757960CB4}"/>
              </a:ext>
            </a:extLst>
          </p:cNvPr>
          <p:cNvSpPr>
            <a:spLocks xmlns:a="http://schemas.openxmlformats.org/drawingml/2006/main" noGrp="1"/>
          </p:cNvSpPr>
          <p:nvPr/>
        </p:nvSpPr>
        <p:spPr>
          <a:xfrm xmlns:a="http://schemas.openxmlformats.org/drawingml/2006/main">
            <a:off x="8877300" y="2266950"/>
            <a:ext cx="25527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8817F1A5-7D89-4777-820E-9B5BB081D7B5}"/>
              </a:ext>
            </a:extLst>
          </p:cNvPr>
          <p:cNvSpPr>
            <a:spLocks xmlns:a="http://schemas.openxmlformats.org/drawingml/2006/main" noGrp="1"/>
          </p:cNvSpPr>
          <p:nvPr/>
        </p:nvSpPr>
        <p:spPr>
          <a:xfrm xmlns:a="http://schemas.openxmlformats.org/drawingml/2006/main">
            <a:off x="9029700" y="2400300"/>
            <a:ext cx="2247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리뷰 3장</a:t>
            </a:r>
          </a:p>
        </p:txBody>
      </p:sp>
      <p:sp>
        <p:nvSpPr>
          <p:cNvPr id="27" name="">
            <a:extLst xmlns:a="http://schemas.openxmlformats.org/drawingml/2006/main">
              <a:ext uri="{FF2B5EF4-FFF2-40B4-BE49-F238E27FC236}">
                <a16:creationId xmlns:a16="http://schemas.microsoft.com/office/drawing/2014/main" id="{6C6D2C3A-471E-413A-A278-A60B885BBB28}"/>
              </a:ext>
            </a:extLst>
          </p:cNvPr>
          <p:cNvSpPr>
            <a:spLocks xmlns:a="http://schemas.openxmlformats.org/drawingml/2006/main" noGrp="1"/>
          </p:cNvSpPr>
          <p:nvPr/>
        </p:nvSpPr>
        <p:spPr>
          <a:xfrm xmlns:a="http://schemas.openxmlformats.org/drawingml/2006/main">
            <a:off x="9029700" y="2819400"/>
            <a:ext cx="2247900" cy="1619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readout-first selection</a:t>
            </a:r>
          </a:p>
          <a:p xmlns:a="http://schemas.openxmlformats.org/drawingml/2006/main">
            <a:pPr algn="l">
              <a:defRPr sz="1200" b="0">
                <a:solidFill>
                  <a:srgbClr val="132024"/>
                </a:solidFill>
              </a:defRPr>
            </a:pPr>
            <a:r>
              <a:rPr sz="1200" b="0">
                <a:solidFill>
                  <a:srgbClr val="132024"/>
                </a:solidFill>
              </a:rPr>
              <a:t>rule MEA, host, atlas,</a:t>
            </a:r>
          </a:p>
          <a:p xmlns:a="http://schemas.openxmlformats.org/drawingml/2006/main">
            <a:pPr algn="l">
              <a:defRPr sz="1200" b="0">
                <a:solidFill>
                  <a:srgbClr val="132024"/>
                </a:solidFill>
              </a:defRPr>
            </a:pPr>
            <a:r>
              <a:rPr sz="1200" b="0">
                <a:solidFill>
                  <a:srgbClr val="132024"/>
                </a:solidFill>
              </a:rPr>
              <a:t>screening</a:t>
            </a:r>
          </a:p>
        </p:txBody>
      </p:sp>
      <p:sp>
        <p:nvSpPr>
          <p:cNvPr id="28" name="">
            <a:extLst xmlns:a="http://schemas.openxmlformats.org/drawingml/2006/main">
              <a:ext uri="{FF2B5EF4-FFF2-40B4-BE49-F238E27FC236}">
                <a16:creationId xmlns:a16="http://schemas.microsoft.com/office/drawing/2014/main" id="{6AE76FE0-AF64-4D27-B67F-E8994364ADEC}"/>
              </a:ext>
            </a:extLst>
          </p:cNvPr>
          <p:cNvSpPr>
            <a:spLocks xmlns:a="http://schemas.openxmlformats.org/drawingml/2006/main" noGrp="1"/>
          </p:cNvSpPr>
          <p:nvPr/>
        </p:nvSpPr>
        <p:spPr>
          <a:xfrm xmlns:a="http://schemas.openxmlformats.org/drawingml/2006/main">
            <a:off x="723900" y="5029200"/>
            <a:ext cx="10744200" cy="819150"/>
          </a:xfrm>
          <a:prstGeom xmlns:a="http://schemas.openxmlformats.org/drawingml/2006/main" prst="roundRect">
            <a:avLst>
              <a:gd name="adj" fmla="val 9302"/>
            </a:avLst>
          </a:prstGeom>
          <a:solidFill xmlns:a="http://schemas.openxmlformats.org/drawingml/2006/main">
            <a:srgbClr val="F4E8C8"/>
          </a:solidFill>
          <a:ln xmlns:a="http://schemas.openxmlformats.org/drawingml/2006/main" w="11430">
            <a:solidFill>
              <a:srgbClr val="132024"/>
            </a:solidFill>
            <a:prstDash val="solid"/>
          </a:ln>
        </p:spPr>
      </p:sp>
      <p:sp>
        <p:nvSpPr>
          <p:cNvPr id="29" name="">
            <a:extLst xmlns:a="http://schemas.openxmlformats.org/drawingml/2006/main">
              <a:ext uri="{FF2B5EF4-FFF2-40B4-BE49-F238E27FC236}">
                <a16:creationId xmlns:a16="http://schemas.microsoft.com/office/drawing/2014/main" id="{AFFD26AC-802D-4C70-9420-FB597967DC4C}"/>
              </a:ext>
            </a:extLst>
          </p:cNvPr>
          <p:cNvSpPr>
            <a:spLocks xmlns:a="http://schemas.openxmlformats.org/drawingml/2006/main" noGrp="1"/>
          </p:cNvSpPr>
          <p:nvPr/>
        </p:nvSpPr>
        <p:spPr>
          <a:xfrm xmlns:a="http://schemas.openxmlformats.org/drawingml/2006/main">
            <a:off x="771525" y="5076825"/>
            <a:ext cx="57150" cy="7239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0967D56F-6A63-4341-A25C-FF8A51870AE7}"/>
              </a:ext>
            </a:extLst>
          </p:cNvPr>
          <p:cNvSpPr>
            <a:spLocks xmlns:a="http://schemas.openxmlformats.org/drawingml/2006/main" noGrp="1"/>
          </p:cNvSpPr>
          <p:nvPr/>
        </p:nvSpPr>
        <p:spPr>
          <a:xfrm xmlns:a="http://schemas.openxmlformats.org/drawingml/2006/main">
            <a:off x="933450" y="5181600"/>
            <a:ext cx="103632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즉 발표는 질문이 변한 과정을 보여주고, 리뷰 논문은 그 과정이 남긴 organizing principle을 글의 장 구조로 고정한다.</a:t>
            </a:r>
          </a:p>
        </p:txBody>
      </p:sp>
      <p:sp>
        <p:nvSpPr>
          <p:cNvPr id="31" name="">
            <a:extLst xmlns:a="http://schemas.openxmlformats.org/drawingml/2006/main">
              <a:ext uri="{FF2B5EF4-FFF2-40B4-BE49-F238E27FC236}">
                <a16:creationId xmlns:a16="http://schemas.microsoft.com/office/drawing/2014/main" id="{BF9CA981-0DD6-4B90-924A-58F3445FBB1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발표와 리뷰 논문이 따로 노는 것이 아니라, 같은 위키 체인의 서로 다른 출력물이라는 점을 보여준다.</a:t>
            </a:r>
          </a:p>
        </p:txBody>
      </p:sp>
    </p:spTree>
    <p:extLst>
      <p:ext uri="{BB962C8B-B14F-4D97-AF65-F5344CB8AC3E}">
        <p14:creationId xmlns:p14="http://schemas.microsoft.com/office/powerpoint/2010/main" val="1787582743"/>
      </p:ext>
    </p:extLst>
  </p:cSld>
</p:sld>
</file>

<file path=ppt/slides/slide1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821508BF-91E3-4E78-84B3-DCBD229C866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3ce7e75ba5a41cb"/>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AB9F881-6422-4547-AA6E-C05F8E98B47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185835C4-95A7-4D1F-A151-4D4056C69FB5}"/>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D3ECED67-1EC9-45CB-BD1D-A00FF5B9D9C6}"/>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9E31B7EF-593C-421B-99F9-1B1EA7E71802}"/>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1DFDEA9F-25BA-4CA1-8777-4960F5AFA8BC}"/>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1BC3AAE2-42FE-4AA3-9918-813C1957CC4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1D07CF24-FBF8-4F41-98ED-BB5694072A6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CLOSING</a:t>
            </a:r>
          </a:p>
        </p:txBody>
      </p:sp>
      <p:sp>
        <p:nvSpPr>
          <p:cNvPr id="10" name="">
            <a:extLst xmlns:a="http://schemas.openxmlformats.org/drawingml/2006/main">
              <a:ext uri="{FF2B5EF4-FFF2-40B4-BE49-F238E27FC236}">
                <a16:creationId xmlns:a16="http://schemas.microsoft.com/office/drawing/2014/main" id="{7AA1A5C0-A672-4462-A293-AEB1848EF53C}"/>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12 / 12</a:t>
            </a:r>
          </a:p>
        </p:txBody>
      </p:sp>
      <p:sp>
        <p:nvSpPr>
          <p:cNvPr id="11" name="">
            <a:extLst xmlns:a="http://schemas.openxmlformats.org/drawingml/2006/main">
              <a:ext uri="{FF2B5EF4-FFF2-40B4-BE49-F238E27FC236}">
                <a16:creationId xmlns:a16="http://schemas.microsoft.com/office/drawing/2014/main" id="{BD7928CE-A26E-469B-8F18-CDE0900CB37E}"/>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98D4D901-9A90-4335-8452-275474670011}"/>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68B98703-462B-4554-9BE7-CF02465DE8B1}"/>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결론과 토론</a:t>
            </a:r>
          </a:p>
        </p:txBody>
      </p:sp>
      <p:sp>
        <p:nvSpPr>
          <p:cNvPr id="14" name="">
            <a:extLst xmlns:a="http://schemas.openxmlformats.org/drawingml/2006/main">
              <a:ext uri="{FF2B5EF4-FFF2-40B4-BE49-F238E27FC236}">
                <a16:creationId xmlns:a16="http://schemas.microsoft.com/office/drawing/2014/main" id="{E48F7597-F743-4F17-81ED-E0D97C721C26}"/>
              </a:ext>
            </a:extLst>
          </p:cNvPr>
          <p:cNvSpPr>
            <a:spLocks xmlns:a="http://schemas.openxmlformats.org/drawingml/2006/main" noGrp="1"/>
          </p:cNvSpPr>
          <p:nvPr/>
        </p:nvSpPr>
        <p:spPr>
          <a:xfrm xmlns:a="http://schemas.openxmlformats.org/drawingml/2006/main">
            <a:off x="7048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8F25A314-CE46-45FB-A540-7E40A1C32B38}"/>
              </a:ext>
            </a:extLst>
          </p:cNvPr>
          <p:cNvSpPr>
            <a:spLocks xmlns:a="http://schemas.openxmlformats.org/drawingml/2006/main" noGrp="1"/>
          </p:cNvSpPr>
          <p:nvPr/>
        </p:nvSpPr>
        <p:spPr>
          <a:xfrm xmlns:a="http://schemas.openxmlformats.org/drawingml/2006/main">
            <a:off x="762000" y="215265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B8058516-A541-48BE-8390-8643C3842469}"/>
              </a:ext>
            </a:extLst>
          </p:cNvPr>
          <p:cNvSpPr>
            <a:spLocks xmlns:a="http://schemas.openxmlformats.org/drawingml/2006/main" noGrp="1"/>
          </p:cNvSpPr>
          <p:nvPr/>
        </p:nvSpPr>
        <p:spPr>
          <a:xfrm xmlns:a="http://schemas.openxmlformats.org/drawingml/2006/main">
            <a:off x="9144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1</a:t>
            </a:r>
          </a:p>
        </p:txBody>
      </p:sp>
      <p:sp>
        <p:nvSpPr>
          <p:cNvPr id="17" name="">
            <a:extLst xmlns:a="http://schemas.openxmlformats.org/drawingml/2006/main">
              <a:ext uri="{FF2B5EF4-FFF2-40B4-BE49-F238E27FC236}">
                <a16:creationId xmlns:a16="http://schemas.microsoft.com/office/drawing/2014/main" id="{1A4817CB-C49C-4CEB-BFF8-2D59FEDCC66D}"/>
              </a:ext>
            </a:extLst>
          </p:cNvPr>
          <p:cNvSpPr>
            <a:spLocks xmlns:a="http://schemas.openxmlformats.org/drawingml/2006/main" noGrp="1"/>
          </p:cNvSpPr>
          <p:nvPr/>
        </p:nvSpPr>
        <p:spPr>
          <a:xfrm xmlns:a="http://schemas.openxmlformats.org/drawingml/2006/main">
            <a:off x="9144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 comparison은 좋은</a:t>
            </a:r>
          </a:p>
          <a:p xmlns:a="http://schemas.openxmlformats.org/drawingml/2006/main">
            <a:pPr algn="l">
              <a:defRPr sz="1200" b="0">
                <a:solidFill>
                  <a:srgbClr val="132024"/>
                </a:solidFill>
              </a:defRPr>
            </a:pPr>
            <a:r>
              <a:rPr sz="1200" b="0">
                <a:solidFill>
                  <a:srgbClr val="132024"/>
                </a:solidFill>
              </a:rPr>
              <a:t>출발점이었다. 질문을 broad brain에서</a:t>
            </a:r>
          </a:p>
          <a:p xmlns:a="http://schemas.openxmlformats.org/drawingml/2006/main">
            <a:pPr algn="l">
              <a:defRPr sz="1200" b="0">
                <a:solidFill>
                  <a:srgbClr val="132024"/>
                </a:solidFill>
              </a:defRPr>
            </a:pPr>
            <a:r>
              <a:rPr sz="1200" b="0">
                <a:solidFill>
                  <a:srgbClr val="132024"/>
                </a:solidFill>
              </a:rPr>
              <a:t>subregion choice로 좁혀줬다.</a:t>
            </a:r>
          </a:p>
        </p:txBody>
      </p:sp>
      <p:sp>
        <p:nvSpPr>
          <p:cNvPr id="18" name="">
            <a:extLst xmlns:a="http://schemas.openxmlformats.org/drawingml/2006/main">
              <a:ext uri="{FF2B5EF4-FFF2-40B4-BE49-F238E27FC236}">
                <a16:creationId xmlns:a16="http://schemas.microsoft.com/office/drawing/2014/main" id="{D38BB4BB-789E-4F70-8357-4DA568DADC00}"/>
              </a:ext>
            </a:extLst>
          </p:cNvPr>
          <p:cNvSpPr>
            <a:spLocks xmlns:a="http://schemas.openxmlformats.org/drawingml/2006/main" noGrp="1"/>
          </p:cNvSpPr>
          <p:nvPr/>
        </p:nvSpPr>
        <p:spPr>
          <a:xfrm xmlns:a="http://schemas.openxmlformats.org/drawingml/2006/main">
            <a:off x="40957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B1A4D87A-D7D4-4141-8E97-76B0742F4911}"/>
              </a:ext>
            </a:extLst>
          </p:cNvPr>
          <p:cNvSpPr>
            <a:spLocks xmlns:a="http://schemas.openxmlformats.org/drawingml/2006/main" noGrp="1"/>
          </p:cNvSpPr>
          <p:nvPr/>
        </p:nvSpPr>
        <p:spPr>
          <a:xfrm xmlns:a="http://schemas.openxmlformats.org/drawingml/2006/main">
            <a:off x="4152900" y="215265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436298B0-3DE0-4F8F-93E3-79EBBBDFDB66}"/>
              </a:ext>
            </a:extLst>
          </p:cNvPr>
          <p:cNvSpPr>
            <a:spLocks xmlns:a="http://schemas.openxmlformats.org/drawingml/2006/main" noGrp="1"/>
          </p:cNvSpPr>
          <p:nvPr/>
        </p:nvSpPr>
        <p:spPr>
          <a:xfrm xmlns:a="http://schemas.openxmlformats.org/drawingml/2006/main">
            <a:off x="43053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2</a:t>
            </a:r>
          </a:p>
        </p:txBody>
      </p:sp>
      <p:sp>
        <p:nvSpPr>
          <p:cNvPr id="21" name="">
            <a:extLst xmlns:a="http://schemas.openxmlformats.org/drawingml/2006/main">
              <a:ext uri="{FF2B5EF4-FFF2-40B4-BE49-F238E27FC236}">
                <a16:creationId xmlns:a16="http://schemas.microsoft.com/office/drawing/2014/main" id="{D4E84F0D-A05B-48D8-B8B2-4656FFA4EB5E}"/>
              </a:ext>
            </a:extLst>
          </p:cNvPr>
          <p:cNvSpPr>
            <a:spLocks xmlns:a="http://schemas.openxmlformats.org/drawingml/2006/main" noGrp="1"/>
          </p:cNvSpPr>
          <p:nvPr/>
        </p:nvSpPr>
        <p:spPr>
          <a:xfrm xmlns:a="http://schemas.openxmlformats.org/drawingml/2006/main">
            <a:off x="43053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하지만 benchmark 축이 들어오자, 같은</a:t>
            </a:r>
          </a:p>
          <a:p xmlns:a="http://schemas.openxmlformats.org/drawingml/2006/main">
            <a:pPr algn="l">
              <a:defRPr sz="1200" b="0">
                <a:solidFill>
                  <a:srgbClr val="132024"/>
                </a:solidFill>
              </a:defRPr>
            </a:pPr>
            <a:r>
              <a:rPr sz="1200" b="0">
                <a:solidFill>
                  <a:srgbClr val="132024"/>
                </a:solidFill>
              </a:rPr>
              <a:t>region 안에서도 다른 질문이 생겼다.</a:t>
            </a:r>
          </a:p>
        </p:txBody>
      </p:sp>
      <p:sp>
        <p:nvSpPr>
          <p:cNvPr id="22" name="">
            <a:extLst xmlns:a="http://schemas.openxmlformats.org/drawingml/2006/main">
              <a:ext uri="{FF2B5EF4-FFF2-40B4-BE49-F238E27FC236}">
                <a16:creationId xmlns:a16="http://schemas.microsoft.com/office/drawing/2014/main" id="{B2118F55-65FA-4213-8FEE-7B9F93536AE0}"/>
              </a:ext>
            </a:extLst>
          </p:cNvPr>
          <p:cNvSpPr>
            <a:spLocks xmlns:a="http://schemas.openxmlformats.org/drawingml/2006/main" noGrp="1"/>
          </p:cNvSpPr>
          <p:nvPr/>
        </p:nvSpPr>
        <p:spPr>
          <a:xfrm xmlns:a="http://schemas.openxmlformats.org/drawingml/2006/main">
            <a:off x="7486650" y="2095500"/>
            <a:ext cx="400050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2AAFEF4F-42D1-4332-8382-15B73EE80F46}"/>
              </a:ext>
            </a:extLst>
          </p:cNvPr>
          <p:cNvSpPr>
            <a:spLocks xmlns:a="http://schemas.openxmlformats.org/drawingml/2006/main" noGrp="1"/>
          </p:cNvSpPr>
          <p:nvPr/>
        </p:nvSpPr>
        <p:spPr>
          <a:xfrm xmlns:a="http://schemas.openxmlformats.org/drawingml/2006/main">
            <a:off x="7543800" y="2152650"/>
            <a:ext cx="38862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A623D73F-8FAD-4798-9A78-F62ED26F35CB}"/>
              </a:ext>
            </a:extLst>
          </p:cNvPr>
          <p:cNvSpPr>
            <a:spLocks xmlns:a="http://schemas.openxmlformats.org/drawingml/2006/main" noGrp="1"/>
          </p:cNvSpPr>
          <p:nvPr/>
        </p:nvSpPr>
        <p:spPr>
          <a:xfrm xmlns:a="http://schemas.openxmlformats.org/drawingml/2006/main">
            <a:off x="7696200" y="2286000"/>
            <a:ext cx="3581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3</a:t>
            </a:r>
          </a:p>
        </p:txBody>
      </p:sp>
      <p:sp>
        <p:nvSpPr>
          <p:cNvPr id="25" name="">
            <a:extLst xmlns:a="http://schemas.openxmlformats.org/drawingml/2006/main">
              <a:ext uri="{FF2B5EF4-FFF2-40B4-BE49-F238E27FC236}">
                <a16:creationId xmlns:a16="http://schemas.microsoft.com/office/drawing/2014/main" id="{12D32045-5C27-4D3D-963E-3ADCAF901456}"/>
              </a:ext>
            </a:extLst>
          </p:cNvPr>
          <p:cNvSpPr>
            <a:spLocks xmlns:a="http://schemas.openxmlformats.org/drawingml/2006/main" noGrp="1"/>
          </p:cNvSpPr>
          <p:nvPr/>
        </p:nvSpPr>
        <p:spPr>
          <a:xfrm xmlns:a="http://schemas.openxmlformats.org/drawingml/2006/main">
            <a:off x="7696200" y="2705100"/>
            <a:ext cx="358140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최종적으로 protocol choice는 region</a:t>
            </a:r>
          </a:p>
          <a:p xmlns:a="http://schemas.openxmlformats.org/drawingml/2006/main">
            <a:pPr algn="l">
              <a:defRPr sz="1200" b="0">
                <a:solidFill>
                  <a:srgbClr val="132024"/>
                </a:solidFill>
              </a:defRPr>
            </a:pPr>
            <a:r>
              <a:rPr sz="1200" b="0">
                <a:solidFill>
                  <a:srgbClr val="132024"/>
                </a:solidFill>
              </a:rPr>
              <a:t>choice를 넘어 readout-first selection</a:t>
            </a:r>
          </a:p>
          <a:p xmlns:a="http://schemas.openxmlformats.org/drawingml/2006/main">
            <a:pPr algn="l">
              <a:defRPr sz="1200" b="0">
                <a:solidFill>
                  <a:srgbClr val="132024"/>
                </a:solidFill>
              </a:defRPr>
            </a:pPr>
            <a:r>
              <a:rPr sz="1200" b="0">
                <a:solidFill>
                  <a:srgbClr val="132024"/>
                </a:solidFill>
              </a:rPr>
              <a:t>rule로 이동했다.</a:t>
            </a:r>
          </a:p>
        </p:txBody>
      </p:sp>
      <p:sp>
        <p:nvSpPr>
          <p:cNvPr id="26" name="">
            <a:extLst xmlns:a="http://schemas.openxmlformats.org/drawingml/2006/main">
              <a:ext uri="{FF2B5EF4-FFF2-40B4-BE49-F238E27FC236}">
                <a16:creationId xmlns:a16="http://schemas.microsoft.com/office/drawing/2014/main" id="{D418F945-6B6B-45ED-BB7D-5F595DDE6FF2}"/>
              </a:ext>
            </a:extLst>
          </p:cNvPr>
          <p:cNvSpPr>
            <a:spLocks xmlns:a="http://schemas.openxmlformats.org/drawingml/2006/main" noGrp="1"/>
          </p:cNvSpPr>
          <p:nvPr/>
        </p:nvSpPr>
        <p:spPr>
          <a:xfrm xmlns:a="http://schemas.openxmlformats.org/drawingml/2006/main">
            <a:off x="704850" y="4095750"/>
            <a:ext cx="10782300" cy="819150"/>
          </a:xfrm>
          <a:prstGeom xmlns:a="http://schemas.openxmlformats.org/drawingml/2006/main" prst="roundRect">
            <a:avLst>
              <a:gd name="adj" fmla="val 9302"/>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FBD05D49-7D11-475C-B206-654039570BDE}"/>
              </a:ext>
            </a:extLst>
          </p:cNvPr>
          <p:cNvSpPr>
            <a:spLocks xmlns:a="http://schemas.openxmlformats.org/drawingml/2006/main" noGrp="1"/>
          </p:cNvSpPr>
          <p:nvPr/>
        </p:nvSpPr>
        <p:spPr>
          <a:xfrm xmlns:a="http://schemas.openxmlformats.org/drawingml/2006/main">
            <a:off x="752475" y="4143375"/>
            <a:ext cx="57150" cy="7239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4977C987-4274-4BFC-9478-57DE14A87BE9}"/>
              </a:ext>
            </a:extLst>
          </p:cNvPr>
          <p:cNvSpPr>
            <a:spLocks xmlns:a="http://schemas.openxmlformats.org/drawingml/2006/main" noGrp="1"/>
          </p:cNvSpPr>
          <p:nvPr/>
        </p:nvSpPr>
        <p:spPr>
          <a:xfrm xmlns:a="http://schemas.openxmlformats.org/drawingml/2006/main">
            <a:off x="914400" y="4248150"/>
            <a:ext cx="1040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토론용 질문: 왜 reproducibility와 fidelity를 분리해야 하는가? 어느 축을 먼저 봐야 하는가? host validation은 언제 필요한가?</a:t>
            </a:r>
          </a:p>
        </p:txBody>
      </p:sp>
      <p:sp>
        <p:nvSpPr>
          <p:cNvPr id="29" name="">
            <a:extLst xmlns:a="http://schemas.openxmlformats.org/drawingml/2006/main">
              <a:ext uri="{FF2B5EF4-FFF2-40B4-BE49-F238E27FC236}">
                <a16:creationId xmlns:a16="http://schemas.microsoft.com/office/drawing/2014/main" id="{63DE9235-DB6E-4EE6-9473-F5FABFD521C4}"/>
              </a:ext>
            </a:extLst>
          </p:cNvPr>
          <p:cNvSpPr>
            <a:spLocks xmlns:a="http://schemas.openxmlformats.org/drawingml/2006/main" noGrp="1"/>
          </p:cNvSpPr>
          <p:nvPr/>
        </p:nvSpPr>
        <p:spPr>
          <a:xfrm xmlns:a="http://schemas.openxmlformats.org/drawingml/2006/main">
            <a:off x="704850" y="5257800"/>
            <a:ext cx="107823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17E6150B-8027-41C5-B7AA-65BB9E3A9395}"/>
              </a:ext>
            </a:extLst>
          </p:cNvPr>
          <p:cNvSpPr>
            <a:spLocks xmlns:a="http://schemas.openxmlformats.org/drawingml/2006/main" noGrp="1"/>
          </p:cNvSpPr>
          <p:nvPr/>
        </p:nvSpPr>
        <p:spPr>
          <a:xfrm xmlns:a="http://schemas.openxmlformats.org/drawingml/2006/main">
            <a:off x="752475" y="5305425"/>
            <a:ext cx="57150" cy="6858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48D69EBE-1C8B-4CC8-9D65-04E7D2A2645E}"/>
              </a:ext>
            </a:extLst>
          </p:cNvPr>
          <p:cNvSpPr>
            <a:spLocks xmlns:a="http://schemas.openxmlformats.org/drawingml/2006/main" noGrp="1"/>
          </p:cNvSpPr>
          <p:nvPr/>
        </p:nvSpPr>
        <p:spPr>
          <a:xfrm xmlns:a="http://schemas.openxmlformats.org/drawingml/2006/main">
            <a:off x="914400" y="5410200"/>
            <a:ext cx="104013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정리: 위키를 정리하자 질문이 바뀌었고, 질문이 바뀌자 비교 기준도 바뀌었다.</a:t>
            </a:r>
          </a:p>
        </p:txBody>
      </p:sp>
      <p:sp>
        <p:nvSpPr>
          <p:cNvPr id="32" name="">
            <a:extLst xmlns:a="http://schemas.openxmlformats.org/drawingml/2006/main">
              <a:ext uri="{FF2B5EF4-FFF2-40B4-BE49-F238E27FC236}">
                <a16:creationId xmlns:a16="http://schemas.microsoft.com/office/drawing/2014/main" id="{F097BD25-2CD7-46D5-BB57-8BA74C40100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Q&amp;A로 넘어가면 각 질문의 우선축과 validation 순서를 중심으로 답하면 된다.</a:t>
            </a:r>
          </a:p>
        </p:txBody>
      </p:sp>
    </p:spTree>
    <p:extLst>
      <p:ext uri="{BB962C8B-B14F-4D97-AF65-F5344CB8AC3E}">
        <p14:creationId xmlns:p14="http://schemas.microsoft.com/office/powerpoint/2010/main" val="21096350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2026-04-27T05:06:35.7550000Z</dcterms:created>
  <dcterms:modified xsi:type="dcterms:W3CDTF">2026-04-27T05:06:35.7550000Z</dcterms:modified>
</coreProperties>
</file>