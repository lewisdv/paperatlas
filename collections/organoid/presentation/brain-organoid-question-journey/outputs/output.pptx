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8819c8c48f6415c" /><Relationship Type="http://schemas.openxmlformats.org/officeDocument/2006/relationships/extended-properties" Target="/docProps/app.xml" Id="R6c977ea191524ac6" /><Relationship Type="http://schemas.openxmlformats.org/officeDocument/2006/relationships/officeDocument" Target="/ppt/presentation.xml" Id="R54caf321b1fe4719" /></Relationships>
</file>

<file path=ppt/presentation.xml><?xml version="1.0" encoding="utf-8"?>
<p:presentation xmlns:p="http://schemas.openxmlformats.org/presentationml/2006/main">
  <p:sldMasterIdLst>
    <p:sldMasterId xmlns:r="http://schemas.openxmlformats.org/officeDocument/2006/relationships" id="2147483648" r:id="Rb88a1a25143b4751"/>
  </p:sldMasterIdLst>
  <p:notesMasterIdLst>
    <p:notesMasterId xmlns:r="http://schemas.openxmlformats.org/officeDocument/2006/relationships" r:id="R441e14e826e14265"/>
  </p:notesMasterIdLst>
  <p:sldIdLst>
    <p:sldId xmlns:r="http://schemas.openxmlformats.org/officeDocument/2006/relationships" id="256" r:id="Rcd351aebe51b4fa0"/>
    <p:sldId xmlns:r="http://schemas.openxmlformats.org/officeDocument/2006/relationships" id="257" r:id="R84e8a18e1fb8465c"/>
    <p:sldId xmlns:r="http://schemas.openxmlformats.org/officeDocument/2006/relationships" id="258" r:id="R4858ec7312bc4939"/>
    <p:sldId xmlns:r="http://schemas.openxmlformats.org/officeDocument/2006/relationships" id="259" r:id="Rb1146354b7a54c53"/>
    <p:sldId xmlns:r="http://schemas.openxmlformats.org/officeDocument/2006/relationships" id="260" r:id="R92b1f070c99c49a3"/>
    <p:sldId xmlns:r="http://schemas.openxmlformats.org/officeDocument/2006/relationships" id="261" r:id="Ra1bafc5ff72c432c"/>
    <p:sldId xmlns:r="http://schemas.openxmlformats.org/officeDocument/2006/relationships" id="262" r:id="Rd4588126fc374c78"/>
    <p:sldId xmlns:r="http://schemas.openxmlformats.org/officeDocument/2006/relationships" id="263" r:id="Re3be955824284323"/>
    <p:sldId xmlns:r="http://schemas.openxmlformats.org/officeDocument/2006/relationships" id="264" r:id="R5e3749ef50d343ef"/>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b88a1a25143b4751" /><Relationship Type="http://schemas.openxmlformats.org/officeDocument/2006/relationships/theme" Target="/ppt/theme/theme1.xml" Id="R4e955cf10b764bf9" /><Relationship Type="http://schemas.openxmlformats.org/officeDocument/2006/relationships/notesMaster" Target="/ppt/notesMasters/notesMaster1.xml" Id="R441e14e826e14265" /><Relationship Type="http://schemas.openxmlformats.org/officeDocument/2006/relationships/presProps" Target="/ppt/presProps.xml" Id="R44a6be011f894540" /><Relationship Type="http://schemas.openxmlformats.org/officeDocument/2006/relationships/viewProps" Target="/ppt/viewProps.xml" Id="Rd81d23a35a9a4d0b" /><Relationship Type="http://schemas.openxmlformats.org/officeDocument/2006/relationships/tableStyles" Target="/ppt/tableStyles.xml" Id="R2560226c77d04409" /><Relationship Type="http://schemas.openxmlformats.org/officeDocument/2006/relationships/slide" Target="/ppt/slides/slide1.xml" Id="Rcd351aebe51b4fa0" /><Relationship Type="http://schemas.openxmlformats.org/officeDocument/2006/relationships/slide" Target="/ppt/slides/slide2.xml" Id="R84e8a18e1fb8465c" /><Relationship Type="http://schemas.openxmlformats.org/officeDocument/2006/relationships/slide" Target="/ppt/slides/slide3.xml" Id="R4858ec7312bc4939" /><Relationship Type="http://schemas.openxmlformats.org/officeDocument/2006/relationships/slide" Target="/ppt/slides/slide4.xml" Id="Rb1146354b7a54c53" /><Relationship Type="http://schemas.openxmlformats.org/officeDocument/2006/relationships/slide" Target="/ppt/slides/slide5.xml" Id="R92b1f070c99c49a3" /><Relationship Type="http://schemas.openxmlformats.org/officeDocument/2006/relationships/slide" Target="/ppt/slides/slide6.xml" Id="Ra1bafc5ff72c432c" /><Relationship Type="http://schemas.openxmlformats.org/officeDocument/2006/relationships/slide" Target="/ppt/slides/slide7.xml" Id="Rd4588126fc374c78" /><Relationship Type="http://schemas.openxmlformats.org/officeDocument/2006/relationships/slide" Target="/ppt/slides/slide8.xml" Id="Re3be955824284323" /><Relationship Type="http://schemas.openxmlformats.org/officeDocument/2006/relationships/slide" Target="/ppt/slides/slide9.xml" Id="R5e3749ef50d343e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ce64cfcfa4c64b5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073b1d0d65c4252" /><Relationship Type="http://schemas.openxmlformats.org/officeDocument/2006/relationships/notesMaster" Target="/ppt/notesMasters/notesMaster1.xml" Id="R4bc3d59ca466450c" /></Relationships>
</file>

<file path=ppt/notesSlides/_rels/notesSlide2.xml.rels>&#65279;<?xml version="1.0" encoding="utf-8"?><Relationships xmlns="http://schemas.openxmlformats.org/package/2006/relationships"><Relationship Type="http://schemas.openxmlformats.org/officeDocument/2006/relationships/slide" Target="/ppt/slides/slide2.xml" Id="Rf51d178a5421428b" /><Relationship Type="http://schemas.openxmlformats.org/officeDocument/2006/relationships/notesMaster" Target="/ppt/notesMasters/notesMaster1.xml" Id="R60bca117214f4243"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aa4c10532c4d69" /><Relationship Type="http://schemas.openxmlformats.org/officeDocument/2006/relationships/notesMaster" Target="/ppt/notesMasters/notesMaster1.xml" Id="Rdc40380769af4bd4" /></Relationships>
</file>

<file path=ppt/notesSlides/_rels/notesSlide4.xml.rels>&#65279;<?xml version="1.0" encoding="utf-8"?><Relationships xmlns="http://schemas.openxmlformats.org/package/2006/relationships"><Relationship Type="http://schemas.openxmlformats.org/officeDocument/2006/relationships/slide" Target="/ppt/slides/slide4.xml" Id="R587da27f30944b1c" /><Relationship Type="http://schemas.openxmlformats.org/officeDocument/2006/relationships/notesMaster" Target="/ppt/notesMasters/notesMaster1.xml" Id="R0692b2d8c9164e79" /></Relationships>
</file>

<file path=ppt/notesSlides/_rels/notesSlide5.xml.rels>&#65279;<?xml version="1.0" encoding="utf-8"?><Relationships xmlns="http://schemas.openxmlformats.org/package/2006/relationships"><Relationship Type="http://schemas.openxmlformats.org/officeDocument/2006/relationships/slide" Target="/ppt/slides/slide5.xml" Id="Rcfacb5570d7b4f1c" /><Relationship Type="http://schemas.openxmlformats.org/officeDocument/2006/relationships/notesMaster" Target="/ppt/notesMasters/notesMaster1.xml" Id="Rabd92cd716074d3c" /></Relationships>
</file>

<file path=ppt/notesSlides/_rels/notesSlide6.xml.rels>&#65279;<?xml version="1.0" encoding="utf-8"?><Relationships xmlns="http://schemas.openxmlformats.org/package/2006/relationships"><Relationship Type="http://schemas.openxmlformats.org/officeDocument/2006/relationships/slide" Target="/ppt/slides/slide6.xml" Id="R8f1a4bc4e08b4968" /><Relationship Type="http://schemas.openxmlformats.org/officeDocument/2006/relationships/notesMaster" Target="/ppt/notesMasters/notesMaster1.xml" Id="R158f1dfaff74407b" /></Relationships>
</file>

<file path=ppt/notesSlides/_rels/notesSlide7.xml.rels>&#65279;<?xml version="1.0" encoding="utf-8"?><Relationships xmlns="http://schemas.openxmlformats.org/package/2006/relationships"><Relationship Type="http://schemas.openxmlformats.org/officeDocument/2006/relationships/slide" Target="/ppt/slides/slide7.xml" Id="Ra3ed957dd0914562" /><Relationship Type="http://schemas.openxmlformats.org/officeDocument/2006/relationships/notesMaster" Target="/ppt/notesMasters/notesMaster1.xml" Id="R8ca0498db33a44cf" /></Relationships>
</file>

<file path=ppt/notesSlides/_rels/notesSlide8.xml.rels>&#65279;<?xml version="1.0" encoding="utf-8"?><Relationships xmlns="http://schemas.openxmlformats.org/package/2006/relationships"><Relationship Type="http://schemas.openxmlformats.org/officeDocument/2006/relationships/slide" Target="/ppt/slides/slide8.xml" Id="R57f8e0a874304621" /><Relationship Type="http://schemas.openxmlformats.org/officeDocument/2006/relationships/notesMaster" Target="/ppt/notesMasters/notesMaster1.xml" Id="R26d9a2a7e6c64ab0" /></Relationships>
</file>

<file path=ppt/notesSlides/_rels/notesSlide9.xml.rels>&#65279;<?xml version="1.0" encoding="utf-8"?><Relationships xmlns="http://schemas.openxmlformats.org/package/2006/relationships"><Relationship Type="http://schemas.openxmlformats.org/officeDocument/2006/relationships/slide" Target="/ppt/slides/slide9.xml" Id="R659d86bbb0f44608" /><Relationship Type="http://schemas.openxmlformats.org/officeDocument/2006/relationships/notesMaster" Target="/ppt/notesMasters/notesMaster1.xml" Id="Ra8928fa5a59f4db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발표는 결론만 요약하는 발표가 아니라, 질문이 위키 안에서 어떻게 정교해졌는지를 보여주는 발표다.</a:t>
            </a:r>
          </a:p>
          <a:p xmlns:a="http://schemas.openxmlformats.org/drawingml/2006/main">
            <a:r>
              <a:t>처음에는 brain subregion별 프로토콜 차이를 비교하고 싶었지만, 정리할수록 reproducibility, fidelity, timing, readout 문제가 분리되기 시작했다.</a:t>
            </a:r>
          </a:p>
          <a:p xmlns:a="http://schemas.openxmlformats.org/drawingml/2006/main">
            <a:r>
              <a:t>오늘의 핵심 문장은 '질문이 바뀌면 비교 기준도 바뀐다'이다.</a:t>
            </a:r>
          </a:p>
          <a:p xmlns:a="http://schemas.openxmlformats.org/drawingml/2006/main">
            <a:r>
              <a:t/>
            </a:r>
          </a:p>
          <a:p xmlns:a="http://schemas.openxmlformats.org/drawingml/2006/main">
            <a:r>
              <a:t>[Sources]</a:t>
            </a:r>
          </a:p>
          <a:p xmlns:a="http://schemas.openxmlformats.org/drawingml/2006/main">
            <a:r>
              <a:t>- collections/organoid/wiki/index.md</a:t>
            </a:r>
          </a:p>
          <a:p xmlns:a="http://schemas.openxmlformats.org/drawingml/2006/main">
            <a:r>
              <a:t>- collections/organoid/wiki/queries/20260408_174047_brain-subregion-protocol-comparison.md</a:t>
            </a:r>
          </a:p>
          <a:p xmlns:a="http://schemas.openxmlformats.org/drawingml/2006/main">
            <a:r>
              <a:t>- collections/organoid/wiki/queries/20260409_brain-protocol-maturation-synchronization.md</a:t>
            </a:r>
          </a:p>
          <a:p xmlns:a="http://schemas.openxmlformats.org/drawingml/2006/main">
            <a:r>
              <a:t>- collections/organoid/wiki/queries/20260420_172825_brain-functional-readout-selection.md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발표의 목적은 brain organoid 리뷰를 완성형 결론으로 제시하는 것이 아니라, paper_collect 위키에서 질문이 확장되는 과정을 보여주는 것이다.</a:t>
            </a:r>
          </a:p>
          <a:p xmlns:a="http://schemas.openxmlformats.org/drawingml/2006/main">
            <a:r>
              <a:t>이 컬렉션은 active source page 96개, 그중 brain cluster 17개를 갖고 있고, 오늘 발표는 그중 3개의 질문 노트를 핵심 체인으로 삼는다.</a:t>
            </a:r>
          </a:p>
          <a:p xmlns:a="http://schemas.openxmlformats.org/drawingml/2006/main">
            <a:r>
              <a:t>즉 corpus -&gt; 첫 질문 -&gt; 질문 재정의의 흐름 자체가 발표 내용이다.</a:t>
            </a:r>
          </a:p>
          <a:p xmlns:a="http://schemas.openxmlformats.org/drawingml/2006/main">
            <a:r>
              <a:t/>
            </a:r>
          </a:p>
          <a:p xmlns:a="http://schemas.openxmlformats.org/drawingml/2006/main">
            <a:r>
              <a:t>[Sources]</a:t>
            </a:r>
          </a:p>
          <a:p xmlns:a="http://schemas.openxmlformats.org/drawingml/2006/main">
            <a:r>
              <a:t>- collections/organoid/wiki/overview.md</a:t>
            </a:r>
          </a:p>
          <a:p xmlns:a="http://schemas.openxmlformats.org/drawingml/2006/main">
            <a:r>
              <a:t>- collections/organoid/wiki/index.md</a:t>
            </a:r>
          </a:p>
          <a:p xmlns:a="http://schemas.openxmlformats.org/drawingml/2006/main">
            <a:r>
              <a:t>- collections/organoid/wiki/queries/20260408_174047_brain-subregion-protocol-comparison.md</a:t>
            </a:r>
          </a:p>
          <a:p xmlns:a="http://schemas.openxmlformats.org/drawingml/2006/main">
            <a:r>
              <a:t>- collections/organoid/wiki/queries/20260409_brain-protocol-maturation-synchronization.md</a:t>
            </a:r>
          </a:p>
          <a:p xmlns:a="http://schemas.openxmlformats.org/drawingml/2006/main">
            <a:r>
              <a:t>- collections/organoid/wiki/queries/20260420_172825_brain-functional-readout-selection.md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번째 질문 노트는 subregion 중심 비교다.</a:t>
            </a:r>
          </a:p>
          <a:p xmlns:a="http://schemas.openxmlformats.org/drawingml/2006/main">
            <a:r>
              <a:t>Lancaster는 broad cerebral baseline, Sloan과 Fitzgerald는 forebrain or cortical control, Zagare와 Eura와 Valiulahi는 posterior branch, Pomeshchik과 Atamian은 niche specialization으로 묶였다.</a:t>
            </a:r>
          </a:p>
          <a:p xmlns:a="http://schemas.openxmlformats.org/drawingml/2006/main">
            <a:r>
              <a:t>이 단계에서는 brain organoid 설계 문제가 주로 subregion selection 문제처럼 보였다.</a:t>
            </a:r>
          </a:p>
          <a:p xmlns:a="http://schemas.openxmlformats.org/drawingml/2006/main">
            <a:r>
              <a:t/>
            </a:r>
          </a:p>
          <a:p xmlns:a="http://schemas.openxmlformats.org/drawingml/2006/main">
            <a:r>
              <a:t>[Sources]</a:t>
            </a:r>
          </a:p>
          <a:p xmlns:a="http://schemas.openxmlformats.org/drawingml/2006/main">
            <a:r>
              <a:t>- collections/organoid/wiki/queries/20260408_174047_brain-subregion-protocol-comparison.md</a:t>
            </a:r>
          </a:p>
          <a:p xmlns:a="http://schemas.openxmlformats.org/drawingml/2006/main">
            <a:r>
              <a:t>- collections/organoid/wiki/concepts/brain-subregion-specific-organoid-protocols.md</a:t>
            </a:r>
          </a:p>
          <a:p xmlns:a="http://schemas.openxmlformats.org/drawingml/2006/main">
            <a:r>
              <a:t>- Lancaster 2014 | Generation of cerebral organoids from human pluripotent stem cells</a:t>
            </a:r>
          </a:p>
          <a:p xmlns:a="http://schemas.openxmlformats.org/drawingml/2006/main">
            <a:r>
              <a:t>- Sloan 2018 | Generation and assembly of human brain region-specific three-dimensional cultures</a:t>
            </a:r>
          </a:p>
          <a:p xmlns:a="http://schemas.openxmlformats.org/drawingml/2006/main">
            <a:r>
              <a:t>- Fitzgerald 2024 | Generation of semi-guided cortical organoids with complex neural oscillations</a:t>
            </a:r>
          </a:p>
          <a:p xmlns:a="http://schemas.openxmlformats.org/drawingml/2006/main">
            <a:r>
              <a:t>- Zagare 2021 | A robust protocol for the generation of human midbrain organoids</a:t>
            </a:r>
          </a:p>
          <a:p xmlns:a="http://schemas.openxmlformats.org/drawingml/2006/main">
            <a:r>
              <a:t>- Eura 2020 | Brainstem organoids from human pluripotent stem cells</a:t>
            </a:r>
          </a:p>
          <a:p xmlns:a="http://schemas.openxmlformats.org/drawingml/2006/main">
            <a:r>
              <a:t>- Valiulahi 2021 | Generation of caudal-type serotonin neurons and hindbrain-fate organoids</a:t>
            </a:r>
          </a:p>
          <a:p xmlns:a="http://schemas.openxmlformats.org/drawingml/2006/main">
            <a:r>
              <a:t>- Pomeshchik 2020 | Human iPSC-derived hippocampal spheroids</a:t>
            </a:r>
          </a:p>
          <a:p xmlns:a="http://schemas.openxmlformats.org/drawingml/2006/main">
            <a:r>
              <a:t>- Atamian 2024 | Generation and long-term culture of human cerebellar organoids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번째 정리에서 얻은 핵심은 세 갈래였다.</a:t>
            </a:r>
          </a:p>
          <a:p xmlns:a="http://schemas.openxmlformats.org/drawingml/2006/main">
            <a:r>
              <a:t>첫째, broad cerebral baseline은 diversity가 크지만 variability도 크다.</a:t>
            </a:r>
          </a:p>
          <a:p xmlns:a="http://schemas.openxmlformats.org/drawingml/2006/main">
            <a:r>
              <a:t>둘째, forebrain or cortical routes는 더 clean한 regional control을 준다.</a:t>
            </a:r>
          </a:p>
          <a:p xmlns:a="http://schemas.openxmlformats.org/drawingml/2006/main">
            <a:r>
              <a:t>셋째, posterior or niche routes는 특정 biological question에 더 직접적이다.</a:t>
            </a:r>
          </a:p>
          <a:p xmlns:a="http://schemas.openxmlformats.org/drawingml/2006/main">
            <a:r>
              <a:t>이 단계의 잠정 결론은 '많은 brain design 문제는 subregion selection 문제다'였다.</a:t>
            </a:r>
          </a:p>
          <a:p xmlns:a="http://schemas.openxmlformats.org/drawingml/2006/main">
            <a:r>
              <a:t/>
            </a:r>
          </a:p>
          <a:p xmlns:a="http://schemas.openxmlformats.org/drawingml/2006/main">
            <a:r>
              <a:t>[Sources]</a:t>
            </a:r>
          </a:p>
          <a:p xmlns:a="http://schemas.openxmlformats.org/drawingml/2006/main">
            <a:r>
              <a:t>- collections/organoid/wiki/queries/20260408_174047_brain-subregion-protocol-comparison.md</a:t>
            </a:r>
          </a:p>
          <a:p xmlns:a="http://schemas.openxmlformats.org/drawingml/2006/main">
            <a:r>
              <a:t>- collections/organoid/wiki/concepts/brain-organoid-patterning-and-assembloids.md</a:t>
            </a:r>
          </a:p>
          <a:p xmlns:a="http://schemas.openxmlformats.org/drawingml/2006/main">
            <a:r>
              <a:t>- collections/organoid/wiki/syntheses/20260424_organoid-developmental-baseline-and-regionalization-playbook.md</a:t>
            </a:r>
          </a:p>
          <a:p xmlns:a="http://schemas.openxmlformats.org/drawingml/2006/main">
            <a:r>
              <a:t>- Lancaster 2014 | Generation of cerebral organoids from human pluripotent stem cells</a:t>
            </a:r>
          </a:p>
          <a:p xmlns:a="http://schemas.openxmlformats.org/drawingml/2006/main">
            <a:r>
              <a:t>- Sloan 2018 | Generation and assembly of human brain region-specific three-dimensional cultures</a:t>
            </a:r>
          </a:p>
          <a:p xmlns:a="http://schemas.openxmlformats.org/drawingml/2006/main">
            <a:r>
              <a:t>- Zagare 2021 | A robust protocol for the generation of human midbrain organoids</a:t>
            </a:r>
          </a:p>
          <a:p xmlns:a="http://schemas.openxmlformats.org/drawingml/2006/main">
            <a:r>
              <a:t>- Atamian 2024 | Generation and long-term culture of human cerebellar organoids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subregion 비교는 useful한 출발점이었지만, 그것만으로는 모델의 quality를 설명하지 못했다.</a:t>
            </a:r>
          </a:p>
          <a:p xmlns:a="http://schemas.openxmlformats.org/drawingml/2006/main">
            <a:r>
              <a:t>같은 cortical branch 안에서도 어떤 프로토콜은 더 reproducible하고, 어떤 것은 primary tissue와 더 닮고, 어떤 것은 timing mapping이 더 분명했다.</a:t>
            </a:r>
          </a:p>
          <a:p xmlns:a="http://schemas.openxmlformats.org/drawingml/2006/main">
            <a:r>
              <a:t>그래서 질문이 '어떤 region인가'에서 '어떤 benchmark로 믿을 수 있는가'로 이동했다.</a:t>
            </a:r>
          </a:p>
          <a:p xmlns:a="http://schemas.openxmlformats.org/drawingml/2006/main">
            <a:r>
              <a:t/>
            </a:r>
          </a:p>
          <a:p xmlns:a="http://schemas.openxmlformats.org/drawingml/2006/main">
            <a:r>
              <a:t>[Sources]</a:t>
            </a:r>
          </a:p>
          <a:p xmlns:a="http://schemas.openxmlformats.org/drawingml/2006/main">
            <a:r>
              <a:t>- collections/organoid/wiki/queries/20260408_174047_brain-subregion-protocol-comparison.md</a:t>
            </a:r>
          </a:p>
          <a:p xmlns:a="http://schemas.openxmlformats.org/drawingml/2006/main">
            <a:r>
              <a:t>- collections/organoid/wiki/queries/20260409_brain-protocol-maturation-synchronization.md</a:t>
            </a:r>
          </a:p>
          <a:p xmlns:a="http://schemas.openxmlformats.org/drawingml/2006/main">
            <a:r>
              <a:t>- collections/organoid/wiki/concepts/brain-organoid-fidelity-reproducibility-and-atlases.md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번째 질문 노트는 benchmark question이다.</a:t>
            </a:r>
          </a:p>
          <a:p xmlns:a="http://schemas.openxmlformats.org/drawingml/2006/main">
            <a:r>
              <a:t>Velasco와 Yoon은 reproducibility, Bhaduri는 fidelity, Kanton은 timing, He는 cross-protocol atlas alignment를 제공했다.</a:t>
            </a:r>
          </a:p>
          <a:p xmlns:a="http://schemas.openxmlformats.org/drawingml/2006/main">
            <a:r>
              <a:t>즉 새 논문이 추가되면서 더 많은 근거가 생긴 것이 아니라, 어떤 질문을 던져야 하는지 자체가 바뀌었다.</a:t>
            </a:r>
          </a:p>
          <a:p xmlns:a="http://schemas.openxmlformats.org/drawingml/2006/main">
            <a:r>
              <a:t/>
            </a:r>
          </a:p>
          <a:p xmlns:a="http://schemas.openxmlformats.org/drawingml/2006/main">
            <a:r>
              <a:t>[Sources]</a:t>
            </a:r>
          </a:p>
          <a:p xmlns:a="http://schemas.openxmlformats.org/drawingml/2006/main">
            <a:r>
              <a:t>- collections/organoid/wiki/queries/20260409_brain-protocol-maturation-synchronization.md</a:t>
            </a:r>
          </a:p>
          <a:p xmlns:a="http://schemas.openxmlformats.org/drawingml/2006/main">
            <a:r>
              <a:t>- collections/organoid/wiki/concepts/brain-organoid-fidelity-reproducibility-and-atlases.md</a:t>
            </a:r>
          </a:p>
          <a:p xmlns:a="http://schemas.openxmlformats.org/drawingml/2006/main">
            <a:r>
              <a:t>- Velasco 2019 | Individual brain organoids reproducibly form cell diversity of the human cerebral cortex</a:t>
            </a:r>
          </a:p>
          <a:p xmlns:a="http://schemas.openxmlformats.org/drawingml/2006/main">
            <a:r>
              <a:t>- Yoon 2019 | Reliability of human cortical organoid generation</a:t>
            </a:r>
          </a:p>
          <a:p xmlns:a="http://schemas.openxmlformats.org/drawingml/2006/main">
            <a:r>
              <a:t>- Bhaduri 2020 | Cell stress in cortical organoids impairs molecular subtype specification</a:t>
            </a:r>
          </a:p>
          <a:p xmlns:a="http://schemas.openxmlformats.org/drawingml/2006/main">
            <a:r>
              <a:t>- Kanton 2019 | Organoid single-cell genomic atlas uncovers human-specific features of brain development</a:t>
            </a:r>
          </a:p>
          <a:p xmlns:a="http://schemas.openxmlformats.org/drawingml/2006/main">
            <a:r>
              <a:t>- He 2024 | An integrated transcriptomic cell atlas of human neural organoids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결국 이 컬렉션에서 brain organoid 비교는 다섯 축으로 정리됐다.</a:t>
            </a:r>
          </a:p>
          <a:p xmlns:a="http://schemas.openxmlformats.org/drawingml/2006/main">
            <a:r>
              <a:t>region identity, reproducibility, fidelity, temporal mapping, atlas alignment는 서로 다른 measurement question이다.</a:t>
            </a:r>
          </a:p>
          <a:p xmlns:a="http://schemas.openxmlformats.org/drawingml/2006/main">
            <a:r>
              <a:t>여기서 가장 중요한 메시지는 reproducibility와 fidelity가 같은 말이 아니라는 점이다.</a:t>
            </a:r>
          </a:p>
          <a:p xmlns:a="http://schemas.openxmlformats.org/drawingml/2006/main">
            <a:r>
              <a:t/>
            </a:r>
          </a:p>
          <a:p xmlns:a="http://schemas.openxmlformats.org/drawingml/2006/main">
            <a:r>
              <a:t>[Sources]</a:t>
            </a:r>
          </a:p>
          <a:p xmlns:a="http://schemas.openxmlformats.org/drawingml/2006/main">
            <a:r>
              <a:t>- collections/organoid/wiki/queries/20260409_brain-protocol-maturation-synchronization.md</a:t>
            </a:r>
          </a:p>
          <a:p xmlns:a="http://schemas.openxmlformats.org/drawingml/2006/main">
            <a:r>
              <a:t>- collections/organoid/wiki/concepts/brain-organoid-fidelity-reproducibility-and-atlases.md</a:t>
            </a:r>
          </a:p>
          <a:p xmlns:a="http://schemas.openxmlformats.org/drawingml/2006/main">
            <a:r>
              <a:t>- Velasco 2019 | Individual brain organoids reproducibly form cell diversity of the human cerebral cortex</a:t>
            </a:r>
          </a:p>
          <a:p xmlns:a="http://schemas.openxmlformats.org/drawingml/2006/main">
            <a:r>
              <a:t>- Yoon 2019 | Reliability of human cortical organoid generation</a:t>
            </a:r>
          </a:p>
          <a:p xmlns:a="http://schemas.openxmlformats.org/drawingml/2006/main">
            <a:r>
              <a:t>- Bhaduri 2020 | Cell stress in cortical organoids impairs molecular subtype specification</a:t>
            </a:r>
          </a:p>
          <a:p xmlns:a="http://schemas.openxmlformats.org/drawingml/2006/main">
            <a:r>
              <a:t>- Kanton 2019 | Organoid single-cell genomic atlas uncovers human-specific features of brain development</a:t>
            </a:r>
          </a:p>
          <a:p xmlns:a="http://schemas.openxmlformats.org/drawingml/2006/main">
            <a:r>
              <a:t>- He 2024 | An integrated transcriptomic cell atlas of human neural organoids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번째 질문 노트에서는 protocol choice가 readout-first rule로 재정리된다.</a:t>
            </a:r>
          </a:p>
          <a:p xmlns:a="http://schemas.openxmlformats.org/drawingml/2006/main">
            <a:r>
              <a:t>composition reproducibility를 원하면 Velasco or Yoon 계열, fidelity를 원하면 Bhaduri or He, timing을 원하면 Kanton, dish function을 원하면 Fitzgerald, host relevance를 원하면 Kelley, screening을 원하면 Chen or Meng이 우선 anchor가 된다.</a:t>
            </a:r>
          </a:p>
          <a:p xmlns:a="http://schemas.openxmlformats.org/drawingml/2006/main">
            <a:r>
              <a:t>즉 최종 질문은 '어느 region을 만들까'보다 '무슨 readout을 먼저 믿고 싶은가'가 됐다.</a:t>
            </a:r>
          </a:p>
          <a:p xmlns:a="http://schemas.openxmlformats.org/drawingml/2006/main">
            <a:r>
              <a:t/>
            </a:r>
          </a:p>
          <a:p xmlns:a="http://schemas.openxmlformats.org/drawingml/2006/main">
            <a:r>
              <a:t>[Sources]</a:t>
            </a:r>
          </a:p>
          <a:p xmlns:a="http://schemas.openxmlformats.org/drawingml/2006/main">
            <a:r>
              <a:t>- collections/organoid/wiki/queries/20260420_172825_brain-functional-readout-selection.md</a:t>
            </a:r>
          </a:p>
          <a:p xmlns:a="http://schemas.openxmlformats.org/drawingml/2006/main">
            <a:r>
              <a:t>- collections/organoid/wiki/concepts/brain-organoid-patterning-and-assembloids.md</a:t>
            </a:r>
          </a:p>
          <a:p xmlns:a="http://schemas.openxmlformats.org/drawingml/2006/main">
            <a:r>
              <a:t>- collections/organoid/wiki/concepts/brain-organoid-fidelity-reproducibility-and-atlases.md</a:t>
            </a:r>
          </a:p>
          <a:p xmlns:a="http://schemas.openxmlformats.org/drawingml/2006/main">
            <a:r>
              <a:t>- Fitzgerald 2024 | Generation of semi-guided cortical organoids with complex neural oscillations</a:t>
            </a:r>
          </a:p>
          <a:p xmlns:a="http://schemas.openxmlformats.org/drawingml/2006/main">
            <a:r>
              <a:t>- Kelley 2024 | Host circuit engagement of human cortical organoids transplanted in rodents</a:t>
            </a:r>
          </a:p>
          <a:p xmlns:a="http://schemas.openxmlformats.org/drawingml/2006/main">
            <a:r>
              <a:t>- Chen 2023 | Protocol for generating reproducible miniaturized controlled midbrain organoids</a:t>
            </a:r>
          </a:p>
          <a:p xmlns:a="http://schemas.openxmlformats.org/drawingml/2006/main">
            <a:r>
              <a:t>- Meng 2025 | CRISPR screens in human neural organoids and assembloids</a:t>
            </a:r>
          </a:p>
          <a:p xmlns:a="http://schemas.openxmlformats.org/drawingml/2006/main">
            <a:r>
              <a:t>- Kanton 2019 | Organoid single-cell genomic atlas uncovers human-specific features of brain development</a:t>
            </a:r>
          </a:p>
          <a:p xmlns:a="http://schemas.openxmlformats.org/drawingml/2006/main">
            <a:r>
              <a:t>- He 2024 | An integrated transcriptomic cell atlas of human neural organoids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마무리에서는 세 가지 takeaway를 다시 강조한다.</a:t>
            </a:r>
          </a:p>
          <a:p xmlns:a="http://schemas.openxmlformats.org/drawingml/2006/main">
            <a:r>
              <a:t>첫째, subregion comparison은 출발점으로 유효했다.</a:t>
            </a:r>
          </a:p>
          <a:p xmlns:a="http://schemas.openxmlformats.org/drawingml/2006/main">
            <a:r>
              <a:t>둘째, benchmark 축이 들어오면서 질문이 바뀌었다.</a:t>
            </a:r>
          </a:p>
          <a:p xmlns:a="http://schemas.openxmlformats.org/drawingml/2006/main">
            <a:r>
              <a:t>셋째, 최종 rule은 readout-first protocol selection이다.</a:t>
            </a:r>
          </a:p>
          <a:p xmlns:a="http://schemas.openxmlformats.org/drawingml/2006/main">
            <a:r>
              <a:t>Q and A에서는 reproducibility와 fidelity를 왜 분리해야 하는지, 어느 축을 먼저 볼지, host validation이 언제 필요한지를 중심으로 받으면 된다.</a:t>
            </a:r>
          </a:p>
          <a:p xmlns:a="http://schemas.openxmlformats.org/drawingml/2006/main">
            <a:r>
              <a:t/>
            </a:r>
          </a:p>
          <a:p xmlns:a="http://schemas.openxmlformats.org/drawingml/2006/main">
            <a:r>
              <a:t>[Sources]</a:t>
            </a:r>
          </a:p>
          <a:p xmlns:a="http://schemas.openxmlformats.org/drawingml/2006/main">
            <a:r>
              <a:t>- collections/organoid/wiki/queries/20260408_174047_brain-subregion-protocol-comparison.md</a:t>
            </a:r>
          </a:p>
          <a:p xmlns:a="http://schemas.openxmlformats.org/drawingml/2006/main">
            <a:r>
              <a:t>- collections/organoid/wiki/queries/20260409_brain-protocol-maturation-synchronization.md</a:t>
            </a:r>
          </a:p>
          <a:p xmlns:a="http://schemas.openxmlformats.org/drawingml/2006/main">
            <a:r>
              <a:t>- collections/organoid/wiki/queries/20260420_172825_brain-functional-readout-selection.md</a:t>
            </a:r>
          </a:p>
          <a:p xmlns:a="http://schemas.openxmlformats.org/drawingml/2006/main">
            <a:r>
              <a:t>- collections/organoid/wiki/concepts/brain-organoid-fidelity-reproducibility-and-atlases.md</a:t>
            </a:r>
          </a:p>
          <a:p xmlns:a="http://schemas.openxmlformats.org/drawingml/2006/main">
            <a:r>
              <a:t>- collections/organoid/wiki/concepts/brain-organoid-patterning-and-assembloids.md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e55712c8bd74251"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1" name="Title 1">
            <a:extLst xmlns:a="http://schemas.openxmlformats.org/drawingml/2006/main">
              <a:ext uri="{FF2B5EF4-FFF2-40B4-BE49-F238E27FC236}">
                <a16:creationId xmlns:a16="http://schemas.microsoft.com/office/drawing/2014/main" id="{8AF621C7-F94B-4768-9AC2-F1012E25D495}"/>
              </a:ext>
            </a:extLst>
          </p:cNvPr>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p:txBody>
      </p:sp>
      <p:sp>
        <p:nvSpPr>
          <p:cNvPr id="2" name="Subtitle 2">
            <a:extLst xmlns:a="http://schemas.openxmlformats.org/drawingml/2006/main">
              <a:ext uri="{FF2B5EF4-FFF2-40B4-BE49-F238E27FC236}">
                <a16:creationId xmlns:a16="http://schemas.microsoft.com/office/drawing/2014/main" id="{648AA70F-8157-4479-B8F4-CD13E46638E5}"/>
              </a:ext>
            </a:extLst>
          </p:cNvPr>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p:txBody>
      </p:sp>
      <p:sp>
        <p:nvSpPr>
          <p:cNvPr id="3" name="Date Placeholder 3">
            <a:extLst xmlns:a="http://schemas.openxmlformats.org/drawingml/2006/main">
              <a:ext uri="{FF2B5EF4-FFF2-40B4-BE49-F238E27FC236}">
                <a16:creationId xmlns:a16="http://schemas.microsoft.com/office/drawing/2014/main" id="{A273723D-83A1-4075-B6B1-1B9BB638041E}"/>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4" name="Footer Placeholder 4">
            <a:extLst xmlns:a="http://schemas.openxmlformats.org/drawingml/2006/main">
              <a:ext uri="{FF2B5EF4-FFF2-40B4-BE49-F238E27FC236}">
                <a16:creationId xmlns:a16="http://schemas.microsoft.com/office/drawing/2014/main" id="{7CBA711E-8E10-41BC-A445-D3A111FDC836}"/>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5">
            <a:extLst xmlns:a="http://schemas.openxmlformats.org/drawingml/2006/main">
              <a:ext uri="{FF2B5EF4-FFF2-40B4-BE49-F238E27FC236}">
                <a16:creationId xmlns:a16="http://schemas.microsoft.com/office/drawing/2014/main" id="{38BDF79F-9F16-4FEE-B72E-1F506FE9EBEC}"/>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2bcc53af77cb4ec4" /><Relationship Type="http://schemas.openxmlformats.org/officeDocument/2006/relationships/slideLayout" Target="/ppt/slideLayouts/slideLayout2.xml" Id="Red90d854311b43f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BE2B7849-1DBE-45F5-91FA-164AAD4B63DC}"/>
              </a:ext>
            </a:extLst>
          </p:cNvPr>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90d854311b43f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7f58ef4da4904fe0" /><Relationship Type="http://schemas.openxmlformats.org/officeDocument/2006/relationships/image" Target="/ppt/media/image.png" Id="Rf60bff4d2b86457c" /><Relationship Type="http://schemas.openxmlformats.org/officeDocument/2006/relationships/notesSlide" Target="/ppt/notesSlides/notesSlide1.xml" Id="Rb035a6dd814343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f5d34fca61ee47f1" /><Relationship Type="http://schemas.openxmlformats.org/officeDocument/2006/relationships/image" Target="/ppt/media/image2.png" Id="R95aec88cc53147ee" /><Relationship Type="http://schemas.openxmlformats.org/officeDocument/2006/relationships/notesSlide" Target="/ppt/notesSlides/notesSlide2.xml" Id="Rb91207fe22324030"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c1542b3dea384492" /><Relationship Type="http://schemas.openxmlformats.org/officeDocument/2006/relationships/image" Target="/ppt/media/image3.png" Id="Rc1602807d1134e50" /><Relationship Type="http://schemas.openxmlformats.org/officeDocument/2006/relationships/notesSlide" Target="/ppt/notesSlides/notesSlide3.xml" Id="R10104f086df94463"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0918feeba02a48d5" /><Relationship Type="http://schemas.openxmlformats.org/officeDocument/2006/relationships/image" Target="/ppt/media/image4.png" Id="R7f30c73b723f4756" /><Relationship Type="http://schemas.openxmlformats.org/officeDocument/2006/relationships/notesSlide" Target="/ppt/notesSlides/notesSlide4.xml" Id="R8df5b66f0d624b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66ff88a34aae4bfa" /><Relationship Type="http://schemas.openxmlformats.org/officeDocument/2006/relationships/image" Target="/ppt/media/image5.png" Id="Rca5ceab256ae4fdf" /><Relationship Type="http://schemas.openxmlformats.org/officeDocument/2006/relationships/notesSlide" Target="/ppt/notesSlides/notesSlide5.xml" Id="R16f367e31d014b66"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6061cc4c4f8e4139" /><Relationship Type="http://schemas.openxmlformats.org/officeDocument/2006/relationships/image" Target="/ppt/media/image6.png" Id="Rda91e4fb05424552" /><Relationship Type="http://schemas.openxmlformats.org/officeDocument/2006/relationships/notesSlide" Target="/ppt/notesSlides/notesSlide6.xml" Id="Rc644156d7922428b"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289a2eaa6095402d" /><Relationship Type="http://schemas.openxmlformats.org/officeDocument/2006/relationships/image" Target="/ppt/media/image7.png" Id="R57d977ec12ed4227" /><Relationship Type="http://schemas.openxmlformats.org/officeDocument/2006/relationships/notesSlide" Target="/ppt/notesSlides/notesSlide7.xml" Id="R6f364f01b52c4a96"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2d36947d849449a0" /><Relationship Type="http://schemas.openxmlformats.org/officeDocument/2006/relationships/image" Target="/ppt/media/image8.png" Id="R823d20a8cf224c17" /><Relationship Type="http://schemas.openxmlformats.org/officeDocument/2006/relationships/notesSlide" Target="/ppt/notesSlides/notesSlide8.xml" Id="Rb89989ecedd8423c"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85c65caa6d3f453b" /><Relationship Type="http://schemas.openxmlformats.org/officeDocument/2006/relationships/image" Target="/ppt/media/image9.png" Id="Re98304e6cc95476f" /><Relationship Type="http://schemas.openxmlformats.org/officeDocument/2006/relationships/notesSlide" Target="/ppt/notesSlides/notesSlide9.xml" Id="Rc7fc1478ea864f3c" /></Relationships>
</file>

<file path=ppt/slides/slide1.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8BDF79F-9F16-4FEE-B72E-1F506FE9EBEC}"/>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60bff4d2b86457c"/>
          <a:srcRect xmlns:a="http://schemas.openxmlformats.org/drawingml/2006/main" l="0" t="21875" r="0" b="2187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F1FC59B-A6D8-460E-A372-B98EFC8712D8}"/>
              </a:ext>
            </a:extLst>
          </p:cNvPr>
          <p:cNvSpPr>
            <a:spLocks xmlns:a="http://schemas.openxmlformats.org/drawingml/2006/main" noGrp="1"/>
          </p:cNvSpPr>
          <p:nvPr/>
        </p:nvSpPr>
        <p:spPr>
          <a:xfrm xmlns:a="http://schemas.openxmlformats.org/drawingml/2006/main">
            <a:off x="7867650" y="781050"/>
            <a:ext cx="3638550" cy="3638550"/>
          </a:xfrm>
          <a:prstGeom xmlns:a="http://schemas.openxmlformats.org/drawingml/2006/main" prst="ellipse">
            <a:avLst/>
          </a:prstGeom>
          <a:solidFill xmlns:a="http://schemas.openxmlformats.org/drawingml/2006/main">
            <a:srgbClr val="E4F5EC"/>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6DD5B498-AA2E-4B75-BDF8-5EC328D886DC}"/>
              </a:ext>
            </a:extLst>
          </p:cNvPr>
          <p:cNvSpPr>
            <a:spLocks xmlns:a="http://schemas.openxmlformats.org/drawingml/2006/main" noGrp="1"/>
          </p:cNvSpPr>
          <p:nvPr/>
        </p:nvSpPr>
        <p:spPr>
          <a:xfrm xmlns:a="http://schemas.openxmlformats.org/drawingml/2006/main">
            <a:off x="9220200" y="4152900"/>
            <a:ext cx="1962150" cy="1962150"/>
          </a:xfrm>
          <a:prstGeom xmlns:a="http://schemas.openxmlformats.org/drawingml/2006/main" prst="ellipse">
            <a:avLst/>
          </a:prstGeom>
          <a:solidFill xmlns:a="http://schemas.openxmlformats.org/drawingml/2006/main">
            <a:srgbClr val="E6EDF1"/>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8F859939-8ABD-4668-92A6-807048A70AC8}"/>
              </a:ext>
            </a:extLst>
          </p:cNvPr>
          <p:cNvSpPr>
            <a:spLocks xmlns:a="http://schemas.openxmlformats.org/drawingml/2006/main" noGrp="1"/>
          </p:cNvSpPr>
          <p:nvPr/>
        </p:nvSpPr>
        <p:spPr>
          <a:xfrm xmlns:a="http://schemas.openxmlformats.org/drawingml/2006/main">
            <a:off x="8534400" y="1409700"/>
            <a:ext cx="2457450" cy="1409700"/>
          </a:xfrm>
          <a:prstGeom xmlns:a="http://schemas.openxmlformats.org/drawingml/2006/main" prst="roundRect">
            <a:avLst>
              <a:gd name="adj" fmla="val 5405"/>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6" name="">
            <a:extLst xmlns:a="http://schemas.openxmlformats.org/drawingml/2006/main">
              <a:ext uri="{FF2B5EF4-FFF2-40B4-BE49-F238E27FC236}">
                <a16:creationId xmlns:a16="http://schemas.microsoft.com/office/drawing/2014/main" id="{0D156D27-6171-4A7F-ABDB-3EB87A783583}"/>
              </a:ext>
            </a:extLst>
          </p:cNvPr>
          <p:cNvSpPr>
            <a:spLocks xmlns:a="http://schemas.openxmlformats.org/drawingml/2006/main" noGrp="1"/>
          </p:cNvSpPr>
          <p:nvPr/>
        </p:nvSpPr>
        <p:spPr>
          <a:xfrm xmlns:a="http://schemas.openxmlformats.org/drawingml/2006/main">
            <a:off x="9010650" y="3067050"/>
            <a:ext cx="2152650" cy="1123950"/>
          </a:xfrm>
          <a:prstGeom xmlns:a="http://schemas.openxmlformats.org/drawingml/2006/main" prst="roundRect">
            <a:avLst>
              <a:gd name="adj" fmla="val 6780"/>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7" name="">
            <a:extLst xmlns:a="http://schemas.openxmlformats.org/drawingml/2006/main">
              <a:ext uri="{FF2B5EF4-FFF2-40B4-BE49-F238E27FC236}">
                <a16:creationId xmlns:a16="http://schemas.microsoft.com/office/drawing/2014/main" id="{B86E36F7-4C32-4867-9694-CAC7697427C0}"/>
              </a:ext>
            </a:extLst>
          </p:cNvPr>
          <p:cNvSpPr>
            <a:spLocks xmlns:a="http://schemas.openxmlformats.org/drawingml/2006/main" noGrp="1"/>
          </p:cNvSpPr>
          <p:nvPr/>
        </p:nvSpPr>
        <p:spPr>
          <a:xfrm xmlns:a="http://schemas.openxmlformats.org/drawingml/2006/main">
            <a:off x="8039100" y="4629150"/>
            <a:ext cx="2000250" cy="914400"/>
          </a:xfrm>
          <a:prstGeom xmlns:a="http://schemas.openxmlformats.org/drawingml/2006/main" prst="roundRect">
            <a:avLst>
              <a:gd name="adj" fmla="val 8333"/>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8" name="">
            <a:extLst xmlns:a="http://schemas.openxmlformats.org/drawingml/2006/main">
              <a:ext uri="{FF2B5EF4-FFF2-40B4-BE49-F238E27FC236}">
                <a16:creationId xmlns:a16="http://schemas.microsoft.com/office/drawing/2014/main" id="{FE6BD932-0AF1-4005-92BC-092DFA1090E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CF7">
              <a:alpha val="80000"/>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772DAEEC-D5EF-4A3A-BFDB-D617E4E4B627}"/>
              </a:ext>
            </a:extLst>
          </p:cNvPr>
          <p:cNvSpPr>
            <a:spLocks xmlns:a="http://schemas.openxmlformats.org/drawingml/2006/main" noGrp="1"/>
          </p:cNvSpPr>
          <p:nvPr/>
        </p:nvSpPr>
        <p:spPr>
          <a:xfrm xmlns:a="http://schemas.openxmlformats.org/drawingml/2006/main">
            <a:off x="609600" y="819150"/>
            <a:ext cx="76200" cy="4362450"/>
          </a:xfrm>
          <a:prstGeom xmlns:a="http://schemas.openxmlformats.org/drawingml/2006/main" prst="rect">
            <a:avLst/>
          </a:prstGeom>
          <a:solidFill xmlns:a="http://schemas.openxmlformats.org/drawingml/2006/main">
            <a:srgbClr val="1D9A69"/>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65E96BF2-1483-4BA7-94A6-F001108AB06D}"/>
              </a:ext>
            </a:extLst>
          </p:cNvPr>
          <p:cNvSpPr>
            <a:spLocks xmlns:a="http://schemas.openxmlformats.org/drawingml/2006/main" noGrp="1"/>
          </p:cNvSpPr>
          <p:nvPr/>
        </p:nvSpPr>
        <p:spPr>
          <a:xfrm xmlns:a="http://schemas.openxmlformats.org/drawingml/2006/main">
            <a:off x="819150" y="8382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F5B3F"/>
                </a:solidFill>
              </a:defRPr>
            </a:pPr>
            <a:r>
              <a:rPr sz="975" b="1">
                <a:solidFill>
                  <a:srgbClr val="0F5B3F"/>
                </a:solidFill>
              </a:rPr>
              <a:t>BRAIN ORGANOID QUESTION CHAIN</a:t>
            </a:r>
          </a:p>
        </p:txBody>
      </p:sp>
      <p:sp>
        <p:nvSpPr>
          <p:cNvPr id="11" name="">
            <a:extLst xmlns:a="http://schemas.openxmlformats.org/drawingml/2006/main">
              <a:ext uri="{FF2B5EF4-FFF2-40B4-BE49-F238E27FC236}">
                <a16:creationId xmlns:a16="http://schemas.microsoft.com/office/drawing/2014/main" id="{588AC4A2-CBFD-4405-8603-CEA6AC4907F0}"/>
              </a:ext>
            </a:extLst>
          </p:cNvPr>
          <p:cNvSpPr>
            <a:spLocks xmlns:a="http://schemas.openxmlformats.org/drawingml/2006/main" noGrp="1"/>
          </p:cNvSpPr>
          <p:nvPr/>
        </p:nvSpPr>
        <p:spPr>
          <a:xfrm xmlns:a="http://schemas.openxmlformats.org/drawingml/2006/main">
            <a:off x="781050" y="1238250"/>
            <a:ext cx="6572250" cy="1447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75" b="1">
                <a:solidFill>
                  <a:srgbClr val="132024"/>
                </a:solidFill>
              </a:defRPr>
            </a:pPr>
            <a:r>
              <a:rPr sz="3375" b="1">
                <a:solidFill>
                  <a:srgbClr val="132024"/>
                </a:solidFill>
              </a:rPr>
              <a:t>Brain organoid protocol 비교는</a:t>
            </a:r>
          </a:p>
          <a:p xmlns:a="http://schemas.openxmlformats.org/drawingml/2006/main">
            <a:pPr algn="l">
              <a:defRPr sz="3375" b="1">
                <a:solidFill>
                  <a:srgbClr val="132024"/>
                </a:solidFill>
              </a:defRPr>
            </a:pPr>
            <a:r>
              <a:rPr sz="3375" b="1">
                <a:solidFill>
                  <a:srgbClr val="132024"/>
                </a:solidFill>
              </a:rPr>
              <a:t>왜 subregion 비교만으로 끝나지 않는가</a:t>
            </a:r>
          </a:p>
        </p:txBody>
      </p:sp>
      <p:sp>
        <p:nvSpPr>
          <p:cNvPr id="12" name="">
            <a:extLst xmlns:a="http://schemas.openxmlformats.org/drawingml/2006/main">
              <a:ext uri="{FF2B5EF4-FFF2-40B4-BE49-F238E27FC236}">
                <a16:creationId xmlns:a16="http://schemas.microsoft.com/office/drawing/2014/main" id="{4EE983D0-D5FB-41EA-A75D-2D55AC6EFBE4}"/>
              </a:ext>
            </a:extLst>
          </p:cNvPr>
          <p:cNvSpPr>
            <a:spLocks xmlns:a="http://schemas.openxmlformats.org/drawingml/2006/main" noGrp="1"/>
          </p:cNvSpPr>
          <p:nvPr/>
        </p:nvSpPr>
        <p:spPr>
          <a:xfrm xmlns:a="http://schemas.openxmlformats.org/drawingml/2006/main">
            <a:off x="819150" y="2933700"/>
            <a:ext cx="590550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344146"/>
                </a:solidFill>
              </a:defRPr>
            </a:pPr>
            <a:r>
              <a:rPr sz="1500" b="0">
                <a:solidFill>
                  <a:srgbClr val="344146"/>
                </a:solidFill>
              </a:rPr>
              <a:t>organoid 위키를 정리하면서, 단순한 region 비교 질문이</a:t>
            </a:r>
          </a:p>
          <a:p xmlns:a="http://schemas.openxmlformats.org/drawingml/2006/main">
            <a:pPr algn="l">
              <a:defRPr sz="1500" b="0">
                <a:solidFill>
                  <a:srgbClr val="344146"/>
                </a:solidFill>
              </a:defRPr>
            </a:pPr>
            <a:r>
              <a:rPr sz="1500" b="0">
                <a:solidFill>
                  <a:srgbClr val="344146"/>
                </a:solidFill>
              </a:rPr>
              <a:t>benchmark와 readout 중심 질문으로 어떻게 확장됐는지를 보여준다.</a:t>
            </a:r>
          </a:p>
        </p:txBody>
      </p:sp>
      <p:sp>
        <p:nvSpPr>
          <p:cNvPr id="13" name="">
            <a:extLst xmlns:a="http://schemas.openxmlformats.org/drawingml/2006/main">
              <a:ext uri="{FF2B5EF4-FFF2-40B4-BE49-F238E27FC236}">
                <a16:creationId xmlns:a16="http://schemas.microsoft.com/office/drawing/2014/main" id="{A18CCF79-F5C4-41E5-A2B4-AA924790BFB3}"/>
              </a:ext>
            </a:extLst>
          </p:cNvPr>
          <p:cNvSpPr>
            <a:spLocks xmlns:a="http://schemas.openxmlformats.org/drawingml/2006/main" noGrp="1"/>
          </p:cNvSpPr>
          <p:nvPr/>
        </p:nvSpPr>
        <p:spPr>
          <a:xfrm xmlns:a="http://schemas.openxmlformats.org/drawingml/2006/main">
            <a:off x="819150" y="4210050"/>
            <a:ext cx="4114800" cy="876300"/>
          </a:xfrm>
          <a:prstGeom xmlns:a="http://schemas.openxmlformats.org/drawingml/2006/main" prst="roundRect">
            <a:avLst>
              <a:gd name="adj" fmla="val 8696"/>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14" name="">
            <a:extLst xmlns:a="http://schemas.openxmlformats.org/drawingml/2006/main">
              <a:ext uri="{FF2B5EF4-FFF2-40B4-BE49-F238E27FC236}">
                <a16:creationId xmlns:a16="http://schemas.microsoft.com/office/drawing/2014/main" id="{0F95EEC8-B83F-40D6-BED4-BB35B07FE4CD}"/>
              </a:ext>
            </a:extLst>
          </p:cNvPr>
          <p:cNvSpPr>
            <a:spLocks xmlns:a="http://schemas.openxmlformats.org/drawingml/2006/main" noGrp="1"/>
          </p:cNvSpPr>
          <p:nvPr/>
        </p:nvSpPr>
        <p:spPr>
          <a:xfrm xmlns:a="http://schemas.openxmlformats.org/drawingml/2006/main">
            <a:off x="1066800" y="4457700"/>
            <a:ext cx="3695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32024"/>
                </a:solidFill>
              </a:defRPr>
            </a:pPr>
            <a:r>
              <a:rPr sz="1650" b="1">
                <a:solidFill>
                  <a:srgbClr val="132024"/>
                </a:solidFill>
              </a:rPr>
              <a:t>질문이 바뀌면 비교 기준도 바뀐다</a:t>
            </a:r>
          </a:p>
        </p:txBody>
      </p:sp>
      <p:sp>
        <p:nvSpPr>
          <p:cNvPr id="15" name="">
            <a:extLst xmlns:a="http://schemas.openxmlformats.org/drawingml/2006/main">
              <a:ext uri="{FF2B5EF4-FFF2-40B4-BE49-F238E27FC236}">
                <a16:creationId xmlns:a16="http://schemas.microsoft.com/office/drawing/2014/main" id="{6327A68B-EB87-4FA8-AD57-090A3FB8FE7B}"/>
              </a:ext>
            </a:extLst>
          </p:cNvPr>
          <p:cNvSpPr>
            <a:spLocks xmlns:a="http://schemas.openxmlformats.org/drawingml/2006/main" noGrp="1"/>
          </p:cNvSpPr>
          <p:nvPr/>
        </p:nvSpPr>
        <p:spPr>
          <a:xfrm xmlns:a="http://schemas.openxmlformats.org/drawingml/2006/main">
            <a:off x="8020050" y="1200150"/>
            <a:ext cx="2038350" cy="1104900"/>
          </a:xfrm>
          <a:prstGeom xmlns:a="http://schemas.openxmlformats.org/drawingml/2006/main" prst="roundRect">
            <a:avLst>
              <a:gd name="adj" fmla="val 6897"/>
            </a:avLst>
          </a:prstGeom>
          <a:solidFill xmlns:a="http://schemas.openxmlformats.org/drawingml/2006/main">
            <a:srgbClr val="FFFDF8"/>
          </a:solidFill>
          <a:ln xmlns:a="http://schemas.openxmlformats.org/drawingml/2006/main" w="10478">
            <a:solidFill>
              <a:srgbClr val="132024"/>
            </a:solidFill>
            <a:prstDash val="solid"/>
          </a:ln>
        </p:spPr>
      </p:sp>
      <p:sp>
        <p:nvSpPr>
          <p:cNvPr id="16" name="">
            <a:extLst xmlns:a="http://schemas.openxmlformats.org/drawingml/2006/main">
              <a:ext uri="{FF2B5EF4-FFF2-40B4-BE49-F238E27FC236}">
                <a16:creationId xmlns:a16="http://schemas.microsoft.com/office/drawing/2014/main" id="{5E8E7AC8-18A7-4615-B7D6-4A4974BC5E35}"/>
              </a:ext>
            </a:extLst>
          </p:cNvPr>
          <p:cNvSpPr>
            <a:spLocks xmlns:a="http://schemas.openxmlformats.org/drawingml/2006/main" noGrp="1"/>
          </p:cNvSpPr>
          <p:nvPr/>
        </p:nvSpPr>
        <p:spPr>
          <a:xfrm xmlns:a="http://schemas.openxmlformats.org/drawingml/2006/main">
            <a:off x="8020050" y="1200150"/>
            <a:ext cx="66675" cy="1104900"/>
          </a:xfrm>
          <a:prstGeom xmlns:a="http://schemas.openxmlformats.org/drawingml/2006/main" prst="rect">
            <a:avLst/>
          </a:prstGeom>
          <a:solidFill xmlns:a="http://schemas.openxmlformats.org/drawingml/2006/main">
            <a:srgbClr val="1D9A69"/>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843B3C93-729C-4BEA-AE31-37E6E7DD60A2}"/>
              </a:ext>
            </a:extLst>
          </p:cNvPr>
          <p:cNvSpPr>
            <a:spLocks xmlns:a="http://schemas.openxmlformats.org/drawingml/2006/main" noGrp="1"/>
          </p:cNvSpPr>
          <p:nvPr/>
        </p:nvSpPr>
        <p:spPr>
          <a:xfrm xmlns:a="http://schemas.openxmlformats.org/drawingml/2006/main">
            <a:off x="8191500" y="1352550"/>
            <a:ext cx="723900" cy="228600"/>
          </a:xfrm>
          <a:prstGeom xmlns:a="http://schemas.openxmlformats.org/drawingml/2006/main" prst="rect">
            <a:avLst/>
          </a:prstGeom>
          <a:solidFill xmlns:a="http://schemas.openxmlformats.org/drawingml/2006/main">
            <a:srgbClr val="F4E8C8"/>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7A5A14"/>
                </a:solidFill>
              </a:defRPr>
            </a:pPr>
            <a:r>
              <a:rPr sz="900" b="1">
                <a:solidFill>
                  <a:srgbClr val="7A5A14"/>
                </a:solidFill>
              </a:rPr>
              <a:t>concept</a:t>
            </a:r>
          </a:p>
        </p:txBody>
      </p:sp>
      <p:sp>
        <p:nvSpPr>
          <p:cNvPr id="18" name="">
            <a:extLst xmlns:a="http://schemas.openxmlformats.org/drawingml/2006/main">
              <a:ext uri="{FF2B5EF4-FFF2-40B4-BE49-F238E27FC236}">
                <a16:creationId xmlns:a16="http://schemas.microsoft.com/office/drawing/2014/main" id="{A262D0F9-9D7A-4BAF-9A2F-CBBD7B738EE9}"/>
              </a:ext>
            </a:extLst>
          </p:cNvPr>
          <p:cNvSpPr>
            <a:spLocks xmlns:a="http://schemas.openxmlformats.org/drawingml/2006/main" noGrp="1"/>
          </p:cNvSpPr>
          <p:nvPr/>
        </p:nvSpPr>
        <p:spPr>
          <a:xfrm xmlns:a="http://schemas.openxmlformats.org/drawingml/2006/main">
            <a:off x="8191500" y="1638300"/>
            <a:ext cx="1714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32024"/>
                </a:solidFill>
              </a:defRPr>
            </a:pPr>
            <a:r>
              <a:rPr sz="1275" b="1">
                <a:solidFill>
                  <a:srgbClr val="132024"/>
                </a:solidFill>
              </a:rPr>
              <a:t>subregion</a:t>
            </a:r>
          </a:p>
        </p:txBody>
      </p:sp>
      <p:sp>
        <p:nvSpPr>
          <p:cNvPr id="19" name="">
            <a:extLst xmlns:a="http://schemas.openxmlformats.org/drawingml/2006/main">
              <a:ext uri="{FF2B5EF4-FFF2-40B4-BE49-F238E27FC236}">
                <a16:creationId xmlns:a16="http://schemas.microsoft.com/office/drawing/2014/main" id="{58D5C3EA-9E7D-4E78-A5DF-CABB392F10DC}"/>
              </a:ext>
            </a:extLst>
          </p:cNvPr>
          <p:cNvSpPr>
            <a:spLocks xmlns:a="http://schemas.openxmlformats.org/drawingml/2006/main" noGrp="1"/>
          </p:cNvSpPr>
          <p:nvPr/>
        </p:nvSpPr>
        <p:spPr>
          <a:xfrm xmlns:a="http://schemas.openxmlformats.org/drawingml/2006/main">
            <a:off x="8191500" y="1885950"/>
            <a:ext cx="17145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344146"/>
                </a:solidFill>
              </a:defRPr>
            </a:pPr>
            <a:r>
              <a:rPr sz="825" b="0">
                <a:solidFill>
                  <a:srgbClr val="344146"/>
                </a:solidFill>
              </a:rPr>
              <a:t>whole cerebral,</a:t>
            </a:r>
          </a:p>
          <a:p xmlns:a="http://schemas.openxmlformats.org/drawingml/2006/main">
            <a:pPr algn="l">
              <a:defRPr sz="825" b="0">
                <a:solidFill>
                  <a:srgbClr val="344146"/>
                </a:solidFill>
              </a:defRPr>
            </a:pPr>
            <a:r>
              <a:rPr sz="825" b="0">
                <a:solidFill>
                  <a:srgbClr val="344146"/>
                </a:solidFill>
              </a:rPr>
              <a:t>forebrain, midbrain</a:t>
            </a:r>
          </a:p>
        </p:txBody>
      </p:sp>
      <p:sp>
        <p:nvSpPr>
          <p:cNvPr id="20" name="">
            <a:extLst xmlns:a="http://schemas.openxmlformats.org/drawingml/2006/main">
              <a:ext uri="{FF2B5EF4-FFF2-40B4-BE49-F238E27FC236}">
                <a16:creationId xmlns:a16="http://schemas.microsoft.com/office/drawing/2014/main" id="{F9EF71F5-981E-401C-BA2D-C85E728862EB}"/>
              </a:ext>
            </a:extLst>
          </p:cNvPr>
          <p:cNvSpPr>
            <a:spLocks xmlns:a="http://schemas.openxmlformats.org/drawingml/2006/main" noGrp="1"/>
          </p:cNvSpPr>
          <p:nvPr/>
        </p:nvSpPr>
        <p:spPr>
          <a:xfrm xmlns:a="http://schemas.openxmlformats.org/drawingml/2006/main">
            <a:off x="9296400" y="2667000"/>
            <a:ext cx="1981200" cy="1104900"/>
          </a:xfrm>
          <a:prstGeom xmlns:a="http://schemas.openxmlformats.org/drawingml/2006/main" prst="roundRect">
            <a:avLst>
              <a:gd name="adj" fmla="val 6897"/>
            </a:avLst>
          </a:prstGeom>
          <a:solidFill xmlns:a="http://schemas.openxmlformats.org/drawingml/2006/main">
            <a:srgbClr val="FFFDF8"/>
          </a:solidFill>
          <a:ln xmlns:a="http://schemas.openxmlformats.org/drawingml/2006/main" w="10478">
            <a:solidFill>
              <a:srgbClr val="132024"/>
            </a:solidFill>
            <a:prstDash val="solid"/>
          </a:ln>
        </p:spPr>
      </p:sp>
      <p:sp>
        <p:nvSpPr>
          <p:cNvPr id="21" name="">
            <a:extLst xmlns:a="http://schemas.openxmlformats.org/drawingml/2006/main">
              <a:ext uri="{FF2B5EF4-FFF2-40B4-BE49-F238E27FC236}">
                <a16:creationId xmlns:a16="http://schemas.microsoft.com/office/drawing/2014/main" id="{F703BC64-88BF-4FB7-BB87-370C5D25306D}"/>
              </a:ext>
            </a:extLst>
          </p:cNvPr>
          <p:cNvSpPr>
            <a:spLocks xmlns:a="http://schemas.openxmlformats.org/drawingml/2006/main" noGrp="1"/>
          </p:cNvSpPr>
          <p:nvPr/>
        </p:nvSpPr>
        <p:spPr>
          <a:xfrm xmlns:a="http://schemas.openxmlformats.org/drawingml/2006/main">
            <a:off x="9296400" y="2667000"/>
            <a:ext cx="66675" cy="1104900"/>
          </a:xfrm>
          <a:prstGeom xmlns:a="http://schemas.openxmlformats.org/drawingml/2006/main" prst="rect">
            <a:avLst/>
          </a:prstGeom>
          <a:solidFill xmlns:a="http://schemas.openxmlformats.org/drawingml/2006/main">
            <a:srgbClr val="C9972B"/>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F0D76B4E-ECF9-4D48-92CE-C7B75AAD8A3C}"/>
              </a:ext>
            </a:extLst>
          </p:cNvPr>
          <p:cNvSpPr>
            <a:spLocks xmlns:a="http://schemas.openxmlformats.org/drawingml/2006/main" noGrp="1"/>
          </p:cNvSpPr>
          <p:nvPr/>
        </p:nvSpPr>
        <p:spPr>
          <a:xfrm xmlns:a="http://schemas.openxmlformats.org/drawingml/2006/main">
            <a:off x="9467850" y="2819400"/>
            <a:ext cx="723900" cy="228600"/>
          </a:xfrm>
          <a:prstGeom xmlns:a="http://schemas.openxmlformats.org/drawingml/2006/main" prst="rect">
            <a:avLst/>
          </a:prstGeom>
          <a:solidFill xmlns:a="http://schemas.openxmlformats.org/drawingml/2006/main">
            <a:srgbClr val="F4E8C8"/>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7A5A14"/>
                </a:solidFill>
              </a:defRPr>
            </a:pPr>
            <a:r>
              <a:rPr sz="900" b="1">
                <a:solidFill>
                  <a:srgbClr val="7A5A14"/>
                </a:solidFill>
              </a:rPr>
              <a:t>concept</a:t>
            </a:r>
          </a:p>
        </p:txBody>
      </p:sp>
      <p:sp>
        <p:nvSpPr>
          <p:cNvPr id="23" name="">
            <a:extLst xmlns:a="http://schemas.openxmlformats.org/drawingml/2006/main">
              <a:ext uri="{FF2B5EF4-FFF2-40B4-BE49-F238E27FC236}">
                <a16:creationId xmlns:a16="http://schemas.microsoft.com/office/drawing/2014/main" id="{F1465740-70B2-4F24-866D-539D42CEBE57}"/>
              </a:ext>
            </a:extLst>
          </p:cNvPr>
          <p:cNvSpPr>
            <a:spLocks xmlns:a="http://schemas.openxmlformats.org/drawingml/2006/main" noGrp="1"/>
          </p:cNvSpPr>
          <p:nvPr/>
        </p:nvSpPr>
        <p:spPr>
          <a:xfrm xmlns:a="http://schemas.openxmlformats.org/drawingml/2006/main">
            <a:off x="9467850" y="3105150"/>
            <a:ext cx="1657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32024"/>
                </a:solidFill>
              </a:defRPr>
            </a:pPr>
            <a:r>
              <a:rPr sz="1275" b="1">
                <a:solidFill>
                  <a:srgbClr val="132024"/>
                </a:solidFill>
              </a:rPr>
              <a:t>benchmark</a:t>
            </a:r>
          </a:p>
        </p:txBody>
      </p:sp>
      <p:sp>
        <p:nvSpPr>
          <p:cNvPr id="24" name="">
            <a:extLst xmlns:a="http://schemas.openxmlformats.org/drawingml/2006/main">
              <a:ext uri="{FF2B5EF4-FFF2-40B4-BE49-F238E27FC236}">
                <a16:creationId xmlns:a16="http://schemas.microsoft.com/office/drawing/2014/main" id="{9B388E07-00EB-4A99-8A5C-D85635225797}"/>
              </a:ext>
            </a:extLst>
          </p:cNvPr>
          <p:cNvSpPr>
            <a:spLocks xmlns:a="http://schemas.openxmlformats.org/drawingml/2006/main" noGrp="1"/>
          </p:cNvSpPr>
          <p:nvPr/>
        </p:nvSpPr>
        <p:spPr>
          <a:xfrm xmlns:a="http://schemas.openxmlformats.org/drawingml/2006/main">
            <a:off x="9467850" y="3352800"/>
            <a:ext cx="16573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344146"/>
                </a:solidFill>
              </a:defRPr>
            </a:pPr>
            <a:r>
              <a:rPr sz="825" b="0">
                <a:solidFill>
                  <a:srgbClr val="344146"/>
                </a:solidFill>
              </a:rPr>
              <a:t>reproducibility,</a:t>
            </a:r>
          </a:p>
          <a:p xmlns:a="http://schemas.openxmlformats.org/drawingml/2006/main">
            <a:pPr algn="l">
              <a:defRPr sz="825" b="0">
                <a:solidFill>
                  <a:srgbClr val="344146"/>
                </a:solidFill>
              </a:defRPr>
            </a:pPr>
            <a:r>
              <a:rPr sz="825" b="0">
                <a:solidFill>
                  <a:srgbClr val="344146"/>
                </a:solidFill>
              </a:rPr>
              <a:t>fidelity, timing</a:t>
            </a:r>
          </a:p>
        </p:txBody>
      </p:sp>
      <p:sp>
        <p:nvSpPr>
          <p:cNvPr id="25" name="">
            <a:extLst xmlns:a="http://schemas.openxmlformats.org/drawingml/2006/main">
              <a:ext uri="{FF2B5EF4-FFF2-40B4-BE49-F238E27FC236}">
                <a16:creationId xmlns:a16="http://schemas.microsoft.com/office/drawing/2014/main" id="{F38F5299-2E03-4D75-BC73-EC0EE55D2AB4}"/>
              </a:ext>
            </a:extLst>
          </p:cNvPr>
          <p:cNvSpPr>
            <a:spLocks xmlns:a="http://schemas.openxmlformats.org/drawingml/2006/main" noGrp="1"/>
          </p:cNvSpPr>
          <p:nvPr/>
        </p:nvSpPr>
        <p:spPr>
          <a:xfrm xmlns:a="http://schemas.openxmlformats.org/drawingml/2006/main">
            <a:off x="8001000" y="4191000"/>
            <a:ext cx="2114550" cy="1104900"/>
          </a:xfrm>
          <a:prstGeom xmlns:a="http://schemas.openxmlformats.org/drawingml/2006/main" prst="roundRect">
            <a:avLst>
              <a:gd name="adj" fmla="val 6897"/>
            </a:avLst>
          </a:prstGeom>
          <a:solidFill xmlns:a="http://schemas.openxmlformats.org/drawingml/2006/main">
            <a:srgbClr val="FFFDF8"/>
          </a:solidFill>
          <a:ln xmlns:a="http://schemas.openxmlformats.org/drawingml/2006/main" w="10478">
            <a:solidFill>
              <a:srgbClr val="132024"/>
            </a:solidFill>
            <a:prstDash val="solid"/>
          </a:ln>
        </p:spPr>
      </p:sp>
      <p:sp>
        <p:nvSpPr>
          <p:cNvPr id="26" name="">
            <a:extLst xmlns:a="http://schemas.openxmlformats.org/drawingml/2006/main">
              <a:ext uri="{FF2B5EF4-FFF2-40B4-BE49-F238E27FC236}">
                <a16:creationId xmlns:a16="http://schemas.microsoft.com/office/drawing/2014/main" id="{D3907CAB-283D-4C7E-ADA0-9318CF37E867}"/>
              </a:ext>
            </a:extLst>
          </p:cNvPr>
          <p:cNvSpPr>
            <a:spLocks xmlns:a="http://schemas.openxmlformats.org/drawingml/2006/main" noGrp="1"/>
          </p:cNvSpPr>
          <p:nvPr/>
        </p:nvSpPr>
        <p:spPr>
          <a:xfrm xmlns:a="http://schemas.openxmlformats.org/drawingml/2006/main">
            <a:off x="8001000" y="4191000"/>
            <a:ext cx="66675" cy="1104900"/>
          </a:xfrm>
          <a:prstGeom xmlns:a="http://schemas.openxmlformats.org/drawingml/2006/main" prst="rect">
            <a:avLst/>
          </a:prstGeom>
          <a:solidFill xmlns:a="http://schemas.openxmlformats.org/drawingml/2006/main">
            <a:srgbClr val="D66C60"/>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A90C37AA-79CE-4C71-88B8-4EFAAE146A1B}"/>
              </a:ext>
            </a:extLst>
          </p:cNvPr>
          <p:cNvSpPr>
            <a:spLocks xmlns:a="http://schemas.openxmlformats.org/drawingml/2006/main" noGrp="1"/>
          </p:cNvSpPr>
          <p:nvPr/>
        </p:nvSpPr>
        <p:spPr>
          <a:xfrm xmlns:a="http://schemas.openxmlformats.org/drawingml/2006/main">
            <a:off x="8172450" y="4343400"/>
            <a:ext cx="723900" cy="228600"/>
          </a:xfrm>
          <a:prstGeom xmlns:a="http://schemas.openxmlformats.org/drawingml/2006/main" prst="rect">
            <a:avLst/>
          </a:prstGeom>
          <a:solidFill xmlns:a="http://schemas.openxmlformats.org/drawingml/2006/main">
            <a:srgbClr val="F4E8C8"/>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7A5A14"/>
                </a:solidFill>
              </a:defRPr>
            </a:pPr>
            <a:r>
              <a:rPr sz="900" b="1">
                <a:solidFill>
                  <a:srgbClr val="7A5A14"/>
                </a:solidFill>
              </a:rPr>
              <a:t>concept</a:t>
            </a:r>
          </a:p>
        </p:txBody>
      </p:sp>
      <p:sp>
        <p:nvSpPr>
          <p:cNvPr id="28" name="">
            <a:extLst xmlns:a="http://schemas.openxmlformats.org/drawingml/2006/main">
              <a:ext uri="{FF2B5EF4-FFF2-40B4-BE49-F238E27FC236}">
                <a16:creationId xmlns:a16="http://schemas.microsoft.com/office/drawing/2014/main" id="{15687EE4-0E6F-48BB-B856-6344A789B3F6}"/>
              </a:ext>
            </a:extLst>
          </p:cNvPr>
          <p:cNvSpPr>
            <a:spLocks xmlns:a="http://schemas.openxmlformats.org/drawingml/2006/main" noGrp="1"/>
          </p:cNvSpPr>
          <p:nvPr/>
        </p:nvSpPr>
        <p:spPr>
          <a:xfrm xmlns:a="http://schemas.openxmlformats.org/drawingml/2006/main">
            <a:off x="8172450" y="4629150"/>
            <a:ext cx="1790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32024"/>
                </a:solidFill>
              </a:defRPr>
            </a:pPr>
            <a:r>
              <a:rPr sz="1275" b="1">
                <a:solidFill>
                  <a:srgbClr val="132024"/>
                </a:solidFill>
              </a:rPr>
              <a:t>readout</a:t>
            </a:r>
          </a:p>
        </p:txBody>
      </p:sp>
      <p:sp>
        <p:nvSpPr>
          <p:cNvPr id="29" name="">
            <a:extLst xmlns:a="http://schemas.openxmlformats.org/drawingml/2006/main">
              <a:ext uri="{FF2B5EF4-FFF2-40B4-BE49-F238E27FC236}">
                <a16:creationId xmlns:a16="http://schemas.microsoft.com/office/drawing/2014/main" id="{C795AFFB-00D9-4610-B58E-B840D1DD4E60}"/>
              </a:ext>
            </a:extLst>
          </p:cNvPr>
          <p:cNvSpPr>
            <a:spLocks xmlns:a="http://schemas.openxmlformats.org/drawingml/2006/main" noGrp="1"/>
          </p:cNvSpPr>
          <p:nvPr/>
        </p:nvSpPr>
        <p:spPr>
          <a:xfrm xmlns:a="http://schemas.openxmlformats.org/drawingml/2006/main">
            <a:off x="8172450" y="4876800"/>
            <a:ext cx="17907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344146"/>
                </a:solidFill>
              </a:defRPr>
            </a:pPr>
            <a:r>
              <a:rPr sz="825" b="0">
                <a:solidFill>
                  <a:srgbClr val="344146"/>
                </a:solidFill>
              </a:rPr>
              <a:t>MEA, atlas, host,</a:t>
            </a:r>
          </a:p>
          <a:p xmlns:a="http://schemas.openxmlformats.org/drawingml/2006/main">
            <a:pPr algn="l">
              <a:defRPr sz="825" b="0">
                <a:solidFill>
                  <a:srgbClr val="344146"/>
                </a:solidFill>
              </a:defRPr>
            </a:pPr>
            <a:r>
              <a:rPr sz="825" b="0">
                <a:solidFill>
                  <a:srgbClr val="344146"/>
                </a:solidFill>
              </a:rPr>
              <a:t>screening</a:t>
            </a:r>
          </a:p>
        </p:txBody>
      </p:sp>
      <p:sp>
        <p:nvSpPr>
          <p:cNvPr id="30" name="">
            <a:extLst xmlns:a="http://schemas.openxmlformats.org/drawingml/2006/main">
              <a:ext uri="{FF2B5EF4-FFF2-40B4-BE49-F238E27FC236}">
                <a16:creationId xmlns:a16="http://schemas.microsoft.com/office/drawing/2014/main" id="{066F5F5C-0E69-42E3-B514-FBA980F1CE05}"/>
              </a:ext>
            </a:extLst>
          </p:cNvPr>
          <p:cNvSpPr>
            <a:spLocks xmlns:a="http://schemas.openxmlformats.org/drawingml/2006/main" noGrp="1"/>
          </p:cNvSpPr>
          <p:nvPr/>
        </p:nvSpPr>
        <p:spPr>
          <a:xfrm xmlns:a="http://schemas.openxmlformats.org/drawingml/2006/main">
            <a:off x="7391400" y="2609850"/>
            <a:ext cx="2095500" cy="990600"/>
          </a:xfrm>
          <a:prstGeom xmlns:a="http://schemas.openxmlformats.org/drawingml/2006/main" prst="roundRect">
            <a:avLst>
              <a:gd name="adj" fmla="val 7692"/>
            </a:avLst>
          </a:prstGeom>
          <a:solidFill xmlns:a="http://schemas.openxmlformats.org/drawingml/2006/main">
            <a:srgbClr val="DDF4E8"/>
          </a:solidFill>
          <a:ln xmlns:a="http://schemas.openxmlformats.org/drawingml/2006/main" w="10478">
            <a:solidFill>
              <a:srgbClr val="132024"/>
            </a:solidFill>
            <a:prstDash val="solid"/>
          </a:ln>
        </p:spPr>
      </p:sp>
      <p:sp>
        <p:nvSpPr>
          <p:cNvPr id="31" name="">
            <a:extLst xmlns:a="http://schemas.openxmlformats.org/drawingml/2006/main">
              <a:ext uri="{FF2B5EF4-FFF2-40B4-BE49-F238E27FC236}">
                <a16:creationId xmlns:a16="http://schemas.microsoft.com/office/drawing/2014/main" id="{55B486F0-C4CE-4C25-B896-344F54E46268}"/>
              </a:ext>
            </a:extLst>
          </p:cNvPr>
          <p:cNvSpPr>
            <a:spLocks xmlns:a="http://schemas.openxmlformats.org/drawingml/2006/main" noGrp="1"/>
          </p:cNvSpPr>
          <p:nvPr/>
        </p:nvSpPr>
        <p:spPr>
          <a:xfrm xmlns:a="http://schemas.openxmlformats.org/drawingml/2006/main">
            <a:off x="7391400" y="2609850"/>
            <a:ext cx="66675" cy="990600"/>
          </a:xfrm>
          <a:prstGeom xmlns:a="http://schemas.openxmlformats.org/drawingml/2006/main" prst="rect">
            <a:avLst/>
          </a:prstGeom>
          <a:solidFill xmlns:a="http://schemas.openxmlformats.org/drawingml/2006/main">
            <a:srgbClr val="0F5B3F"/>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D03342EC-66C0-4F02-9BCC-D1AAD6C8AED7}"/>
              </a:ext>
            </a:extLst>
          </p:cNvPr>
          <p:cNvSpPr>
            <a:spLocks xmlns:a="http://schemas.openxmlformats.org/drawingml/2006/main" noGrp="1"/>
          </p:cNvSpPr>
          <p:nvPr/>
        </p:nvSpPr>
        <p:spPr>
          <a:xfrm xmlns:a="http://schemas.openxmlformats.org/drawingml/2006/main">
            <a:off x="7562850" y="2762250"/>
            <a:ext cx="609600" cy="228600"/>
          </a:xfrm>
          <a:prstGeom xmlns:a="http://schemas.openxmlformats.org/drawingml/2006/main" prst="rect">
            <a:avLst/>
          </a:prstGeom>
          <a:solidFill xmlns:a="http://schemas.openxmlformats.org/drawingml/2006/main">
            <a:srgbClr val="DDF4E8"/>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0F5B3F"/>
                </a:solidFill>
              </a:defRPr>
            </a:pPr>
            <a:r>
              <a:rPr sz="900" b="1">
                <a:solidFill>
                  <a:srgbClr val="0F5B3F"/>
                </a:solidFill>
              </a:rPr>
              <a:t>query</a:t>
            </a:r>
          </a:p>
        </p:txBody>
      </p:sp>
      <p:sp>
        <p:nvSpPr>
          <p:cNvPr id="33" name="">
            <a:extLst xmlns:a="http://schemas.openxmlformats.org/drawingml/2006/main">
              <a:ext uri="{FF2B5EF4-FFF2-40B4-BE49-F238E27FC236}">
                <a16:creationId xmlns:a16="http://schemas.microsoft.com/office/drawing/2014/main" id="{256ED97F-4511-4979-B764-20826B4D73C5}"/>
              </a:ext>
            </a:extLst>
          </p:cNvPr>
          <p:cNvSpPr>
            <a:spLocks xmlns:a="http://schemas.openxmlformats.org/drawingml/2006/main" noGrp="1"/>
          </p:cNvSpPr>
          <p:nvPr/>
        </p:nvSpPr>
        <p:spPr>
          <a:xfrm xmlns:a="http://schemas.openxmlformats.org/drawingml/2006/main">
            <a:off x="7562850" y="3048000"/>
            <a:ext cx="17716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32024"/>
                </a:solidFill>
              </a:defRPr>
            </a:pPr>
            <a:r>
              <a:rPr sz="1275" b="1">
                <a:solidFill>
                  <a:srgbClr val="132024"/>
                </a:solidFill>
              </a:rPr>
              <a:t>질문의 이동</a:t>
            </a:r>
          </a:p>
        </p:txBody>
      </p:sp>
      <p:sp>
        <p:nvSpPr>
          <p:cNvPr id="34" name="">
            <a:extLst xmlns:a="http://schemas.openxmlformats.org/drawingml/2006/main">
              <a:ext uri="{FF2B5EF4-FFF2-40B4-BE49-F238E27FC236}">
                <a16:creationId xmlns:a16="http://schemas.microsoft.com/office/drawing/2014/main" id="{B3D1F4AA-B616-4229-99E4-9594062A719A}"/>
              </a:ext>
            </a:extLst>
          </p:cNvPr>
          <p:cNvSpPr>
            <a:spLocks xmlns:a="http://schemas.openxmlformats.org/drawingml/2006/main" noGrp="1"/>
          </p:cNvSpPr>
          <p:nvPr/>
        </p:nvSpPr>
        <p:spPr>
          <a:xfrm xmlns:a="http://schemas.openxmlformats.org/drawingml/2006/main">
            <a:off x="7562850" y="3295650"/>
            <a:ext cx="1771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344146"/>
                </a:solidFill>
              </a:defRPr>
            </a:pPr>
            <a:r>
              <a:rPr sz="825" b="0">
                <a:solidFill>
                  <a:srgbClr val="344146"/>
                </a:solidFill>
              </a:rPr>
              <a:t>what should I compare first?</a:t>
            </a:r>
          </a:p>
        </p:txBody>
      </p:sp>
      <p:sp>
        <p:nvSpPr>
          <p:cNvPr id="35" name="">
            <a:extLst xmlns:a="http://schemas.openxmlformats.org/drawingml/2006/main">
              <a:ext uri="{FF2B5EF4-FFF2-40B4-BE49-F238E27FC236}">
                <a16:creationId xmlns:a16="http://schemas.microsoft.com/office/drawing/2014/main" id="{F3777401-0E4A-4CB7-933D-936FD126015C}"/>
              </a:ext>
            </a:extLst>
          </p:cNvPr>
          <p:cNvSpPr>
            <a:spLocks xmlns:a="http://schemas.openxmlformats.org/drawingml/2006/main" noGrp="1"/>
          </p:cNvSpPr>
          <p:nvPr/>
        </p:nvSpPr>
        <p:spPr>
          <a:xfrm xmlns:a="http://schemas.openxmlformats.org/drawingml/2006/main" rot="-3964498">
            <a:off x="7999343" y="2414588"/>
            <a:ext cx="1479690" cy="28575"/>
          </a:xfrm>
          <a:prstGeom xmlns:a="http://schemas.openxmlformats.org/drawingml/2006/main" prst="rect">
            <a:avLst/>
          </a:prstGeom>
          <a:solidFill xmlns:a="http://schemas.openxmlformats.org/drawingml/2006/main">
            <a:srgbClr val="97B7AA"/>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95AC3342-A061-4173-A451-EA3C80D6EBD1}"/>
              </a:ext>
            </a:extLst>
          </p:cNvPr>
          <p:cNvSpPr>
            <a:spLocks xmlns:a="http://schemas.openxmlformats.org/drawingml/2006/main" noGrp="1"/>
          </p:cNvSpPr>
          <p:nvPr/>
        </p:nvSpPr>
        <p:spPr>
          <a:xfrm xmlns:a="http://schemas.openxmlformats.org/drawingml/2006/main" rot="212374">
            <a:off x="8437384" y="3148013"/>
            <a:ext cx="1851382" cy="28575"/>
          </a:xfrm>
          <a:prstGeom xmlns:a="http://schemas.openxmlformats.org/drawingml/2006/main" prst="rect">
            <a:avLst/>
          </a:prstGeom>
          <a:solidFill xmlns:a="http://schemas.openxmlformats.org/drawingml/2006/main">
            <a:srgbClr val="B7B0A1"/>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21653D15-BD76-44E0-B8D9-CB1F64831758}"/>
              </a:ext>
            </a:extLst>
          </p:cNvPr>
          <p:cNvSpPr>
            <a:spLocks xmlns:a="http://schemas.openxmlformats.org/drawingml/2006/main" noGrp="1"/>
          </p:cNvSpPr>
          <p:nvPr/>
        </p:nvSpPr>
        <p:spPr>
          <a:xfrm xmlns:a="http://schemas.openxmlformats.org/drawingml/2006/main" rot="4157884">
            <a:off x="7873021" y="3910013"/>
            <a:ext cx="1751383" cy="28575"/>
          </a:xfrm>
          <a:prstGeom xmlns:a="http://schemas.openxmlformats.org/drawingml/2006/main" prst="rect">
            <a:avLst/>
          </a:prstGeom>
          <a:solidFill xmlns:a="http://schemas.openxmlformats.org/drawingml/2006/main">
            <a:srgbClr val="CDA69F"/>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5141AAE8-AAF4-4399-B400-0F10D9F506D2}"/>
              </a:ext>
            </a:extLst>
          </p:cNvPr>
          <p:cNvSpPr>
            <a:spLocks xmlns:a="http://schemas.openxmlformats.org/drawingml/2006/main" noGrp="1"/>
          </p:cNvSpPr>
          <p:nvPr/>
        </p:nvSpPr>
        <p:spPr>
          <a:xfrm xmlns:a="http://schemas.openxmlformats.org/drawingml/2006/main">
            <a:off x="819150" y="5448300"/>
            <a:ext cx="1104900" cy="266700"/>
          </a:xfrm>
          <a:prstGeom xmlns:a="http://schemas.openxmlformats.org/drawingml/2006/main" prst="rect">
            <a:avLst/>
          </a:prstGeom>
          <a:solidFill xmlns:a="http://schemas.openxmlformats.org/drawingml/2006/main">
            <a:srgbClr val="F4E8C8"/>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7A5A14"/>
                </a:solidFill>
              </a:defRPr>
            </a:pPr>
            <a:r>
              <a:rPr sz="900" b="1">
                <a:solidFill>
                  <a:srgbClr val="7A5A14"/>
                </a:solidFill>
              </a:rPr>
              <a:t>15 min talk</a:t>
            </a:r>
          </a:p>
        </p:txBody>
      </p:sp>
      <p:sp>
        <p:nvSpPr>
          <p:cNvPr id="39" name="">
            <a:extLst xmlns:a="http://schemas.openxmlformats.org/drawingml/2006/main">
              <a:ext uri="{FF2B5EF4-FFF2-40B4-BE49-F238E27FC236}">
                <a16:creationId xmlns:a16="http://schemas.microsoft.com/office/drawing/2014/main" id="{6F2ED822-382A-4DF2-9DFD-111171EC680D}"/>
              </a:ext>
            </a:extLst>
          </p:cNvPr>
          <p:cNvSpPr>
            <a:spLocks xmlns:a="http://schemas.openxmlformats.org/drawingml/2006/main" noGrp="1"/>
          </p:cNvSpPr>
          <p:nvPr/>
        </p:nvSpPr>
        <p:spPr>
          <a:xfrm xmlns:a="http://schemas.openxmlformats.org/drawingml/2006/main">
            <a:off x="2038350" y="5448300"/>
            <a:ext cx="1562100" cy="266700"/>
          </a:xfrm>
          <a:prstGeom xmlns:a="http://schemas.openxmlformats.org/drawingml/2006/main" prst="rect">
            <a:avLst/>
          </a:prstGeom>
          <a:solidFill xmlns:a="http://schemas.openxmlformats.org/drawingml/2006/main">
            <a:srgbClr val="DDF4E8"/>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0F5B3F"/>
                </a:solidFill>
              </a:defRPr>
            </a:pPr>
            <a:r>
              <a:rPr sz="900" b="1">
                <a:solidFill>
                  <a:srgbClr val="0F5B3F"/>
                </a:solidFill>
              </a:rPr>
              <a:t>question journey</a:t>
            </a:r>
          </a:p>
        </p:txBody>
      </p:sp>
      <p:sp>
        <p:nvSpPr>
          <p:cNvPr id="40" name="">
            <a:extLst xmlns:a="http://schemas.openxmlformats.org/drawingml/2006/main">
              <a:ext uri="{FF2B5EF4-FFF2-40B4-BE49-F238E27FC236}">
                <a16:creationId xmlns:a16="http://schemas.microsoft.com/office/drawing/2014/main" id="{3A95D7A4-CF9D-4ABF-A5C0-5CC52547D08B}"/>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A767C"/>
                </a:solidFill>
              </a:defRPr>
            </a:pPr>
            <a:r>
              <a:rPr sz="750" b="0">
                <a:solidFill>
                  <a:srgbClr val="6A767C"/>
                </a:solidFill>
              </a:rPr>
              <a:t>발표 구조: 출발 질문 -&gt; 한계 발견 -&gt; 질문 재정의 -&gt; 최종 선택 규칙</a:t>
            </a:r>
          </a:p>
        </p:txBody>
      </p:sp>
    </p:spTree>
    <p:extLst>
      <p:ext uri="{BB962C8B-B14F-4D97-AF65-F5344CB8AC3E}">
        <p14:creationId xmlns:p14="http://schemas.microsoft.com/office/powerpoint/2010/main" val="1133417431"/>
      </p:ext>
    </p:extLst>
  </p:cSld>
</p:sld>
</file>

<file path=ppt/slides/slide2.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8BDF79F-9F16-4FEE-B72E-1F506FE9EBEC}"/>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5aec88cc53147ee"/>
          <a:srcRect xmlns:a="http://schemas.openxmlformats.org/drawingml/2006/main" l="0" t="21875" r="0" b="2187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1DAEA24-2BD7-4DE0-9431-DDEBEF808174}"/>
              </a:ext>
            </a:extLst>
          </p:cNvPr>
          <p:cNvSpPr>
            <a:spLocks xmlns:a="http://schemas.openxmlformats.org/drawingml/2006/main" noGrp="1"/>
          </p:cNvSpPr>
          <p:nvPr/>
        </p:nvSpPr>
        <p:spPr>
          <a:xfrm xmlns:a="http://schemas.openxmlformats.org/drawingml/2006/main">
            <a:off x="7867650" y="781050"/>
            <a:ext cx="3638550" cy="3638550"/>
          </a:xfrm>
          <a:prstGeom xmlns:a="http://schemas.openxmlformats.org/drawingml/2006/main" prst="ellipse">
            <a:avLst/>
          </a:prstGeom>
          <a:solidFill xmlns:a="http://schemas.openxmlformats.org/drawingml/2006/main">
            <a:srgbClr val="E4F5EC"/>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A44FE9A1-01D2-4E81-A716-4A7151CB5807}"/>
              </a:ext>
            </a:extLst>
          </p:cNvPr>
          <p:cNvSpPr>
            <a:spLocks xmlns:a="http://schemas.openxmlformats.org/drawingml/2006/main" noGrp="1"/>
          </p:cNvSpPr>
          <p:nvPr/>
        </p:nvSpPr>
        <p:spPr>
          <a:xfrm xmlns:a="http://schemas.openxmlformats.org/drawingml/2006/main">
            <a:off x="9220200" y="4152900"/>
            <a:ext cx="1962150" cy="1962150"/>
          </a:xfrm>
          <a:prstGeom xmlns:a="http://schemas.openxmlformats.org/drawingml/2006/main" prst="ellipse">
            <a:avLst/>
          </a:prstGeom>
          <a:solidFill xmlns:a="http://schemas.openxmlformats.org/drawingml/2006/main">
            <a:srgbClr val="F6EAD0"/>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7F80C01D-D87D-4A55-B582-C92AE26942F5}"/>
              </a:ext>
            </a:extLst>
          </p:cNvPr>
          <p:cNvSpPr>
            <a:spLocks xmlns:a="http://schemas.openxmlformats.org/drawingml/2006/main" noGrp="1"/>
          </p:cNvSpPr>
          <p:nvPr/>
        </p:nvSpPr>
        <p:spPr>
          <a:xfrm xmlns:a="http://schemas.openxmlformats.org/drawingml/2006/main">
            <a:off x="8534400" y="1409700"/>
            <a:ext cx="2457450" cy="1409700"/>
          </a:xfrm>
          <a:prstGeom xmlns:a="http://schemas.openxmlformats.org/drawingml/2006/main" prst="roundRect">
            <a:avLst>
              <a:gd name="adj" fmla="val 5405"/>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6" name="">
            <a:extLst xmlns:a="http://schemas.openxmlformats.org/drawingml/2006/main">
              <a:ext uri="{FF2B5EF4-FFF2-40B4-BE49-F238E27FC236}">
                <a16:creationId xmlns:a16="http://schemas.microsoft.com/office/drawing/2014/main" id="{1B124463-D37B-4B83-868B-1B8CB0E41D0E}"/>
              </a:ext>
            </a:extLst>
          </p:cNvPr>
          <p:cNvSpPr>
            <a:spLocks xmlns:a="http://schemas.openxmlformats.org/drawingml/2006/main" noGrp="1"/>
          </p:cNvSpPr>
          <p:nvPr/>
        </p:nvSpPr>
        <p:spPr>
          <a:xfrm xmlns:a="http://schemas.openxmlformats.org/drawingml/2006/main">
            <a:off x="9010650" y="3067050"/>
            <a:ext cx="2152650" cy="1123950"/>
          </a:xfrm>
          <a:prstGeom xmlns:a="http://schemas.openxmlformats.org/drawingml/2006/main" prst="roundRect">
            <a:avLst>
              <a:gd name="adj" fmla="val 6780"/>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7" name="">
            <a:extLst xmlns:a="http://schemas.openxmlformats.org/drawingml/2006/main">
              <a:ext uri="{FF2B5EF4-FFF2-40B4-BE49-F238E27FC236}">
                <a16:creationId xmlns:a16="http://schemas.microsoft.com/office/drawing/2014/main" id="{AE369EF5-2F33-4FA6-BF69-EA408862A9AF}"/>
              </a:ext>
            </a:extLst>
          </p:cNvPr>
          <p:cNvSpPr>
            <a:spLocks xmlns:a="http://schemas.openxmlformats.org/drawingml/2006/main" noGrp="1"/>
          </p:cNvSpPr>
          <p:nvPr/>
        </p:nvSpPr>
        <p:spPr>
          <a:xfrm xmlns:a="http://schemas.openxmlformats.org/drawingml/2006/main">
            <a:off x="8039100" y="4629150"/>
            <a:ext cx="2000250" cy="914400"/>
          </a:xfrm>
          <a:prstGeom xmlns:a="http://schemas.openxmlformats.org/drawingml/2006/main" prst="roundRect">
            <a:avLst>
              <a:gd name="adj" fmla="val 8333"/>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8" name="">
            <a:extLst xmlns:a="http://schemas.openxmlformats.org/drawingml/2006/main">
              <a:ext uri="{FF2B5EF4-FFF2-40B4-BE49-F238E27FC236}">
                <a16:creationId xmlns:a16="http://schemas.microsoft.com/office/drawing/2014/main" id="{52C57C82-EBF2-4615-8D51-72925C35498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CF7">
              <a:alpha val="78431"/>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E1BACB03-2D85-4747-B040-B0767C072988}"/>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F5B3F"/>
                </a:solidFill>
              </a:defRPr>
            </a:pPr>
            <a:r>
              <a:rPr sz="975" b="1">
                <a:solidFill>
                  <a:srgbClr val="0F5B3F"/>
                </a:solidFill>
              </a:rPr>
              <a:t>WHY THIS TALK</a:t>
            </a:r>
          </a:p>
        </p:txBody>
      </p:sp>
      <p:sp>
        <p:nvSpPr>
          <p:cNvPr id="10" name="">
            <a:extLst xmlns:a="http://schemas.openxmlformats.org/drawingml/2006/main">
              <a:ext uri="{FF2B5EF4-FFF2-40B4-BE49-F238E27FC236}">
                <a16:creationId xmlns:a16="http://schemas.microsoft.com/office/drawing/2014/main" id="{A32F1147-6D35-421D-9FAE-3061AF045474}"/>
              </a:ext>
            </a:extLst>
          </p:cNvPr>
          <p:cNvSpPr>
            <a:spLocks xmlns:a="http://schemas.openxmlformats.org/drawingml/2006/main" noGrp="1"/>
          </p:cNvSpPr>
          <p:nvPr/>
        </p:nvSpPr>
        <p:spPr>
          <a:xfrm xmlns:a="http://schemas.openxmlformats.org/drawingml/2006/main">
            <a:off x="10610850" y="323850"/>
            <a:ext cx="990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0F5B3F"/>
                </a:solidFill>
              </a:defRPr>
            </a:pPr>
            <a:r>
              <a:rPr sz="975" b="1">
                <a:solidFill>
                  <a:srgbClr val="0F5B3F"/>
                </a:solidFill>
              </a:rPr>
              <a:t>02 / 09</a:t>
            </a:r>
          </a:p>
        </p:txBody>
      </p:sp>
      <p:sp>
        <p:nvSpPr>
          <p:cNvPr id="11" name="">
            <a:extLst xmlns:a="http://schemas.openxmlformats.org/drawingml/2006/main">
              <a:ext uri="{FF2B5EF4-FFF2-40B4-BE49-F238E27FC236}">
                <a16:creationId xmlns:a16="http://schemas.microsoft.com/office/drawing/2014/main" id="{04A0C30B-EBA7-4F89-8F26-D367637788F1}"/>
              </a:ext>
            </a:extLst>
          </p:cNvPr>
          <p:cNvSpPr>
            <a:spLocks xmlns:a="http://schemas.openxmlformats.org/drawingml/2006/main" noGrp="1"/>
          </p:cNvSpPr>
          <p:nvPr/>
        </p:nvSpPr>
        <p:spPr>
          <a:xfrm xmlns:a="http://schemas.openxmlformats.org/drawingml/2006/main">
            <a:off x="609600" y="609600"/>
            <a:ext cx="10972800" cy="19050"/>
          </a:xfrm>
          <a:prstGeom xmlns:a="http://schemas.openxmlformats.org/drawingml/2006/main" prst="rect">
            <a:avLst/>
          </a:prstGeom>
          <a:solidFill xmlns:a="http://schemas.openxmlformats.org/drawingml/2006/main">
            <a:srgbClr val="132024"/>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E84985F2-C20B-4691-8081-32FE801F6655}"/>
              </a:ext>
            </a:extLst>
          </p:cNvPr>
          <p:cNvSpPr>
            <a:spLocks xmlns:a="http://schemas.openxmlformats.org/drawingml/2006/main" noGrp="1"/>
          </p:cNvSpPr>
          <p:nvPr/>
        </p:nvSpPr>
        <p:spPr>
          <a:xfrm xmlns:a="http://schemas.openxmlformats.org/drawingml/2006/main">
            <a:off x="542925" y="542925"/>
            <a:ext cx="152400" cy="152400"/>
          </a:xfrm>
          <a:prstGeom xmlns:a="http://schemas.openxmlformats.org/drawingml/2006/main" prst="ellipse">
            <a:avLst/>
          </a:prstGeom>
          <a:solidFill xmlns:a="http://schemas.openxmlformats.org/drawingml/2006/main">
            <a:srgbClr val="1D9A69"/>
          </a:solidFill>
          <a:ln xmlns:a="http://schemas.openxmlformats.org/drawingml/2006/main" w="19050">
            <a:solidFill>
              <a:srgbClr val="132024"/>
            </a:solidFill>
            <a:prstDash val="solid"/>
          </a:ln>
        </p:spPr>
      </p:sp>
      <p:sp>
        <p:nvSpPr>
          <p:cNvPr id="13" name="">
            <a:extLst xmlns:a="http://schemas.openxmlformats.org/drawingml/2006/main">
              <a:ext uri="{FF2B5EF4-FFF2-40B4-BE49-F238E27FC236}">
                <a16:creationId xmlns:a16="http://schemas.microsoft.com/office/drawing/2014/main" id="{EE1F047A-C5D1-4413-B2E9-C67D9BA49175}"/>
              </a:ext>
            </a:extLst>
          </p:cNvPr>
          <p:cNvSpPr>
            <a:spLocks xmlns:a="http://schemas.openxmlformats.org/drawingml/2006/main" noGrp="1"/>
          </p:cNvSpPr>
          <p:nvPr/>
        </p:nvSpPr>
        <p:spPr>
          <a:xfrm xmlns:a="http://schemas.openxmlformats.org/drawingml/2006/main">
            <a:off x="609600" y="838200"/>
            <a:ext cx="6858000" cy="112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32024"/>
                </a:solidFill>
              </a:defRPr>
            </a:pPr>
            <a:r>
              <a:rPr sz="2850" b="1">
                <a:solidFill>
                  <a:srgbClr val="132024"/>
                </a:solidFill>
              </a:rPr>
              <a:t>교수님 가이드에 맞춘</a:t>
            </a:r>
          </a:p>
          <a:p xmlns:a="http://schemas.openxmlformats.org/drawingml/2006/main">
            <a:pPr algn="l">
              <a:defRPr sz="2850" b="1">
                <a:solidFill>
                  <a:srgbClr val="132024"/>
                </a:solidFill>
              </a:defRPr>
            </a:pPr>
            <a:r>
              <a:rPr sz="2850" b="1">
                <a:solidFill>
                  <a:srgbClr val="132024"/>
                </a:solidFill>
              </a:rPr>
              <a:t>발표 프레임</a:t>
            </a:r>
          </a:p>
        </p:txBody>
      </p:sp>
      <p:sp>
        <p:nvSpPr>
          <p:cNvPr id="14" name="">
            <a:extLst xmlns:a="http://schemas.openxmlformats.org/drawingml/2006/main">
              <a:ext uri="{FF2B5EF4-FFF2-40B4-BE49-F238E27FC236}">
                <a16:creationId xmlns:a16="http://schemas.microsoft.com/office/drawing/2014/main" id="{87CC9AC4-5322-45C1-B0B3-C9963A6CEDEF}"/>
              </a:ext>
            </a:extLst>
          </p:cNvPr>
          <p:cNvSpPr>
            <a:spLocks xmlns:a="http://schemas.openxmlformats.org/drawingml/2006/main" noGrp="1"/>
          </p:cNvSpPr>
          <p:nvPr/>
        </p:nvSpPr>
        <p:spPr>
          <a:xfrm xmlns:a="http://schemas.openxmlformats.org/drawingml/2006/main">
            <a:off x="7772400" y="990600"/>
            <a:ext cx="3714750" cy="876300"/>
          </a:xfrm>
          <a:prstGeom xmlns:a="http://schemas.openxmlformats.org/drawingml/2006/main" prst="roundRect">
            <a:avLst>
              <a:gd name="adj" fmla="val 8696"/>
            </a:avLst>
          </a:prstGeom>
          <a:solidFill xmlns:a="http://schemas.openxmlformats.org/drawingml/2006/main">
            <a:srgbClr val="F4E8C8"/>
          </a:solidFill>
          <a:ln xmlns:a="http://schemas.openxmlformats.org/drawingml/2006/main" w="11430">
            <a:solidFill>
              <a:srgbClr val="132024"/>
            </a:solidFill>
            <a:prstDash val="solid"/>
          </a:ln>
        </p:spPr>
      </p:sp>
      <p:sp>
        <p:nvSpPr>
          <p:cNvPr id="15" name="">
            <a:extLst xmlns:a="http://schemas.openxmlformats.org/drawingml/2006/main">
              <a:ext uri="{FF2B5EF4-FFF2-40B4-BE49-F238E27FC236}">
                <a16:creationId xmlns:a16="http://schemas.microsoft.com/office/drawing/2014/main" id="{9AEF35A7-E1E1-4FAD-BBDF-CE93D68D7598}"/>
              </a:ext>
            </a:extLst>
          </p:cNvPr>
          <p:cNvSpPr>
            <a:spLocks xmlns:a="http://schemas.openxmlformats.org/drawingml/2006/main" noGrp="1"/>
          </p:cNvSpPr>
          <p:nvPr/>
        </p:nvSpPr>
        <p:spPr>
          <a:xfrm xmlns:a="http://schemas.openxmlformats.org/drawingml/2006/main">
            <a:off x="7772400" y="990600"/>
            <a:ext cx="76200" cy="876300"/>
          </a:xfrm>
          <a:prstGeom xmlns:a="http://schemas.openxmlformats.org/drawingml/2006/main" prst="rect">
            <a:avLst/>
          </a:prstGeom>
          <a:solidFill xmlns:a="http://schemas.openxmlformats.org/drawingml/2006/main">
            <a:srgbClr val="C9972B"/>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40B9B2BC-33E1-4ACE-A677-66784BD69901}"/>
              </a:ext>
            </a:extLst>
          </p:cNvPr>
          <p:cNvSpPr>
            <a:spLocks xmlns:a="http://schemas.openxmlformats.org/drawingml/2006/main" noGrp="1"/>
          </p:cNvSpPr>
          <p:nvPr/>
        </p:nvSpPr>
        <p:spPr>
          <a:xfrm xmlns:a="http://schemas.openxmlformats.org/drawingml/2006/main">
            <a:off x="7981950" y="1143000"/>
            <a:ext cx="333375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32024"/>
                </a:solidFill>
              </a:defRPr>
            </a:pPr>
            <a:r>
              <a:rPr sz="1350" b="0">
                <a:solidFill>
                  <a:srgbClr val="132024"/>
                </a:solidFill>
              </a:rPr>
              <a:t>교수님 포인트: 결론보다 '지식-위키 체인'이 어떻게 만들어졌는지를 보여주는 발표</a:t>
            </a:r>
          </a:p>
        </p:txBody>
      </p:sp>
      <p:sp>
        <p:nvSpPr>
          <p:cNvPr id="17" name="">
            <a:extLst xmlns:a="http://schemas.openxmlformats.org/drawingml/2006/main">
              <a:ext uri="{FF2B5EF4-FFF2-40B4-BE49-F238E27FC236}">
                <a16:creationId xmlns:a16="http://schemas.microsoft.com/office/drawing/2014/main" id="{26354C82-4775-4BA4-B9DB-B41C4C52B3C5}"/>
              </a:ext>
            </a:extLst>
          </p:cNvPr>
          <p:cNvSpPr>
            <a:spLocks xmlns:a="http://schemas.openxmlformats.org/drawingml/2006/main" noGrp="1"/>
          </p:cNvSpPr>
          <p:nvPr/>
        </p:nvSpPr>
        <p:spPr>
          <a:xfrm xmlns:a="http://schemas.openxmlformats.org/drawingml/2006/main">
            <a:off x="609600" y="2209800"/>
            <a:ext cx="3276600" cy="1104900"/>
          </a:xfrm>
          <a:prstGeom xmlns:a="http://schemas.openxmlformats.org/drawingml/2006/main" prst="roundRect">
            <a:avLst>
              <a:gd name="adj" fmla="val 6897"/>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18" name="">
            <a:extLst xmlns:a="http://schemas.openxmlformats.org/drawingml/2006/main">
              <a:ext uri="{FF2B5EF4-FFF2-40B4-BE49-F238E27FC236}">
                <a16:creationId xmlns:a16="http://schemas.microsoft.com/office/drawing/2014/main" id="{BCF132CD-4136-461C-A457-1DABEF682CE3}"/>
              </a:ext>
            </a:extLst>
          </p:cNvPr>
          <p:cNvSpPr>
            <a:spLocks xmlns:a="http://schemas.openxmlformats.org/drawingml/2006/main" noGrp="1"/>
          </p:cNvSpPr>
          <p:nvPr/>
        </p:nvSpPr>
        <p:spPr>
          <a:xfrm xmlns:a="http://schemas.openxmlformats.org/drawingml/2006/main">
            <a:off x="609600" y="2209800"/>
            <a:ext cx="3276600" cy="76200"/>
          </a:xfrm>
          <a:prstGeom xmlns:a="http://schemas.openxmlformats.org/drawingml/2006/main" prst="rect">
            <a:avLst/>
          </a:prstGeom>
          <a:solidFill xmlns:a="http://schemas.openxmlformats.org/drawingml/2006/main">
            <a:srgbClr val="1D9A69"/>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4133AE49-69AD-4FE6-96AE-8B62552A311B}"/>
              </a:ext>
            </a:extLst>
          </p:cNvPr>
          <p:cNvSpPr>
            <a:spLocks xmlns:a="http://schemas.openxmlformats.org/drawingml/2006/main" noGrp="1"/>
          </p:cNvSpPr>
          <p:nvPr/>
        </p:nvSpPr>
        <p:spPr>
          <a:xfrm xmlns:a="http://schemas.openxmlformats.org/drawingml/2006/main">
            <a:off x="800100" y="2381250"/>
            <a:ext cx="28956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32024"/>
                </a:solidFill>
              </a:defRPr>
            </a:pPr>
            <a:r>
              <a:rPr sz="2325" b="1">
                <a:solidFill>
                  <a:srgbClr val="132024"/>
                </a:solidFill>
              </a:rPr>
              <a:t>96</a:t>
            </a:r>
          </a:p>
        </p:txBody>
      </p:sp>
      <p:sp>
        <p:nvSpPr>
          <p:cNvPr id="20" name="">
            <a:extLst xmlns:a="http://schemas.openxmlformats.org/drawingml/2006/main">
              <a:ext uri="{FF2B5EF4-FFF2-40B4-BE49-F238E27FC236}">
                <a16:creationId xmlns:a16="http://schemas.microsoft.com/office/drawing/2014/main" id="{6C85BFD0-39DD-4E97-A70F-460BB05BAC4B}"/>
              </a:ext>
            </a:extLst>
          </p:cNvPr>
          <p:cNvSpPr>
            <a:spLocks xmlns:a="http://schemas.openxmlformats.org/drawingml/2006/main" noGrp="1"/>
          </p:cNvSpPr>
          <p:nvPr/>
        </p:nvSpPr>
        <p:spPr>
          <a:xfrm xmlns:a="http://schemas.openxmlformats.org/drawingml/2006/main">
            <a:off x="800100" y="2838450"/>
            <a:ext cx="28956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344146"/>
                </a:solidFill>
              </a:defRPr>
            </a:pPr>
            <a:r>
              <a:rPr sz="1050" b="0">
                <a:solidFill>
                  <a:srgbClr val="344146"/>
                </a:solidFill>
              </a:rPr>
              <a:t>active source pages</a:t>
            </a:r>
          </a:p>
        </p:txBody>
      </p:sp>
      <p:sp>
        <p:nvSpPr>
          <p:cNvPr id="21" name="">
            <a:extLst xmlns:a="http://schemas.openxmlformats.org/drawingml/2006/main">
              <a:ext uri="{FF2B5EF4-FFF2-40B4-BE49-F238E27FC236}">
                <a16:creationId xmlns:a16="http://schemas.microsoft.com/office/drawing/2014/main" id="{8C63D3E0-8EA7-4E00-AF2B-981F1058DB01}"/>
              </a:ext>
            </a:extLst>
          </p:cNvPr>
          <p:cNvSpPr>
            <a:spLocks xmlns:a="http://schemas.openxmlformats.org/drawingml/2006/main" noGrp="1"/>
          </p:cNvSpPr>
          <p:nvPr/>
        </p:nvSpPr>
        <p:spPr>
          <a:xfrm xmlns:a="http://schemas.openxmlformats.org/drawingml/2006/main">
            <a:off x="800100" y="3048000"/>
            <a:ext cx="28956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A767C"/>
                </a:solidFill>
              </a:defRPr>
            </a:pPr>
            <a:r>
              <a:rPr sz="750" b="0">
                <a:solidFill>
                  <a:srgbClr val="6A767C"/>
                </a:solidFill>
              </a:rPr>
              <a:t>overview.md</a:t>
            </a:r>
          </a:p>
        </p:txBody>
      </p:sp>
      <p:sp>
        <p:nvSpPr>
          <p:cNvPr id="22" name="">
            <a:extLst xmlns:a="http://schemas.openxmlformats.org/drawingml/2006/main">
              <a:ext uri="{FF2B5EF4-FFF2-40B4-BE49-F238E27FC236}">
                <a16:creationId xmlns:a16="http://schemas.microsoft.com/office/drawing/2014/main" id="{D8B2769A-31AE-45B5-9C7A-B1DABB7E0DAC}"/>
              </a:ext>
            </a:extLst>
          </p:cNvPr>
          <p:cNvSpPr>
            <a:spLocks xmlns:a="http://schemas.openxmlformats.org/drawingml/2006/main" noGrp="1"/>
          </p:cNvSpPr>
          <p:nvPr/>
        </p:nvSpPr>
        <p:spPr>
          <a:xfrm xmlns:a="http://schemas.openxmlformats.org/drawingml/2006/main">
            <a:off x="4114800" y="2209800"/>
            <a:ext cx="3276600" cy="1104900"/>
          </a:xfrm>
          <a:prstGeom xmlns:a="http://schemas.openxmlformats.org/drawingml/2006/main" prst="roundRect">
            <a:avLst>
              <a:gd name="adj" fmla="val 6897"/>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23" name="">
            <a:extLst xmlns:a="http://schemas.openxmlformats.org/drawingml/2006/main">
              <a:ext uri="{FF2B5EF4-FFF2-40B4-BE49-F238E27FC236}">
                <a16:creationId xmlns:a16="http://schemas.microsoft.com/office/drawing/2014/main" id="{50D894EB-182C-4CE8-85DD-22D4E7AD38B1}"/>
              </a:ext>
            </a:extLst>
          </p:cNvPr>
          <p:cNvSpPr>
            <a:spLocks xmlns:a="http://schemas.openxmlformats.org/drawingml/2006/main" noGrp="1"/>
          </p:cNvSpPr>
          <p:nvPr/>
        </p:nvSpPr>
        <p:spPr>
          <a:xfrm xmlns:a="http://schemas.openxmlformats.org/drawingml/2006/main">
            <a:off x="4114800" y="2209800"/>
            <a:ext cx="3276600" cy="76200"/>
          </a:xfrm>
          <a:prstGeom xmlns:a="http://schemas.openxmlformats.org/drawingml/2006/main" prst="rect">
            <a:avLst/>
          </a:prstGeom>
          <a:solidFill xmlns:a="http://schemas.openxmlformats.org/drawingml/2006/main">
            <a:srgbClr val="C9972B"/>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3D82AB2F-A277-40EE-A2FF-65F3D81B3521}"/>
              </a:ext>
            </a:extLst>
          </p:cNvPr>
          <p:cNvSpPr>
            <a:spLocks xmlns:a="http://schemas.openxmlformats.org/drawingml/2006/main" noGrp="1"/>
          </p:cNvSpPr>
          <p:nvPr/>
        </p:nvSpPr>
        <p:spPr>
          <a:xfrm xmlns:a="http://schemas.openxmlformats.org/drawingml/2006/main">
            <a:off x="4305300" y="2381250"/>
            <a:ext cx="28956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32024"/>
                </a:solidFill>
              </a:defRPr>
            </a:pPr>
            <a:r>
              <a:rPr sz="2325" b="1">
                <a:solidFill>
                  <a:srgbClr val="132024"/>
                </a:solidFill>
              </a:rPr>
              <a:t>17</a:t>
            </a:r>
          </a:p>
        </p:txBody>
      </p:sp>
      <p:sp>
        <p:nvSpPr>
          <p:cNvPr id="25" name="">
            <a:extLst xmlns:a="http://schemas.openxmlformats.org/drawingml/2006/main">
              <a:ext uri="{FF2B5EF4-FFF2-40B4-BE49-F238E27FC236}">
                <a16:creationId xmlns:a16="http://schemas.microsoft.com/office/drawing/2014/main" id="{CDFFC842-E45B-41B0-A36B-40D458EC6A33}"/>
              </a:ext>
            </a:extLst>
          </p:cNvPr>
          <p:cNvSpPr>
            <a:spLocks xmlns:a="http://schemas.openxmlformats.org/drawingml/2006/main" noGrp="1"/>
          </p:cNvSpPr>
          <p:nvPr/>
        </p:nvSpPr>
        <p:spPr>
          <a:xfrm xmlns:a="http://schemas.openxmlformats.org/drawingml/2006/main">
            <a:off x="4305300" y="2838450"/>
            <a:ext cx="28956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344146"/>
                </a:solidFill>
              </a:defRPr>
            </a:pPr>
            <a:r>
              <a:rPr sz="1050" b="0">
                <a:solidFill>
                  <a:srgbClr val="344146"/>
                </a:solidFill>
              </a:rPr>
              <a:t>brain cluster sources</a:t>
            </a:r>
          </a:p>
        </p:txBody>
      </p:sp>
      <p:sp>
        <p:nvSpPr>
          <p:cNvPr id="26" name="">
            <a:extLst xmlns:a="http://schemas.openxmlformats.org/drawingml/2006/main">
              <a:ext uri="{FF2B5EF4-FFF2-40B4-BE49-F238E27FC236}">
                <a16:creationId xmlns:a16="http://schemas.microsoft.com/office/drawing/2014/main" id="{F4080FE7-907C-4F73-A32C-02410EE40C8F}"/>
              </a:ext>
            </a:extLst>
          </p:cNvPr>
          <p:cNvSpPr>
            <a:spLocks xmlns:a="http://schemas.openxmlformats.org/drawingml/2006/main" noGrp="1"/>
          </p:cNvSpPr>
          <p:nvPr/>
        </p:nvSpPr>
        <p:spPr>
          <a:xfrm xmlns:a="http://schemas.openxmlformats.org/drawingml/2006/main">
            <a:off x="4305300" y="3048000"/>
            <a:ext cx="28956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A767C"/>
                </a:solidFill>
              </a:defRPr>
            </a:pPr>
            <a:r>
              <a:rPr sz="750" b="0">
                <a:solidFill>
                  <a:srgbClr val="6A767C"/>
                </a:solidFill>
              </a:rPr>
              <a:t>overview.md</a:t>
            </a:r>
          </a:p>
        </p:txBody>
      </p:sp>
      <p:sp>
        <p:nvSpPr>
          <p:cNvPr id="27" name="">
            <a:extLst xmlns:a="http://schemas.openxmlformats.org/drawingml/2006/main">
              <a:ext uri="{FF2B5EF4-FFF2-40B4-BE49-F238E27FC236}">
                <a16:creationId xmlns:a16="http://schemas.microsoft.com/office/drawing/2014/main" id="{CB4F2EB4-24CD-4F3C-A206-A85E405409B7}"/>
              </a:ext>
            </a:extLst>
          </p:cNvPr>
          <p:cNvSpPr>
            <a:spLocks xmlns:a="http://schemas.openxmlformats.org/drawingml/2006/main" noGrp="1"/>
          </p:cNvSpPr>
          <p:nvPr/>
        </p:nvSpPr>
        <p:spPr>
          <a:xfrm xmlns:a="http://schemas.openxmlformats.org/drawingml/2006/main">
            <a:off x="7620000" y="2209800"/>
            <a:ext cx="3276600" cy="1104900"/>
          </a:xfrm>
          <a:prstGeom xmlns:a="http://schemas.openxmlformats.org/drawingml/2006/main" prst="roundRect">
            <a:avLst>
              <a:gd name="adj" fmla="val 6897"/>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28" name="">
            <a:extLst xmlns:a="http://schemas.openxmlformats.org/drawingml/2006/main">
              <a:ext uri="{FF2B5EF4-FFF2-40B4-BE49-F238E27FC236}">
                <a16:creationId xmlns:a16="http://schemas.microsoft.com/office/drawing/2014/main" id="{CE4F6853-C39F-411B-BEAE-9C3CC27394C7}"/>
              </a:ext>
            </a:extLst>
          </p:cNvPr>
          <p:cNvSpPr>
            <a:spLocks xmlns:a="http://schemas.openxmlformats.org/drawingml/2006/main" noGrp="1"/>
          </p:cNvSpPr>
          <p:nvPr/>
        </p:nvSpPr>
        <p:spPr>
          <a:xfrm xmlns:a="http://schemas.openxmlformats.org/drawingml/2006/main">
            <a:off x="7620000" y="2209800"/>
            <a:ext cx="3276600" cy="76200"/>
          </a:xfrm>
          <a:prstGeom xmlns:a="http://schemas.openxmlformats.org/drawingml/2006/main" prst="rect">
            <a:avLst/>
          </a:prstGeom>
          <a:solidFill xmlns:a="http://schemas.openxmlformats.org/drawingml/2006/main">
            <a:srgbClr val="D66C60"/>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DA8E5C30-E3AA-4ECD-96A4-337E769D1E5C}"/>
              </a:ext>
            </a:extLst>
          </p:cNvPr>
          <p:cNvSpPr>
            <a:spLocks xmlns:a="http://schemas.openxmlformats.org/drawingml/2006/main" noGrp="1"/>
          </p:cNvSpPr>
          <p:nvPr/>
        </p:nvSpPr>
        <p:spPr>
          <a:xfrm xmlns:a="http://schemas.openxmlformats.org/drawingml/2006/main">
            <a:off x="7810500" y="2381250"/>
            <a:ext cx="28956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32024"/>
                </a:solidFill>
              </a:defRPr>
            </a:pPr>
            <a:r>
              <a:rPr sz="2325" b="1">
                <a:solidFill>
                  <a:srgbClr val="132024"/>
                </a:solidFill>
              </a:rPr>
              <a:t>3</a:t>
            </a:r>
          </a:p>
        </p:txBody>
      </p:sp>
      <p:sp>
        <p:nvSpPr>
          <p:cNvPr id="30" name="">
            <a:extLst xmlns:a="http://schemas.openxmlformats.org/drawingml/2006/main">
              <a:ext uri="{FF2B5EF4-FFF2-40B4-BE49-F238E27FC236}">
                <a16:creationId xmlns:a16="http://schemas.microsoft.com/office/drawing/2014/main" id="{46330CBD-E8A5-4D41-80F1-50995FA04038}"/>
              </a:ext>
            </a:extLst>
          </p:cNvPr>
          <p:cNvSpPr>
            <a:spLocks xmlns:a="http://schemas.openxmlformats.org/drawingml/2006/main" noGrp="1"/>
          </p:cNvSpPr>
          <p:nvPr/>
        </p:nvSpPr>
        <p:spPr>
          <a:xfrm xmlns:a="http://schemas.openxmlformats.org/drawingml/2006/main">
            <a:off x="7810500" y="2838450"/>
            <a:ext cx="28956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344146"/>
                </a:solidFill>
              </a:defRPr>
            </a:pPr>
            <a:r>
              <a:rPr sz="1050" b="0">
                <a:solidFill>
                  <a:srgbClr val="344146"/>
                </a:solidFill>
              </a:rPr>
              <a:t>core question notes in this talk</a:t>
            </a:r>
          </a:p>
        </p:txBody>
      </p:sp>
      <p:sp>
        <p:nvSpPr>
          <p:cNvPr id="31" name="">
            <a:extLst xmlns:a="http://schemas.openxmlformats.org/drawingml/2006/main">
              <a:ext uri="{FF2B5EF4-FFF2-40B4-BE49-F238E27FC236}">
                <a16:creationId xmlns:a16="http://schemas.microsoft.com/office/drawing/2014/main" id="{9096E122-3E0D-432F-B8BD-134DFE63143D}"/>
              </a:ext>
            </a:extLst>
          </p:cNvPr>
          <p:cNvSpPr>
            <a:spLocks xmlns:a="http://schemas.openxmlformats.org/drawingml/2006/main" noGrp="1"/>
          </p:cNvSpPr>
          <p:nvPr/>
        </p:nvSpPr>
        <p:spPr>
          <a:xfrm xmlns:a="http://schemas.openxmlformats.org/drawingml/2006/main">
            <a:off x="7810500" y="3048000"/>
            <a:ext cx="28956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A767C"/>
                </a:solidFill>
              </a:defRPr>
            </a:pPr>
            <a:r>
              <a:rPr sz="750" b="0">
                <a:solidFill>
                  <a:srgbClr val="6A767C"/>
                </a:solidFill>
              </a:rPr>
              <a:t>q1 -&gt; q2 -&gt; q3</a:t>
            </a:r>
          </a:p>
        </p:txBody>
      </p:sp>
      <p:sp>
        <p:nvSpPr>
          <p:cNvPr id="32" name="">
            <a:extLst xmlns:a="http://schemas.openxmlformats.org/drawingml/2006/main">
              <a:ext uri="{FF2B5EF4-FFF2-40B4-BE49-F238E27FC236}">
                <a16:creationId xmlns:a16="http://schemas.microsoft.com/office/drawing/2014/main" id="{0D02EE02-19CC-475B-909A-09776A68F067}"/>
              </a:ext>
            </a:extLst>
          </p:cNvPr>
          <p:cNvSpPr>
            <a:spLocks xmlns:a="http://schemas.openxmlformats.org/drawingml/2006/main" noGrp="1"/>
          </p:cNvSpPr>
          <p:nvPr/>
        </p:nvSpPr>
        <p:spPr>
          <a:xfrm xmlns:a="http://schemas.openxmlformats.org/drawingml/2006/main">
            <a:off x="781050" y="3867150"/>
            <a:ext cx="2990850" cy="1752600"/>
          </a:xfrm>
          <a:prstGeom xmlns:a="http://schemas.openxmlformats.org/drawingml/2006/main" prst="roundRect">
            <a:avLst>
              <a:gd name="adj" fmla="val 4348"/>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33" name="">
            <a:extLst xmlns:a="http://schemas.openxmlformats.org/drawingml/2006/main">
              <a:ext uri="{FF2B5EF4-FFF2-40B4-BE49-F238E27FC236}">
                <a16:creationId xmlns:a16="http://schemas.microsoft.com/office/drawing/2014/main" id="{8CA296CE-7A4E-4D34-861D-D11AFD8DE567}"/>
              </a:ext>
            </a:extLst>
          </p:cNvPr>
          <p:cNvSpPr>
            <a:spLocks xmlns:a="http://schemas.openxmlformats.org/drawingml/2006/main" noGrp="1"/>
          </p:cNvSpPr>
          <p:nvPr/>
        </p:nvSpPr>
        <p:spPr>
          <a:xfrm xmlns:a="http://schemas.openxmlformats.org/drawingml/2006/main">
            <a:off x="781050" y="3867150"/>
            <a:ext cx="2990850" cy="76200"/>
          </a:xfrm>
          <a:prstGeom xmlns:a="http://schemas.openxmlformats.org/drawingml/2006/main" prst="rect">
            <a:avLst/>
          </a:prstGeom>
          <a:solidFill xmlns:a="http://schemas.openxmlformats.org/drawingml/2006/main">
            <a:srgbClr val="1D9A69"/>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20AC3745-548E-45BE-9A12-28D77BB4F0ED}"/>
              </a:ext>
            </a:extLst>
          </p:cNvPr>
          <p:cNvSpPr>
            <a:spLocks xmlns:a="http://schemas.openxmlformats.org/drawingml/2006/main" noGrp="1"/>
          </p:cNvSpPr>
          <p:nvPr/>
        </p:nvSpPr>
        <p:spPr>
          <a:xfrm xmlns:a="http://schemas.openxmlformats.org/drawingml/2006/main">
            <a:off x="990600" y="4057650"/>
            <a:ext cx="2571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1. corpus browse</a:t>
            </a:r>
          </a:p>
        </p:txBody>
      </p:sp>
      <p:sp>
        <p:nvSpPr>
          <p:cNvPr id="35" name="">
            <a:extLst xmlns:a="http://schemas.openxmlformats.org/drawingml/2006/main">
              <a:ext uri="{FF2B5EF4-FFF2-40B4-BE49-F238E27FC236}">
                <a16:creationId xmlns:a16="http://schemas.microsoft.com/office/drawing/2014/main" id="{29ECB9F1-D5F7-4D90-B81F-BAB4ACC39466}"/>
              </a:ext>
            </a:extLst>
          </p:cNvPr>
          <p:cNvSpPr>
            <a:spLocks xmlns:a="http://schemas.openxmlformats.org/drawingml/2006/main" noGrp="1"/>
          </p:cNvSpPr>
          <p:nvPr/>
        </p:nvSpPr>
        <p:spPr>
          <a:xfrm xmlns:a="http://schemas.openxmlformats.org/drawingml/2006/main">
            <a:off x="990600" y="4476750"/>
            <a:ext cx="2571750" cy="971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index와 overview에서 organoid</a:t>
            </a:r>
          </a:p>
          <a:p xmlns:a="http://schemas.openxmlformats.org/drawingml/2006/main">
            <a:pPr algn="l">
              <a:defRPr sz="1200" b="0">
                <a:solidFill>
                  <a:srgbClr val="132024"/>
                </a:solidFill>
              </a:defRPr>
            </a:pPr>
            <a:r>
              <a:rPr sz="1200" b="0">
                <a:solidFill>
                  <a:srgbClr val="132024"/>
                </a:solidFill>
              </a:rPr>
              <a:t>corpus 전체 구조를 잡고, brain 관련</a:t>
            </a:r>
          </a:p>
          <a:p xmlns:a="http://schemas.openxmlformats.org/drawingml/2006/main">
            <a:pPr algn="l">
              <a:defRPr sz="1200" b="0">
                <a:solidFill>
                  <a:srgbClr val="132024"/>
                </a:solidFill>
              </a:defRPr>
            </a:pPr>
            <a:r>
              <a:rPr sz="1200" b="0">
                <a:solidFill>
                  <a:srgbClr val="132024"/>
                </a:solidFill>
              </a:rPr>
              <a:t>source와 concept page를 먼저</a:t>
            </a:r>
          </a:p>
          <a:p xmlns:a="http://schemas.openxmlformats.org/drawingml/2006/main">
            <a:pPr algn="l">
              <a:defRPr sz="1200" b="0">
                <a:solidFill>
                  <a:srgbClr val="132024"/>
                </a:solidFill>
              </a:defRPr>
            </a:pPr>
            <a:r>
              <a:rPr sz="1200" b="0">
                <a:solidFill>
                  <a:srgbClr val="132024"/>
                </a:solidFill>
              </a:rPr>
              <a:t>추렸다.</a:t>
            </a:r>
          </a:p>
        </p:txBody>
      </p:sp>
      <p:sp>
        <p:nvSpPr>
          <p:cNvPr id="36" name="">
            <a:extLst xmlns:a="http://schemas.openxmlformats.org/drawingml/2006/main">
              <a:ext uri="{FF2B5EF4-FFF2-40B4-BE49-F238E27FC236}">
                <a16:creationId xmlns:a16="http://schemas.microsoft.com/office/drawing/2014/main" id="{DBFBD4E9-8D80-41D2-966E-2AC641B85D89}"/>
              </a:ext>
            </a:extLst>
          </p:cNvPr>
          <p:cNvSpPr>
            <a:spLocks xmlns:a="http://schemas.openxmlformats.org/drawingml/2006/main" noGrp="1"/>
          </p:cNvSpPr>
          <p:nvPr/>
        </p:nvSpPr>
        <p:spPr>
          <a:xfrm xmlns:a="http://schemas.openxmlformats.org/drawingml/2006/main">
            <a:off x="3981450" y="4629150"/>
            <a:ext cx="723900" cy="228600"/>
          </a:xfrm>
          <a:prstGeom xmlns:a="http://schemas.openxmlformats.org/drawingml/2006/main" prst="rightArrow">
            <a:avLst/>
          </a:prstGeom>
          <a:solidFill xmlns:a="http://schemas.openxmlformats.org/drawingml/2006/main">
            <a:srgbClr val="F4E8C8"/>
          </a:solidFill>
          <a:ln xmlns:a="http://schemas.openxmlformats.org/drawingml/2006/main" w="9525">
            <a:solidFill>
              <a:srgbClr val="132024"/>
            </a:solidFill>
            <a:prstDash val="solid"/>
          </a:ln>
        </p:spPr>
      </p:sp>
      <p:sp>
        <p:nvSpPr>
          <p:cNvPr id="37" name="">
            <a:extLst xmlns:a="http://schemas.openxmlformats.org/drawingml/2006/main">
              <a:ext uri="{FF2B5EF4-FFF2-40B4-BE49-F238E27FC236}">
                <a16:creationId xmlns:a16="http://schemas.microsoft.com/office/drawing/2014/main" id="{027F9994-26A8-4694-9244-0C1ADA23B8DD}"/>
              </a:ext>
            </a:extLst>
          </p:cNvPr>
          <p:cNvSpPr>
            <a:spLocks xmlns:a="http://schemas.openxmlformats.org/drawingml/2006/main" noGrp="1"/>
          </p:cNvSpPr>
          <p:nvPr/>
        </p:nvSpPr>
        <p:spPr>
          <a:xfrm xmlns:a="http://schemas.openxmlformats.org/drawingml/2006/main">
            <a:off x="4819650" y="3867150"/>
            <a:ext cx="2990850" cy="1752600"/>
          </a:xfrm>
          <a:prstGeom xmlns:a="http://schemas.openxmlformats.org/drawingml/2006/main" prst="roundRect">
            <a:avLst>
              <a:gd name="adj" fmla="val 4348"/>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38" name="">
            <a:extLst xmlns:a="http://schemas.openxmlformats.org/drawingml/2006/main">
              <a:ext uri="{FF2B5EF4-FFF2-40B4-BE49-F238E27FC236}">
                <a16:creationId xmlns:a16="http://schemas.microsoft.com/office/drawing/2014/main" id="{AAB8A65E-311D-4007-8655-BDCF3BB60DB6}"/>
              </a:ext>
            </a:extLst>
          </p:cNvPr>
          <p:cNvSpPr>
            <a:spLocks xmlns:a="http://schemas.openxmlformats.org/drawingml/2006/main" noGrp="1"/>
          </p:cNvSpPr>
          <p:nvPr/>
        </p:nvSpPr>
        <p:spPr>
          <a:xfrm xmlns:a="http://schemas.openxmlformats.org/drawingml/2006/main">
            <a:off x="4819650" y="3867150"/>
            <a:ext cx="2990850" cy="76200"/>
          </a:xfrm>
          <a:prstGeom xmlns:a="http://schemas.openxmlformats.org/drawingml/2006/main" prst="rect">
            <a:avLst/>
          </a:prstGeom>
          <a:solidFill xmlns:a="http://schemas.openxmlformats.org/drawingml/2006/main">
            <a:srgbClr val="C9972B"/>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5002BB03-81E5-4699-BED2-2F563FE98749}"/>
              </a:ext>
            </a:extLst>
          </p:cNvPr>
          <p:cNvSpPr>
            <a:spLocks xmlns:a="http://schemas.openxmlformats.org/drawingml/2006/main" noGrp="1"/>
          </p:cNvSpPr>
          <p:nvPr/>
        </p:nvSpPr>
        <p:spPr>
          <a:xfrm xmlns:a="http://schemas.openxmlformats.org/drawingml/2006/main">
            <a:off x="5029200" y="4057650"/>
            <a:ext cx="2571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2. first query</a:t>
            </a:r>
          </a:p>
        </p:txBody>
      </p:sp>
      <p:sp>
        <p:nvSpPr>
          <p:cNvPr id="40" name="">
            <a:extLst xmlns:a="http://schemas.openxmlformats.org/drawingml/2006/main">
              <a:ext uri="{FF2B5EF4-FFF2-40B4-BE49-F238E27FC236}">
                <a16:creationId xmlns:a16="http://schemas.microsoft.com/office/drawing/2014/main" id="{CF520FAD-3ECF-4B8D-A5D0-1FD391FB9F76}"/>
              </a:ext>
            </a:extLst>
          </p:cNvPr>
          <p:cNvSpPr>
            <a:spLocks xmlns:a="http://schemas.openxmlformats.org/drawingml/2006/main" noGrp="1"/>
          </p:cNvSpPr>
          <p:nvPr/>
        </p:nvSpPr>
        <p:spPr>
          <a:xfrm xmlns:a="http://schemas.openxmlformats.org/drawingml/2006/main">
            <a:off x="5029200" y="4476750"/>
            <a:ext cx="2571750" cy="971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subregion별 프로토콜 차이를 정리하면서</a:t>
            </a:r>
          </a:p>
          <a:p xmlns:a="http://schemas.openxmlformats.org/drawingml/2006/main">
            <a:pPr algn="l">
              <a:defRPr sz="1200" b="0">
                <a:solidFill>
                  <a:srgbClr val="132024"/>
                </a:solidFill>
              </a:defRPr>
            </a:pPr>
            <a:r>
              <a:rPr sz="1200" b="0">
                <a:solidFill>
                  <a:srgbClr val="132024"/>
                </a:solidFill>
              </a:rPr>
              <a:t>region choice를 중심 질문으로</a:t>
            </a:r>
          </a:p>
          <a:p xmlns:a="http://schemas.openxmlformats.org/drawingml/2006/main">
            <a:pPr algn="l">
              <a:defRPr sz="1200" b="0">
                <a:solidFill>
                  <a:srgbClr val="132024"/>
                </a:solidFill>
              </a:defRPr>
            </a:pPr>
            <a:r>
              <a:rPr sz="1200" b="0">
                <a:solidFill>
                  <a:srgbClr val="132024"/>
                </a:solidFill>
              </a:rPr>
              <a:t>세웠다.</a:t>
            </a:r>
          </a:p>
        </p:txBody>
      </p:sp>
      <p:sp>
        <p:nvSpPr>
          <p:cNvPr id="41" name="">
            <a:extLst xmlns:a="http://schemas.openxmlformats.org/drawingml/2006/main">
              <a:ext uri="{FF2B5EF4-FFF2-40B4-BE49-F238E27FC236}">
                <a16:creationId xmlns:a16="http://schemas.microsoft.com/office/drawing/2014/main" id="{8F0F9DDD-B00E-4A1F-9810-3143CC9FF335}"/>
              </a:ext>
            </a:extLst>
          </p:cNvPr>
          <p:cNvSpPr>
            <a:spLocks xmlns:a="http://schemas.openxmlformats.org/drawingml/2006/main" noGrp="1"/>
          </p:cNvSpPr>
          <p:nvPr/>
        </p:nvSpPr>
        <p:spPr>
          <a:xfrm xmlns:a="http://schemas.openxmlformats.org/drawingml/2006/main">
            <a:off x="8020050" y="4629150"/>
            <a:ext cx="723900" cy="228600"/>
          </a:xfrm>
          <a:prstGeom xmlns:a="http://schemas.openxmlformats.org/drawingml/2006/main" prst="rightArrow">
            <a:avLst/>
          </a:prstGeom>
          <a:solidFill xmlns:a="http://schemas.openxmlformats.org/drawingml/2006/main">
            <a:srgbClr val="F4E8C8"/>
          </a:solidFill>
          <a:ln xmlns:a="http://schemas.openxmlformats.org/drawingml/2006/main" w="9525">
            <a:solidFill>
              <a:srgbClr val="132024"/>
            </a:solidFill>
            <a:prstDash val="solid"/>
          </a:ln>
        </p:spPr>
      </p:sp>
      <p:sp>
        <p:nvSpPr>
          <p:cNvPr id="42" name="">
            <a:extLst xmlns:a="http://schemas.openxmlformats.org/drawingml/2006/main">
              <a:ext uri="{FF2B5EF4-FFF2-40B4-BE49-F238E27FC236}">
                <a16:creationId xmlns:a16="http://schemas.microsoft.com/office/drawing/2014/main" id="{E799D2BB-40B9-41D3-BFD1-9C5C148A47C8}"/>
              </a:ext>
            </a:extLst>
          </p:cNvPr>
          <p:cNvSpPr>
            <a:spLocks xmlns:a="http://schemas.openxmlformats.org/drawingml/2006/main" noGrp="1"/>
          </p:cNvSpPr>
          <p:nvPr/>
        </p:nvSpPr>
        <p:spPr>
          <a:xfrm xmlns:a="http://schemas.openxmlformats.org/drawingml/2006/main">
            <a:off x="8858250" y="3867150"/>
            <a:ext cx="2438400" cy="1752600"/>
          </a:xfrm>
          <a:prstGeom xmlns:a="http://schemas.openxmlformats.org/drawingml/2006/main" prst="roundRect">
            <a:avLst>
              <a:gd name="adj" fmla="val 4348"/>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43" name="">
            <a:extLst xmlns:a="http://schemas.openxmlformats.org/drawingml/2006/main">
              <a:ext uri="{FF2B5EF4-FFF2-40B4-BE49-F238E27FC236}">
                <a16:creationId xmlns:a16="http://schemas.microsoft.com/office/drawing/2014/main" id="{1865265C-0C76-4C3A-8477-D6221D5C1483}"/>
              </a:ext>
            </a:extLst>
          </p:cNvPr>
          <p:cNvSpPr>
            <a:spLocks xmlns:a="http://schemas.openxmlformats.org/drawingml/2006/main" noGrp="1"/>
          </p:cNvSpPr>
          <p:nvPr/>
        </p:nvSpPr>
        <p:spPr>
          <a:xfrm xmlns:a="http://schemas.openxmlformats.org/drawingml/2006/main">
            <a:off x="8858250" y="3867150"/>
            <a:ext cx="2438400" cy="76200"/>
          </a:xfrm>
          <a:prstGeom xmlns:a="http://schemas.openxmlformats.org/drawingml/2006/main" prst="rect">
            <a:avLst/>
          </a:prstGeom>
          <a:solidFill xmlns:a="http://schemas.openxmlformats.org/drawingml/2006/main">
            <a:srgbClr val="D66C60"/>
          </a:solidFill>
          <a:ln xmlns:a="http://schemas.openxmlformats.org/drawingml/2006/main" w="0">
            <a:solidFill>
              <a:srgbClr val="000000">
                <a:alpha val="0"/>
              </a:srgbClr>
            </a:solidFill>
            <a:prstDash val="solid"/>
          </a:ln>
        </p:spPr>
      </p:sp>
      <p:sp>
        <p:nvSpPr>
          <p:cNvPr id="44" name="">
            <a:extLst xmlns:a="http://schemas.openxmlformats.org/drawingml/2006/main">
              <a:ext uri="{FF2B5EF4-FFF2-40B4-BE49-F238E27FC236}">
                <a16:creationId xmlns:a16="http://schemas.microsoft.com/office/drawing/2014/main" id="{E76178EA-1CB2-4F9C-949A-0759D4D79C85}"/>
              </a:ext>
            </a:extLst>
          </p:cNvPr>
          <p:cNvSpPr>
            <a:spLocks xmlns:a="http://schemas.openxmlformats.org/drawingml/2006/main" noGrp="1"/>
          </p:cNvSpPr>
          <p:nvPr/>
        </p:nvSpPr>
        <p:spPr>
          <a:xfrm xmlns:a="http://schemas.openxmlformats.org/drawingml/2006/main">
            <a:off x="9067800" y="4057650"/>
            <a:ext cx="20193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3. refined query</a:t>
            </a:r>
          </a:p>
        </p:txBody>
      </p:sp>
      <p:sp>
        <p:nvSpPr>
          <p:cNvPr id="45" name="">
            <a:extLst xmlns:a="http://schemas.openxmlformats.org/drawingml/2006/main">
              <a:ext uri="{FF2B5EF4-FFF2-40B4-BE49-F238E27FC236}">
                <a16:creationId xmlns:a16="http://schemas.microsoft.com/office/drawing/2014/main" id="{E027365C-C9A5-4EA7-A920-782FA8C61193}"/>
              </a:ext>
            </a:extLst>
          </p:cNvPr>
          <p:cNvSpPr>
            <a:spLocks xmlns:a="http://schemas.openxmlformats.org/drawingml/2006/main" noGrp="1"/>
          </p:cNvSpPr>
          <p:nvPr/>
        </p:nvSpPr>
        <p:spPr>
          <a:xfrm xmlns:a="http://schemas.openxmlformats.org/drawingml/2006/main">
            <a:off x="9067800" y="4476750"/>
            <a:ext cx="2019300" cy="971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그 질문만으로는 부족하다는 걸 발견하고</a:t>
            </a:r>
          </a:p>
          <a:p xmlns:a="http://schemas.openxmlformats.org/drawingml/2006/main">
            <a:pPr algn="l">
              <a:defRPr sz="1200" b="0">
                <a:solidFill>
                  <a:srgbClr val="132024"/>
                </a:solidFill>
              </a:defRPr>
            </a:pPr>
            <a:r>
              <a:rPr sz="1200" b="0">
                <a:solidFill>
                  <a:srgbClr val="132024"/>
                </a:solidFill>
              </a:rPr>
              <a:t>benchmark와 readout</a:t>
            </a:r>
          </a:p>
          <a:p xmlns:a="http://schemas.openxmlformats.org/drawingml/2006/main">
            <a:pPr algn="l">
              <a:defRPr sz="1200" b="0">
                <a:solidFill>
                  <a:srgbClr val="132024"/>
                </a:solidFill>
              </a:defRPr>
            </a:pPr>
            <a:r>
              <a:rPr sz="1200" b="0">
                <a:solidFill>
                  <a:srgbClr val="132024"/>
                </a:solidFill>
              </a:rPr>
              <a:t>질문으로 확장했다.</a:t>
            </a:r>
          </a:p>
        </p:txBody>
      </p:sp>
      <p:sp>
        <p:nvSpPr>
          <p:cNvPr id="46" name="">
            <a:extLst xmlns:a="http://schemas.openxmlformats.org/drawingml/2006/main">
              <a:ext uri="{FF2B5EF4-FFF2-40B4-BE49-F238E27FC236}">
                <a16:creationId xmlns:a16="http://schemas.microsoft.com/office/drawing/2014/main" id="{0E8995D8-D8F3-45E1-83B2-831AE757097B}"/>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A767C"/>
                </a:solidFill>
              </a:defRPr>
            </a:pPr>
            <a:r>
              <a:rPr sz="750" b="0">
                <a:solidFill>
                  <a:srgbClr val="6A767C"/>
                </a:solidFill>
              </a:rPr>
              <a:t>오늘 발표는 이 세 단계 자체를 보여주는 발표다.</a:t>
            </a:r>
          </a:p>
        </p:txBody>
      </p:sp>
    </p:spTree>
    <p:extLst>
      <p:ext uri="{BB962C8B-B14F-4D97-AF65-F5344CB8AC3E}">
        <p14:creationId xmlns:p14="http://schemas.microsoft.com/office/powerpoint/2010/main" val="1417414538"/>
      </p:ext>
    </p:extLst>
  </p:cSld>
</p:sld>
</file>

<file path=ppt/slides/slide3.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8BDF79F-9F16-4FEE-B72E-1F506FE9EBEC}"/>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1602807d1134e50"/>
          <a:srcRect xmlns:a="http://schemas.openxmlformats.org/drawingml/2006/main" l="0" t="21875" r="0" b="2187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E75D1FE-E61B-47A3-AB8B-9A66138CDB10}"/>
              </a:ext>
            </a:extLst>
          </p:cNvPr>
          <p:cNvSpPr>
            <a:spLocks xmlns:a="http://schemas.openxmlformats.org/drawingml/2006/main" noGrp="1"/>
          </p:cNvSpPr>
          <p:nvPr/>
        </p:nvSpPr>
        <p:spPr>
          <a:xfrm xmlns:a="http://schemas.openxmlformats.org/drawingml/2006/main">
            <a:off x="7867650" y="781050"/>
            <a:ext cx="3638550" cy="3638550"/>
          </a:xfrm>
          <a:prstGeom xmlns:a="http://schemas.openxmlformats.org/drawingml/2006/main" prst="ellipse">
            <a:avLst/>
          </a:prstGeom>
          <a:solidFill xmlns:a="http://schemas.openxmlformats.org/drawingml/2006/main">
            <a:srgbClr val="E4F5EC"/>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66BF111C-5567-4892-A7C6-9A9DC1C71984}"/>
              </a:ext>
            </a:extLst>
          </p:cNvPr>
          <p:cNvSpPr>
            <a:spLocks xmlns:a="http://schemas.openxmlformats.org/drawingml/2006/main" noGrp="1"/>
          </p:cNvSpPr>
          <p:nvPr/>
        </p:nvSpPr>
        <p:spPr>
          <a:xfrm xmlns:a="http://schemas.openxmlformats.org/drawingml/2006/main">
            <a:off x="9220200" y="4152900"/>
            <a:ext cx="1962150" cy="1962150"/>
          </a:xfrm>
          <a:prstGeom xmlns:a="http://schemas.openxmlformats.org/drawingml/2006/main" prst="ellipse">
            <a:avLst/>
          </a:prstGeom>
          <a:solidFill xmlns:a="http://schemas.openxmlformats.org/drawingml/2006/main">
            <a:srgbClr val="E6EDF1"/>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C14A8AB7-43F0-4277-8909-1A58EEAA5D19}"/>
              </a:ext>
            </a:extLst>
          </p:cNvPr>
          <p:cNvSpPr>
            <a:spLocks xmlns:a="http://schemas.openxmlformats.org/drawingml/2006/main" noGrp="1"/>
          </p:cNvSpPr>
          <p:nvPr/>
        </p:nvSpPr>
        <p:spPr>
          <a:xfrm xmlns:a="http://schemas.openxmlformats.org/drawingml/2006/main">
            <a:off x="8534400" y="1409700"/>
            <a:ext cx="2457450" cy="1409700"/>
          </a:xfrm>
          <a:prstGeom xmlns:a="http://schemas.openxmlformats.org/drawingml/2006/main" prst="roundRect">
            <a:avLst>
              <a:gd name="adj" fmla="val 5405"/>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6" name="">
            <a:extLst xmlns:a="http://schemas.openxmlformats.org/drawingml/2006/main">
              <a:ext uri="{FF2B5EF4-FFF2-40B4-BE49-F238E27FC236}">
                <a16:creationId xmlns:a16="http://schemas.microsoft.com/office/drawing/2014/main" id="{6D83FE16-FFA9-4FEB-9C8D-290FB4D70671}"/>
              </a:ext>
            </a:extLst>
          </p:cNvPr>
          <p:cNvSpPr>
            <a:spLocks xmlns:a="http://schemas.openxmlformats.org/drawingml/2006/main" noGrp="1"/>
          </p:cNvSpPr>
          <p:nvPr/>
        </p:nvSpPr>
        <p:spPr>
          <a:xfrm xmlns:a="http://schemas.openxmlformats.org/drawingml/2006/main">
            <a:off x="9010650" y="3067050"/>
            <a:ext cx="2152650" cy="1123950"/>
          </a:xfrm>
          <a:prstGeom xmlns:a="http://schemas.openxmlformats.org/drawingml/2006/main" prst="roundRect">
            <a:avLst>
              <a:gd name="adj" fmla="val 6780"/>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7" name="">
            <a:extLst xmlns:a="http://schemas.openxmlformats.org/drawingml/2006/main">
              <a:ext uri="{FF2B5EF4-FFF2-40B4-BE49-F238E27FC236}">
                <a16:creationId xmlns:a16="http://schemas.microsoft.com/office/drawing/2014/main" id="{3CEC46F4-DE77-48FD-B7C1-6DC75249D43D}"/>
              </a:ext>
            </a:extLst>
          </p:cNvPr>
          <p:cNvSpPr>
            <a:spLocks xmlns:a="http://schemas.openxmlformats.org/drawingml/2006/main" noGrp="1"/>
          </p:cNvSpPr>
          <p:nvPr/>
        </p:nvSpPr>
        <p:spPr>
          <a:xfrm xmlns:a="http://schemas.openxmlformats.org/drawingml/2006/main">
            <a:off x="8039100" y="4629150"/>
            <a:ext cx="2000250" cy="914400"/>
          </a:xfrm>
          <a:prstGeom xmlns:a="http://schemas.openxmlformats.org/drawingml/2006/main" prst="roundRect">
            <a:avLst>
              <a:gd name="adj" fmla="val 8333"/>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8" name="">
            <a:extLst xmlns:a="http://schemas.openxmlformats.org/drawingml/2006/main">
              <a:ext uri="{FF2B5EF4-FFF2-40B4-BE49-F238E27FC236}">
                <a16:creationId xmlns:a16="http://schemas.microsoft.com/office/drawing/2014/main" id="{7961F3A7-8C5A-4F0C-B7D8-3EA31FC61D8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CF7">
              <a:alpha val="80000"/>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F142064F-76D4-4450-9972-EB1E1A70A696}"/>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F5B3F"/>
                </a:solidFill>
              </a:defRPr>
            </a:pPr>
            <a:r>
              <a:rPr sz="975" b="1">
                <a:solidFill>
                  <a:srgbClr val="0F5B3F"/>
                </a:solidFill>
              </a:rPr>
              <a:t>QUESTION 1</a:t>
            </a:r>
          </a:p>
        </p:txBody>
      </p:sp>
      <p:sp>
        <p:nvSpPr>
          <p:cNvPr id="10" name="">
            <a:extLst xmlns:a="http://schemas.openxmlformats.org/drawingml/2006/main">
              <a:ext uri="{FF2B5EF4-FFF2-40B4-BE49-F238E27FC236}">
                <a16:creationId xmlns:a16="http://schemas.microsoft.com/office/drawing/2014/main" id="{D1CF43F0-86E8-417B-8BBD-997A9F2491B8}"/>
              </a:ext>
            </a:extLst>
          </p:cNvPr>
          <p:cNvSpPr>
            <a:spLocks xmlns:a="http://schemas.openxmlformats.org/drawingml/2006/main" noGrp="1"/>
          </p:cNvSpPr>
          <p:nvPr/>
        </p:nvSpPr>
        <p:spPr>
          <a:xfrm xmlns:a="http://schemas.openxmlformats.org/drawingml/2006/main">
            <a:off x="10610850" y="323850"/>
            <a:ext cx="990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0F5B3F"/>
                </a:solidFill>
              </a:defRPr>
            </a:pPr>
            <a:r>
              <a:rPr sz="975" b="1">
                <a:solidFill>
                  <a:srgbClr val="0F5B3F"/>
                </a:solidFill>
              </a:rPr>
              <a:t>03 / 09</a:t>
            </a:r>
          </a:p>
        </p:txBody>
      </p:sp>
      <p:sp>
        <p:nvSpPr>
          <p:cNvPr id="11" name="">
            <a:extLst xmlns:a="http://schemas.openxmlformats.org/drawingml/2006/main">
              <a:ext uri="{FF2B5EF4-FFF2-40B4-BE49-F238E27FC236}">
                <a16:creationId xmlns:a16="http://schemas.microsoft.com/office/drawing/2014/main" id="{2D610C14-4DF2-4B94-B936-0152572087A2}"/>
              </a:ext>
            </a:extLst>
          </p:cNvPr>
          <p:cNvSpPr>
            <a:spLocks xmlns:a="http://schemas.openxmlformats.org/drawingml/2006/main" noGrp="1"/>
          </p:cNvSpPr>
          <p:nvPr/>
        </p:nvSpPr>
        <p:spPr>
          <a:xfrm xmlns:a="http://schemas.openxmlformats.org/drawingml/2006/main">
            <a:off x="609600" y="609600"/>
            <a:ext cx="10972800" cy="19050"/>
          </a:xfrm>
          <a:prstGeom xmlns:a="http://schemas.openxmlformats.org/drawingml/2006/main" prst="rect">
            <a:avLst/>
          </a:prstGeom>
          <a:solidFill xmlns:a="http://schemas.openxmlformats.org/drawingml/2006/main">
            <a:srgbClr val="132024"/>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BB7BA91A-5960-4122-9600-21DACF5235E2}"/>
              </a:ext>
            </a:extLst>
          </p:cNvPr>
          <p:cNvSpPr>
            <a:spLocks xmlns:a="http://schemas.openxmlformats.org/drawingml/2006/main" noGrp="1"/>
          </p:cNvSpPr>
          <p:nvPr/>
        </p:nvSpPr>
        <p:spPr>
          <a:xfrm xmlns:a="http://schemas.openxmlformats.org/drawingml/2006/main">
            <a:off x="542925" y="542925"/>
            <a:ext cx="152400" cy="152400"/>
          </a:xfrm>
          <a:prstGeom xmlns:a="http://schemas.openxmlformats.org/drawingml/2006/main" prst="ellipse">
            <a:avLst/>
          </a:prstGeom>
          <a:solidFill xmlns:a="http://schemas.openxmlformats.org/drawingml/2006/main">
            <a:srgbClr val="1D9A69"/>
          </a:solidFill>
          <a:ln xmlns:a="http://schemas.openxmlformats.org/drawingml/2006/main" w="19050">
            <a:solidFill>
              <a:srgbClr val="132024"/>
            </a:solidFill>
            <a:prstDash val="solid"/>
          </a:ln>
        </p:spPr>
      </p:sp>
      <p:sp>
        <p:nvSpPr>
          <p:cNvPr id="13" name="">
            <a:extLst xmlns:a="http://schemas.openxmlformats.org/drawingml/2006/main">
              <a:ext uri="{FF2B5EF4-FFF2-40B4-BE49-F238E27FC236}">
                <a16:creationId xmlns:a16="http://schemas.microsoft.com/office/drawing/2014/main" id="{5983DB4E-FF79-4AEB-B80F-CF237C3780B4}"/>
              </a:ext>
            </a:extLst>
          </p:cNvPr>
          <p:cNvSpPr>
            <a:spLocks xmlns:a="http://schemas.openxmlformats.org/drawingml/2006/main" noGrp="1"/>
          </p:cNvSpPr>
          <p:nvPr/>
        </p:nvSpPr>
        <p:spPr>
          <a:xfrm xmlns:a="http://schemas.openxmlformats.org/drawingml/2006/main">
            <a:off x="609600" y="838200"/>
            <a:ext cx="6858000" cy="112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32024"/>
                </a:solidFill>
              </a:defRPr>
            </a:pPr>
            <a:r>
              <a:rPr sz="2850" b="1">
                <a:solidFill>
                  <a:srgbClr val="132024"/>
                </a:solidFill>
              </a:rPr>
              <a:t>1차 질문: brain subregion별</a:t>
            </a:r>
          </a:p>
          <a:p xmlns:a="http://schemas.openxmlformats.org/drawingml/2006/main">
            <a:pPr algn="l">
              <a:defRPr sz="2850" b="1">
                <a:solidFill>
                  <a:srgbClr val="132024"/>
                </a:solidFill>
              </a:defRPr>
            </a:pPr>
            <a:r>
              <a:rPr sz="2850" b="1">
                <a:solidFill>
                  <a:srgbClr val="132024"/>
                </a:solidFill>
              </a:rPr>
              <a:t>프로토콜 비교</a:t>
            </a:r>
          </a:p>
        </p:txBody>
      </p:sp>
      <p:sp>
        <p:nvSpPr>
          <p:cNvPr id="14" name="">
            <a:extLst xmlns:a="http://schemas.openxmlformats.org/drawingml/2006/main">
              <a:ext uri="{FF2B5EF4-FFF2-40B4-BE49-F238E27FC236}">
                <a16:creationId xmlns:a16="http://schemas.microsoft.com/office/drawing/2014/main" id="{AF2CC836-9AAF-4EA7-844B-594C4FAECAF5}"/>
              </a:ext>
            </a:extLst>
          </p:cNvPr>
          <p:cNvSpPr>
            <a:spLocks xmlns:a="http://schemas.openxmlformats.org/drawingml/2006/main" noGrp="1"/>
          </p:cNvSpPr>
          <p:nvPr/>
        </p:nvSpPr>
        <p:spPr>
          <a:xfrm xmlns:a="http://schemas.openxmlformats.org/drawingml/2006/main">
            <a:off x="628650" y="2038350"/>
            <a:ext cx="68580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344146"/>
                </a:solidFill>
              </a:defRPr>
            </a:pPr>
            <a:r>
              <a:rPr sz="1350" b="0">
                <a:solidFill>
                  <a:srgbClr val="344146"/>
                </a:solidFill>
              </a:rPr>
              <a:t>처음에는 '어느 뇌 영역을 만들 것인가'가</a:t>
            </a:r>
          </a:p>
          <a:p xmlns:a="http://schemas.openxmlformats.org/drawingml/2006/main">
            <a:pPr algn="l">
              <a:defRPr sz="1350" b="0">
                <a:solidFill>
                  <a:srgbClr val="344146"/>
                </a:solidFill>
              </a:defRPr>
            </a:pPr>
            <a:r>
              <a:rPr sz="1350" b="0">
                <a:solidFill>
                  <a:srgbClr val="344146"/>
                </a:solidFill>
              </a:rPr>
              <a:t>가장 중요한 비교 기준처럼 보였다.</a:t>
            </a:r>
          </a:p>
        </p:txBody>
      </p:sp>
      <p:sp>
        <p:nvSpPr>
          <p:cNvPr id="15" name="">
            <a:extLst xmlns:a="http://schemas.openxmlformats.org/drawingml/2006/main">
              <a:ext uri="{FF2B5EF4-FFF2-40B4-BE49-F238E27FC236}">
                <a16:creationId xmlns:a16="http://schemas.microsoft.com/office/drawing/2014/main" id="{6CAF3C73-F4D0-496A-B520-367E081D4979}"/>
              </a:ext>
            </a:extLst>
          </p:cNvPr>
          <p:cNvSpPr>
            <a:spLocks xmlns:a="http://schemas.openxmlformats.org/drawingml/2006/main" noGrp="1"/>
          </p:cNvSpPr>
          <p:nvPr/>
        </p:nvSpPr>
        <p:spPr>
          <a:xfrm xmlns:a="http://schemas.openxmlformats.org/drawingml/2006/main">
            <a:off x="4495800" y="2609850"/>
            <a:ext cx="2667000" cy="1104900"/>
          </a:xfrm>
          <a:prstGeom xmlns:a="http://schemas.openxmlformats.org/drawingml/2006/main" prst="roundRect">
            <a:avLst>
              <a:gd name="adj" fmla="val 6897"/>
            </a:avLst>
          </a:prstGeom>
          <a:solidFill xmlns:a="http://schemas.openxmlformats.org/drawingml/2006/main">
            <a:srgbClr val="DDF4E8"/>
          </a:solidFill>
          <a:ln xmlns:a="http://schemas.openxmlformats.org/drawingml/2006/main" w="10478">
            <a:solidFill>
              <a:srgbClr val="132024"/>
            </a:solidFill>
            <a:prstDash val="solid"/>
          </a:ln>
        </p:spPr>
      </p:sp>
      <p:sp>
        <p:nvSpPr>
          <p:cNvPr id="16" name="">
            <a:extLst xmlns:a="http://schemas.openxmlformats.org/drawingml/2006/main">
              <a:ext uri="{FF2B5EF4-FFF2-40B4-BE49-F238E27FC236}">
                <a16:creationId xmlns:a16="http://schemas.microsoft.com/office/drawing/2014/main" id="{725BBE9A-3047-43F6-B50B-267688FC1E2E}"/>
              </a:ext>
            </a:extLst>
          </p:cNvPr>
          <p:cNvSpPr>
            <a:spLocks xmlns:a="http://schemas.openxmlformats.org/drawingml/2006/main" noGrp="1"/>
          </p:cNvSpPr>
          <p:nvPr/>
        </p:nvSpPr>
        <p:spPr>
          <a:xfrm xmlns:a="http://schemas.openxmlformats.org/drawingml/2006/main">
            <a:off x="4495800" y="2609850"/>
            <a:ext cx="66675" cy="1104900"/>
          </a:xfrm>
          <a:prstGeom xmlns:a="http://schemas.openxmlformats.org/drawingml/2006/main" prst="rect">
            <a:avLst/>
          </a:prstGeom>
          <a:solidFill xmlns:a="http://schemas.openxmlformats.org/drawingml/2006/main">
            <a:srgbClr val="0F5B3F"/>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18FC66C5-CDB0-4D03-A9B8-57755EBC0B2E}"/>
              </a:ext>
            </a:extLst>
          </p:cNvPr>
          <p:cNvSpPr>
            <a:spLocks xmlns:a="http://schemas.openxmlformats.org/drawingml/2006/main" noGrp="1"/>
          </p:cNvSpPr>
          <p:nvPr/>
        </p:nvSpPr>
        <p:spPr>
          <a:xfrm xmlns:a="http://schemas.openxmlformats.org/drawingml/2006/main">
            <a:off x="4667250" y="2762250"/>
            <a:ext cx="609600" cy="228600"/>
          </a:xfrm>
          <a:prstGeom xmlns:a="http://schemas.openxmlformats.org/drawingml/2006/main" prst="rect">
            <a:avLst/>
          </a:prstGeom>
          <a:solidFill xmlns:a="http://schemas.openxmlformats.org/drawingml/2006/main">
            <a:srgbClr val="DDF4E8"/>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0F5B3F"/>
                </a:solidFill>
              </a:defRPr>
            </a:pPr>
            <a:r>
              <a:rPr sz="900" b="1">
                <a:solidFill>
                  <a:srgbClr val="0F5B3F"/>
                </a:solidFill>
              </a:rPr>
              <a:t>query</a:t>
            </a:r>
          </a:p>
        </p:txBody>
      </p:sp>
      <p:sp>
        <p:nvSpPr>
          <p:cNvPr id="18" name="">
            <a:extLst xmlns:a="http://schemas.openxmlformats.org/drawingml/2006/main">
              <a:ext uri="{FF2B5EF4-FFF2-40B4-BE49-F238E27FC236}">
                <a16:creationId xmlns:a16="http://schemas.microsoft.com/office/drawing/2014/main" id="{41B6DB8F-2BDF-45AC-81FF-53F93A184848}"/>
              </a:ext>
            </a:extLst>
          </p:cNvPr>
          <p:cNvSpPr>
            <a:spLocks xmlns:a="http://schemas.openxmlformats.org/drawingml/2006/main" noGrp="1"/>
          </p:cNvSpPr>
          <p:nvPr/>
        </p:nvSpPr>
        <p:spPr>
          <a:xfrm xmlns:a="http://schemas.openxmlformats.org/drawingml/2006/main">
            <a:off x="4667250" y="3048000"/>
            <a:ext cx="23431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32024"/>
                </a:solidFill>
              </a:defRPr>
            </a:pPr>
            <a:r>
              <a:rPr sz="1275" b="1">
                <a:solidFill>
                  <a:srgbClr val="132024"/>
                </a:solidFill>
              </a:rPr>
              <a:t>Q1 | brain subregion별 프로토콜 비교</a:t>
            </a:r>
          </a:p>
        </p:txBody>
      </p:sp>
      <p:sp>
        <p:nvSpPr>
          <p:cNvPr id="19" name="">
            <a:extLst xmlns:a="http://schemas.openxmlformats.org/drawingml/2006/main">
              <a:ext uri="{FF2B5EF4-FFF2-40B4-BE49-F238E27FC236}">
                <a16:creationId xmlns:a16="http://schemas.microsoft.com/office/drawing/2014/main" id="{AA9AF575-B1DA-40BC-8E0D-47BEC68FC39D}"/>
              </a:ext>
            </a:extLst>
          </p:cNvPr>
          <p:cNvSpPr>
            <a:spLocks xmlns:a="http://schemas.openxmlformats.org/drawingml/2006/main" noGrp="1"/>
          </p:cNvSpPr>
          <p:nvPr/>
        </p:nvSpPr>
        <p:spPr>
          <a:xfrm xmlns:a="http://schemas.openxmlformats.org/drawingml/2006/main">
            <a:off x="4667250" y="3295650"/>
            <a:ext cx="23431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344146"/>
                </a:solidFill>
              </a:defRPr>
            </a:pPr>
            <a:r>
              <a:rPr sz="825" b="0">
                <a:solidFill>
                  <a:srgbClr val="344146"/>
                </a:solidFill>
              </a:rPr>
              <a:t>어느 region을 만들 것인가?</a:t>
            </a:r>
          </a:p>
        </p:txBody>
      </p:sp>
      <p:sp>
        <p:nvSpPr>
          <p:cNvPr id="20" name="">
            <a:extLst xmlns:a="http://schemas.openxmlformats.org/drawingml/2006/main">
              <a:ext uri="{FF2B5EF4-FFF2-40B4-BE49-F238E27FC236}">
                <a16:creationId xmlns:a16="http://schemas.microsoft.com/office/drawing/2014/main" id="{5686A8D9-F85E-413D-B882-870636204707}"/>
              </a:ext>
            </a:extLst>
          </p:cNvPr>
          <p:cNvSpPr>
            <a:spLocks xmlns:a="http://schemas.openxmlformats.org/drawingml/2006/main" noGrp="1"/>
          </p:cNvSpPr>
          <p:nvPr/>
        </p:nvSpPr>
        <p:spPr>
          <a:xfrm xmlns:a="http://schemas.openxmlformats.org/drawingml/2006/main">
            <a:off x="933450" y="1790700"/>
            <a:ext cx="1695450" cy="1066800"/>
          </a:xfrm>
          <a:prstGeom xmlns:a="http://schemas.openxmlformats.org/drawingml/2006/main" prst="roundRect">
            <a:avLst>
              <a:gd name="adj" fmla="val 7143"/>
            </a:avLst>
          </a:prstGeom>
          <a:solidFill xmlns:a="http://schemas.openxmlformats.org/drawingml/2006/main">
            <a:srgbClr val="FFFDF8"/>
          </a:solidFill>
          <a:ln xmlns:a="http://schemas.openxmlformats.org/drawingml/2006/main" w="10478">
            <a:solidFill>
              <a:srgbClr val="132024"/>
            </a:solidFill>
            <a:prstDash val="solid"/>
          </a:ln>
        </p:spPr>
      </p:sp>
      <p:sp>
        <p:nvSpPr>
          <p:cNvPr id="21" name="">
            <a:extLst xmlns:a="http://schemas.openxmlformats.org/drawingml/2006/main">
              <a:ext uri="{FF2B5EF4-FFF2-40B4-BE49-F238E27FC236}">
                <a16:creationId xmlns:a16="http://schemas.microsoft.com/office/drawing/2014/main" id="{643F7BBC-E7CE-481C-8014-6C11633B4E8F}"/>
              </a:ext>
            </a:extLst>
          </p:cNvPr>
          <p:cNvSpPr>
            <a:spLocks xmlns:a="http://schemas.openxmlformats.org/drawingml/2006/main" noGrp="1"/>
          </p:cNvSpPr>
          <p:nvPr/>
        </p:nvSpPr>
        <p:spPr>
          <a:xfrm xmlns:a="http://schemas.openxmlformats.org/drawingml/2006/main">
            <a:off x="933450" y="1790700"/>
            <a:ext cx="66675" cy="1066800"/>
          </a:xfrm>
          <a:prstGeom xmlns:a="http://schemas.openxmlformats.org/drawingml/2006/main" prst="rect">
            <a:avLst/>
          </a:prstGeom>
          <a:solidFill xmlns:a="http://schemas.openxmlformats.org/drawingml/2006/main">
            <a:srgbClr val="5C8F74"/>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8BA38400-49D0-4D75-A76C-62FB39A931C3}"/>
              </a:ext>
            </a:extLst>
          </p:cNvPr>
          <p:cNvSpPr>
            <a:spLocks xmlns:a="http://schemas.openxmlformats.org/drawingml/2006/main" noGrp="1"/>
          </p:cNvSpPr>
          <p:nvPr/>
        </p:nvSpPr>
        <p:spPr>
          <a:xfrm xmlns:a="http://schemas.openxmlformats.org/drawingml/2006/main">
            <a:off x="1104900" y="1943100"/>
            <a:ext cx="647700" cy="228600"/>
          </a:xfrm>
          <a:prstGeom xmlns:a="http://schemas.openxmlformats.org/drawingml/2006/main" prst="rect">
            <a:avLst/>
          </a:prstGeom>
          <a:solidFill xmlns:a="http://schemas.openxmlformats.org/drawingml/2006/main">
            <a:srgbClr val="DCE7EE"/>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274D63"/>
                </a:solidFill>
              </a:defRPr>
            </a:pPr>
            <a:r>
              <a:rPr sz="900" b="1">
                <a:solidFill>
                  <a:srgbClr val="274D63"/>
                </a:solidFill>
              </a:rPr>
              <a:t>source</a:t>
            </a:r>
          </a:p>
        </p:txBody>
      </p:sp>
      <p:sp>
        <p:nvSpPr>
          <p:cNvPr id="23" name="">
            <a:extLst xmlns:a="http://schemas.openxmlformats.org/drawingml/2006/main">
              <a:ext uri="{FF2B5EF4-FFF2-40B4-BE49-F238E27FC236}">
                <a16:creationId xmlns:a16="http://schemas.microsoft.com/office/drawing/2014/main" id="{59B2C587-DB53-43D9-B2AB-F1CFCB9102AF}"/>
              </a:ext>
            </a:extLst>
          </p:cNvPr>
          <p:cNvSpPr>
            <a:spLocks xmlns:a="http://schemas.openxmlformats.org/drawingml/2006/main" noGrp="1"/>
          </p:cNvSpPr>
          <p:nvPr/>
        </p:nvSpPr>
        <p:spPr>
          <a:xfrm xmlns:a="http://schemas.openxmlformats.org/drawingml/2006/main">
            <a:off x="1104900" y="2228850"/>
            <a:ext cx="1371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32024"/>
                </a:solidFill>
              </a:defRPr>
            </a:pPr>
            <a:r>
              <a:rPr sz="1275" b="1">
                <a:solidFill>
                  <a:srgbClr val="132024"/>
                </a:solidFill>
              </a:rPr>
              <a:t>Lancaster 2014</a:t>
            </a:r>
          </a:p>
        </p:txBody>
      </p:sp>
      <p:sp>
        <p:nvSpPr>
          <p:cNvPr id="24" name="">
            <a:extLst xmlns:a="http://schemas.openxmlformats.org/drawingml/2006/main">
              <a:ext uri="{FF2B5EF4-FFF2-40B4-BE49-F238E27FC236}">
                <a16:creationId xmlns:a16="http://schemas.microsoft.com/office/drawing/2014/main" id="{0F0BD039-4C7B-4BED-8D89-1B6444379C7F}"/>
              </a:ext>
            </a:extLst>
          </p:cNvPr>
          <p:cNvSpPr>
            <a:spLocks xmlns:a="http://schemas.openxmlformats.org/drawingml/2006/main" noGrp="1"/>
          </p:cNvSpPr>
          <p:nvPr/>
        </p:nvSpPr>
        <p:spPr>
          <a:xfrm xmlns:a="http://schemas.openxmlformats.org/drawingml/2006/main">
            <a:off x="1104900" y="2476500"/>
            <a:ext cx="13716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344146"/>
                </a:solidFill>
              </a:defRPr>
            </a:pPr>
            <a:r>
              <a:rPr sz="825" b="0">
                <a:solidFill>
                  <a:srgbClr val="344146"/>
                </a:solidFill>
              </a:rPr>
              <a:t>whole cerebral</a:t>
            </a:r>
          </a:p>
        </p:txBody>
      </p:sp>
      <p:sp>
        <p:nvSpPr>
          <p:cNvPr id="25" name="">
            <a:extLst xmlns:a="http://schemas.openxmlformats.org/drawingml/2006/main">
              <a:ext uri="{FF2B5EF4-FFF2-40B4-BE49-F238E27FC236}">
                <a16:creationId xmlns:a16="http://schemas.microsoft.com/office/drawing/2014/main" id="{E113898C-C22F-407A-8E99-8F931A732111}"/>
              </a:ext>
            </a:extLst>
          </p:cNvPr>
          <p:cNvSpPr>
            <a:spLocks xmlns:a="http://schemas.openxmlformats.org/drawingml/2006/main" noGrp="1"/>
          </p:cNvSpPr>
          <p:nvPr/>
        </p:nvSpPr>
        <p:spPr>
          <a:xfrm xmlns:a="http://schemas.openxmlformats.org/drawingml/2006/main">
            <a:off x="2819400" y="1219200"/>
            <a:ext cx="1695450" cy="1066800"/>
          </a:xfrm>
          <a:prstGeom xmlns:a="http://schemas.openxmlformats.org/drawingml/2006/main" prst="roundRect">
            <a:avLst>
              <a:gd name="adj" fmla="val 7143"/>
            </a:avLst>
          </a:prstGeom>
          <a:solidFill xmlns:a="http://schemas.openxmlformats.org/drawingml/2006/main">
            <a:srgbClr val="FFFDF8"/>
          </a:solidFill>
          <a:ln xmlns:a="http://schemas.openxmlformats.org/drawingml/2006/main" w="10478">
            <a:solidFill>
              <a:srgbClr val="132024"/>
            </a:solidFill>
            <a:prstDash val="solid"/>
          </a:ln>
        </p:spPr>
      </p:sp>
      <p:sp>
        <p:nvSpPr>
          <p:cNvPr id="26" name="">
            <a:extLst xmlns:a="http://schemas.openxmlformats.org/drawingml/2006/main">
              <a:ext uri="{FF2B5EF4-FFF2-40B4-BE49-F238E27FC236}">
                <a16:creationId xmlns:a16="http://schemas.microsoft.com/office/drawing/2014/main" id="{6CBC081E-23C6-4A02-92D6-1FF63A8E9BAC}"/>
              </a:ext>
            </a:extLst>
          </p:cNvPr>
          <p:cNvSpPr>
            <a:spLocks xmlns:a="http://schemas.openxmlformats.org/drawingml/2006/main" noGrp="1"/>
          </p:cNvSpPr>
          <p:nvPr/>
        </p:nvSpPr>
        <p:spPr>
          <a:xfrm xmlns:a="http://schemas.openxmlformats.org/drawingml/2006/main">
            <a:off x="2819400" y="1219200"/>
            <a:ext cx="66675" cy="1066800"/>
          </a:xfrm>
          <a:prstGeom xmlns:a="http://schemas.openxmlformats.org/drawingml/2006/main" prst="rect">
            <a:avLst/>
          </a:prstGeom>
          <a:solidFill xmlns:a="http://schemas.openxmlformats.org/drawingml/2006/main">
            <a:srgbClr val="5C8F74"/>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FF4116DF-1859-4E31-8972-580E10B142AB}"/>
              </a:ext>
            </a:extLst>
          </p:cNvPr>
          <p:cNvSpPr>
            <a:spLocks xmlns:a="http://schemas.openxmlformats.org/drawingml/2006/main" noGrp="1"/>
          </p:cNvSpPr>
          <p:nvPr/>
        </p:nvSpPr>
        <p:spPr>
          <a:xfrm xmlns:a="http://schemas.openxmlformats.org/drawingml/2006/main">
            <a:off x="2990850" y="1371600"/>
            <a:ext cx="647700" cy="228600"/>
          </a:xfrm>
          <a:prstGeom xmlns:a="http://schemas.openxmlformats.org/drawingml/2006/main" prst="rect">
            <a:avLst/>
          </a:prstGeom>
          <a:solidFill xmlns:a="http://schemas.openxmlformats.org/drawingml/2006/main">
            <a:srgbClr val="DCE7EE"/>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274D63"/>
                </a:solidFill>
              </a:defRPr>
            </a:pPr>
            <a:r>
              <a:rPr sz="900" b="1">
                <a:solidFill>
                  <a:srgbClr val="274D63"/>
                </a:solidFill>
              </a:rPr>
              <a:t>source</a:t>
            </a:r>
          </a:p>
        </p:txBody>
      </p:sp>
      <p:sp>
        <p:nvSpPr>
          <p:cNvPr id="28" name="">
            <a:extLst xmlns:a="http://schemas.openxmlformats.org/drawingml/2006/main">
              <a:ext uri="{FF2B5EF4-FFF2-40B4-BE49-F238E27FC236}">
                <a16:creationId xmlns:a16="http://schemas.microsoft.com/office/drawing/2014/main" id="{389F2218-A171-44EE-A78A-07CAB3ABE768}"/>
              </a:ext>
            </a:extLst>
          </p:cNvPr>
          <p:cNvSpPr>
            <a:spLocks xmlns:a="http://schemas.openxmlformats.org/drawingml/2006/main" noGrp="1"/>
          </p:cNvSpPr>
          <p:nvPr/>
        </p:nvSpPr>
        <p:spPr>
          <a:xfrm xmlns:a="http://schemas.openxmlformats.org/drawingml/2006/main">
            <a:off x="2990850" y="1657350"/>
            <a:ext cx="1371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32024"/>
                </a:solidFill>
              </a:defRPr>
            </a:pPr>
            <a:r>
              <a:rPr sz="1275" b="1">
                <a:solidFill>
                  <a:srgbClr val="132024"/>
                </a:solidFill>
              </a:rPr>
              <a:t>Sloan 2018</a:t>
            </a:r>
          </a:p>
        </p:txBody>
      </p:sp>
      <p:sp>
        <p:nvSpPr>
          <p:cNvPr id="29" name="">
            <a:extLst xmlns:a="http://schemas.openxmlformats.org/drawingml/2006/main">
              <a:ext uri="{FF2B5EF4-FFF2-40B4-BE49-F238E27FC236}">
                <a16:creationId xmlns:a16="http://schemas.microsoft.com/office/drawing/2014/main" id="{121C9A7F-F6D5-410C-B03C-165FEEAB56AC}"/>
              </a:ext>
            </a:extLst>
          </p:cNvPr>
          <p:cNvSpPr>
            <a:spLocks xmlns:a="http://schemas.openxmlformats.org/drawingml/2006/main" noGrp="1"/>
          </p:cNvSpPr>
          <p:nvPr/>
        </p:nvSpPr>
        <p:spPr>
          <a:xfrm xmlns:a="http://schemas.openxmlformats.org/drawingml/2006/main">
            <a:off x="2990850" y="1905000"/>
            <a:ext cx="13716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344146"/>
                </a:solidFill>
              </a:defRPr>
            </a:pPr>
            <a:r>
              <a:rPr sz="825" b="0">
                <a:solidFill>
                  <a:srgbClr val="344146"/>
                </a:solidFill>
              </a:rPr>
              <a:t>dorsal / ventral</a:t>
            </a:r>
          </a:p>
          <a:p xmlns:a="http://schemas.openxmlformats.org/drawingml/2006/main">
            <a:pPr algn="l">
              <a:defRPr sz="825" b="0">
                <a:solidFill>
                  <a:srgbClr val="344146"/>
                </a:solidFill>
              </a:defRPr>
            </a:pPr>
            <a:r>
              <a:rPr sz="825" b="0">
                <a:solidFill>
                  <a:srgbClr val="344146"/>
                </a:solidFill>
              </a:rPr>
              <a:t>forebrain</a:t>
            </a:r>
          </a:p>
        </p:txBody>
      </p:sp>
      <p:sp>
        <p:nvSpPr>
          <p:cNvPr id="30" name="">
            <a:extLst xmlns:a="http://schemas.openxmlformats.org/drawingml/2006/main">
              <a:ext uri="{FF2B5EF4-FFF2-40B4-BE49-F238E27FC236}">
                <a16:creationId xmlns:a16="http://schemas.microsoft.com/office/drawing/2014/main" id="{4B860FE3-EAFB-47A5-B373-ACA16302ED15}"/>
              </a:ext>
            </a:extLst>
          </p:cNvPr>
          <p:cNvSpPr>
            <a:spLocks xmlns:a="http://schemas.openxmlformats.org/drawingml/2006/main" noGrp="1"/>
          </p:cNvSpPr>
          <p:nvPr/>
        </p:nvSpPr>
        <p:spPr>
          <a:xfrm xmlns:a="http://schemas.openxmlformats.org/drawingml/2006/main">
            <a:off x="7658100" y="1257300"/>
            <a:ext cx="1733550" cy="1066800"/>
          </a:xfrm>
          <a:prstGeom xmlns:a="http://schemas.openxmlformats.org/drawingml/2006/main" prst="roundRect">
            <a:avLst>
              <a:gd name="adj" fmla="val 7143"/>
            </a:avLst>
          </a:prstGeom>
          <a:solidFill xmlns:a="http://schemas.openxmlformats.org/drawingml/2006/main">
            <a:srgbClr val="FFFDF8"/>
          </a:solidFill>
          <a:ln xmlns:a="http://schemas.openxmlformats.org/drawingml/2006/main" w="10478">
            <a:solidFill>
              <a:srgbClr val="132024"/>
            </a:solidFill>
            <a:prstDash val="solid"/>
          </a:ln>
        </p:spPr>
      </p:sp>
      <p:sp>
        <p:nvSpPr>
          <p:cNvPr id="31" name="">
            <a:extLst xmlns:a="http://schemas.openxmlformats.org/drawingml/2006/main">
              <a:ext uri="{FF2B5EF4-FFF2-40B4-BE49-F238E27FC236}">
                <a16:creationId xmlns:a16="http://schemas.microsoft.com/office/drawing/2014/main" id="{92A096CB-8C5D-4BE8-82CB-5AFCD0CF32A4}"/>
              </a:ext>
            </a:extLst>
          </p:cNvPr>
          <p:cNvSpPr>
            <a:spLocks xmlns:a="http://schemas.openxmlformats.org/drawingml/2006/main" noGrp="1"/>
          </p:cNvSpPr>
          <p:nvPr/>
        </p:nvSpPr>
        <p:spPr>
          <a:xfrm xmlns:a="http://schemas.openxmlformats.org/drawingml/2006/main">
            <a:off x="7658100" y="1257300"/>
            <a:ext cx="66675" cy="1066800"/>
          </a:xfrm>
          <a:prstGeom xmlns:a="http://schemas.openxmlformats.org/drawingml/2006/main" prst="rect">
            <a:avLst/>
          </a:prstGeom>
          <a:solidFill xmlns:a="http://schemas.openxmlformats.org/drawingml/2006/main">
            <a:srgbClr val="5C8F74"/>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B89D60C8-B62B-455C-AC40-DE0B948244C1}"/>
              </a:ext>
            </a:extLst>
          </p:cNvPr>
          <p:cNvSpPr>
            <a:spLocks xmlns:a="http://schemas.openxmlformats.org/drawingml/2006/main" noGrp="1"/>
          </p:cNvSpPr>
          <p:nvPr/>
        </p:nvSpPr>
        <p:spPr>
          <a:xfrm xmlns:a="http://schemas.openxmlformats.org/drawingml/2006/main">
            <a:off x="7829550" y="1409700"/>
            <a:ext cx="647700" cy="228600"/>
          </a:xfrm>
          <a:prstGeom xmlns:a="http://schemas.openxmlformats.org/drawingml/2006/main" prst="rect">
            <a:avLst/>
          </a:prstGeom>
          <a:solidFill xmlns:a="http://schemas.openxmlformats.org/drawingml/2006/main">
            <a:srgbClr val="DCE7EE"/>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274D63"/>
                </a:solidFill>
              </a:defRPr>
            </a:pPr>
            <a:r>
              <a:rPr sz="900" b="1">
                <a:solidFill>
                  <a:srgbClr val="274D63"/>
                </a:solidFill>
              </a:rPr>
              <a:t>source</a:t>
            </a:r>
          </a:p>
        </p:txBody>
      </p:sp>
      <p:sp>
        <p:nvSpPr>
          <p:cNvPr id="33" name="">
            <a:extLst xmlns:a="http://schemas.openxmlformats.org/drawingml/2006/main">
              <a:ext uri="{FF2B5EF4-FFF2-40B4-BE49-F238E27FC236}">
                <a16:creationId xmlns:a16="http://schemas.microsoft.com/office/drawing/2014/main" id="{0F024ECB-6AFD-42E8-8B15-68D96D28A5DA}"/>
              </a:ext>
            </a:extLst>
          </p:cNvPr>
          <p:cNvSpPr>
            <a:spLocks xmlns:a="http://schemas.openxmlformats.org/drawingml/2006/main" noGrp="1"/>
          </p:cNvSpPr>
          <p:nvPr/>
        </p:nvSpPr>
        <p:spPr>
          <a:xfrm xmlns:a="http://schemas.openxmlformats.org/drawingml/2006/main">
            <a:off x="7829550" y="1695450"/>
            <a:ext cx="1409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32024"/>
                </a:solidFill>
              </a:defRPr>
            </a:pPr>
            <a:r>
              <a:rPr sz="1275" b="1">
                <a:solidFill>
                  <a:srgbClr val="132024"/>
                </a:solidFill>
              </a:rPr>
              <a:t>Fitzgerald 2024</a:t>
            </a:r>
          </a:p>
        </p:txBody>
      </p:sp>
      <p:sp>
        <p:nvSpPr>
          <p:cNvPr id="34" name="">
            <a:extLst xmlns:a="http://schemas.openxmlformats.org/drawingml/2006/main">
              <a:ext uri="{FF2B5EF4-FFF2-40B4-BE49-F238E27FC236}">
                <a16:creationId xmlns:a16="http://schemas.microsoft.com/office/drawing/2014/main" id="{879A5B86-835B-45BC-9B22-1996BC62FA98}"/>
              </a:ext>
            </a:extLst>
          </p:cNvPr>
          <p:cNvSpPr>
            <a:spLocks xmlns:a="http://schemas.openxmlformats.org/drawingml/2006/main" noGrp="1"/>
          </p:cNvSpPr>
          <p:nvPr/>
        </p:nvSpPr>
        <p:spPr>
          <a:xfrm xmlns:a="http://schemas.openxmlformats.org/drawingml/2006/main">
            <a:off x="7829550" y="1943100"/>
            <a:ext cx="1409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344146"/>
                </a:solidFill>
              </a:defRPr>
            </a:pPr>
            <a:r>
              <a:rPr sz="825" b="0">
                <a:solidFill>
                  <a:srgbClr val="344146"/>
                </a:solidFill>
              </a:rPr>
              <a:t>semi-guided</a:t>
            </a:r>
          </a:p>
          <a:p xmlns:a="http://schemas.openxmlformats.org/drawingml/2006/main">
            <a:pPr algn="l">
              <a:defRPr sz="825" b="0">
                <a:solidFill>
                  <a:srgbClr val="344146"/>
                </a:solidFill>
              </a:defRPr>
            </a:pPr>
            <a:r>
              <a:rPr sz="825" b="0">
                <a:solidFill>
                  <a:srgbClr val="344146"/>
                </a:solidFill>
              </a:rPr>
              <a:t>cortical</a:t>
            </a:r>
          </a:p>
        </p:txBody>
      </p:sp>
      <p:sp>
        <p:nvSpPr>
          <p:cNvPr id="35" name="">
            <a:extLst xmlns:a="http://schemas.openxmlformats.org/drawingml/2006/main">
              <a:ext uri="{FF2B5EF4-FFF2-40B4-BE49-F238E27FC236}">
                <a16:creationId xmlns:a16="http://schemas.microsoft.com/office/drawing/2014/main" id="{3371778E-0307-47A4-8145-121F226658C6}"/>
              </a:ext>
            </a:extLst>
          </p:cNvPr>
          <p:cNvSpPr>
            <a:spLocks xmlns:a="http://schemas.openxmlformats.org/drawingml/2006/main" noGrp="1"/>
          </p:cNvSpPr>
          <p:nvPr/>
        </p:nvSpPr>
        <p:spPr>
          <a:xfrm xmlns:a="http://schemas.openxmlformats.org/drawingml/2006/main">
            <a:off x="9563100" y="2000250"/>
            <a:ext cx="1657350" cy="1066800"/>
          </a:xfrm>
          <a:prstGeom xmlns:a="http://schemas.openxmlformats.org/drawingml/2006/main" prst="roundRect">
            <a:avLst>
              <a:gd name="adj" fmla="val 7143"/>
            </a:avLst>
          </a:prstGeom>
          <a:solidFill xmlns:a="http://schemas.openxmlformats.org/drawingml/2006/main">
            <a:srgbClr val="FFFDF8"/>
          </a:solidFill>
          <a:ln xmlns:a="http://schemas.openxmlformats.org/drawingml/2006/main" w="10478">
            <a:solidFill>
              <a:srgbClr val="132024"/>
            </a:solidFill>
            <a:prstDash val="solid"/>
          </a:ln>
        </p:spPr>
      </p:sp>
      <p:sp>
        <p:nvSpPr>
          <p:cNvPr id="36" name="">
            <a:extLst xmlns:a="http://schemas.openxmlformats.org/drawingml/2006/main">
              <a:ext uri="{FF2B5EF4-FFF2-40B4-BE49-F238E27FC236}">
                <a16:creationId xmlns:a16="http://schemas.microsoft.com/office/drawing/2014/main" id="{742746C0-A7A8-4375-8C37-456D477A56DB}"/>
              </a:ext>
            </a:extLst>
          </p:cNvPr>
          <p:cNvSpPr>
            <a:spLocks xmlns:a="http://schemas.openxmlformats.org/drawingml/2006/main" noGrp="1"/>
          </p:cNvSpPr>
          <p:nvPr/>
        </p:nvSpPr>
        <p:spPr>
          <a:xfrm xmlns:a="http://schemas.openxmlformats.org/drawingml/2006/main">
            <a:off x="9563100" y="2000250"/>
            <a:ext cx="66675" cy="1066800"/>
          </a:xfrm>
          <a:prstGeom xmlns:a="http://schemas.openxmlformats.org/drawingml/2006/main" prst="rect">
            <a:avLst/>
          </a:prstGeom>
          <a:solidFill xmlns:a="http://schemas.openxmlformats.org/drawingml/2006/main">
            <a:srgbClr val="5C8F74"/>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050C3C19-030A-4607-A69B-E562A4E1D9B3}"/>
              </a:ext>
            </a:extLst>
          </p:cNvPr>
          <p:cNvSpPr>
            <a:spLocks xmlns:a="http://schemas.openxmlformats.org/drawingml/2006/main" noGrp="1"/>
          </p:cNvSpPr>
          <p:nvPr/>
        </p:nvSpPr>
        <p:spPr>
          <a:xfrm xmlns:a="http://schemas.openxmlformats.org/drawingml/2006/main">
            <a:off x="9734550" y="2152650"/>
            <a:ext cx="647700" cy="228600"/>
          </a:xfrm>
          <a:prstGeom xmlns:a="http://schemas.openxmlformats.org/drawingml/2006/main" prst="rect">
            <a:avLst/>
          </a:prstGeom>
          <a:solidFill xmlns:a="http://schemas.openxmlformats.org/drawingml/2006/main">
            <a:srgbClr val="DCE7EE"/>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274D63"/>
                </a:solidFill>
              </a:defRPr>
            </a:pPr>
            <a:r>
              <a:rPr sz="900" b="1">
                <a:solidFill>
                  <a:srgbClr val="274D63"/>
                </a:solidFill>
              </a:rPr>
              <a:t>source</a:t>
            </a:r>
          </a:p>
        </p:txBody>
      </p:sp>
      <p:sp>
        <p:nvSpPr>
          <p:cNvPr id="38" name="">
            <a:extLst xmlns:a="http://schemas.openxmlformats.org/drawingml/2006/main">
              <a:ext uri="{FF2B5EF4-FFF2-40B4-BE49-F238E27FC236}">
                <a16:creationId xmlns:a16="http://schemas.microsoft.com/office/drawing/2014/main" id="{6AF8B326-DABD-4279-B2BE-F2E4C192C851}"/>
              </a:ext>
            </a:extLst>
          </p:cNvPr>
          <p:cNvSpPr>
            <a:spLocks xmlns:a="http://schemas.openxmlformats.org/drawingml/2006/main" noGrp="1"/>
          </p:cNvSpPr>
          <p:nvPr/>
        </p:nvSpPr>
        <p:spPr>
          <a:xfrm xmlns:a="http://schemas.openxmlformats.org/drawingml/2006/main">
            <a:off x="9734550" y="2438400"/>
            <a:ext cx="1333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32024"/>
                </a:solidFill>
              </a:defRPr>
            </a:pPr>
            <a:r>
              <a:rPr sz="1275" b="1">
                <a:solidFill>
                  <a:srgbClr val="132024"/>
                </a:solidFill>
              </a:rPr>
              <a:t>Zagare 2021</a:t>
            </a:r>
          </a:p>
        </p:txBody>
      </p:sp>
      <p:sp>
        <p:nvSpPr>
          <p:cNvPr id="39" name="">
            <a:extLst xmlns:a="http://schemas.openxmlformats.org/drawingml/2006/main">
              <a:ext uri="{FF2B5EF4-FFF2-40B4-BE49-F238E27FC236}">
                <a16:creationId xmlns:a16="http://schemas.microsoft.com/office/drawing/2014/main" id="{CBD0CB0C-0F4B-4452-A4B9-486F54DC1FA5}"/>
              </a:ext>
            </a:extLst>
          </p:cNvPr>
          <p:cNvSpPr>
            <a:spLocks xmlns:a="http://schemas.openxmlformats.org/drawingml/2006/main" noGrp="1"/>
          </p:cNvSpPr>
          <p:nvPr/>
        </p:nvSpPr>
        <p:spPr>
          <a:xfrm xmlns:a="http://schemas.openxmlformats.org/drawingml/2006/main">
            <a:off x="9734550" y="2686050"/>
            <a:ext cx="1333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344146"/>
                </a:solidFill>
              </a:defRPr>
            </a:pPr>
            <a:r>
              <a:rPr sz="825" b="0">
                <a:solidFill>
                  <a:srgbClr val="344146"/>
                </a:solidFill>
              </a:rPr>
              <a:t>midbrain</a:t>
            </a:r>
          </a:p>
        </p:txBody>
      </p:sp>
      <p:sp>
        <p:nvSpPr>
          <p:cNvPr id="40" name="">
            <a:extLst xmlns:a="http://schemas.openxmlformats.org/drawingml/2006/main">
              <a:ext uri="{FF2B5EF4-FFF2-40B4-BE49-F238E27FC236}">
                <a16:creationId xmlns:a16="http://schemas.microsoft.com/office/drawing/2014/main" id="{FA75921A-8A47-4945-8F07-FCE7E9B83311}"/>
              </a:ext>
            </a:extLst>
          </p:cNvPr>
          <p:cNvSpPr>
            <a:spLocks xmlns:a="http://schemas.openxmlformats.org/drawingml/2006/main" noGrp="1"/>
          </p:cNvSpPr>
          <p:nvPr/>
        </p:nvSpPr>
        <p:spPr>
          <a:xfrm xmlns:a="http://schemas.openxmlformats.org/drawingml/2006/main">
            <a:off x="9486900" y="3676650"/>
            <a:ext cx="1733550" cy="1066800"/>
          </a:xfrm>
          <a:prstGeom xmlns:a="http://schemas.openxmlformats.org/drawingml/2006/main" prst="roundRect">
            <a:avLst>
              <a:gd name="adj" fmla="val 7143"/>
            </a:avLst>
          </a:prstGeom>
          <a:solidFill xmlns:a="http://schemas.openxmlformats.org/drawingml/2006/main">
            <a:srgbClr val="FFFDF8"/>
          </a:solidFill>
          <a:ln xmlns:a="http://schemas.openxmlformats.org/drawingml/2006/main" w="10478">
            <a:solidFill>
              <a:srgbClr val="132024"/>
            </a:solidFill>
            <a:prstDash val="solid"/>
          </a:ln>
        </p:spPr>
      </p:sp>
      <p:sp>
        <p:nvSpPr>
          <p:cNvPr id="41" name="">
            <a:extLst xmlns:a="http://schemas.openxmlformats.org/drawingml/2006/main">
              <a:ext uri="{FF2B5EF4-FFF2-40B4-BE49-F238E27FC236}">
                <a16:creationId xmlns:a16="http://schemas.microsoft.com/office/drawing/2014/main" id="{6F892A4C-1916-4525-8277-D34D5DFD833B}"/>
              </a:ext>
            </a:extLst>
          </p:cNvPr>
          <p:cNvSpPr>
            <a:spLocks xmlns:a="http://schemas.openxmlformats.org/drawingml/2006/main" noGrp="1"/>
          </p:cNvSpPr>
          <p:nvPr/>
        </p:nvSpPr>
        <p:spPr>
          <a:xfrm xmlns:a="http://schemas.openxmlformats.org/drawingml/2006/main">
            <a:off x="9486900" y="3676650"/>
            <a:ext cx="66675" cy="1066800"/>
          </a:xfrm>
          <a:prstGeom xmlns:a="http://schemas.openxmlformats.org/drawingml/2006/main" prst="rect">
            <a:avLst/>
          </a:prstGeom>
          <a:solidFill xmlns:a="http://schemas.openxmlformats.org/drawingml/2006/main">
            <a:srgbClr val="5C8F74"/>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ADB12641-90D1-4B96-BA35-F07F5934479A}"/>
              </a:ext>
            </a:extLst>
          </p:cNvPr>
          <p:cNvSpPr>
            <a:spLocks xmlns:a="http://schemas.openxmlformats.org/drawingml/2006/main" noGrp="1"/>
          </p:cNvSpPr>
          <p:nvPr/>
        </p:nvSpPr>
        <p:spPr>
          <a:xfrm xmlns:a="http://schemas.openxmlformats.org/drawingml/2006/main">
            <a:off x="9658350" y="3829050"/>
            <a:ext cx="647700" cy="228600"/>
          </a:xfrm>
          <a:prstGeom xmlns:a="http://schemas.openxmlformats.org/drawingml/2006/main" prst="rect">
            <a:avLst/>
          </a:prstGeom>
          <a:solidFill xmlns:a="http://schemas.openxmlformats.org/drawingml/2006/main">
            <a:srgbClr val="DCE7EE"/>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274D63"/>
                </a:solidFill>
              </a:defRPr>
            </a:pPr>
            <a:r>
              <a:rPr sz="900" b="1">
                <a:solidFill>
                  <a:srgbClr val="274D63"/>
                </a:solidFill>
              </a:rPr>
              <a:t>source</a:t>
            </a:r>
          </a:p>
        </p:txBody>
      </p:sp>
      <p:sp>
        <p:nvSpPr>
          <p:cNvPr id="43" name="">
            <a:extLst xmlns:a="http://schemas.openxmlformats.org/drawingml/2006/main">
              <a:ext uri="{FF2B5EF4-FFF2-40B4-BE49-F238E27FC236}">
                <a16:creationId xmlns:a16="http://schemas.microsoft.com/office/drawing/2014/main" id="{5F8C90B2-94B9-4401-AA5E-D1D470C64CB5}"/>
              </a:ext>
            </a:extLst>
          </p:cNvPr>
          <p:cNvSpPr>
            <a:spLocks xmlns:a="http://schemas.openxmlformats.org/drawingml/2006/main" noGrp="1"/>
          </p:cNvSpPr>
          <p:nvPr/>
        </p:nvSpPr>
        <p:spPr>
          <a:xfrm xmlns:a="http://schemas.openxmlformats.org/drawingml/2006/main">
            <a:off x="9658350" y="4114800"/>
            <a:ext cx="1409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32024"/>
                </a:solidFill>
              </a:defRPr>
            </a:pPr>
            <a:r>
              <a:rPr sz="1275" b="1">
                <a:solidFill>
                  <a:srgbClr val="132024"/>
                </a:solidFill>
              </a:rPr>
              <a:t>Atamian 2024</a:t>
            </a:r>
          </a:p>
        </p:txBody>
      </p:sp>
      <p:sp>
        <p:nvSpPr>
          <p:cNvPr id="44" name="">
            <a:extLst xmlns:a="http://schemas.openxmlformats.org/drawingml/2006/main">
              <a:ext uri="{FF2B5EF4-FFF2-40B4-BE49-F238E27FC236}">
                <a16:creationId xmlns:a16="http://schemas.microsoft.com/office/drawing/2014/main" id="{A24568CC-D9AD-4380-A94E-9966FA83DA1B}"/>
              </a:ext>
            </a:extLst>
          </p:cNvPr>
          <p:cNvSpPr>
            <a:spLocks xmlns:a="http://schemas.openxmlformats.org/drawingml/2006/main" noGrp="1"/>
          </p:cNvSpPr>
          <p:nvPr/>
        </p:nvSpPr>
        <p:spPr>
          <a:xfrm xmlns:a="http://schemas.openxmlformats.org/drawingml/2006/main">
            <a:off x="9658350" y="4362450"/>
            <a:ext cx="1409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344146"/>
                </a:solidFill>
              </a:defRPr>
            </a:pPr>
            <a:r>
              <a:rPr sz="825" b="0">
                <a:solidFill>
                  <a:srgbClr val="344146"/>
                </a:solidFill>
              </a:rPr>
              <a:t>cerebellum</a:t>
            </a:r>
          </a:p>
        </p:txBody>
      </p:sp>
      <p:sp>
        <p:nvSpPr>
          <p:cNvPr id="45" name="">
            <a:extLst xmlns:a="http://schemas.openxmlformats.org/drawingml/2006/main">
              <a:ext uri="{FF2B5EF4-FFF2-40B4-BE49-F238E27FC236}">
                <a16:creationId xmlns:a16="http://schemas.microsoft.com/office/drawing/2014/main" id="{259B07B4-FB8D-4E09-945A-FA274D32055F}"/>
              </a:ext>
            </a:extLst>
          </p:cNvPr>
          <p:cNvSpPr>
            <a:spLocks xmlns:a="http://schemas.openxmlformats.org/drawingml/2006/main" noGrp="1"/>
          </p:cNvSpPr>
          <p:nvPr/>
        </p:nvSpPr>
        <p:spPr>
          <a:xfrm xmlns:a="http://schemas.openxmlformats.org/drawingml/2006/main">
            <a:off x="7239000" y="4743450"/>
            <a:ext cx="1733550" cy="1066800"/>
          </a:xfrm>
          <a:prstGeom xmlns:a="http://schemas.openxmlformats.org/drawingml/2006/main" prst="roundRect">
            <a:avLst>
              <a:gd name="adj" fmla="val 7143"/>
            </a:avLst>
          </a:prstGeom>
          <a:solidFill xmlns:a="http://schemas.openxmlformats.org/drawingml/2006/main">
            <a:srgbClr val="FFFDF8"/>
          </a:solidFill>
          <a:ln xmlns:a="http://schemas.openxmlformats.org/drawingml/2006/main" w="10478">
            <a:solidFill>
              <a:srgbClr val="132024"/>
            </a:solidFill>
            <a:prstDash val="solid"/>
          </a:ln>
        </p:spPr>
      </p:sp>
      <p:sp>
        <p:nvSpPr>
          <p:cNvPr id="46" name="">
            <a:extLst xmlns:a="http://schemas.openxmlformats.org/drawingml/2006/main">
              <a:ext uri="{FF2B5EF4-FFF2-40B4-BE49-F238E27FC236}">
                <a16:creationId xmlns:a16="http://schemas.microsoft.com/office/drawing/2014/main" id="{D57BFA31-9E8E-43C2-92AD-B14D43D68482}"/>
              </a:ext>
            </a:extLst>
          </p:cNvPr>
          <p:cNvSpPr>
            <a:spLocks xmlns:a="http://schemas.openxmlformats.org/drawingml/2006/main" noGrp="1"/>
          </p:cNvSpPr>
          <p:nvPr/>
        </p:nvSpPr>
        <p:spPr>
          <a:xfrm xmlns:a="http://schemas.openxmlformats.org/drawingml/2006/main">
            <a:off x="7239000" y="4743450"/>
            <a:ext cx="66675" cy="1066800"/>
          </a:xfrm>
          <a:prstGeom xmlns:a="http://schemas.openxmlformats.org/drawingml/2006/main" prst="rect">
            <a:avLst/>
          </a:prstGeom>
          <a:solidFill xmlns:a="http://schemas.openxmlformats.org/drawingml/2006/main">
            <a:srgbClr val="5C8F74"/>
          </a:solidFill>
          <a:ln xmlns:a="http://schemas.openxmlformats.org/drawingml/2006/main" w="0">
            <a:solidFill>
              <a:srgbClr val="000000">
                <a:alpha val="0"/>
              </a:srgbClr>
            </a:solidFill>
            <a:prstDash val="solid"/>
          </a:ln>
        </p:spPr>
      </p:sp>
      <p:sp>
        <p:nvSpPr>
          <p:cNvPr id="47" name="">
            <a:extLst xmlns:a="http://schemas.openxmlformats.org/drawingml/2006/main">
              <a:ext uri="{FF2B5EF4-FFF2-40B4-BE49-F238E27FC236}">
                <a16:creationId xmlns:a16="http://schemas.microsoft.com/office/drawing/2014/main" id="{2ED3EA49-893C-45FA-9036-C502F85DCD9B}"/>
              </a:ext>
            </a:extLst>
          </p:cNvPr>
          <p:cNvSpPr>
            <a:spLocks xmlns:a="http://schemas.openxmlformats.org/drawingml/2006/main" noGrp="1"/>
          </p:cNvSpPr>
          <p:nvPr/>
        </p:nvSpPr>
        <p:spPr>
          <a:xfrm xmlns:a="http://schemas.openxmlformats.org/drawingml/2006/main">
            <a:off x="7410450" y="4895850"/>
            <a:ext cx="647700" cy="228600"/>
          </a:xfrm>
          <a:prstGeom xmlns:a="http://schemas.openxmlformats.org/drawingml/2006/main" prst="rect">
            <a:avLst/>
          </a:prstGeom>
          <a:solidFill xmlns:a="http://schemas.openxmlformats.org/drawingml/2006/main">
            <a:srgbClr val="DCE7EE"/>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274D63"/>
                </a:solidFill>
              </a:defRPr>
            </a:pPr>
            <a:r>
              <a:rPr sz="900" b="1">
                <a:solidFill>
                  <a:srgbClr val="274D63"/>
                </a:solidFill>
              </a:rPr>
              <a:t>source</a:t>
            </a:r>
          </a:p>
        </p:txBody>
      </p:sp>
      <p:sp>
        <p:nvSpPr>
          <p:cNvPr id="48" name="">
            <a:extLst xmlns:a="http://schemas.openxmlformats.org/drawingml/2006/main">
              <a:ext uri="{FF2B5EF4-FFF2-40B4-BE49-F238E27FC236}">
                <a16:creationId xmlns:a16="http://schemas.microsoft.com/office/drawing/2014/main" id="{09FAA738-F69C-4085-9812-0C660D2959AD}"/>
              </a:ext>
            </a:extLst>
          </p:cNvPr>
          <p:cNvSpPr>
            <a:spLocks xmlns:a="http://schemas.openxmlformats.org/drawingml/2006/main" noGrp="1"/>
          </p:cNvSpPr>
          <p:nvPr/>
        </p:nvSpPr>
        <p:spPr>
          <a:xfrm xmlns:a="http://schemas.openxmlformats.org/drawingml/2006/main">
            <a:off x="7410450" y="5181600"/>
            <a:ext cx="1409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32024"/>
                </a:solidFill>
              </a:defRPr>
            </a:pPr>
            <a:r>
              <a:rPr sz="1275" b="1">
                <a:solidFill>
                  <a:srgbClr val="132024"/>
                </a:solidFill>
              </a:rPr>
              <a:t>Pomeshchik 2020</a:t>
            </a:r>
          </a:p>
        </p:txBody>
      </p:sp>
      <p:sp>
        <p:nvSpPr>
          <p:cNvPr id="49" name="">
            <a:extLst xmlns:a="http://schemas.openxmlformats.org/drawingml/2006/main">
              <a:ext uri="{FF2B5EF4-FFF2-40B4-BE49-F238E27FC236}">
                <a16:creationId xmlns:a16="http://schemas.microsoft.com/office/drawing/2014/main" id="{563F582D-48E7-4263-A423-C480B35F0947}"/>
              </a:ext>
            </a:extLst>
          </p:cNvPr>
          <p:cNvSpPr>
            <a:spLocks xmlns:a="http://schemas.openxmlformats.org/drawingml/2006/main" noGrp="1"/>
          </p:cNvSpPr>
          <p:nvPr/>
        </p:nvSpPr>
        <p:spPr>
          <a:xfrm xmlns:a="http://schemas.openxmlformats.org/drawingml/2006/main">
            <a:off x="7410450" y="5429250"/>
            <a:ext cx="1409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344146"/>
                </a:solidFill>
              </a:defRPr>
            </a:pPr>
            <a:r>
              <a:rPr sz="825" b="0">
                <a:solidFill>
                  <a:srgbClr val="344146"/>
                </a:solidFill>
              </a:rPr>
              <a:t>hippocampus</a:t>
            </a:r>
          </a:p>
        </p:txBody>
      </p:sp>
      <p:sp>
        <p:nvSpPr>
          <p:cNvPr id="50" name="">
            <a:extLst xmlns:a="http://schemas.openxmlformats.org/drawingml/2006/main">
              <a:ext uri="{FF2B5EF4-FFF2-40B4-BE49-F238E27FC236}">
                <a16:creationId xmlns:a16="http://schemas.microsoft.com/office/drawing/2014/main" id="{CE07595E-3A9B-4E32-A888-F1C0CD13C394}"/>
              </a:ext>
            </a:extLst>
          </p:cNvPr>
          <p:cNvSpPr>
            <a:spLocks xmlns:a="http://schemas.openxmlformats.org/drawingml/2006/main" noGrp="1"/>
          </p:cNvSpPr>
          <p:nvPr/>
        </p:nvSpPr>
        <p:spPr>
          <a:xfrm xmlns:a="http://schemas.openxmlformats.org/drawingml/2006/main">
            <a:off x="3105150" y="4762500"/>
            <a:ext cx="1733550" cy="1066800"/>
          </a:xfrm>
          <a:prstGeom xmlns:a="http://schemas.openxmlformats.org/drawingml/2006/main" prst="roundRect">
            <a:avLst>
              <a:gd name="adj" fmla="val 7143"/>
            </a:avLst>
          </a:prstGeom>
          <a:solidFill xmlns:a="http://schemas.openxmlformats.org/drawingml/2006/main">
            <a:srgbClr val="FFFDF8"/>
          </a:solidFill>
          <a:ln xmlns:a="http://schemas.openxmlformats.org/drawingml/2006/main" w="10478">
            <a:solidFill>
              <a:srgbClr val="132024"/>
            </a:solidFill>
            <a:prstDash val="solid"/>
          </a:ln>
        </p:spPr>
      </p:sp>
      <p:sp>
        <p:nvSpPr>
          <p:cNvPr id="51" name="">
            <a:extLst xmlns:a="http://schemas.openxmlformats.org/drawingml/2006/main">
              <a:ext uri="{FF2B5EF4-FFF2-40B4-BE49-F238E27FC236}">
                <a16:creationId xmlns:a16="http://schemas.microsoft.com/office/drawing/2014/main" id="{CF802DAE-1EC5-4CA6-BBE0-16DFE438FC40}"/>
              </a:ext>
            </a:extLst>
          </p:cNvPr>
          <p:cNvSpPr>
            <a:spLocks xmlns:a="http://schemas.openxmlformats.org/drawingml/2006/main" noGrp="1"/>
          </p:cNvSpPr>
          <p:nvPr/>
        </p:nvSpPr>
        <p:spPr>
          <a:xfrm xmlns:a="http://schemas.openxmlformats.org/drawingml/2006/main">
            <a:off x="3105150" y="4762500"/>
            <a:ext cx="66675" cy="1066800"/>
          </a:xfrm>
          <a:prstGeom xmlns:a="http://schemas.openxmlformats.org/drawingml/2006/main" prst="rect">
            <a:avLst/>
          </a:prstGeom>
          <a:solidFill xmlns:a="http://schemas.openxmlformats.org/drawingml/2006/main">
            <a:srgbClr val="5C8F74"/>
          </a:solidFill>
          <a:ln xmlns:a="http://schemas.openxmlformats.org/drawingml/2006/main" w="0">
            <a:solidFill>
              <a:srgbClr val="000000">
                <a:alpha val="0"/>
              </a:srgbClr>
            </a:solidFill>
            <a:prstDash val="solid"/>
          </a:ln>
        </p:spPr>
      </p:sp>
      <p:sp>
        <p:nvSpPr>
          <p:cNvPr id="52" name="">
            <a:extLst xmlns:a="http://schemas.openxmlformats.org/drawingml/2006/main">
              <a:ext uri="{FF2B5EF4-FFF2-40B4-BE49-F238E27FC236}">
                <a16:creationId xmlns:a16="http://schemas.microsoft.com/office/drawing/2014/main" id="{95FFBB06-C7B5-42CF-8DD4-73BB173DF017}"/>
              </a:ext>
            </a:extLst>
          </p:cNvPr>
          <p:cNvSpPr>
            <a:spLocks xmlns:a="http://schemas.openxmlformats.org/drawingml/2006/main" noGrp="1"/>
          </p:cNvSpPr>
          <p:nvPr/>
        </p:nvSpPr>
        <p:spPr>
          <a:xfrm xmlns:a="http://schemas.openxmlformats.org/drawingml/2006/main">
            <a:off x="3276600" y="4914900"/>
            <a:ext cx="647700" cy="228600"/>
          </a:xfrm>
          <a:prstGeom xmlns:a="http://schemas.openxmlformats.org/drawingml/2006/main" prst="rect">
            <a:avLst/>
          </a:prstGeom>
          <a:solidFill xmlns:a="http://schemas.openxmlformats.org/drawingml/2006/main">
            <a:srgbClr val="DCE7EE"/>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274D63"/>
                </a:solidFill>
              </a:defRPr>
            </a:pPr>
            <a:r>
              <a:rPr sz="900" b="1">
                <a:solidFill>
                  <a:srgbClr val="274D63"/>
                </a:solidFill>
              </a:rPr>
              <a:t>source</a:t>
            </a:r>
          </a:p>
        </p:txBody>
      </p:sp>
      <p:sp>
        <p:nvSpPr>
          <p:cNvPr id="53" name="">
            <a:extLst xmlns:a="http://schemas.openxmlformats.org/drawingml/2006/main">
              <a:ext uri="{FF2B5EF4-FFF2-40B4-BE49-F238E27FC236}">
                <a16:creationId xmlns:a16="http://schemas.microsoft.com/office/drawing/2014/main" id="{77AEC59C-7C7E-43EB-8618-94A57977FF3E}"/>
              </a:ext>
            </a:extLst>
          </p:cNvPr>
          <p:cNvSpPr>
            <a:spLocks xmlns:a="http://schemas.openxmlformats.org/drawingml/2006/main" noGrp="1"/>
          </p:cNvSpPr>
          <p:nvPr/>
        </p:nvSpPr>
        <p:spPr>
          <a:xfrm xmlns:a="http://schemas.openxmlformats.org/drawingml/2006/main">
            <a:off x="3276600" y="5200650"/>
            <a:ext cx="1409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32024"/>
                </a:solidFill>
              </a:defRPr>
            </a:pPr>
            <a:r>
              <a:rPr sz="1275" b="1">
                <a:solidFill>
                  <a:srgbClr val="132024"/>
                </a:solidFill>
              </a:rPr>
              <a:t>Valiulahi 2021</a:t>
            </a:r>
          </a:p>
        </p:txBody>
      </p:sp>
      <p:sp>
        <p:nvSpPr>
          <p:cNvPr id="54" name="">
            <a:extLst xmlns:a="http://schemas.openxmlformats.org/drawingml/2006/main">
              <a:ext uri="{FF2B5EF4-FFF2-40B4-BE49-F238E27FC236}">
                <a16:creationId xmlns:a16="http://schemas.microsoft.com/office/drawing/2014/main" id="{77D3059A-E79F-4E3A-9033-30D7D10A5D0D}"/>
              </a:ext>
            </a:extLst>
          </p:cNvPr>
          <p:cNvSpPr>
            <a:spLocks xmlns:a="http://schemas.openxmlformats.org/drawingml/2006/main" noGrp="1"/>
          </p:cNvSpPr>
          <p:nvPr/>
        </p:nvSpPr>
        <p:spPr>
          <a:xfrm xmlns:a="http://schemas.openxmlformats.org/drawingml/2006/main">
            <a:off x="3276600" y="5448300"/>
            <a:ext cx="1409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344146"/>
                </a:solidFill>
              </a:defRPr>
            </a:pPr>
            <a:r>
              <a:rPr sz="825" b="0">
                <a:solidFill>
                  <a:srgbClr val="344146"/>
                </a:solidFill>
              </a:rPr>
              <a:t>hindbrain / 5-HT</a:t>
            </a:r>
          </a:p>
        </p:txBody>
      </p:sp>
      <p:sp>
        <p:nvSpPr>
          <p:cNvPr id="55" name="">
            <a:extLst xmlns:a="http://schemas.openxmlformats.org/drawingml/2006/main">
              <a:ext uri="{FF2B5EF4-FFF2-40B4-BE49-F238E27FC236}">
                <a16:creationId xmlns:a16="http://schemas.microsoft.com/office/drawing/2014/main" id="{1F35ADA7-0526-4D76-9E90-1B82A392F421}"/>
              </a:ext>
            </a:extLst>
          </p:cNvPr>
          <p:cNvSpPr>
            <a:spLocks xmlns:a="http://schemas.openxmlformats.org/drawingml/2006/main" noGrp="1"/>
          </p:cNvSpPr>
          <p:nvPr/>
        </p:nvSpPr>
        <p:spPr>
          <a:xfrm xmlns:a="http://schemas.openxmlformats.org/drawingml/2006/main">
            <a:off x="1028700" y="3733800"/>
            <a:ext cx="1695450" cy="1066800"/>
          </a:xfrm>
          <a:prstGeom xmlns:a="http://schemas.openxmlformats.org/drawingml/2006/main" prst="roundRect">
            <a:avLst>
              <a:gd name="adj" fmla="val 7143"/>
            </a:avLst>
          </a:prstGeom>
          <a:solidFill xmlns:a="http://schemas.openxmlformats.org/drawingml/2006/main">
            <a:srgbClr val="FFFDF8"/>
          </a:solidFill>
          <a:ln xmlns:a="http://schemas.openxmlformats.org/drawingml/2006/main" w="10478">
            <a:solidFill>
              <a:srgbClr val="132024"/>
            </a:solidFill>
            <a:prstDash val="solid"/>
          </a:ln>
        </p:spPr>
      </p:sp>
      <p:sp>
        <p:nvSpPr>
          <p:cNvPr id="56" name="">
            <a:extLst xmlns:a="http://schemas.openxmlformats.org/drawingml/2006/main">
              <a:ext uri="{FF2B5EF4-FFF2-40B4-BE49-F238E27FC236}">
                <a16:creationId xmlns:a16="http://schemas.microsoft.com/office/drawing/2014/main" id="{74634BAA-CD6A-41BA-8C1A-50AE0075E98C}"/>
              </a:ext>
            </a:extLst>
          </p:cNvPr>
          <p:cNvSpPr>
            <a:spLocks xmlns:a="http://schemas.openxmlformats.org/drawingml/2006/main" noGrp="1"/>
          </p:cNvSpPr>
          <p:nvPr/>
        </p:nvSpPr>
        <p:spPr>
          <a:xfrm xmlns:a="http://schemas.openxmlformats.org/drawingml/2006/main">
            <a:off x="1028700" y="3733800"/>
            <a:ext cx="66675" cy="1066800"/>
          </a:xfrm>
          <a:prstGeom xmlns:a="http://schemas.openxmlformats.org/drawingml/2006/main" prst="rect">
            <a:avLst/>
          </a:prstGeom>
          <a:solidFill xmlns:a="http://schemas.openxmlformats.org/drawingml/2006/main">
            <a:srgbClr val="5C8F74"/>
          </a:solidFill>
          <a:ln xmlns:a="http://schemas.openxmlformats.org/drawingml/2006/main" w="0">
            <a:solidFill>
              <a:srgbClr val="000000">
                <a:alpha val="0"/>
              </a:srgbClr>
            </a:solidFill>
            <a:prstDash val="solid"/>
          </a:ln>
        </p:spPr>
      </p:sp>
      <p:sp>
        <p:nvSpPr>
          <p:cNvPr id="57" name="">
            <a:extLst xmlns:a="http://schemas.openxmlformats.org/drawingml/2006/main">
              <a:ext uri="{FF2B5EF4-FFF2-40B4-BE49-F238E27FC236}">
                <a16:creationId xmlns:a16="http://schemas.microsoft.com/office/drawing/2014/main" id="{F17EA2AA-FE81-45CE-A140-6AA619453DF1}"/>
              </a:ext>
            </a:extLst>
          </p:cNvPr>
          <p:cNvSpPr>
            <a:spLocks xmlns:a="http://schemas.openxmlformats.org/drawingml/2006/main" noGrp="1"/>
          </p:cNvSpPr>
          <p:nvPr/>
        </p:nvSpPr>
        <p:spPr>
          <a:xfrm xmlns:a="http://schemas.openxmlformats.org/drawingml/2006/main">
            <a:off x="1200150" y="3886200"/>
            <a:ext cx="647700" cy="228600"/>
          </a:xfrm>
          <a:prstGeom xmlns:a="http://schemas.openxmlformats.org/drawingml/2006/main" prst="rect">
            <a:avLst/>
          </a:prstGeom>
          <a:solidFill xmlns:a="http://schemas.openxmlformats.org/drawingml/2006/main">
            <a:srgbClr val="DCE7EE"/>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274D63"/>
                </a:solidFill>
              </a:defRPr>
            </a:pPr>
            <a:r>
              <a:rPr sz="900" b="1">
                <a:solidFill>
                  <a:srgbClr val="274D63"/>
                </a:solidFill>
              </a:rPr>
              <a:t>source</a:t>
            </a:r>
          </a:p>
        </p:txBody>
      </p:sp>
      <p:sp>
        <p:nvSpPr>
          <p:cNvPr id="58" name="">
            <a:extLst xmlns:a="http://schemas.openxmlformats.org/drawingml/2006/main">
              <a:ext uri="{FF2B5EF4-FFF2-40B4-BE49-F238E27FC236}">
                <a16:creationId xmlns:a16="http://schemas.microsoft.com/office/drawing/2014/main" id="{6689D980-9633-45BD-AC2E-2EB0942402E9}"/>
              </a:ext>
            </a:extLst>
          </p:cNvPr>
          <p:cNvSpPr>
            <a:spLocks xmlns:a="http://schemas.openxmlformats.org/drawingml/2006/main" noGrp="1"/>
          </p:cNvSpPr>
          <p:nvPr/>
        </p:nvSpPr>
        <p:spPr>
          <a:xfrm xmlns:a="http://schemas.openxmlformats.org/drawingml/2006/main">
            <a:off x="1200150" y="4171950"/>
            <a:ext cx="1371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32024"/>
                </a:solidFill>
              </a:defRPr>
            </a:pPr>
            <a:r>
              <a:rPr sz="1275" b="1">
                <a:solidFill>
                  <a:srgbClr val="132024"/>
                </a:solidFill>
              </a:rPr>
              <a:t>Eura 2020</a:t>
            </a:r>
          </a:p>
        </p:txBody>
      </p:sp>
      <p:sp>
        <p:nvSpPr>
          <p:cNvPr id="59" name="">
            <a:extLst xmlns:a="http://schemas.openxmlformats.org/drawingml/2006/main">
              <a:ext uri="{FF2B5EF4-FFF2-40B4-BE49-F238E27FC236}">
                <a16:creationId xmlns:a16="http://schemas.microsoft.com/office/drawing/2014/main" id="{2B1DAB2C-4BF3-4135-ABD2-4F6FA886C9E6}"/>
              </a:ext>
            </a:extLst>
          </p:cNvPr>
          <p:cNvSpPr>
            <a:spLocks xmlns:a="http://schemas.openxmlformats.org/drawingml/2006/main" noGrp="1"/>
          </p:cNvSpPr>
          <p:nvPr/>
        </p:nvSpPr>
        <p:spPr>
          <a:xfrm xmlns:a="http://schemas.openxmlformats.org/drawingml/2006/main">
            <a:off x="1200150" y="4419600"/>
            <a:ext cx="13716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344146"/>
                </a:solidFill>
              </a:defRPr>
            </a:pPr>
            <a:r>
              <a:rPr sz="825" b="0">
                <a:solidFill>
                  <a:srgbClr val="344146"/>
                </a:solidFill>
              </a:rPr>
              <a:t>brainstem</a:t>
            </a:r>
          </a:p>
        </p:txBody>
      </p:sp>
      <p:sp>
        <p:nvSpPr>
          <p:cNvPr id="60" name="">
            <a:extLst xmlns:a="http://schemas.openxmlformats.org/drawingml/2006/main">
              <a:ext uri="{FF2B5EF4-FFF2-40B4-BE49-F238E27FC236}">
                <a16:creationId xmlns:a16="http://schemas.microsoft.com/office/drawing/2014/main" id="{850D59FE-1099-4141-924D-5DD97803E55B}"/>
              </a:ext>
            </a:extLst>
          </p:cNvPr>
          <p:cNvSpPr>
            <a:spLocks xmlns:a="http://schemas.openxmlformats.org/drawingml/2006/main" noGrp="1"/>
          </p:cNvSpPr>
          <p:nvPr/>
        </p:nvSpPr>
        <p:spPr>
          <a:xfrm xmlns:a="http://schemas.openxmlformats.org/drawingml/2006/main" rot="-10098103">
            <a:off x="1738241" y="2728913"/>
            <a:ext cx="4133993" cy="28575"/>
          </a:xfrm>
          <a:prstGeom xmlns:a="http://schemas.openxmlformats.org/drawingml/2006/main" prst="rect">
            <a:avLst/>
          </a:prstGeom>
          <a:solidFill xmlns:a="http://schemas.openxmlformats.org/drawingml/2006/main">
            <a:srgbClr val="98A7AD"/>
          </a:solidFill>
          <a:ln xmlns:a="http://schemas.openxmlformats.org/drawingml/2006/main" w="0">
            <a:solidFill>
              <a:srgbClr val="000000">
                <a:alpha val="0"/>
              </a:srgbClr>
            </a:solidFill>
            <a:prstDash val="solid"/>
          </a:ln>
        </p:spPr>
      </p:sp>
      <p:sp>
        <p:nvSpPr>
          <p:cNvPr id="61" name="">
            <a:extLst xmlns:a="http://schemas.openxmlformats.org/drawingml/2006/main">
              <a:ext uri="{FF2B5EF4-FFF2-40B4-BE49-F238E27FC236}">
                <a16:creationId xmlns:a16="http://schemas.microsoft.com/office/drawing/2014/main" id="{DB742A6C-7B5C-4092-B948-FE905E9E6265}"/>
              </a:ext>
            </a:extLst>
          </p:cNvPr>
          <p:cNvSpPr>
            <a:spLocks xmlns:a="http://schemas.openxmlformats.org/drawingml/2006/main" noGrp="1"/>
          </p:cNvSpPr>
          <p:nvPr/>
        </p:nvSpPr>
        <p:spPr>
          <a:xfrm xmlns:a="http://schemas.openxmlformats.org/drawingml/2006/main" rot="-8813781">
            <a:off x="3457645" y="2443163"/>
            <a:ext cx="2581134" cy="28575"/>
          </a:xfrm>
          <a:prstGeom xmlns:a="http://schemas.openxmlformats.org/drawingml/2006/main" prst="rect">
            <a:avLst/>
          </a:prstGeom>
          <a:solidFill xmlns:a="http://schemas.openxmlformats.org/drawingml/2006/main">
            <a:srgbClr val="98A7AD"/>
          </a:solidFill>
          <a:ln xmlns:a="http://schemas.openxmlformats.org/drawingml/2006/main" w="0">
            <a:solidFill>
              <a:srgbClr val="000000">
                <a:alpha val="0"/>
              </a:srgbClr>
            </a:solidFill>
            <a:prstDash val="solid"/>
          </a:ln>
        </p:spPr>
      </p:sp>
      <p:sp>
        <p:nvSpPr>
          <p:cNvPr id="62" name="">
            <a:extLst xmlns:a="http://schemas.openxmlformats.org/drawingml/2006/main">
              <a:ext uri="{FF2B5EF4-FFF2-40B4-BE49-F238E27FC236}">
                <a16:creationId xmlns:a16="http://schemas.microsoft.com/office/drawing/2014/main" id="{A814CD95-A237-4BFB-9800-F3A8527AA06A}"/>
              </a:ext>
            </a:extLst>
          </p:cNvPr>
          <p:cNvSpPr>
            <a:spLocks xmlns:a="http://schemas.openxmlformats.org/drawingml/2006/main" noGrp="1"/>
          </p:cNvSpPr>
          <p:nvPr/>
        </p:nvSpPr>
        <p:spPr>
          <a:xfrm xmlns:a="http://schemas.openxmlformats.org/drawingml/2006/main" rot="-1618112">
            <a:off x="5664853" y="2462213"/>
            <a:ext cx="3024469" cy="28575"/>
          </a:xfrm>
          <a:prstGeom xmlns:a="http://schemas.openxmlformats.org/drawingml/2006/main" prst="rect">
            <a:avLst/>
          </a:prstGeom>
          <a:solidFill xmlns:a="http://schemas.openxmlformats.org/drawingml/2006/main">
            <a:srgbClr val="98A7AD"/>
          </a:solidFill>
          <a:ln xmlns:a="http://schemas.openxmlformats.org/drawingml/2006/main" w="0">
            <a:solidFill>
              <a:srgbClr val="000000">
                <a:alpha val="0"/>
              </a:srgbClr>
            </a:solidFill>
            <a:prstDash val="solid"/>
          </a:ln>
        </p:spPr>
      </p:sp>
      <p:sp>
        <p:nvSpPr>
          <p:cNvPr id="63" name="">
            <a:extLst xmlns:a="http://schemas.openxmlformats.org/drawingml/2006/main">
              <a:ext uri="{FF2B5EF4-FFF2-40B4-BE49-F238E27FC236}">
                <a16:creationId xmlns:a16="http://schemas.microsoft.com/office/drawing/2014/main" id="{BB84399F-257B-41BC-BC96-0B752D09872B}"/>
              </a:ext>
            </a:extLst>
          </p:cNvPr>
          <p:cNvSpPr>
            <a:spLocks xmlns:a="http://schemas.openxmlformats.org/drawingml/2006/main" noGrp="1"/>
          </p:cNvSpPr>
          <p:nvPr/>
        </p:nvSpPr>
        <p:spPr>
          <a:xfrm xmlns:a="http://schemas.openxmlformats.org/drawingml/2006/main" rot="-470713">
            <a:off x="5807747" y="2833688"/>
            <a:ext cx="4605581" cy="28575"/>
          </a:xfrm>
          <a:prstGeom xmlns:a="http://schemas.openxmlformats.org/drawingml/2006/main" prst="rect">
            <a:avLst/>
          </a:prstGeom>
          <a:solidFill xmlns:a="http://schemas.openxmlformats.org/drawingml/2006/main">
            <a:srgbClr val="98A7AD"/>
          </a:solidFill>
          <a:ln xmlns:a="http://schemas.openxmlformats.org/drawingml/2006/main" w="0">
            <a:solidFill>
              <a:srgbClr val="000000">
                <a:alpha val="0"/>
              </a:srgbClr>
            </a:solidFill>
            <a:prstDash val="solid"/>
          </a:ln>
        </p:spPr>
      </p:sp>
      <p:sp>
        <p:nvSpPr>
          <p:cNvPr id="64" name="">
            <a:extLst xmlns:a="http://schemas.openxmlformats.org/drawingml/2006/main">
              <a:ext uri="{FF2B5EF4-FFF2-40B4-BE49-F238E27FC236}">
                <a16:creationId xmlns:a16="http://schemas.microsoft.com/office/drawing/2014/main" id="{DA608194-FC49-4DC9-967A-F6670053BA37}"/>
              </a:ext>
            </a:extLst>
          </p:cNvPr>
          <p:cNvSpPr>
            <a:spLocks xmlns:a="http://schemas.openxmlformats.org/drawingml/2006/main" noGrp="1"/>
          </p:cNvSpPr>
          <p:nvPr/>
        </p:nvSpPr>
        <p:spPr>
          <a:xfrm xmlns:a="http://schemas.openxmlformats.org/drawingml/2006/main" rot="782319">
            <a:off x="5769433" y="3671888"/>
            <a:ext cx="4644109" cy="28575"/>
          </a:xfrm>
          <a:prstGeom xmlns:a="http://schemas.openxmlformats.org/drawingml/2006/main" prst="rect">
            <a:avLst/>
          </a:prstGeom>
          <a:solidFill xmlns:a="http://schemas.openxmlformats.org/drawingml/2006/main">
            <a:srgbClr val="98A7AD"/>
          </a:solidFill>
          <a:ln xmlns:a="http://schemas.openxmlformats.org/drawingml/2006/main" w="0">
            <a:solidFill>
              <a:srgbClr val="000000">
                <a:alpha val="0"/>
              </a:srgbClr>
            </a:solidFill>
            <a:prstDash val="solid"/>
          </a:ln>
        </p:spPr>
      </p:sp>
      <p:sp>
        <p:nvSpPr>
          <p:cNvPr id="65" name="">
            <a:extLst xmlns:a="http://schemas.openxmlformats.org/drawingml/2006/main">
              <a:ext uri="{FF2B5EF4-FFF2-40B4-BE49-F238E27FC236}">
                <a16:creationId xmlns:a16="http://schemas.microsoft.com/office/drawing/2014/main" id="{A67EDA33-022C-48AE-BD2A-F1FB7C84DDD1}"/>
              </a:ext>
            </a:extLst>
          </p:cNvPr>
          <p:cNvSpPr>
            <a:spLocks xmlns:a="http://schemas.openxmlformats.org/drawingml/2006/main" noGrp="1"/>
          </p:cNvSpPr>
          <p:nvPr/>
        </p:nvSpPr>
        <p:spPr>
          <a:xfrm xmlns:a="http://schemas.openxmlformats.org/drawingml/2006/main" rot="2573286">
            <a:off x="5414021" y="4205288"/>
            <a:ext cx="3107034" cy="28575"/>
          </a:xfrm>
          <a:prstGeom xmlns:a="http://schemas.openxmlformats.org/drawingml/2006/main" prst="rect">
            <a:avLst/>
          </a:prstGeom>
          <a:solidFill xmlns:a="http://schemas.openxmlformats.org/drawingml/2006/main">
            <a:srgbClr val="98A7AD"/>
          </a:solidFill>
          <a:ln xmlns:a="http://schemas.openxmlformats.org/drawingml/2006/main" w="0">
            <a:solidFill>
              <a:srgbClr val="000000">
                <a:alpha val="0"/>
              </a:srgbClr>
            </a:solidFill>
            <a:prstDash val="solid"/>
          </a:ln>
        </p:spPr>
      </p:sp>
      <p:sp>
        <p:nvSpPr>
          <p:cNvPr id="66" name="">
            <a:extLst xmlns:a="http://schemas.openxmlformats.org/drawingml/2006/main">
              <a:ext uri="{FF2B5EF4-FFF2-40B4-BE49-F238E27FC236}">
                <a16:creationId xmlns:a16="http://schemas.microsoft.com/office/drawing/2014/main" id="{C65CC434-31FD-44E7-99B6-FF42E1159317}"/>
              </a:ext>
            </a:extLst>
          </p:cNvPr>
          <p:cNvSpPr>
            <a:spLocks xmlns:a="http://schemas.openxmlformats.org/drawingml/2006/main" noGrp="1"/>
          </p:cNvSpPr>
          <p:nvPr/>
        </p:nvSpPr>
        <p:spPr>
          <a:xfrm xmlns:a="http://schemas.openxmlformats.org/drawingml/2006/main" rot="7862444">
            <a:off x="3486214" y="4214813"/>
            <a:ext cx="2828797" cy="28575"/>
          </a:xfrm>
          <a:prstGeom xmlns:a="http://schemas.openxmlformats.org/drawingml/2006/main" prst="rect">
            <a:avLst/>
          </a:prstGeom>
          <a:solidFill xmlns:a="http://schemas.openxmlformats.org/drawingml/2006/main">
            <a:srgbClr val="98A7AD"/>
          </a:solidFill>
          <a:ln xmlns:a="http://schemas.openxmlformats.org/drawingml/2006/main" w="0">
            <a:solidFill>
              <a:srgbClr val="000000">
                <a:alpha val="0"/>
              </a:srgbClr>
            </a:solidFill>
            <a:prstDash val="solid"/>
          </a:ln>
        </p:spPr>
      </p:sp>
      <p:sp>
        <p:nvSpPr>
          <p:cNvPr id="67" name="">
            <a:extLst xmlns:a="http://schemas.openxmlformats.org/drawingml/2006/main">
              <a:ext uri="{FF2B5EF4-FFF2-40B4-BE49-F238E27FC236}">
                <a16:creationId xmlns:a16="http://schemas.microsoft.com/office/drawing/2014/main" id="{97040B0C-55ED-446F-AE36-8FFE65A02C3E}"/>
              </a:ext>
            </a:extLst>
          </p:cNvPr>
          <p:cNvSpPr>
            <a:spLocks xmlns:a="http://schemas.openxmlformats.org/drawingml/2006/main" noGrp="1"/>
          </p:cNvSpPr>
          <p:nvPr/>
        </p:nvSpPr>
        <p:spPr>
          <a:xfrm xmlns:a="http://schemas.openxmlformats.org/drawingml/2006/main" rot="9863002">
            <a:off x="1800667" y="3700463"/>
            <a:ext cx="4104391" cy="28575"/>
          </a:xfrm>
          <a:prstGeom xmlns:a="http://schemas.openxmlformats.org/drawingml/2006/main" prst="rect">
            <a:avLst/>
          </a:prstGeom>
          <a:solidFill xmlns:a="http://schemas.openxmlformats.org/drawingml/2006/main">
            <a:srgbClr val="98A7AD"/>
          </a:solidFill>
          <a:ln xmlns:a="http://schemas.openxmlformats.org/drawingml/2006/main" w="0">
            <a:solidFill>
              <a:srgbClr val="000000">
                <a:alpha val="0"/>
              </a:srgbClr>
            </a:solidFill>
            <a:prstDash val="solid"/>
          </a:ln>
        </p:spPr>
      </p:sp>
      <p:sp>
        <p:nvSpPr>
          <p:cNvPr id="68" name="">
            <a:extLst xmlns:a="http://schemas.openxmlformats.org/drawingml/2006/main">
              <a:ext uri="{FF2B5EF4-FFF2-40B4-BE49-F238E27FC236}">
                <a16:creationId xmlns:a16="http://schemas.microsoft.com/office/drawing/2014/main" id="{4CCFAFD4-977A-4B6C-BEE6-2A27D76B702D}"/>
              </a:ext>
            </a:extLst>
          </p:cNvPr>
          <p:cNvSpPr>
            <a:spLocks xmlns:a="http://schemas.openxmlformats.org/drawingml/2006/main" noGrp="1"/>
          </p:cNvSpPr>
          <p:nvPr/>
        </p:nvSpPr>
        <p:spPr>
          <a:xfrm xmlns:a="http://schemas.openxmlformats.org/drawingml/2006/main">
            <a:off x="609600" y="6115050"/>
            <a:ext cx="1257300" cy="266700"/>
          </a:xfrm>
          <a:prstGeom xmlns:a="http://schemas.openxmlformats.org/drawingml/2006/main" prst="rect">
            <a:avLst/>
          </a:prstGeom>
          <a:solidFill xmlns:a="http://schemas.openxmlformats.org/drawingml/2006/main">
            <a:srgbClr val="DCE7EE"/>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274D63"/>
                </a:solidFill>
              </a:defRPr>
            </a:pPr>
            <a:r>
              <a:rPr sz="900" b="1">
                <a:solidFill>
                  <a:srgbClr val="274D63"/>
                </a:solidFill>
              </a:rPr>
              <a:t>whole cerebral</a:t>
            </a:r>
          </a:p>
        </p:txBody>
      </p:sp>
      <p:sp>
        <p:nvSpPr>
          <p:cNvPr id="69" name="">
            <a:extLst xmlns:a="http://schemas.openxmlformats.org/drawingml/2006/main">
              <a:ext uri="{FF2B5EF4-FFF2-40B4-BE49-F238E27FC236}">
                <a16:creationId xmlns:a16="http://schemas.microsoft.com/office/drawing/2014/main" id="{619758D7-F515-4B25-88BD-5D272BF85516}"/>
              </a:ext>
            </a:extLst>
          </p:cNvPr>
          <p:cNvSpPr>
            <a:spLocks xmlns:a="http://schemas.openxmlformats.org/drawingml/2006/main" noGrp="1"/>
          </p:cNvSpPr>
          <p:nvPr/>
        </p:nvSpPr>
        <p:spPr>
          <a:xfrm xmlns:a="http://schemas.openxmlformats.org/drawingml/2006/main">
            <a:off x="2000250" y="6115050"/>
            <a:ext cx="1714500" cy="266700"/>
          </a:xfrm>
          <a:prstGeom xmlns:a="http://schemas.openxmlformats.org/drawingml/2006/main" prst="rect">
            <a:avLst/>
          </a:prstGeom>
          <a:solidFill xmlns:a="http://schemas.openxmlformats.org/drawingml/2006/main">
            <a:srgbClr val="DCE7EE"/>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274D63"/>
                </a:solidFill>
              </a:defRPr>
            </a:pPr>
            <a:r>
              <a:rPr sz="900" b="1">
                <a:solidFill>
                  <a:srgbClr val="274D63"/>
                </a:solidFill>
              </a:rPr>
              <a:t>forebrain / cortical</a:t>
            </a:r>
          </a:p>
        </p:txBody>
      </p:sp>
      <p:sp>
        <p:nvSpPr>
          <p:cNvPr id="70" name="">
            <a:extLst xmlns:a="http://schemas.openxmlformats.org/drawingml/2006/main">
              <a:ext uri="{FF2B5EF4-FFF2-40B4-BE49-F238E27FC236}">
                <a16:creationId xmlns:a16="http://schemas.microsoft.com/office/drawing/2014/main" id="{2E246DDA-621E-40D2-A9A6-5B3BE4245DB3}"/>
              </a:ext>
            </a:extLst>
          </p:cNvPr>
          <p:cNvSpPr>
            <a:spLocks xmlns:a="http://schemas.openxmlformats.org/drawingml/2006/main" noGrp="1"/>
          </p:cNvSpPr>
          <p:nvPr/>
        </p:nvSpPr>
        <p:spPr>
          <a:xfrm xmlns:a="http://schemas.openxmlformats.org/drawingml/2006/main">
            <a:off x="3848100" y="6115050"/>
            <a:ext cx="1485900" cy="266700"/>
          </a:xfrm>
          <a:prstGeom xmlns:a="http://schemas.openxmlformats.org/drawingml/2006/main" prst="rect">
            <a:avLst/>
          </a:prstGeom>
          <a:solidFill xmlns:a="http://schemas.openxmlformats.org/drawingml/2006/main">
            <a:srgbClr val="DCE7EE"/>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274D63"/>
                </a:solidFill>
              </a:defRPr>
            </a:pPr>
            <a:r>
              <a:rPr sz="900" b="1">
                <a:solidFill>
                  <a:srgbClr val="274D63"/>
                </a:solidFill>
              </a:rPr>
              <a:t>posterior / niche</a:t>
            </a:r>
          </a:p>
        </p:txBody>
      </p:sp>
      <p:sp>
        <p:nvSpPr>
          <p:cNvPr id="71" name="">
            <a:extLst xmlns:a="http://schemas.openxmlformats.org/drawingml/2006/main">
              <a:ext uri="{FF2B5EF4-FFF2-40B4-BE49-F238E27FC236}">
                <a16:creationId xmlns:a16="http://schemas.microsoft.com/office/drawing/2014/main" id="{C8889D3F-92DC-4A5F-9C52-CF6FCB398BE6}"/>
              </a:ext>
            </a:extLst>
          </p:cNvPr>
          <p:cNvSpPr>
            <a:spLocks xmlns:a="http://schemas.openxmlformats.org/drawingml/2006/main" noGrp="1"/>
          </p:cNvSpPr>
          <p:nvPr/>
        </p:nvSpPr>
        <p:spPr>
          <a:xfrm xmlns:a="http://schemas.openxmlformats.org/drawingml/2006/main">
            <a:off x="6915150" y="5905500"/>
            <a:ext cx="4667250" cy="552450"/>
          </a:xfrm>
          <a:prstGeom xmlns:a="http://schemas.openxmlformats.org/drawingml/2006/main" prst="roundRect">
            <a:avLst>
              <a:gd name="adj" fmla="val 13793"/>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72" name="">
            <a:extLst xmlns:a="http://schemas.openxmlformats.org/drawingml/2006/main">
              <a:ext uri="{FF2B5EF4-FFF2-40B4-BE49-F238E27FC236}">
                <a16:creationId xmlns:a16="http://schemas.microsoft.com/office/drawing/2014/main" id="{0A883702-CDCE-4F75-B19F-49555874E619}"/>
              </a:ext>
            </a:extLst>
          </p:cNvPr>
          <p:cNvSpPr>
            <a:spLocks xmlns:a="http://schemas.openxmlformats.org/drawingml/2006/main" noGrp="1"/>
          </p:cNvSpPr>
          <p:nvPr/>
        </p:nvSpPr>
        <p:spPr>
          <a:xfrm xmlns:a="http://schemas.openxmlformats.org/drawingml/2006/main">
            <a:off x="6915150" y="5905500"/>
            <a:ext cx="76200" cy="552450"/>
          </a:xfrm>
          <a:prstGeom xmlns:a="http://schemas.openxmlformats.org/drawingml/2006/main" prst="rect">
            <a:avLst/>
          </a:prstGeom>
          <a:solidFill xmlns:a="http://schemas.openxmlformats.org/drawingml/2006/main">
            <a:srgbClr val="1D9A69"/>
          </a:solidFill>
          <a:ln xmlns:a="http://schemas.openxmlformats.org/drawingml/2006/main" w="0">
            <a:solidFill>
              <a:srgbClr val="000000">
                <a:alpha val="0"/>
              </a:srgbClr>
            </a:solidFill>
            <a:prstDash val="solid"/>
          </a:ln>
        </p:spPr>
      </p:sp>
      <p:sp>
        <p:nvSpPr>
          <p:cNvPr id="73" name="">
            <a:extLst xmlns:a="http://schemas.openxmlformats.org/drawingml/2006/main">
              <a:ext uri="{FF2B5EF4-FFF2-40B4-BE49-F238E27FC236}">
                <a16:creationId xmlns:a16="http://schemas.microsoft.com/office/drawing/2014/main" id="{9C007F42-CE0F-4C44-9722-33D5202559A9}"/>
              </a:ext>
            </a:extLst>
          </p:cNvPr>
          <p:cNvSpPr>
            <a:spLocks xmlns:a="http://schemas.openxmlformats.org/drawingml/2006/main" noGrp="1"/>
          </p:cNvSpPr>
          <p:nvPr/>
        </p:nvSpPr>
        <p:spPr>
          <a:xfrm xmlns:a="http://schemas.openxmlformats.org/drawingml/2006/main">
            <a:off x="7124700" y="6057900"/>
            <a:ext cx="42862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32024"/>
                </a:solidFill>
              </a:defRPr>
            </a:pPr>
            <a:r>
              <a:rPr sz="1350" b="0">
                <a:solidFill>
                  <a:srgbClr val="132024"/>
                </a:solidFill>
              </a:rPr>
              <a:t>1차 질문이 잘 풀어준 것: brain design 문제를 subregion selection 문제로 읽기 시작했다.</a:t>
            </a:r>
          </a:p>
        </p:txBody>
      </p:sp>
      <p:sp>
        <p:nvSpPr>
          <p:cNvPr id="74" name="">
            <a:extLst xmlns:a="http://schemas.openxmlformats.org/drawingml/2006/main">
              <a:ext uri="{FF2B5EF4-FFF2-40B4-BE49-F238E27FC236}">
                <a16:creationId xmlns:a16="http://schemas.microsoft.com/office/drawing/2014/main" id="{4F93DC28-A4A4-45D6-95E9-5F656BC62A55}"/>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A767C"/>
                </a:solidFill>
              </a:defRPr>
            </a:pPr>
            <a:r>
              <a:rPr sz="750" b="0">
                <a:solidFill>
                  <a:srgbClr val="6A767C"/>
                </a:solidFill>
              </a:rPr>
              <a:t>graph-style view: question note를 중심으로 source cluster가 확장되는 모습</a:t>
            </a:r>
          </a:p>
        </p:txBody>
      </p:sp>
    </p:spTree>
    <p:extLst>
      <p:ext uri="{BB962C8B-B14F-4D97-AF65-F5344CB8AC3E}">
        <p14:creationId xmlns:p14="http://schemas.microsoft.com/office/powerpoint/2010/main" val="378878978"/>
      </p:ext>
    </p:extLst>
  </p:cSld>
</p:sld>
</file>

<file path=ppt/slides/slide4.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8BDF79F-9F16-4FEE-B72E-1F506FE9EBEC}"/>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f30c73b723f4756"/>
          <a:srcRect xmlns:a="http://schemas.openxmlformats.org/drawingml/2006/main" l="0" t="21875" r="0" b="2187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94B5224-990F-4EAF-90CC-D97E1DE42FC3}"/>
              </a:ext>
            </a:extLst>
          </p:cNvPr>
          <p:cNvSpPr>
            <a:spLocks xmlns:a="http://schemas.openxmlformats.org/drawingml/2006/main" noGrp="1"/>
          </p:cNvSpPr>
          <p:nvPr/>
        </p:nvSpPr>
        <p:spPr>
          <a:xfrm xmlns:a="http://schemas.openxmlformats.org/drawingml/2006/main">
            <a:off x="7867650" y="781050"/>
            <a:ext cx="3638550" cy="3638550"/>
          </a:xfrm>
          <a:prstGeom xmlns:a="http://schemas.openxmlformats.org/drawingml/2006/main" prst="ellipse">
            <a:avLst/>
          </a:prstGeom>
          <a:solidFill xmlns:a="http://schemas.openxmlformats.org/drawingml/2006/main">
            <a:srgbClr val="E4F5EC"/>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84BC89D2-C3A5-4D51-BCCC-8625F2A3B51E}"/>
              </a:ext>
            </a:extLst>
          </p:cNvPr>
          <p:cNvSpPr>
            <a:spLocks xmlns:a="http://schemas.openxmlformats.org/drawingml/2006/main" noGrp="1"/>
          </p:cNvSpPr>
          <p:nvPr/>
        </p:nvSpPr>
        <p:spPr>
          <a:xfrm xmlns:a="http://schemas.openxmlformats.org/drawingml/2006/main">
            <a:off x="9220200" y="4152900"/>
            <a:ext cx="1962150" cy="1962150"/>
          </a:xfrm>
          <a:prstGeom xmlns:a="http://schemas.openxmlformats.org/drawingml/2006/main" prst="ellipse">
            <a:avLst/>
          </a:prstGeom>
          <a:solidFill xmlns:a="http://schemas.openxmlformats.org/drawingml/2006/main">
            <a:srgbClr val="F6EAD0"/>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F88ACF30-5FA9-4F41-ADA0-8FFC30A1A67B}"/>
              </a:ext>
            </a:extLst>
          </p:cNvPr>
          <p:cNvSpPr>
            <a:spLocks xmlns:a="http://schemas.openxmlformats.org/drawingml/2006/main" noGrp="1"/>
          </p:cNvSpPr>
          <p:nvPr/>
        </p:nvSpPr>
        <p:spPr>
          <a:xfrm xmlns:a="http://schemas.openxmlformats.org/drawingml/2006/main">
            <a:off x="8534400" y="1409700"/>
            <a:ext cx="2457450" cy="1409700"/>
          </a:xfrm>
          <a:prstGeom xmlns:a="http://schemas.openxmlformats.org/drawingml/2006/main" prst="roundRect">
            <a:avLst>
              <a:gd name="adj" fmla="val 5405"/>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6" name="">
            <a:extLst xmlns:a="http://schemas.openxmlformats.org/drawingml/2006/main">
              <a:ext uri="{FF2B5EF4-FFF2-40B4-BE49-F238E27FC236}">
                <a16:creationId xmlns:a16="http://schemas.microsoft.com/office/drawing/2014/main" id="{66D9BB22-8FD5-4714-A250-BB193382F090}"/>
              </a:ext>
            </a:extLst>
          </p:cNvPr>
          <p:cNvSpPr>
            <a:spLocks xmlns:a="http://schemas.openxmlformats.org/drawingml/2006/main" noGrp="1"/>
          </p:cNvSpPr>
          <p:nvPr/>
        </p:nvSpPr>
        <p:spPr>
          <a:xfrm xmlns:a="http://schemas.openxmlformats.org/drawingml/2006/main">
            <a:off x="9010650" y="3067050"/>
            <a:ext cx="2152650" cy="1123950"/>
          </a:xfrm>
          <a:prstGeom xmlns:a="http://schemas.openxmlformats.org/drawingml/2006/main" prst="roundRect">
            <a:avLst>
              <a:gd name="adj" fmla="val 6780"/>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7" name="">
            <a:extLst xmlns:a="http://schemas.openxmlformats.org/drawingml/2006/main">
              <a:ext uri="{FF2B5EF4-FFF2-40B4-BE49-F238E27FC236}">
                <a16:creationId xmlns:a16="http://schemas.microsoft.com/office/drawing/2014/main" id="{63C85720-DADE-4C49-90DE-40DAF6007BFB}"/>
              </a:ext>
            </a:extLst>
          </p:cNvPr>
          <p:cNvSpPr>
            <a:spLocks xmlns:a="http://schemas.openxmlformats.org/drawingml/2006/main" noGrp="1"/>
          </p:cNvSpPr>
          <p:nvPr/>
        </p:nvSpPr>
        <p:spPr>
          <a:xfrm xmlns:a="http://schemas.openxmlformats.org/drawingml/2006/main">
            <a:off x="8039100" y="4629150"/>
            <a:ext cx="2000250" cy="914400"/>
          </a:xfrm>
          <a:prstGeom xmlns:a="http://schemas.openxmlformats.org/drawingml/2006/main" prst="roundRect">
            <a:avLst>
              <a:gd name="adj" fmla="val 8333"/>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8" name="">
            <a:extLst xmlns:a="http://schemas.openxmlformats.org/drawingml/2006/main">
              <a:ext uri="{FF2B5EF4-FFF2-40B4-BE49-F238E27FC236}">
                <a16:creationId xmlns:a16="http://schemas.microsoft.com/office/drawing/2014/main" id="{57AB3CE1-7A70-4945-8592-A731181000D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CF7">
              <a:alpha val="80000"/>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1DFAF67C-DB41-4CB3-A05E-CC6306057145}"/>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F5B3F"/>
                </a:solidFill>
              </a:defRPr>
            </a:pPr>
            <a:r>
              <a:rPr sz="975" b="1">
                <a:solidFill>
                  <a:srgbClr val="0F5B3F"/>
                </a:solidFill>
              </a:rPr>
              <a:t>FIRST ANSWER</a:t>
            </a:r>
          </a:p>
        </p:txBody>
      </p:sp>
      <p:sp>
        <p:nvSpPr>
          <p:cNvPr id="10" name="">
            <a:extLst xmlns:a="http://schemas.openxmlformats.org/drawingml/2006/main">
              <a:ext uri="{FF2B5EF4-FFF2-40B4-BE49-F238E27FC236}">
                <a16:creationId xmlns:a16="http://schemas.microsoft.com/office/drawing/2014/main" id="{5FDDC3D3-23A8-47C6-ACE2-50DCC2576541}"/>
              </a:ext>
            </a:extLst>
          </p:cNvPr>
          <p:cNvSpPr>
            <a:spLocks xmlns:a="http://schemas.openxmlformats.org/drawingml/2006/main" noGrp="1"/>
          </p:cNvSpPr>
          <p:nvPr/>
        </p:nvSpPr>
        <p:spPr>
          <a:xfrm xmlns:a="http://schemas.openxmlformats.org/drawingml/2006/main">
            <a:off x="10610850" y="323850"/>
            <a:ext cx="990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0F5B3F"/>
                </a:solidFill>
              </a:defRPr>
            </a:pPr>
            <a:r>
              <a:rPr sz="975" b="1">
                <a:solidFill>
                  <a:srgbClr val="0F5B3F"/>
                </a:solidFill>
              </a:rPr>
              <a:t>04 / 09</a:t>
            </a:r>
          </a:p>
        </p:txBody>
      </p:sp>
      <p:sp>
        <p:nvSpPr>
          <p:cNvPr id="11" name="">
            <a:extLst xmlns:a="http://schemas.openxmlformats.org/drawingml/2006/main">
              <a:ext uri="{FF2B5EF4-FFF2-40B4-BE49-F238E27FC236}">
                <a16:creationId xmlns:a16="http://schemas.microsoft.com/office/drawing/2014/main" id="{9D519DFD-D654-40F4-A1E8-53AAD124EB0A}"/>
              </a:ext>
            </a:extLst>
          </p:cNvPr>
          <p:cNvSpPr>
            <a:spLocks xmlns:a="http://schemas.openxmlformats.org/drawingml/2006/main" noGrp="1"/>
          </p:cNvSpPr>
          <p:nvPr/>
        </p:nvSpPr>
        <p:spPr>
          <a:xfrm xmlns:a="http://schemas.openxmlformats.org/drawingml/2006/main">
            <a:off x="609600" y="609600"/>
            <a:ext cx="10972800" cy="19050"/>
          </a:xfrm>
          <a:prstGeom xmlns:a="http://schemas.openxmlformats.org/drawingml/2006/main" prst="rect">
            <a:avLst/>
          </a:prstGeom>
          <a:solidFill xmlns:a="http://schemas.openxmlformats.org/drawingml/2006/main">
            <a:srgbClr val="132024"/>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A63901D5-8F3C-4CA5-95D2-936E5A5E0515}"/>
              </a:ext>
            </a:extLst>
          </p:cNvPr>
          <p:cNvSpPr>
            <a:spLocks xmlns:a="http://schemas.openxmlformats.org/drawingml/2006/main" noGrp="1"/>
          </p:cNvSpPr>
          <p:nvPr/>
        </p:nvSpPr>
        <p:spPr>
          <a:xfrm xmlns:a="http://schemas.openxmlformats.org/drawingml/2006/main">
            <a:off x="542925" y="542925"/>
            <a:ext cx="152400" cy="152400"/>
          </a:xfrm>
          <a:prstGeom xmlns:a="http://schemas.openxmlformats.org/drawingml/2006/main" prst="ellipse">
            <a:avLst/>
          </a:prstGeom>
          <a:solidFill xmlns:a="http://schemas.openxmlformats.org/drawingml/2006/main">
            <a:srgbClr val="1D9A69"/>
          </a:solidFill>
          <a:ln xmlns:a="http://schemas.openxmlformats.org/drawingml/2006/main" w="19050">
            <a:solidFill>
              <a:srgbClr val="132024"/>
            </a:solidFill>
            <a:prstDash val="solid"/>
          </a:ln>
        </p:spPr>
      </p:sp>
      <p:sp>
        <p:nvSpPr>
          <p:cNvPr id="13" name="">
            <a:extLst xmlns:a="http://schemas.openxmlformats.org/drawingml/2006/main">
              <a:ext uri="{FF2B5EF4-FFF2-40B4-BE49-F238E27FC236}">
                <a16:creationId xmlns:a16="http://schemas.microsoft.com/office/drawing/2014/main" id="{E79E38CF-FB65-4A1A-A2BC-3B09BAC2F2BE}"/>
              </a:ext>
            </a:extLst>
          </p:cNvPr>
          <p:cNvSpPr>
            <a:spLocks xmlns:a="http://schemas.openxmlformats.org/drawingml/2006/main" noGrp="1"/>
          </p:cNvSpPr>
          <p:nvPr/>
        </p:nvSpPr>
        <p:spPr>
          <a:xfrm xmlns:a="http://schemas.openxmlformats.org/drawingml/2006/main">
            <a:off x="609600" y="838200"/>
            <a:ext cx="7239000" cy="112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32024"/>
                </a:solidFill>
              </a:defRPr>
            </a:pPr>
            <a:r>
              <a:rPr sz="2850" b="1">
                <a:solidFill>
                  <a:srgbClr val="132024"/>
                </a:solidFill>
              </a:rPr>
              <a:t>1차 정리에서 얻은 답</a:t>
            </a:r>
          </a:p>
        </p:txBody>
      </p:sp>
      <p:sp>
        <p:nvSpPr>
          <p:cNvPr id="14" name="">
            <a:extLst xmlns:a="http://schemas.openxmlformats.org/drawingml/2006/main">
              <a:ext uri="{FF2B5EF4-FFF2-40B4-BE49-F238E27FC236}">
                <a16:creationId xmlns:a16="http://schemas.microsoft.com/office/drawing/2014/main" id="{4AB156E6-EBBA-4009-8A03-93FBA25AE54A}"/>
              </a:ext>
            </a:extLst>
          </p:cNvPr>
          <p:cNvSpPr>
            <a:spLocks xmlns:a="http://schemas.openxmlformats.org/drawingml/2006/main" noGrp="1"/>
          </p:cNvSpPr>
          <p:nvPr/>
        </p:nvSpPr>
        <p:spPr>
          <a:xfrm xmlns:a="http://schemas.openxmlformats.org/drawingml/2006/main">
            <a:off x="742950" y="2209800"/>
            <a:ext cx="3314700" cy="2781300"/>
          </a:xfrm>
          <a:prstGeom xmlns:a="http://schemas.openxmlformats.org/drawingml/2006/main" prst="roundRect">
            <a:avLst>
              <a:gd name="adj" fmla="val 2740"/>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15" name="">
            <a:extLst xmlns:a="http://schemas.openxmlformats.org/drawingml/2006/main">
              <a:ext uri="{FF2B5EF4-FFF2-40B4-BE49-F238E27FC236}">
                <a16:creationId xmlns:a16="http://schemas.microsoft.com/office/drawing/2014/main" id="{ADC34777-C9CC-4776-8793-E1DDB2998E71}"/>
              </a:ext>
            </a:extLst>
          </p:cNvPr>
          <p:cNvSpPr>
            <a:spLocks xmlns:a="http://schemas.openxmlformats.org/drawingml/2006/main" noGrp="1"/>
          </p:cNvSpPr>
          <p:nvPr/>
        </p:nvSpPr>
        <p:spPr>
          <a:xfrm xmlns:a="http://schemas.openxmlformats.org/drawingml/2006/main">
            <a:off x="742950" y="2209800"/>
            <a:ext cx="3314700" cy="76200"/>
          </a:xfrm>
          <a:prstGeom xmlns:a="http://schemas.openxmlformats.org/drawingml/2006/main" prst="rect">
            <a:avLst/>
          </a:prstGeom>
          <a:solidFill xmlns:a="http://schemas.openxmlformats.org/drawingml/2006/main">
            <a:srgbClr val="1D9A69"/>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19C969C0-3713-4495-8EAD-D43D1A532C86}"/>
              </a:ext>
            </a:extLst>
          </p:cNvPr>
          <p:cNvSpPr>
            <a:spLocks xmlns:a="http://schemas.openxmlformats.org/drawingml/2006/main" noGrp="1"/>
          </p:cNvSpPr>
          <p:nvPr/>
        </p:nvSpPr>
        <p:spPr>
          <a:xfrm xmlns:a="http://schemas.openxmlformats.org/drawingml/2006/main">
            <a:off x="952500" y="2400300"/>
            <a:ext cx="28956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broad cerebral baseline</a:t>
            </a:r>
          </a:p>
        </p:txBody>
      </p:sp>
      <p:sp>
        <p:nvSpPr>
          <p:cNvPr id="17" name="">
            <a:extLst xmlns:a="http://schemas.openxmlformats.org/drawingml/2006/main">
              <a:ext uri="{FF2B5EF4-FFF2-40B4-BE49-F238E27FC236}">
                <a16:creationId xmlns:a16="http://schemas.microsoft.com/office/drawing/2014/main" id="{E997DC82-0C3D-4186-A05E-E971BFC38660}"/>
              </a:ext>
            </a:extLst>
          </p:cNvPr>
          <p:cNvSpPr>
            <a:spLocks xmlns:a="http://schemas.openxmlformats.org/drawingml/2006/main" noGrp="1"/>
          </p:cNvSpPr>
          <p:nvPr/>
        </p:nvSpPr>
        <p:spPr>
          <a:xfrm xmlns:a="http://schemas.openxmlformats.org/drawingml/2006/main">
            <a:off x="952500" y="2819400"/>
            <a:ext cx="2895600" cy="2000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자가조직화 기반. regional diversity가</a:t>
            </a:r>
          </a:p>
          <a:p xmlns:a="http://schemas.openxmlformats.org/drawingml/2006/main">
            <a:pPr algn="l">
              <a:defRPr sz="1200" b="0">
                <a:solidFill>
                  <a:srgbClr val="132024"/>
                </a:solidFill>
              </a:defRPr>
            </a:pPr>
            <a:r>
              <a:rPr sz="1200" b="0">
                <a:solidFill>
                  <a:srgbClr val="132024"/>
                </a:solidFill>
              </a:rPr>
              <a:t>넓고 emergent architecture를 보기</a:t>
            </a:r>
          </a:p>
          <a:p xmlns:a="http://schemas.openxmlformats.org/drawingml/2006/main">
            <a:pPr algn="l">
              <a:defRPr sz="1200" b="0">
                <a:solidFill>
                  <a:srgbClr val="132024"/>
                </a:solidFill>
              </a:defRPr>
            </a:pPr>
            <a:r>
              <a:rPr sz="1200" b="0">
                <a:solidFill>
                  <a:srgbClr val="132024"/>
                </a:solidFill>
              </a:rPr>
              <a:t>좋지만, batch variability와 mixed</a:t>
            </a:r>
          </a:p>
          <a:p xmlns:a="http://schemas.openxmlformats.org/drawingml/2006/main">
            <a:pPr algn="l">
              <a:defRPr sz="1200" b="0">
                <a:solidFill>
                  <a:srgbClr val="132024"/>
                </a:solidFill>
              </a:defRPr>
            </a:pPr>
            <a:r>
              <a:rPr sz="1200" b="0">
                <a:solidFill>
                  <a:srgbClr val="132024"/>
                </a:solidFill>
              </a:rPr>
              <a:t>identity가 커진다. 대표 anchor:</a:t>
            </a:r>
          </a:p>
          <a:p xmlns:a="http://schemas.openxmlformats.org/drawingml/2006/main">
            <a:pPr algn="l">
              <a:defRPr sz="1200" b="0">
                <a:solidFill>
                  <a:srgbClr val="132024"/>
                </a:solidFill>
              </a:defRPr>
            </a:pPr>
            <a:r>
              <a:rPr sz="1200" b="0">
                <a:solidFill>
                  <a:srgbClr val="132024"/>
                </a:solidFill>
              </a:rPr>
              <a:t>Lancaster 2014.</a:t>
            </a:r>
          </a:p>
        </p:txBody>
      </p:sp>
      <p:sp>
        <p:nvSpPr>
          <p:cNvPr id="18" name="">
            <a:extLst xmlns:a="http://schemas.openxmlformats.org/drawingml/2006/main">
              <a:ext uri="{FF2B5EF4-FFF2-40B4-BE49-F238E27FC236}">
                <a16:creationId xmlns:a16="http://schemas.microsoft.com/office/drawing/2014/main" id="{0781FA9F-AC82-49CB-A774-D8545DD88A52}"/>
              </a:ext>
            </a:extLst>
          </p:cNvPr>
          <p:cNvSpPr>
            <a:spLocks xmlns:a="http://schemas.openxmlformats.org/drawingml/2006/main" noGrp="1"/>
          </p:cNvSpPr>
          <p:nvPr/>
        </p:nvSpPr>
        <p:spPr>
          <a:xfrm xmlns:a="http://schemas.openxmlformats.org/drawingml/2006/main">
            <a:off x="4438650" y="2209800"/>
            <a:ext cx="3314700" cy="2781300"/>
          </a:xfrm>
          <a:prstGeom xmlns:a="http://schemas.openxmlformats.org/drawingml/2006/main" prst="roundRect">
            <a:avLst>
              <a:gd name="adj" fmla="val 2740"/>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19" name="">
            <a:extLst xmlns:a="http://schemas.openxmlformats.org/drawingml/2006/main">
              <a:ext uri="{FF2B5EF4-FFF2-40B4-BE49-F238E27FC236}">
                <a16:creationId xmlns:a16="http://schemas.microsoft.com/office/drawing/2014/main" id="{4AD062A2-2D21-4BD3-9501-F6E7C8F0BFE8}"/>
              </a:ext>
            </a:extLst>
          </p:cNvPr>
          <p:cNvSpPr>
            <a:spLocks xmlns:a="http://schemas.openxmlformats.org/drawingml/2006/main" noGrp="1"/>
          </p:cNvSpPr>
          <p:nvPr/>
        </p:nvSpPr>
        <p:spPr>
          <a:xfrm xmlns:a="http://schemas.openxmlformats.org/drawingml/2006/main">
            <a:off x="4438650" y="2209800"/>
            <a:ext cx="3314700" cy="76200"/>
          </a:xfrm>
          <a:prstGeom xmlns:a="http://schemas.openxmlformats.org/drawingml/2006/main" prst="rect">
            <a:avLst/>
          </a:prstGeom>
          <a:solidFill xmlns:a="http://schemas.openxmlformats.org/drawingml/2006/main">
            <a:srgbClr val="C9972B"/>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1D62C0CF-8B8B-4F25-91E5-9F254B2ADD22}"/>
              </a:ext>
            </a:extLst>
          </p:cNvPr>
          <p:cNvSpPr>
            <a:spLocks xmlns:a="http://schemas.openxmlformats.org/drawingml/2006/main" noGrp="1"/>
          </p:cNvSpPr>
          <p:nvPr/>
        </p:nvSpPr>
        <p:spPr>
          <a:xfrm xmlns:a="http://schemas.openxmlformats.org/drawingml/2006/main">
            <a:off x="4648200" y="2400300"/>
            <a:ext cx="28956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forebrain / cortical control</a:t>
            </a:r>
          </a:p>
        </p:txBody>
      </p:sp>
      <p:sp>
        <p:nvSpPr>
          <p:cNvPr id="21" name="">
            <a:extLst xmlns:a="http://schemas.openxmlformats.org/drawingml/2006/main">
              <a:ext uri="{FF2B5EF4-FFF2-40B4-BE49-F238E27FC236}">
                <a16:creationId xmlns:a16="http://schemas.microsoft.com/office/drawing/2014/main" id="{6106DA93-5C57-42E3-9A3B-6A64EF612FD7}"/>
              </a:ext>
            </a:extLst>
          </p:cNvPr>
          <p:cNvSpPr>
            <a:spLocks xmlns:a="http://schemas.openxmlformats.org/drawingml/2006/main" noGrp="1"/>
          </p:cNvSpPr>
          <p:nvPr/>
        </p:nvSpPr>
        <p:spPr>
          <a:xfrm xmlns:a="http://schemas.openxmlformats.org/drawingml/2006/main">
            <a:off x="4648200" y="2819400"/>
            <a:ext cx="2895600" cy="2000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dual SMAD 또는 semi-guided</a:t>
            </a:r>
          </a:p>
          <a:p xmlns:a="http://schemas.openxmlformats.org/drawingml/2006/main">
            <a:pPr algn="l">
              <a:defRPr sz="1200" b="0">
                <a:solidFill>
                  <a:srgbClr val="132024"/>
                </a:solidFill>
              </a:defRPr>
            </a:pPr>
            <a:r>
              <a:rPr sz="1200" b="0">
                <a:solidFill>
                  <a:srgbClr val="132024"/>
                </a:solidFill>
              </a:rPr>
              <a:t>control을 통해 cleaner regional</a:t>
            </a:r>
          </a:p>
          <a:p xmlns:a="http://schemas.openxmlformats.org/drawingml/2006/main">
            <a:pPr algn="l">
              <a:defRPr sz="1200" b="0">
                <a:solidFill>
                  <a:srgbClr val="132024"/>
                </a:solidFill>
              </a:defRPr>
            </a:pPr>
            <a:r>
              <a:rPr sz="1200" b="0">
                <a:solidFill>
                  <a:srgbClr val="132024"/>
                </a:solidFill>
              </a:rPr>
              <a:t>identity와 더 높은 재현성을 노린다. 대표</a:t>
            </a:r>
          </a:p>
          <a:p xmlns:a="http://schemas.openxmlformats.org/drawingml/2006/main">
            <a:pPr algn="l">
              <a:defRPr sz="1200" b="0">
                <a:solidFill>
                  <a:srgbClr val="132024"/>
                </a:solidFill>
              </a:defRPr>
            </a:pPr>
            <a:r>
              <a:rPr sz="1200" b="0">
                <a:solidFill>
                  <a:srgbClr val="132024"/>
                </a:solidFill>
              </a:rPr>
              <a:t>anchor: Sloan 2018,</a:t>
            </a:r>
          </a:p>
          <a:p xmlns:a="http://schemas.openxmlformats.org/drawingml/2006/main">
            <a:pPr algn="l">
              <a:defRPr sz="1200" b="0">
                <a:solidFill>
                  <a:srgbClr val="132024"/>
                </a:solidFill>
              </a:defRPr>
            </a:pPr>
            <a:r>
              <a:rPr sz="1200" b="0">
                <a:solidFill>
                  <a:srgbClr val="132024"/>
                </a:solidFill>
              </a:rPr>
              <a:t>Fitzgerald 2024, Ullah 2025.</a:t>
            </a:r>
          </a:p>
        </p:txBody>
      </p:sp>
      <p:sp>
        <p:nvSpPr>
          <p:cNvPr id="22" name="">
            <a:extLst xmlns:a="http://schemas.openxmlformats.org/drawingml/2006/main">
              <a:ext uri="{FF2B5EF4-FFF2-40B4-BE49-F238E27FC236}">
                <a16:creationId xmlns:a16="http://schemas.microsoft.com/office/drawing/2014/main" id="{41E814F1-6912-4909-A20A-46B78A8EE35C}"/>
              </a:ext>
            </a:extLst>
          </p:cNvPr>
          <p:cNvSpPr>
            <a:spLocks xmlns:a="http://schemas.openxmlformats.org/drawingml/2006/main" noGrp="1"/>
          </p:cNvSpPr>
          <p:nvPr/>
        </p:nvSpPr>
        <p:spPr>
          <a:xfrm xmlns:a="http://schemas.openxmlformats.org/drawingml/2006/main">
            <a:off x="8134350" y="2209800"/>
            <a:ext cx="3314700" cy="2781300"/>
          </a:xfrm>
          <a:prstGeom xmlns:a="http://schemas.openxmlformats.org/drawingml/2006/main" prst="roundRect">
            <a:avLst>
              <a:gd name="adj" fmla="val 2740"/>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23" name="">
            <a:extLst xmlns:a="http://schemas.openxmlformats.org/drawingml/2006/main">
              <a:ext uri="{FF2B5EF4-FFF2-40B4-BE49-F238E27FC236}">
                <a16:creationId xmlns:a16="http://schemas.microsoft.com/office/drawing/2014/main" id="{E4005AA6-2C70-4BBC-A0D4-0DCDA2283188}"/>
              </a:ext>
            </a:extLst>
          </p:cNvPr>
          <p:cNvSpPr>
            <a:spLocks xmlns:a="http://schemas.openxmlformats.org/drawingml/2006/main" noGrp="1"/>
          </p:cNvSpPr>
          <p:nvPr/>
        </p:nvSpPr>
        <p:spPr>
          <a:xfrm xmlns:a="http://schemas.openxmlformats.org/drawingml/2006/main">
            <a:off x="8134350" y="2209800"/>
            <a:ext cx="3314700" cy="76200"/>
          </a:xfrm>
          <a:prstGeom xmlns:a="http://schemas.openxmlformats.org/drawingml/2006/main" prst="rect">
            <a:avLst/>
          </a:prstGeom>
          <a:solidFill xmlns:a="http://schemas.openxmlformats.org/drawingml/2006/main">
            <a:srgbClr val="D66C60"/>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014E74C0-4ABB-42FE-A11C-10D0B72BAD76}"/>
              </a:ext>
            </a:extLst>
          </p:cNvPr>
          <p:cNvSpPr>
            <a:spLocks xmlns:a="http://schemas.openxmlformats.org/drawingml/2006/main" noGrp="1"/>
          </p:cNvSpPr>
          <p:nvPr/>
        </p:nvSpPr>
        <p:spPr>
          <a:xfrm xmlns:a="http://schemas.openxmlformats.org/drawingml/2006/main">
            <a:off x="8343900" y="2400300"/>
            <a:ext cx="28956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posterior / niche specialization</a:t>
            </a:r>
          </a:p>
        </p:txBody>
      </p:sp>
      <p:sp>
        <p:nvSpPr>
          <p:cNvPr id="25" name="">
            <a:extLst xmlns:a="http://schemas.openxmlformats.org/drawingml/2006/main">
              <a:ext uri="{FF2B5EF4-FFF2-40B4-BE49-F238E27FC236}">
                <a16:creationId xmlns:a16="http://schemas.microsoft.com/office/drawing/2014/main" id="{81566718-7EC1-4C78-B4C3-77FB61A8D81E}"/>
              </a:ext>
            </a:extLst>
          </p:cNvPr>
          <p:cNvSpPr>
            <a:spLocks xmlns:a="http://schemas.openxmlformats.org/drawingml/2006/main" noGrp="1"/>
          </p:cNvSpPr>
          <p:nvPr/>
        </p:nvSpPr>
        <p:spPr>
          <a:xfrm xmlns:a="http://schemas.openxmlformats.org/drawingml/2006/main">
            <a:off x="8343900" y="2819400"/>
            <a:ext cx="2895600" cy="2000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midbrain, brainstem,</a:t>
            </a:r>
          </a:p>
          <a:p xmlns:a="http://schemas.openxmlformats.org/drawingml/2006/main">
            <a:pPr algn="l">
              <a:defRPr sz="1200" b="0">
                <a:solidFill>
                  <a:srgbClr val="132024"/>
                </a:solidFill>
              </a:defRPr>
            </a:pPr>
            <a:r>
              <a:rPr sz="1200" b="0">
                <a:solidFill>
                  <a:srgbClr val="132024"/>
                </a:solidFill>
              </a:rPr>
              <a:t>hindbrain, hippocampus,</a:t>
            </a:r>
          </a:p>
          <a:p xmlns:a="http://schemas.openxmlformats.org/drawingml/2006/main">
            <a:pPr algn="l">
              <a:defRPr sz="1200" b="0">
                <a:solidFill>
                  <a:srgbClr val="132024"/>
                </a:solidFill>
              </a:defRPr>
            </a:pPr>
            <a:r>
              <a:rPr sz="1200" b="0">
                <a:solidFill>
                  <a:srgbClr val="132024"/>
                </a:solidFill>
              </a:rPr>
              <a:t>cerebellum처럼 질문 특이적인</a:t>
            </a:r>
          </a:p>
          <a:p xmlns:a="http://schemas.openxmlformats.org/drawingml/2006/main">
            <a:pPr algn="l">
              <a:defRPr sz="1200" b="0">
                <a:solidFill>
                  <a:srgbClr val="132024"/>
                </a:solidFill>
              </a:defRPr>
            </a:pPr>
            <a:r>
              <a:rPr sz="1200" b="0">
                <a:solidFill>
                  <a:srgbClr val="132024"/>
                </a:solidFill>
              </a:rPr>
              <a:t>posterior or niche branch로</a:t>
            </a:r>
          </a:p>
          <a:p xmlns:a="http://schemas.openxmlformats.org/drawingml/2006/main">
            <a:pPr algn="l">
              <a:defRPr sz="1200" b="0">
                <a:solidFill>
                  <a:srgbClr val="132024"/>
                </a:solidFill>
              </a:defRPr>
            </a:pPr>
            <a:r>
              <a:rPr sz="1200" b="0">
                <a:solidFill>
                  <a:srgbClr val="132024"/>
                </a:solidFill>
              </a:rPr>
              <a:t>간다. 대표 anchor: Zagare, Eura,</a:t>
            </a:r>
          </a:p>
          <a:p xmlns:a="http://schemas.openxmlformats.org/drawingml/2006/main">
            <a:pPr algn="l">
              <a:defRPr sz="1200" b="0">
                <a:solidFill>
                  <a:srgbClr val="132024"/>
                </a:solidFill>
              </a:defRPr>
            </a:pPr>
            <a:r>
              <a:rPr sz="1200" b="0">
                <a:solidFill>
                  <a:srgbClr val="132024"/>
                </a:solidFill>
              </a:rPr>
              <a:t>Pomeshchik, Atamian.</a:t>
            </a:r>
          </a:p>
        </p:txBody>
      </p:sp>
      <p:sp>
        <p:nvSpPr>
          <p:cNvPr id="26" name="">
            <a:extLst xmlns:a="http://schemas.openxmlformats.org/drawingml/2006/main">
              <a:ext uri="{FF2B5EF4-FFF2-40B4-BE49-F238E27FC236}">
                <a16:creationId xmlns:a16="http://schemas.microsoft.com/office/drawing/2014/main" id="{FF7989B1-E343-4757-A1FD-EA79C947F502}"/>
              </a:ext>
            </a:extLst>
          </p:cNvPr>
          <p:cNvSpPr>
            <a:spLocks xmlns:a="http://schemas.openxmlformats.org/drawingml/2006/main" noGrp="1"/>
          </p:cNvSpPr>
          <p:nvPr/>
        </p:nvSpPr>
        <p:spPr>
          <a:xfrm xmlns:a="http://schemas.openxmlformats.org/drawingml/2006/main">
            <a:off x="857250" y="5353050"/>
            <a:ext cx="10572750" cy="704850"/>
          </a:xfrm>
          <a:prstGeom xmlns:a="http://schemas.openxmlformats.org/drawingml/2006/main" prst="roundRect">
            <a:avLst>
              <a:gd name="adj" fmla="val 10811"/>
            </a:avLst>
          </a:prstGeom>
          <a:solidFill xmlns:a="http://schemas.openxmlformats.org/drawingml/2006/main">
            <a:srgbClr val="F4E8C8"/>
          </a:solidFill>
          <a:ln xmlns:a="http://schemas.openxmlformats.org/drawingml/2006/main" w="11430">
            <a:solidFill>
              <a:srgbClr val="132024"/>
            </a:solidFill>
            <a:prstDash val="solid"/>
          </a:ln>
        </p:spPr>
      </p:sp>
      <p:sp>
        <p:nvSpPr>
          <p:cNvPr id="27" name="">
            <a:extLst xmlns:a="http://schemas.openxmlformats.org/drawingml/2006/main">
              <a:ext uri="{FF2B5EF4-FFF2-40B4-BE49-F238E27FC236}">
                <a16:creationId xmlns:a16="http://schemas.microsoft.com/office/drawing/2014/main" id="{5FD10802-1AC0-4FAE-AB9F-BFB055A61EAF}"/>
              </a:ext>
            </a:extLst>
          </p:cNvPr>
          <p:cNvSpPr>
            <a:spLocks xmlns:a="http://schemas.openxmlformats.org/drawingml/2006/main" noGrp="1"/>
          </p:cNvSpPr>
          <p:nvPr/>
        </p:nvSpPr>
        <p:spPr>
          <a:xfrm xmlns:a="http://schemas.openxmlformats.org/drawingml/2006/main">
            <a:off x="857250" y="5353050"/>
            <a:ext cx="76200" cy="704850"/>
          </a:xfrm>
          <a:prstGeom xmlns:a="http://schemas.openxmlformats.org/drawingml/2006/main" prst="rect">
            <a:avLst/>
          </a:prstGeom>
          <a:solidFill xmlns:a="http://schemas.openxmlformats.org/drawingml/2006/main">
            <a:srgbClr val="C9972B"/>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81F494BE-237B-415C-B632-2D9237566654}"/>
              </a:ext>
            </a:extLst>
          </p:cNvPr>
          <p:cNvSpPr>
            <a:spLocks xmlns:a="http://schemas.openxmlformats.org/drawingml/2006/main" noGrp="1"/>
          </p:cNvSpPr>
          <p:nvPr/>
        </p:nvSpPr>
        <p:spPr>
          <a:xfrm xmlns:a="http://schemas.openxmlformats.org/drawingml/2006/main">
            <a:off x="1066800" y="5505450"/>
            <a:ext cx="101917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32024"/>
                </a:solidFill>
              </a:defRPr>
            </a:pPr>
            <a:r>
              <a:rPr sz="1350" b="0">
                <a:solidFill>
                  <a:srgbClr val="132024"/>
                </a:solidFill>
              </a:rPr>
              <a:t>1차 결론: 많은 brain organoid design 문제는 'brain vs brain'이 아니라 subregion selection 문제다.</a:t>
            </a:r>
          </a:p>
        </p:txBody>
      </p:sp>
      <p:sp>
        <p:nvSpPr>
          <p:cNvPr id="29" name="">
            <a:extLst xmlns:a="http://schemas.openxmlformats.org/drawingml/2006/main">
              <a:ext uri="{FF2B5EF4-FFF2-40B4-BE49-F238E27FC236}">
                <a16:creationId xmlns:a16="http://schemas.microsoft.com/office/drawing/2014/main" id="{7AEDCC51-6C84-4099-9590-0F30DDBF05BF}"/>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A767C"/>
                </a:solidFill>
              </a:defRPr>
            </a:pPr>
            <a:r>
              <a:rPr sz="750" b="0">
                <a:solidFill>
                  <a:srgbClr val="6A767C"/>
                </a:solidFill>
              </a:rPr>
              <a:t>subregion logic는 출발점으로 강력했지만, 아직 quality question을 충분히 설명하지 못했다.</a:t>
            </a:r>
          </a:p>
        </p:txBody>
      </p:sp>
    </p:spTree>
    <p:extLst>
      <p:ext uri="{BB962C8B-B14F-4D97-AF65-F5344CB8AC3E}">
        <p14:creationId xmlns:p14="http://schemas.microsoft.com/office/powerpoint/2010/main" val="1300958238"/>
      </p:ext>
    </p:extLst>
  </p:cSld>
</p:sld>
</file>

<file path=ppt/slides/slide5.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8BDF79F-9F16-4FEE-B72E-1F506FE9EBEC}"/>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a5ceab256ae4fdf"/>
          <a:srcRect xmlns:a="http://schemas.openxmlformats.org/drawingml/2006/main" l="0" t="21875" r="0" b="2187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DEE6927-0D4C-4978-84FA-CD3D3B2E716F}"/>
              </a:ext>
            </a:extLst>
          </p:cNvPr>
          <p:cNvSpPr>
            <a:spLocks xmlns:a="http://schemas.openxmlformats.org/drawingml/2006/main" noGrp="1"/>
          </p:cNvSpPr>
          <p:nvPr/>
        </p:nvSpPr>
        <p:spPr>
          <a:xfrm xmlns:a="http://schemas.openxmlformats.org/drawingml/2006/main">
            <a:off x="7867650" y="781050"/>
            <a:ext cx="3638550" cy="3638550"/>
          </a:xfrm>
          <a:prstGeom xmlns:a="http://schemas.openxmlformats.org/drawingml/2006/main" prst="ellipse">
            <a:avLst/>
          </a:prstGeom>
          <a:solidFill xmlns:a="http://schemas.openxmlformats.org/drawingml/2006/main">
            <a:srgbClr val="F9E5E1"/>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85F3797F-0E77-4237-9EF8-0E1B0D3D3F22}"/>
              </a:ext>
            </a:extLst>
          </p:cNvPr>
          <p:cNvSpPr>
            <a:spLocks xmlns:a="http://schemas.openxmlformats.org/drawingml/2006/main" noGrp="1"/>
          </p:cNvSpPr>
          <p:nvPr/>
        </p:nvSpPr>
        <p:spPr>
          <a:xfrm xmlns:a="http://schemas.openxmlformats.org/drawingml/2006/main">
            <a:off x="9220200" y="4152900"/>
            <a:ext cx="1962150" cy="1962150"/>
          </a:xfrm>
          <a:prstGeom xmlns:a="http://schemas.openxmlformats.org/drawingml/2006/main" prst="ellipse">
            <a:avLst/>
          </a:prstGeom>
          <a:solidFill xmlns:a="http://schemas.openxmlformats.org/drawingml/2006/main">
            <a:srgbClr val="E6EDF1"/>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B2A76673-6364-4C91-8F9B-24C004392D7A}"/>
              </a:ext>
            </a:extLst>
          </p:cNvPr>
          <p:cNvSpPr>
            <a:spLocks xmlns:a="http://schemas.openxmlformats.org/drawingml/2006/main" noGrp="1"/>
          </p:cNvSpPr>
          <p:nvPr/>
        </p:nvSpPr>
        <p:spPr>
          <a:xfrm xmlns:a="http://schemas.openxmlformats.org/drawingml/2006/main">
            <a:off x="8534400" y="1409700"/>
            <a:ext cx="2457450" cy="1409700"/>
          </a:xfrm>
          <a:prstGeom xmlns:a="http://schemas.openxmlformats.org/drawingml/2006/main" prst="roundRect">
            <a:avLst>
              <a:gd name="adj" fmla="val 5405"/>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6" name="">
            <a:extLst xmlns:a="http://schemas.openxmlformats.org/drawingml/2006/main">
              <a:ext uri="{FF2B5EF4-FFF2-40B4-BE49-F238E27FC236}">
                <a16:creationId xmlns:a16="http://schemas.microsoft.com/office/drawing/2014/main" id="{31ADB5BC-FFE1-404C-981E-D614CD5D9D99}"/>
              </a:ext>
            </a:extLst>
          </p:cNvPr>
          <p:cNvSpPr>
            <a:spLocks xmlns:a="http://schemas.openxmlformats.org/drawingml/2006/main" noGrp="1"/>
          </p:cNvSpPr>
          <p:nvPr/>
        </p:nvSpPr>
        <p:spPr>
          <a:xfrm xmlns:a="http://schemas.openxmlformats.org/drawingml/2006/main">
            <a:off x="9010650" y="3067050"/>
            <a:ext cx="2152650" cy="1123950"/>
          </a:xfrm>
          <a:prstGeom xmlns:a="http://schemas.openxmlformats.org/drawingml/2006/main" prst="roundRect">
            <a:avLst>
              <a:gd name="adj" fmla="val 6780"/>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7" name="">
            <a:extLst xmlns:a="http://schemas.openxmlformats.org/drawingml/2006/main">
              <a:ext uri="{FF2B5EF4-FFF2-40B4-BE49-F238E27FC236}">
                <a16:creationId xmlns:a16="http://schemas.microsoft.com/office/drawing/2014/main" id="{5AA405A7-61C8-494C-85FC-92D3E07C6BFC}"/>
              </a:ext>
            </a:extLst>
          </p:cNvPr>
          <p:cNvSpPr>
            <a:spLocks xmlns:a="http://schemas.openxmlformats.org/drawingml/2006/main" noGrp="1"/>
          </p:cNvSpPr>
          <p:nvPr/>
        </p:nvSpPr>
        <p:spPr>
          <a:xfrm xmlns:a="http://schemas.openxmlformats.org/drawingml/2006/main">
            <a:off x="8039100" y="4629150"/>
            <a:ext cx="2000250" cy="914400"/>
          </a:xfrm>
          <a:prstGeom xmlns:a="http://schemas.openxmlformats.org/drawingml/2006/main" prst="roundRect">
            <a:avLst>
              <a:gd name="adj" fmla="val 8333"/>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8" name="">
            <a:extLst xmlns:a="http://schemas.openxmlformats.org/drawingml/2006/main">
              <a:ext uri="{FF2B5EF4-FFF2-40B4-BE49-F238E27FC236}">
                <a16:creationId xmlns:a16="http://schemas.microsoft.com/office/drawing/2014/main" id="{F585CF9D-7980-45D6-A8A9-50F94697DE2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CF7">
              <a:alpha val="81569"/>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3F4240D2-5AAF-4778-9142-49D6F6AE233E}"/>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F5B3F"/>
                </a:solidFill>
              </a:defRPr>
            </a:pPr>
            <a:r>
              <a:rPr sz="975" b="1">
                <a:solidFill>
                  <a:srgbClr val="0F5B3F"/>
                </a:solidFill>
              </a:rPr>
              <a:t>LIMITATION</a:t>
            </a:r>
          </a:p>
        </p:txBody>
      </p:sp>
      <p:sp>
        <p:nvSpPr>
          <p:cNvPr id="10" name="">
            <a:extLst xmlns:a="http://schemas.openxmlformats.org/drawingml/2006/main">
              <a:ext uri="{FF2B5EF4-FFF2-40B4-BE49-F238E27FC236}">
                <a16:creationId xmlns:a16="http://schemas.microsoft.com/office/drawing/2014/main" id="{6788B704-197C-4A75-84B8-684A0FB6132D}"/>
              </a:ext>
            </a:extLst>
          </p:cNvPr>
          <p:cNvSpPr>
            <a:spLocks xmlns:a="http://schemas.openxmlformats.org/drawingml/2006/main" noGrp="1"/>
          </p:cNvSpPr>
          <p:nvPr/>
        </p:nvSpPr>
        <p:spPr>
          <a:xfrm xmlns:a="http://schemas.openxmlformats.org/drawingml/2006/main">
            <a:off x="10610850" y="323850"/>
            <a:ext cx="990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0F5B3F"/>
                </a:solidFill>
              </a:defRPr>
            </a:pPr>
            <a:r>
              <a:rPr sz="975" b="1">
                <a:solidFill>
                  <a:srgbClr val="0F5B3F"/>
                </a:solidFill>
              </a:rPr>
              <a:t>05 / 09</a:t>
            </a:r>
          </a:p>
        </p:txBody>
      </p:sp>
      <p:sp>
        <p:nvSpPr>
          <p:cNvPr id="11" name="">
            <a:extLst xmlns:a="http://schemas.openxmlformats.org/drawingml/2006/main">
              <a:ext uri="{FF2B5EF4-FFF2-40B4-BE49-F238E27FC236}">
                <a16:creationId xmlns:a16="http://schemas.microsoft.com/office/drawing/2014/main" id="{52C0D622-4894-4AF7-B9FA-ED7FA568D0E5}"/>
              </a:ext>
            </a:extLst>
          </p:cNvPr>
          <p:cNvSpPr>
            <a:spLocks xmlns:a="http://schemas.openxmlformats.org/drawingml/2006/main" noGrp="1"/>
          </p:cNvSpPr>
          <p:nvPr/>
        </p:nvSpPr>
        <p:spPr>
          <a:xfrm xmlns:a="http://schemas.openxmlformats.org/drawingml/2006/main">
            <a:off x="609600" y="609600"/>
            <a:ext cx="10972800" cy="19050"/>
          </a:xfrm>
          <a:prstGeom xmlns:a="http://schemas.openxmlformats.org/drawingml/2006/main" prst="rect">
            <a:avLst/>
          </a:prstGeom>
          <a:solidFill xmlns:a="http://schemas.openxmlformats.org/drawingml/2006/main">
            <a:srgbClr val="132024"/>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D3419526-027B-487F-A204-06738CCBE17C}"/>
              </a:ext>
            </a:extLst>
          </p:cNvPr>
          <p:cNvSpPr>
            <a:spLocks xmlns:a="http://schemas.openxmlformats.org/drawingml/2006/main" noGrp="1"/>
          </p:cNvSpPr>
          <p:nvPr/>
        </p:nvSpPr>
        <p:spPr>
          <a:xfrm xmlns:a="http://schemas.openxmlformats.org/drawingml/2006/main">
            <a:off x="542925" y="542925"/>
            <a:ext cx="152400" cy="152400"/>
          </a:xfrm>
          <a:prstGeom xmlns:a="http://schemas.openxmlformats.org/drawingml/2006/main" prst="ellipse">
            <a:avLst/>
          </a:prstGeom>
          <a:solidFill xmlns:a="http://schemas.openxmlformats.org/drawingml/2006/main">
            <a:srgbClr val="1D9A69"/>
          </a:solidFill>
          <a:ln xmlns:a="http://schemas.openxmlformats.org/drawingml/2006/main" w="19050">
            <a:solidFill>
              <a:srgbClr val="132024"/>
            </a:solidFill>
            <a:prstDash val="solid"/>
          </a:ln>
        </p:spPr>
      </p:sp>
      <p:sp>
        <p:nvSpPr>
          <p:cNvPr id="13" name="">
            <a:extLst xmlns:a="http://schemas.openxmlformats.org/drawingml/2006/main">
              <a:ext uri="{FF2B5EF4-FFF2-40B4-BE49-F238E27FC236}">
                <a16:creationId xmlns:a16="http://schemas.microsoft.com/office/drawing/2014/main" id="{4A9F9148-1B9C-433F-8F5A-CB8849A3F7B0}"/>
              </a:ext>
            </a:extLst>
          </p:cNvPr>
          <p:cNvSpPr>
            <a:spLocks xmlns:a="http://schemas.openxmlformats.org/drawingml/2006/main" noGrp="1"/>
          </p:cNvSpPr>
          <p:nvPr/>
        </p:nvSpPr>
        <p:spPr>
          <a:xfrm xmlns:a="http://schemas.openxmlformats.org/drawingml/2006/main">
            <a:off x="609600" y="838200"/>
            <a:ext cx="7239000" cy="112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32024"/>
                </a:solidFill>
              </a:defRPr>
            </a:pPr>
            <a:r>
              <a:rPr sz="2850" b="1">
                <a:solidFill>
                  <a:srgbClr val="132024"/>
                </a:solidFill>
              </a:rPr>
              <a:t>하지만 이 질문만으로는 부족했다</a:t>
            </a:r>
          </a:p>
        </p:txBody>
      </p:sp>
      <p:sp>
        <p:nvSpPr>
          <p:cNvPr id="14" name="">
            <a:extLst xmlns:a="http://schemas.openxmlformats.org/drawingml/2006/main">
              <a:ext uri="{FF2B5EF4-FFF2-40B4-BE49-F238E27FC236}">
                <a16:creationId xmlns:a16="http://schemas.microsoft.com/office/drawing/2014/main" id="{0E82C703-B3EC-40FF-ADA1-DA31021D2050}"/>
              </a:ext>
            </a:extLst>
          </p:cNvPr>
          <p:cNvSpPr>
            <a:spLocks xmlns:a="http://schemas.openxmlformats.org/drawingml/2006/main" noGrp="1"/>
          </p:cNvSpPr>
          <p:nvPr/>
        </p:nvSpPr>
        <p:spPr>
          <a:xfrm xmlns:a="http://schemas.openxmlformats.org/drawingml/2006/main">
            <a:off x="800100" y="2133600"/>
            <a:ext cx="10591800" cy="971550"/>
          </a:xfrm>
          <a:prstGeom xmlns:a="http://schemas.openxmlformats.org/drawingml/2006/main" prst="roundRect">
            <a:avLst>
              <a:gd name="adj" fmla="val 7843"/>
            </a:avLst>
          </a:prstGeom>
          <a:solidFill xmlns:a="http://schemas.openxmlformats.org/drawingml/2006/main">
            <a:srgbClr val="F7DDD8"/>
          </a:solidFill>
          <a:ln xmlns:a="http://schemas.openxmlformats.org/drawingml/2006/main" w="11430">
            <a:solidFill>
              <a:srgbClr val="132024"/>
            </a:solidFill>
            <a:prstDash val="solid"/>
          </a:ln>
        </p:spPr>
      </p:sp>
      <p:sp>
        <p:nvSpPr>
          <p:cNvPr id="15" name="">
            <a:extLst xmlns:a="http://schemas.openxmlformats.org/drawingml/2006/main">
              <a:ext uri="{FF2B5EF4-FFF2-40B4-BE49-F238E27FC236}">
                <a16:creationId xmlns:a16="http://schemas.microsoft.com/office/drawing/2014/main" id="{DFCA7E41-EB43-44C6-8DE7-FCB37F82D90F}"/>
              </a:ext>
            </a:extLst>
          </p:cNvPr>
          <p:cNvSpPr>
            <a:spLocks xmlns:a="http://schemas.openxmlformats.org/drawingml/2006/main" noGrp="1"/>
          </p:cNvSpPr>
          <p:nvPr/>
        </p:nvSpPr>
        <p:spPr>
          <a:xfrm xmlns:a="http://schemas.openxmlformats.org/drawingml/2006/main">
            <a:off x="800100" y="2133600"/>
            <a:ext cx="76200" cy="971550"/>
          </a:xfrm>
          <a:prstGeom xmlns:a="http://schemas.openxmlformats.org/drawingml/2006/main" prst="rect">
            <a:avLst/>
          </a:prstGeom>
          <a:solidFill xmlns:a="http://schemas.openxmlformats.org/drawingml/2006/main">
            <a:srgbClr val="D66C60"/>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E1903D35-DC5B-479E-8403-8A4E1330D95E}"/>
              </a:ext>
            </a:extLst>
          </p:cNvPr>
          <p:cNvSpPr>
            <a:spLocks xmlns:a="http://schemas.openxmlformats.org/drawingml/2006/main" noGrp="1"/>
          </p:cNvSpPr>
          <p:nvPr/>
        </p:nvSpPr>
        <p:spPr>
          <a:xfrm xmlns:a="http://schemas.openxmlformats.org/drawingml/2006/main">
            <a:off x="1009650" y="2286000"/>
            <a:ext cx="1021080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32024"/>
                </a:solidFill>
              </a:defRPr>
            </a:pPr>
            <a:r>
              <a:rPr sz="1350" b="0">
                <a:solidFill>
                  <a:srgbClr val="132024"/>
                </a:solidFill>
              </a:rPr>
              <a:t>같은 forebrain branch 안에서도 어떤 protocol은 더 reproducible하고, 어떤 protocol은 primary fetal brain에 더 닮고, 어떤 protocol은 발달 timing 해석이 더 쉽다.</a:t>
            </a:r>
          </a:p>
        </p:txBody>
      </p:sp>
      <p:sp>
        <p:nvSpPr>
          <p:cNvPr id="17" name="">
            <a:extLst xmlns:a="http://schemas.openxmlformats.org/drawingml/2006/main">
              <a:ext uri="{FF2B5EF4-FFF2-40B4-BE49-F238E27FC236}">
                <a16:creationId xmlns:a16="http://schemas.microsoft.com/office/drawing/2014/main" id="{8AA9943D-5569-4E29-8834-B09A28B91419}"/>
              </a:ext>
            </a:extLst>
          </p:cNvPr>
          <p:cNvSpPr>
            <a:spLocks xmlns:a="http://schemas.openxmlformats.org/drawingml/2006/main" noGrp="1"/>
          </p:cNvSpPr>
          <p:nvPr/>
        </p:nvSpPr>
        <p:spPr>
          <a:xfrm xmlns:a="http://schemas.openxmlformats.org/drawingml/2006/main">
            <a:off x="800100" y="3638550"/>
            <a:ext cx="3143250" cy="1809750"/>
          </a:xfrm>
          <a:prstGeom xmlns:a="http://schemas.openxmlformats.org/drawingml/2006/main" prst="roundRect">
            <a:avLst>
              <a:gd name="adj" fmla="val 4211"/>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18" name="">
            <a:extLst xmlns:a="http://schemas.openxmlformats.org/drawingml/2006/main">
              <a:ext uri="{FF2B5EF4-FFF2-40B4-BE49-F238E27FC236}">
                <a16:creationId xmlns:a16="http://schemas.microsoft.com/office/drawing/2014/main" id="{BA3ED7ED-2BC4-4471-A47F-4BB897FDE7CD}"/>
              </a:ext>
            </a:extLst>
          </p:cNvPr>
          <p:cNvSpPr>
            <a:spLocks xmlns:a="http://schemas.openxmlformats.org/drawingml/2006/main" noGrp="1"/>
          </p:cNvSpPr>
          <p:nvPr/>
        </p:nvSpPr>
        <p:spPr>
          <a:xfrm xmlns:a="http://schemas.openxmlformats.org/drawingml/2006/main">
            <a:off x="800100" y="3638550"/>
            <a:ext cx="3143250" cy="76200"/>
          </a:xfrm>
          <a:prstGeom xmlns:a="http://schemas.openxmlformats.org/drawingml/2006/main" prst="rect">
            <a:avLst/>
          </a:prstGeom>
          <a:solidFill xmlns:a="http://schemas.openxmlformats.org/drawingml/2006/main">
            <a:srgbClr val="1D9A69"/>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0A4F4D6E-7FBA-43C9-9256-485CDEEFBAF4}"/>
              </a:ext>
            </a:extLst>
          </p:cNvPr>
          <p:cNvSpPr>
            <a:spLocks xmlns:a="http://schemas.openxmlformats.org/drawingml/2006/main" noGrp="1"/>
          </p:cNvSpPr>
          <p:nvPr/>
        </p:nvSpPr>
        <p:spPr>
          <a:xfrm xmlns:a="http://schemas.openxmlformats.org/drawingml/2006/main">
            <a:off x="1009650" y="3829050"/>
            <a:ext cx="27241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reproducibility</a:t>
            </a:r>
          </a:p>
        </p:txBody>
      </p:sp>
      <p:sp>
        <p:nvSpPr>
          <p:cNvPr id="20" name="">
            <a:extLst xmlns:a="http://schemas.openxmlformats.org/drawingml/2006/main">
              <a:ext uri="{FF2B5EF4-FFF2-40B4-BE49-F238E27FC236}">
                <a16:creationId xmlns:a16="http://schemas.microsoft.com/office/drawing/2014/main" id="{48DDCAF8-911B-4263-9272-DF15CD9AD8CF}"/>
              </a:ext>
            </a:extLst>
          </p:cNvPr>
          <p:cNvSpPr>
            <a:spLocks xmlns:a="http://schemas.openxmlformats.org/drawingml/2006/main" noGrp="1"/>
          </p:cNvSpPr>
          <p:nvPr/>
        </p:nvSpPr>
        <p:spPr>
          <a:xfrm xmlns:a="http://schemas.openxmlformats.org/drawingml/2006/main">
            <a:off x="1009650" y="4248150"/>
            <a:ext cx="272415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같은 protocol을 여러 번 돌렸을 때</a:t>
            </a:r>
          </a:p>
          <a:p xmlns:a="http://schemas.openxmlformats.org/drawingml/2006/main">
            <a:pPr algn="l">
              <a:defRPr sz="1200" b="0">
                <a:solidFill>
                  <a:srgbClr val="132024"/>
                </a:solidFill>
              </a:defRPr>
            </a:pPr>
            <a:r>
              <a:rPr sz="1200" b="0">
                <a:solidFill>
                  <a:srgbClr val="132024"/>
                </a:solidFill>
              </a:rPr>
              <a:t>cell composition과 success</a:t>
            </a:r>
          </a:p>
          <a:p xmlns:a="http://schemas.openxmlformats.org/drawingml/2006/main">
            <a:pPr algn="l">
              <a:defRPr sz="1200" b="0">
                <a:solidFill>
                  <a:srgbClr val="132024"/>
                </a:solidFill>
              </a:defRPr>
            </a:pPr>
            <a:r>
              <a:rPr sz="1200" b="0">
                <a:solidFill>
                  <a:srgbClr val="132024"/>
                </a:solidFill>
              </a:rPr>
              <a:t>rate가 얼마나 안정적인가?</a:t>
            </a:r>
          </a:p>
        </p:txBody>
      </p:sp>
      <p:sp>
        <p:nvSpPr>
          <p:cNvPr id="21" name="">
            <a:extLst xmlns:a="http://schemas.openxmlformats.org/drawingml/2006/main">
              <a:ext uri="{FF2B5EF4-FFF2-40B4-BE49-F238E27FC236}">
                <a16:creationId xmlns:a16="http://schemas.microsoft.com/office/drawing/2014/main" id="{219F346D-6858-40D4-9611-42B1BE43146E}"/>
              </a:ext>
            </a:extLst>
          </p:cNvPr>
          <p:cNvSpPr>
            <a:spLocks xmlns:a="http://schemas.openxmlformats.org/drawingml/2006/main" noGrp="1"/>
          </p:cNvSpPr>
          <p:nvPr/>
        </p:nvSpPr>
        <p:spPr>
          <a:xfrm xmlns:a="http://schemas.openxmlformats.org/drawingml/2006/main">
            <a:off x="4514850" y="3638550"/>
            <a:ext cx="3143250" cy="1809750"/>
          </a:xfrm>
          <a:prstGeom xmlns:a="http://schemas.openxmlformats.org/drawingml/2006/main" prst="roundRect">
            <a:avLst>
              <a:gd name="adj" fmla="val 4211"/>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22" name="">
            <a:extLst xmlns:a="http://schemas.openxmlformats.org/drawingml/2006/main">
              <a:ext uri="{FF2B5EF4-FFF2-40B4-BE49-F238E27FC236}">
                <a16:creationId xmlns:a16="http://schemas.microsoft.com/office/drawing/2014/main" id="{EDA430B5-9823-40BE-B6AA-95CA9CA4B62F}"/>
              </a:ext>
            </a:extLst>
          </p:cNvPr>
          <p:cNvSpPr>
            <a:spLocks xmlns:a="http://schemas.openxmlformats.org/drawingml/2006/main" noGrp="1"/>
          </p:cNvSpPr>
          <p:nvPr/>
        </p:nvSpPr>
        <p:spPr>
          <a:xfrm xmlns:a="http://schemas.openxmlformats.org/drawingml/2006/main">
            <a:off x="4514850" y="3638550"/>
            <a:ext cx="3143250" cy="76200"/>
          </a:xfrm>
          <a:prstGeom xmlns:a="http://schemas.openxmlformats.org/drawingml/2006/main" prst="rect">
            <a:avLst/>
          </a:prstGeom>
          <a:solidFill xmlns:a="http://schemas.openxmlformats.org/drawingml/2006/main">
            <a:srgbClr val="C9972B"/>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26C68748-D83D-4FB5-B3DA-51F34A263702}"/>
              </a:ext>
            </a:extLst>
          </p:cNvPr>
          <p:cNvSpPr>
            <a:spLocks xmlns:a="http://schemas.openxmlformats.org/drawingml/2006/main" noGrp="1"/>
          </p:cNvSpPr>
          <p:nvPr/>
        </p:nvSpPr>
        <p:spPr>
          <a:xfrm xmlns:a="http://schemas.openxmlformats.org/drawingml/2006/main">
            <a:off x="4724400" y="3829050"/>
            <a:ext cx="27241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fidelity</a:t>
            </a:r>
          </a:p>
        </p:txBody>
      </p:sp>
      <p:sp>
        <p:nvSpPr>
          <p:cNvPr id="24" name="">
            <a:extLst xmlns:a="http://schemas.openxmlformats.org/drawingml/2006/main">
              <a:ext uri="{FF2B5EF4-FFF2-40B4-BE49-F238E27FC236}">
                <a16:creationId xmlns:a16="http://schemas.microsoft.com/office/drawing/2014/main" id="{BF274958-3AF7-4380-9A79-A8A85A4CFC2E}"/>
              </a:ext>
            </a:extLst>
          </p:cNvPr>
          <p:cNvSpPr>
            <a:spLocks xmlns:a="http://schemas.openxmlformats.org/drawingml/2006/main" noGrp="1"/>
          </p:cNvSpPr>
          <p:nvPr/>
        </p:nvSpPr>
        <p:spPr>
          <a:xfrm xmlns:a="http://schemas.openxmlformats.org/drawingml/2006/main">
            <a:off x="4724400" y="4248150"/>
            <a:ext cx="272415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organoid cell state가</a:t>
            </a:r>
          </a:p>
          <a:p xmlns:a="http://schemas.openxmlformats.org/drawingml/2006/main">
            <a:pPr algn="l">
              <a:defRPr sz="1200" b="0">
                <a:solidFill>
                  <a:srgbClr val="132024"/>
                </a:solidFill>
              </a:defRPr>
            </a:pPr>
            <a:r>
              <a:rPr sz="1200" b="0">
                <a:solidFill>
                  <a:srgbClr val="132024"/>
                </a:solidFill>
              </a:rPr>
              <a:t>primary fetal brain과 얼마나</a:t>
            </a:r>
          </a:p>
          <a:p xmlns:a="http://schemas.openxmlformats.org/drawingml/2006/main">
            <a:pPr algn="l">
              <a:defRPr sz="1200" b="0">
                <a:solidFill>
                  <a:srgbClr val="132024"/>
                </a:solidFill>
              </a:defRPr>
            </a:pPr>
            <a:r>
              <a:rPr sz="1200" b="0">
                <a:solidFill>
                  <a:srgbClr val="132024"/>
                </a:solidFill>
              </a:rPr>
              <a:t>가까운가?</a:t>
            </a:r>
          </a:p>
        </p:txBody>
      </p:sp>
      <p:sp>
        <p:nvSpPr>
          <p:cNvPr id="25" name="">
            <a:extLst xmlns:a="http://schemas.openxmlformats.org/drawingml/2006/main">
              <a:ext uri="{FF2B5EF4-FFF2-40B4-BE49-F238E27FC236}">
                <a16:creationId xmlns:a16="http://schemas.microsoft.com/office/drawing/2014/main" id="{B0DD95A9-C604-48AA-BDD9-7E49D9B98643}"/>
              </a:ext>
            </a:extLst>
          </p:cNvPr>
          <p:cNvSpPr>
            <a:spLocks xmlns:a="http://schemas.openxmlformats.org/drawingml/2006/main" noGrp="1"/>
          </p:cNvSpPr>
          <p:nvPr/>
        </p:nvSpPr>
        <p:spPr>
          <a:xfrm xmlns:a="http://schemas.openxmlformats.org/drawingml/2006/main">
            <a:off x="8229600" y="3638550"/>
            <a:ext cx="3143250" cy="1809750"/>
          </a:xfrm>
          <a:prstGeom xmlns:a="http://schemas.openxmlformats.org/drawingml/2006/main" prst="roundRect">
            <a:avLst>
              <a:gd name="adj" fmla="val 4211"/>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26" name="">
            <a:extLst xmlns:a="http://schemas.openxmlformats.org/drawingml/2006/main">
              <a:ext uri="{FF2B5EF4-FFF2-40B4-BE49-F238E27FC236}">
                <a16:creationId xmlns:a16="http://schemas.microsoft.com/office/drawing/2014/main" id="{404D8235-A556-40CF-A7D3-D7BA132E50A8}"/>
              </a:ext>
            </a:extLst>
          </p:cNvPr>
          <p:cNvSpPr>
            <a:spLocks xmlns:a="http://schemas.openxmlformats.org/drawingml/2006/main" noGrp="1"/>
          </p:cNvSpPr>
          <p:nvPr/>
        </p:nvSpPr>
        <p:spPr>
          <a:xfrm xmlns:a="http://schemas.openxmlformats.org/drawingml/2006/main">
            <a:off x="8229600" y="3638550"/>
            <a:ext cx="3143250" cy="76200"/>
          </a:xfrm>
          <a:prstGeom xmlns:a="http://schemas.openxmlformats.org/drawingml/2006/main" prst="rect">
            <a:avLst/>
          </a:prstGeom>
          <a:solidFill xmlns:a="http://schemas.openxmlformats.org/drawingml/2006/main">
            <a:srgbClr val="D66C60"/>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BA75BF4E-E1A3-475B-9593-BE9385DB2F58}"/>
              </a:ext>
            </a:extLst>
          </p:cNvPr>
          <p:cNvSpPr>
            <a:spLocks xmlns:a="http://schemas.openxmlformats.org/drawingml/2006/main" noGrp="1"/>
          </p:cNvSpPr>
          <p:nvPr/>
        </p:nvSpPr>
        <p:spPr>
          <a:xfrm xmlns:a="http://schemas.openxmlformats.org/drawingml/2006/main">
            <a:off x="8439150" y="3829050"/>
            <a:ext cx="27241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temporal mapping</a:t>
            </a:r>
          </a:p>
        </p:txBody>
      </p:sp>
      <p:sp>
        <p:nvSpPr>
          <p:cNvPr id="28" name="">
            <a:extLst xmlns:a="http://schemas.openxmlformats.org/drawingml/2006/main">
              <a:ext uri="{FF2B5EF4-FFF2-40B4-BE49-F238E27FC236}">
                <a16:creationId xmlns:a16="http://schemas.microsoft.com/office/drawing/2014/main" id="{2AC9B7AE-89DC-47FE-8E30-61256E734CB6}"/>
              </a:ext>
            </a:extLst>
          </p:cNvPr>
          <p:cNvSpPr>
            <a:spLocks xmlns:a="http://schemas.openxmlformats.org/drawingml/2006/main" noGrp="1"/>
          </p:cNvSpPr>
          <p:nvPr/>
        </p:nvSpPr>
        <p:spPr>
          <a:xfrm xmlns:a="http://schemas.openxmlformats.org/drawingml/2006/main">
            <a:off x="8439150" y="4248150"/>
            <a:ext cx="272415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day 30, day 60 같은 culture</a:t>
            </a:r>
          </a:p>
          <a:p xmlns:a="http://schemas.openxmlformats.org/drawingml/2006/main">
            <a:pPr algn="l">
              <a:defRPr sz="1200" b="0">
                <a:solidFill>
                  <a:srgbClr val="132024"/>
                </a:solidFill>
              </a:defRPr>
            </a:pPr>
            <a:r>
              <a:rPr sz="1200" b="0">
                <a:solidFill>
                  <a:srgbClr val="132024"/>
                </a:solidFill>
              </a:rPr>
              <a:t>day가 실제 human developmental</a:t>
            </a:r>
          </a:p>
          <a:p xmlns:a="http://schemas.openxmlformats.org/drawingml/2006/main">
            <a:pPr algn="l">
              <a:defRPr sz="1200" b="0">
                <a:solidFill>
                  <a:srgbClr val="132024"/>
                </a:solidFill>
              </a:defRPr>
            </a:pPr>
            <a:r>
              <a:rPr sz="1200" b="0">
                <a:solidFill>
                  <a:srgbClr val="132024"/>
                </a:solidFill>
              </a:rPr>
              <a:t>stage와 어떻게 대응되는가?</a:t>
            </a:r>
          </a:p>
        </p:txBody>
      </p:sp>
      <p:sp>
        <p:nvSpPr>
          <p:cNvPr id="29" name="">
            <a:extLst xmlns:a="http://schemas.openxmlformats.org/drawingml/2006/main">
              <a:ext uri="{FF2B5EF4-FFF2-40B4-BE49-F238E27FC236}">
                <a16:creationId xmlns:a16="http://schemas.microsoft.com/office/drawing/2014/main" id="{C149E10E-2497-4FBC-8323-120B453F33DF}"/>
              </a:ext>
            </a:extLst>
          </p:cNvPr>
          <p:cNvSpPr>
            <a:spLocks xmlns:a="http://schemas.openxmlformats.org/drawingml/2006/main" noGrp="1"/>
          </p:cNvSpPr>
          <p:nvPr/>
        </p:nvSpPr>
        <p:spPr>
          <a:xfrm xmlns:a="http://schemas.openxmlformats.org/drawingml/2006/main">
            <a:off x="9810750" y="5543550"/>
            <a:ext cx="1200150" cy="266700"/>
          </a:xfrm>
          <a:prstGeom xmlns:a="http://schemas.openxmlformats.org/drawingml/2006/main" prst="rect">
            <a:avLst/>
          </a:prstGeom>
          <a:solidFill xmlns:a="http://schemas.openxmlformats.org/drawingml/2006/main">
            <a:srgbClr val="DDF4E8"/>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0F5B3F"/>
                </a:solidFill>
              </a:defRPr>
            </a:pPr>
            <a:r>
              <a:rPr sz="900" b="1">
                <a:solidFill>
                  <a:srgbClr val="0F5B3F"/>
                </a:solidFill>
              </a:rPr>
              <a:t>Q1 -&gt; Q2</a:t>
            </a:r>
          </a:p>
        </p:txBody>
      </p:sp>
      <p:sp>
        <p:nvSpPr>
          <p:cNvPr id="30" name="">
            <a:extLst xmlns:a="http://schemas.openxmlformats.org/drawingml/2006/main">
              <a:ext uri="{FF2B5EF4-FFF2-40B4-BE49-F238E27FC236}">
                <a16:creationId xmlns:a16="http://schemas.microsoft.com/office/drawing/2014/main" id="{F94F13B0-8055-4507-AC32-650F789A7ACA}"/>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A767C"/>
                </a:solidFill>
              </a:defRPr>
            </a:pPr>
            <a:r>
              <a:rPr sz="750" b="0">
                <a:solidFill>
                  <a:srgbClr val="6A767C"/>
                </a:solidFill>
              </a:rPr>
              <a:t>한계 발견의 순간: region question만으로는 모델의 믿을 만함을 설명할 수 없었다.</a:t>
            </a:r>
          </a:p>
        </p:txBody>
      </p:sp>
    </p:spTree>
    <p:extLst>
      <p:ext uri="{BB962C8B-B14F-4D97-AF65-F5344CB8AC3E}">
        <p14:creationId xmlns:p14="http://schemas.microsoft.com/office/powerpoint/2010/main" val="2081073485"/>
      </p:ext>
    </p:extLst>
  </p:cSld>
</p:sld>
</file>

<file path=ppt/slides/slide6.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8BDF79F-9F16-4FEE-B72E-1F506FE9EBEC}"/>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a91e4fb05424552"/>
          <a:srcRect xmlns:a="http://schemas.openxmlformats.org/drawingml/2006/main" l="0" t="21875" r="0" b="2187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D294D12-89BB-457C-AD2B-515EF102021D}"/>
              </a:ext>
            </a:extLst>
          </p:cNvPr>
          <p:cNvSpPr>
            <a:spLocks xmlns:a="http://schemas.openxmlformats.org/drawingml/2006/main" noGrp="1"/>
          </p:cNvSpPr>
          <p:nvPr/>
        </p:nvSpPr>
        <p:spPr>
          <a:xfrm xmlns:a="http://schemas.openxmlformats.org/drawingml/2006/main">
            <a:off x="7867650" y="781050"/>
            <a:ext cx="3638550" cy="3638550"/>
          </a:xfrm>
          <a:prstGeom xmlns:a="http://schemas.openxmlformats.org/drawingml/2006/main" prst="ellipse">
            <a:avLst/>
          </a:prstGeom>
          <a:solidFill xmlns:a="http://schemas.openxmlformats.org/drawingml/2006/main">
            <a:srgbClr val="E4F5EC"/>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9482DCA7-FBDC-4E0C-960D-66E22FC6D1F2}"/>
              </a:ext>
            </a:extLst>
          </p:cNvPr>
          <p:cNvSpPr>
            <a:spLocks xmlns:a="http://schemas.openxmlformats.org/drawingml/2006/main" noGrp="1"/>
          </p:cNvSpPr>
          <p:nvPr/>
        </p:nvSpPr>
        <p:spPr>
          <a:xfrm xmlns:a="http://schemas.openxmlformats.org/drawingml/2006/main">
            <a:off x="9220200" y="4152900"/>
            <a:ext cx="1962150" cy="1962150"/>
          </a:xfrm>
          <a:prstGeom xmlns:a="http://schemas.openxmlformats.org/drawingml/2006/main" prst="ellipse">
            <a:avLst/>
          </a:prstGeom>
          <a:solidFill xmlns:a="http://schemas.openxmlformats.org/drawingml/2006/main">
            <a:srgbClr val="E6EDF1"/>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FD96DD69-E8FA-49A7-97FB-D35E6A6E26EF}"/>
              </a:ext>
            </a:extLst>
          </p:cNvPr>
          <p:cNvSpPr>
            <a:spLocks xmlns:a="http://schemas.openxmlformats.org/drawingml/2006/main" noGrp="1"/>
          </p:cNvSpPr>
          <p:nvPr/>
        </p:nvSpPr>
        <p:spPr>
          <a:xfrm xmlns:a="http://schemas.openxmlformats.org/drawingml/2006/main">
            <a:off x="8534400" y="1409700"/>
            <a:ext cx="2457450" cy="1409700"/>
          </a:xfrm>
          <a:prstGeom xmlns:a="http://schemas.openxmlformats.org/drawingml/2006/main" prst="roundRect">
            <a:avLst>
              <a:gd name="adj" fmla="val 5405"/>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6" name="">
            <a:extLst xmlns:a="http://schemas.openxmlformats.org/drawingml/2006/main">
              <a:ext uri="{FF2B5EF4-FFF2-40B4-BE49-F238E27FC236}">
                <a16:creationId xmlns:a16="http://schemas.microsoft.com/office/drawing/2014/main" id="{014C5B91-33C5-4F69-A39C-7CC66A33119C}"/>
              </a:ext>
            </a:extLst>
          </p:cNvPr>
          <p:cNvSpPr>
            <a:spLocks xmlns:a="http://schemas.openxmlformats.org/drawingml/2006/main" noGrp="1"/>
          </p:cNvSpPr>
          <p:nvPr/>
        </p:nvSpPr>
        <p:spPr>
          <a:xfrm xmlns:a="http://schemas.openxmlformats.org/drawingml/2006/main">
            <a:off x="9010650" y="3067050"/>
            <a:ext cx="2152650" cy="1123950"/>
          </a:xfrm>
          <a:prstGeom xmlns:a="http://schemas.openxmlformats.org/drawingml/2006/main" prst="roundRect">
            <a:avLst>
              <a:gd name="adj" fmla="val 6780"/>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7" name="">
            <a:extLst xmlns:a="http://schemas.openxmlformats.org/drawingml/2006/main">
              <a:ext uri="{FF2B5EF4-FFF2-40B4-BE49-F238E27FC236}">
                <a16:creationId xmlns:a16="http://schemas.microsoft.com/office/drawing/2014/main" id="{18317FC8-CDDE-4333-9824-18428509DAC5}"/>
              </a:ext>
            </a:extLst>
          </p:cNvPr>
          <p:cNvSpPr>
            <a:spLocks xmlns:a="http://schemas.openxmlformats.org/drawingml/2006/main" noGrp="1"/>
          </p:cNvSpPr>
          <p:nvPr/>
        </p:nvSpPr>
        <p:spPr>
          <a:xfrm xmlns:a="http://schemas.openxmlformats.org/drawingml/2006/main">
            <a:off x="8039100" y="4629150"/>
            <a:ext cx="2000250" cy="914400"/>
          </a:xfrm>
          <a:prstGeom xmlns:a="http://schemas.openxmlformats.org/drawingml/2006/main" prst="roundRect">
            <a:avLst>
              <a:gd name="adj" fmla="val 8333"/>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8" name="">
            <a:extLst xmlns:a="http://schemas.openxmlformats.org/drawingml/2006/main">
              <a:ext uri="{FF2B5EF4-FFF2-40B4-BE49-F238E27FC236}">
                <a16:creationId xmlns:a16="http://schemas.microsoft.com/office/drawing/2014/main" id="{093F996B-17F6-4966-A98A-7D2EA82526E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CF7">
              <a:alpha val="80000"/>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82EC5712-1C9F-4D80-9130-CF6F7DD55FC4}"/>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F5B3F"/>
                </a:solidFill>
              </a:defRPr>
            </a:pPr>
            <a:r>
              <a:rPr sz="975" b="1">
                <a:solidFill>
                  <a:srgbClr val="0F5B3F"/>
                </a:solidFill>
              </a:rPr>
              <a:t>QUESTION 2</a:t>
            </a:r>
          </a:p>
        </p:txBody>
      </p:sp>
      <p:sp>
        <p:nvSpPr>
          <p:cNvPr id="10" name="">
            <a:extLst xmlns:a="http://schemas.openxmlformats.org/drawingml/2006/main">
              <a:ext uri="{FF2B5EF4-FFF2-40B4-BE49-F238E27FC236}">
                <a16:creationId xmlns:a16="http://schemas.microsoft.com/office/drawing/2014/main" id="{E9DD3B2D-1C31-4F95-9DF9-B15E355FB8B1}"/>
              </a:ext>
            </a:extLst>
          </p:cNvPr>
          <p:cNvSpPr>
            <a:spLocks xmlns:a="http://schemas.openxmlformats.org/drawingml/2006/main" noGrp="1"/>
          </p:cNvSpPr>
          <p:nvPr/>
        </p:nvSpPr>
        <p:spPr>
          <a:xfrm xmlns:a="http://schemas.openxmlformats.org/drawingml/2006/main">
            <a:off x="10610850" y="323850"/>
            <a:ext cx="990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0F5B3F"/>
                </a:solidFill>
              </a:defRPr>
            </a:pPr>
            <a:r>
              <a:rPr sz="975" b="1">
                <a:solidFill>
                  <a:srgbClr val="0F5B3F"/>
                </a:solidFill>
              </a:rPr>
              <a:t>06 / 09</a:t>
            </a:r>
          </a:p>
        </p:txBody>
      </p:sp>
      <p:sp>
        <p:nvSpPr>
          <p:cNvPr id="11" name="">
            <a:extLst xmlns:a="http://schemas.openxmlformats.org/drawingml/2006/main">
              <a:ext uri="{FF2B5EF4-FFF2-40B4-BE49-F238E27FC236}">
                <a16:creationId xmlns:a16="http://schemas.microsoft.com/office/drawing/2014/main" id="{DE9ADBB0-7E0C-4970-9EC9-AAA0BFB47CEC}"/>
              </a:ext>
            </a:extLst>
          </p:cNvPr>
          <p:cNvSpPr>
            <a:spLocks xmlns:a="http://schemas.openxmlformats.org/drawingml/2006/main" noGrp="1"/>
          </p:cNvSpPr>
          <p:nvPr/>
        </p:nvSpPr>
        <p:spPr>
          <a:xfrm xmlns:a="http://schemas.openxmlformats.org/drawingml/2006/main">
            <a:off x="609600" y="609600"/>
            <a:ext cx="10972800" cy="19050"/>
          </a:xfrm>
          <a:prstGeom xmlns:a="http://schemas.openxmlformats.org/drawingml/2006/main" prst="rect">
            <a:avLst/>
          </a:prstGeom>
          <a:solidFill xmlns:a="http://schemas.openxmlformats.org/drawingml/2006/main">
            <a:srgbClr val="132024"/>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3100ECDB-70E8-4EAA-A899-27A9AEB58E6B}"/>
              </a:ext>
            </a:extLst>
          </p:cNvPr>
          <p:cNvSpPr>
            <a:spLocks xmlns:a="http://schemas.openxmlformats.org/drawingml/2006/main" noGrp="1"/>
          </p:cNvSpPr>
          <p:nvPr/>
        </p:nvSpPr>
        <p:spPr>
          <a:xfrm xmlns:a="http://schemas.openxmlformats.org/drawingml/2006/main">
            <a:off x="542925" y="542925"/>
            <a:ext cx="152400" cy="152400"/>
          </a:xfrm>
          <a:prstGeom xmlns:a="http://schemas.openxmlformats.org/drawingml/2006/main" prst="ellipse">
            <a:avLst/>
          </a:prstGeom>
          <a:solidFill xmlns:a="http://schemas.openxmlformats.org/drawingml/2006/main">
            <a:srgbClr val="1D9A69"/>
          </a:solidFill>
          <a:ln xmlns:a="http://schemas.openxmlformats.org/drawingml/2006/main" w="19050">
            <a:solidFill>
              <a:srgbClr val="132024"/>
            </a:solidFill>
            <a:prstDash val="solid"/>
          </a:ln>
        </p:spPr>
      </p:sp>
      <p:sp>
        <p:nvSpPr>
          <p:cNvPr id="13" name="">
            <a:extLst xmlns:a="http://schemas.openxmlformats.org/drawingml/2006/main">
              <a:ext uri="{FF2B5EF4-FFF2-40B4-BE49-F238E27FC236}">
                <a16:creationId xmlns:a16="http://schemas.microsoft.com/office/drawing/2014/main" id="{3E1C1014-2E11-4734-9710-587BD510180F}"/>
              </a:ext>
            </a:extLst>
          </p:cNvPr>
          <p:cNvSpPr>
            <a:spLocks xmlns:a="http://schemas.openxmlformats.org/drawingml/2006/main" noGrp="1"/>
          </p:cNvSpPr>
          <p:nvPr/>
        </p:nvSpPr>
        <p:spPr>
          <a:xfrm xmlns:a="http://schemas.openxmlformats.org/drawingml/2006/main">
            <a:off x="609600" y="838200"/>
            <a:ext cx="7239000" cy="112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75" b="1">
                <a:solidFill>
                  <a:srgbClr val="132024"/>
                </a:solidFill>
              </a:defRPr>
            </a:pPr>
            <a:r>
              <a:rPr sz="2775" b="1">
                <a:solidFill>
                  <a:srgbClr val="132024"/>
                </a:solidFill>
              </a:rPr>
              <a:t>2차 질문: 발달정도·동기화 비교는</a:t>
            </a:r>
          </a:p>
          <a:p xmlns:a="http://schemas.openxmlformats.org/drawingml/2006/main">
            <a:pPr algn="l">
              <a:defRPr sz="2775" b="1">
                <a:solidFill>
                  <a:srgbClr val="132024"/>
                </a:solidFill>
              </a:defRPr>
            </a:pPr>
            <a:r>
              <a:rPr sz="2775" b="1">
                <a:solidFill>
                  <a:srgbClr val="132024"/>
                </a:solidFill>
              </a:rPr>
              <a:t>어느 수준의 세분화가 필요한가</a:t>
            </a:r>
          </a:p>
        </p:txBody>
      </p:sp>
      <p:sp>
        <p:nvSpPr>
          <p:cNvPr id="14" name="">
            <a:extLst xmlns:a="http://schemas.openxmlformats.org/drawingml/2006/main">
              <a:ext uri="{FF2B5EF4-FFF2-40B4-BE49-F238E27FC236}">
                <a16:creationId xmlns:a16="http://schemas.microsoft.com/office/drawing/2014/main" id="{5E2A9A20-D964-4EA3-9948-F19F35C290E7}"/>
              </a:ext>
            </a:extLst>
          </p:cNvPr>
          <p:cNvSpPr>
            <a:spLocks xmlns:a="http://schemas.openxmlformats.org/drawingml/2006/main" noGrp="1"/>
          </p:cNvSpPr>
          <p:nvPr/>
        </p:nvSpPr>
        <p:spPr>
          <a:xfrm xmlns:a="http://schemas.openxmlformats.org/drawingml/2006/main">
            <a:off x="628650" y="2038350"/>
            <a:ext cx="68580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344146"/>
                </a:solidFill>
              </a:defRPr>
            </a:pPr>
            <a:r>
              <a:rPr sz="1350" b="0">
                <a:solidFill>
                  <a:srgbClr val="344146"/>
                </a:solidFill>
              </a:rPr>
              <a:t>Round 2-4의 benchmark 논문들이 들어오면서,</a:t>
            </a:r>
          </a:p>
          <a:p xmlns:a="http://schemas.openxmlformats.org/drawingml/2006/main">
            <a:pPr algn="l">
              <a:defRPr sz="1350" b="0">
                <a:solidFill>
                  <a:srgbClr val="344146"/>
                </a:solidFill>
              </a:defRPr>
            </a:pPr>
            <a:r>
              <a:rPr sz="1350" b="0">
                <a:solidFill>
                  <a:srgbClr val="344146"/>
                </a:solidFill>
              </a:rPr>
              <a:t>질문 자체가 새 프레임으로 재구성됐다.</a:t>
            </a:r>
          </a:p>
        </p:txBody>
      </p:sp>
      <p:sp>
        <p:nvSpPr>
          <p:cNvPr id="15" name="">
            <a:extLst xmlns:a="http://schemas.openxmlformats.org/drawingml/2006/main">
              <a:ext uri="{FF2B5EF4-FFF2-40B4-BE49-F238E27FC236}">
                <a16:creationId xmlns:a16="http://schemas.microsoft.com/office/drawing/2014/main" id="{19FE4D58-E19E-42FA-AFFE-D75E5A765CDD}"/>
              </a:ext>
            </a:extLst>
          </p:cNvPr>
          <p:cNvSpPr>
            <a:spLocks xmlns:a="http://schemas.openxmlformats.org/drawingml/2006/main" noGrp="1"/>
          </p:cNvSpPr>
          <p:nvPr/>
        </p:nvSpPr>
        <p:spPr>
          <a:xfrm xmlns:a="http://schemas.openxmlformats.org/drawingml/2006/main">
            <a:off x="8362950" y="876300"/>
            <a:ext cx="1543050" cy="266700"/>
          </a:xfrm>
          <a:prstGeom xmlns:a="http://schemas.openxmlformats.org/drawingml/2006/main" prst="rect">
            <a:avLst/>
          </a:prstGeom>
          <a:solidFill xmlns:a="http://schemas.openxmlformats.org/drawingml/2006/main">
            <a:srgbClr val="F4E8C8"/>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7A5A14"/>
                </a:solidFill>
              </a:defRPr>
            </a:pPr>
            <a:r>
              <a:rPr sz="900" b="1">
                <a:solidFill>
                  <a:srgbClr val="7A5A14"/>
                </a:solidFill>
              </a:rPr>
              <a:t>Round 2-4 added</a:t>
            </a:r>
          </a:p>
        </p:txBody>
      </p:sp>
      <p:sp>
        <p:nvSpPr>
          <p:cNvPr id="16" name="">
            <a:extLst xmlns:a="http://schemas.openxmlformats.org/drawingml/2006/main">
              <a:ext uri="{FF2B5EF4-FFF2-40B4-BE49-F238E27FC236}">
                <a16:creationId xmlns:a16="http://schemas.microsoft.com/office/drawing/2014/main" id="{241EF0C2-1522-46A5-9379-9145E29F76B1}"/>
              </a:ext>
            </a:extLst>
          </p:cNvPr>
          <p:cNvSpPr>
            <a:spLocks xmlns:a="http://schemas.openxmlformats.org/drawingml/2006/main" noGrp="1"/>
          </p:cNvSpPr>
          <p:nvPr/>
        </p:nvSpPr>
        <p:spPr>
          <a:xfrm xmlns:a="http://schemas.openxmlformats.org/drawingml/2006/main">
            <a:off x="4343400" y="2609850"/>
            <a:ext cx="3048000" cy="1181100"/>
          </a:xfrm>
          <a:prstGeom xmlns:a="http://schemas.openxmlformats.org/drawingml/2006/main" prst="roundRect">
            <a:avLst>
              <a:gd name="adj" fmla="val 6452"/>
            </a:avLst>
          </a:prstGeom>
          <a:solidFill xmlns:a="http://schemas.openxmlformats.org/drawingml/2006/main">
            <a:srgbClr val="DDF4E8"/>
          </a:solidFill>
          <a:ln xmlns:a="http://schemas.openxmlformats.org/drawingml/2006/main" w="10478">
            <a:solidFill>
              <a:srgbClr val="132024"/>
            </a:solidFill>
            <a:prstDash val="solid"/>
          </a:ln>
        </p:spPr>
      </p:sp>
      <p:sp>
        <p:nvSpPr>
          <p:cNvPr id="17" name="">
            <a:extLst xmlns:a="http://schemas.openxmlformats.org/drawingml/2006/main">
              <a:ext uri="{FF2B5EF4-FFF2-40B4-BE49-F238E27FC236}">
                <a16:creationId xmlns:a16="http://schemas.microsoft.com/office/drawing/2014/main" id="{6122FB66-48D5-40B9-AB52-063505840896}"/>
              </a:ext>
            </a:extLst>
          </p:cNvPr>
          <p:cNvSpPr>
            <a:spLocks xmlns:a="http://schemas.openxmlformats.org/drawingml/2006/main" noGrp="1"/>
          </p:cNvSpPr>
          <p:nvPr/>
        </p:nvSpPr>
        <p:spPr>
          <a:xfrm xmlns:a="http://schemas.openxmlformats.org/drawingml/2006/main">
            <a:off x="4343400" y="2609850"/>
            <a:ext cx="66675" cy="1181100"/>
          </a:xfrm>
          <a:prstGeom xmlns:a="http://schemas.openxmlformats.org/drawingml/2006/main" prst="rect">
            <a:avLst/>
          </a:prstGeom>
          <a:solidFill xmlns:a="http://schemas.openxmlformats.org/drawingml/2006/main">
            <a:srgbClr val="0F5B3F"/>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79C5E0A4-226A-4670-8D08-0479D65F400B}"/>
              </a:ext>
            </a:extLst>
          </p:cNvPr>
          <p:cNvSpPr>
            <a:spLocks xmlns:a="http://schemas.openxmlformats.org/drawingml/2006/main" noGrp="1"/>
          </p:cNvSpPr>
          <p:nvPr/>
        </p:nvSpPr>
        <p:spPr>
          <a:xfrm xmlns:a="http://schemas.openxmlformats.org/drawingml/2006/main">
            <a:off x="4514850" y="2762250"/>
            <a:ext cx="609600" cy="228600"/>
          </a:xfrm>
          <a:prstGeom xmlns:a="http://schemas.openxmlformats.org/drawingml/2006/main" prst="rect">
            <a:avLst/>
          </a:prstGeom>
          <a:solidFill xmlns:a="http://schemas.openxmlformats.org/drawingml/2006/main">
            <a:srgbClr val="DDF4E8"/>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0F5B3F"/>
                </a:solidFill>
              </a:defRPr>
            </a:pPr>
            <a:r>
              <a:rPr sz="900" b="1">
                <a:solidFill>
                  <a:srgbClr val="0F5B3F"/>
                </a:solidFill>
              </a:rPr>
              <a:t>query</a:t>
            </a:r>
          </a:p>
        </p:txBody>
      </p:sp>
      <p:sp>
        <p:nvSpPr>
          <p:cNvPr id="19" name="">
            <a:extLst xmlns:a="http://schemas.openxmlformats.org/drawingml/2006/main">
              <a:ext uri="{FF2B5EF4-FFF2-40B4-BE49-F238E27FC236}">
                <a16:creationId xmlns:a16="http://schemas.microsoft.com/office/drawing/2014/main" id="{B9AB77F9-83E3-438D-9989-A558FBBF7050}"/>
              </a:ext>
            </a:extLst>
          </p:cNvPr>
          <p:cNvSpPr>
            <a:spLocks xmlns:a="http://schemas.openxmlformats.org/drawingml/2006/main" noGrp="1"/>
          </p:cNvSpPr>
          <p:nvPr/>
        </p:nvSpPr>
        <p:spPr>
          <a:xfrm xmlns:a="http://schemas.openxmlformats.org/drawingml/2006/main">
            <a:off x="4514850" y="3048000"/>
            <a:ext cx="27241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32024"/>
                </a:solidFill>
              </a:defRPr>
            </a:pPr>
            <a:r>
              <a:rPr sz="1275" b="1">
                <a:solidFill>
                  <a:srgbClr val="132024"/>
                </a:solidFill>
              </a:rPr>
              <a:t>Q2 | 발달정도·동기화 비교 프레임워크</a:t>
            </a:r>
          </a:p>
        </p:txBody>
      </p:sp>
      <p:sp>
        <p:nvSpPr>
          <p:cNvPr id="20" name="">
            <a:extLst xmlns:a="http://schemas.openxmlformats.org/drawingml/2006/main">
              <a:ext uri="{FF2B5EF4-FFF2-40B4-BE49-F238E27FC236}">
                <a16:creationId xmlns:a16="http://schemas.microsoft.com/office/drawing/2014/main" id="{A2E9AC2C-E595-4700-9669-BF6BFB71BBD8}"/>
              </a:ext>
            </a:extLst>
          </p:cNvPr>
          <p:cNvSpPr>
            <a:spLocks xmlns:a="http://schemas.openxmlformats.org/drawingml/2006/main" noGrp="1"/>
          </p:cNvSpPr>
          <p:nvPr/>
        </p:nvSpPr>
        <p:spPr>
          <a:xfrm xmlns:a="http://schemas.openxmlformats.org/drawingml/2006/main">
            <a:off x="4514850" y="3295650"/>
            <a:ext cx="27241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344146"/>
                </a:solidFill>
              </a:defRPr>
            </a:pPr>
            <a:r>
              <a:rPr sz="825" b="0">
                <a:solidFill>
                  <a:srgbClr val="344146"/>
                </a:solidFill>
              </a:rPr>
              <a:t>어느 수준의 세분화가 필요한가?</a:t>
            </a:r>
          </a:p>
        </p:txBody>
      </p:sp>
      <p:sp>
        <p:nvSpPr>
          <p:cNvPr id="21" name="">
            <a:extLst xmlns:a="http://schemas.openxmlformats.org/drawingml/2006/main">
              <a:ext uri="{FF2B5EF4-FFF2-40B4-BE49-F238E27FC236}">
                <a16:creationId xmlns:a16="http://schemas.microsoft.com/office/drawing/2014/main" id="{9C06971A-9C36-4E2C-85C1-FEF0793CDAFA}"/>
              </a:ext>
            </a:extLst>
          </p:cNvPr>
          <p:cNvSpPr>
            <a:spLocks xmlns:a="http://schemas.openxmlformats.org/drawingml/2006/main" noGrp="1"/>
          </p:cNvSpPr>
          <p:nvPr/>
        </p:nvSpPr>
        <p:spPr>
          <a:xfrm xmlns:a="http://schemas.openxmlformats.org/drawingml/2006/main">
            <a:off x="971550" y="2000250"/>
            <a:ext cx="1943100" cy="1143000"/>
          </a:xfrm>
          <a:prstGeom xmlns:a="http://schemas.openxmlformats.org/drawingml/2006/main" prst="roundRect">
            <a:avLst>
              <a:gd name="adj" fmla="val 6667"/>
            </a:avLst>
          </a:prstGeom>
          <a:solidFill xmlns:a="http://schemas.openxmlformats.org/drawingml/2006/main">
            <a:srgbClr val="FFFDF8"/>
          </a:solidFill>
          <a:ln xmlns:a="http://schemas.openxmlformats.org/drawingml/2006/main" w="10478">
            <a:solidFill>
              <a:srgbClr val="132024"/>
            </a:solidFill>
            <a:prstDash val="solid"/>
          </a:ln>
        </p:spPr>
      </p:sp>
      <p:sp>
        <p:nvSpPr>
          <p:cNvPr id="22" name="">
            <a:extLst xmlns:a="http://schemas.openxmlformats.org/drawingml/2006/main">
              <a:ext uri="{FF2B5EF4-FFF2-40B4-BE49-F238E27FC236}">
                <a16:creationId xmlns:a16="http://schemas.microsoft.com/office/drawing/2014/main" id="{2D1DD782-F83A-48F3-B4D3-D7BA9FA0DA11}"/>
              </a:ext>
            </a:extLst>
          </p:cNvPr>
          <p:cNvSpPr>
            <a:spLocks xmlns:a="http://schemas.openxmlformats.org/drawingml/2006/main" noGrp="1"/>
          </p:cNvSpPr>
          <p:nvPr/>
        </p:nvSpPr>
        <p:spPr>
          <a:xfrm xmlns:a="http://schemas.openxmlformats.org/drawingml/2006/main">
            <a:off x="971550" y="2000250"/>
            <a:ext cx="66675" cy="1143000"/>
          </a:xfrm>
          <a:prstGeom xmlns:a="http://schemas.openxmlformats.org/drawingml/2006/main" prst="rect">
            <a:avLst/>
          </a:prstGeom>
          <a:solidFill xmlns:a="http://schemas.openxmlformats.org/drawingml/2006/main">
            <a:srgbClr val="1D9A69"/>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3E736DD9-DC8E-4D3B-A4F0-650F790204AD}"/>
              </a:ext>
            </a:extLst>
          </p:cNvPr>
          <p:cNvSpPr>
            <a:spLocks xmlns:a="http://schemas.openxmlformats.org/drawingml/2006/main" noGrp="1"/>
          </p:cNvSpPr>
          <p:nvPr/>
        </p:nvSpPr>
        <p:spPr>
          <a:xfrm xmlns:a="http://schemas.openxmlformats.org/drawingml/2006/main">
            <a:off x="1143000" y="2152650"/>
            <a:ext cx="647700" cy="228600"/>
          </a:xfrm>
          <a:prstGeom xmlns:a="http://schemas.openxmlformats.org/drawingml/2006/main" prst="rect">
            <a:avLst/>
          </a:prstGeom>
          <a:solidFill xmlns:a="http://schemas.openxmlformats.org/drawingml/2006/main">
            <a:srgbClr val="DCE7EE"/>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274D63"/>
                </a:solidFill>
              </a:defRPr>
            </a:pPr>
            <a:r>
              <a:rPr sz="900" b="1">
                <a:solidFill>
                  <a:srgbClr val="274D63"/>
                </a:solidFill>
              </a:rPr>
              <a:t>source</a:t>
            </a:r>
          </a:p>
        </p:txBody>
      </p:sp>
      <p:sp>
        <p:nvSpPr>
          <p:cNvPr id="24" name="">
            <a:extLst xmlns:a="http://schemas.openxmlformats.org/drawingml/2006/main">
              <a:ext uri="{FF2B5EF4-FFF2-40B4-BE49-F238E27FC236}">
                <a16:creationId xmlns:a16="http://schemas.microsoft.com/office/drawing/2014/main" id="{BF69235A-71DF-4CC3-9300-79352369CFAF}"/>
              </a:ext>
            </a:extLst>
          </p:cNvPr>
          <p:cNvSpPr>
            <a:spLocks xmlns:a="http://schemas.openxmlformats.org/drawingml/2006/main" noGrp="1"/>
          </p:cNvSpPr>
          <p:nvPr/>
        </p:nvSpPr>
        <p:spPr>
          <a:xfrm xmlns:a="http://schemas.openxmlformats.org/drawingml/2006/main">
            <a:off x="1143000" y="2438400"/>
            <a:ext cx="1619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32024"/>
                </a:solidFill>
              </a:defRPr>
            </a:pPr>
            <a:r>
              <a:rPr sz="1275" b="1">
                <a:solidFill>
                  <a:srgbClr val="132024"/>
                </a:solidFill>
              </a:rPr>
              <a:t>Velasco 2019</a:t>
            </a:r>
          </a:p>
        </p:txBody>
      </p:sp>
      <p:sp>
        <p:nvSpPr>
          <p:cNvPr id="25" name="">
            <a:extLst xmlns:a="http://schemas.openxmlformats.org/drawingml/2006/main">
              <a:ext uri="{FF2B5EF4-FFF2-40B4-BE49-F238E27FC236}">
                <a16:creationId xmlns:a16="http://schemas.microsoft.com/office/drawing/2014/main" id="{A784FD4F-AD19-436A-AD79-E44FADC50561}"/>
              </a:ext>
            </a:extLst>
          </p:cNvPr>
          <p:cNvSpPr>
            <a:spLocks xmlns:a="http://schemas.openxmlformats.org/drawingml/2006/main" noGrp="1"/>
          </p:cNvSpPr>
          <p:nvPr/>
        </p:nvSpPr>
        <p:spPr>
          <a:xfrm xmlns:a="http://schemas.openxmlformats.org/drawingml/2006/main">
            <a:off x="1143000" y="2686050"/>
            <a:ext cx="16192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344146"/>
                </a:solidFill>
              </a:defRPr>
            </a:pPr>
            <a:r>
              <a:rPr sz="825" b="0">
                <a:solidFill>
                  <a:srgbClr val="344146"/>
                </a:solidFill>
              </a:rPr>
              <a:t>within-protocol</a:t>
            </a:r>
          </a:p>
          <a:p xmlns:a="http://schemas.openxmlformats.org/drawingml/2006/main">
            <a:pPr algn="l">
              <a:defRPr sz="825" b="0">
                <a:solidFill>
                  <a:srgbClr val="344146"/>
                </a:solidFill>
              </a:defRPr>
            </a:pPr>
            <a:r>
              <a:rPr sz="825" b="0">
                <a:solidFill>
                  <a:srgbClr val="344146"/>
                </a:solidFill>
              </a:rPr>
              <a:t>reproducibility</a:t>
            </a:r>
          </a:p>
        </p:txBody>
      </p:sp>
      <p:sp>
        <p:nvSpPr>
          <p:cNvPr id="26" name="">
            <a:extLst xmlns:a="http://schemas.openxmlformats.org/drawingml/2006/main">
              <a:ext uri="{FF2B5EF4-FFF2-40B4-BE49-F238E27FC236}">
                <a16:creationId xmlns:a16="http://schemas.microsoft.com/office/drawing/2014/main" id="{1F688F1E-6BC1-4D47-BD9D-FE1B32735F25}"/>
              </a:ext>
            </a:extLst>
          </p:cNvPr>
          <p:cNvSpPr>
            <a:spLocks xmlns:a="http://schemas.openxmlformats.org/drawingml/2006/main" noGrp="1"/>
          </p:cNvSpPr>
          <p:nvPr/>
        </p:nvSpPr>
        <p:spPr>
          <a:xfrm xmlns:a="http://schemas.openxmlformats.org/drawingml/2006/main">
            <a:off x="1562100" y="3924300"/>
            <a:ext cx="1943100" cy="1143000"/>
          </a:xfrm>
          <a:prstGeom xmlns:a="http://schemas.openxmlformats.org/drawingml/2006/main" prst="roundRect">
            <a:avLst>
              <a:gd name="adj" fmla="val 6667"/>
            </a:avLst>
          </a:prstGeom>
          <a:solidFill xmlns:a="http://schemas.openxmlformats.org/drawingml/2006/main">
            <a:srgbClr val="FFFDF8"/>
          </a:solidFill>
          <a:ln xmlns:a="http://schemas.openxmlformats.org/drawingml/2006/main" w="10478">
            <a:solidFill>
              <a:srgbClr val="132024"/>
            </a:solidFill>
            <a:prstDash val="solid"/>
          </a:ln>
        </p:spPr>
      </p:sp>
      <p:sp>
        <p:nvSpPr>
          <p:cNvPr id="27" name="">
            <a:extLst xmlns:a="http://schemas.openxmlformats.org/drawingml/2006/main">
              <a:ext uri="{FF2B5EF4-FFF2-40B4-BE49-F238E27FC236}">
                <a16:creationId xmlns:a16="http://schemas.microsoft.com/office/drawing/2014/main" id="{0C8061F6-11D6-4071-9D5F-6BBCB507C9EB}"/>
              </a:ext>
            </a:extLst>
          </p:cNvPr>
          <p:cNvSpPr>
            <a:spLocks xmlns:a="http://schemas.openxmlformats.org/drawingml/2006/main" noGrp="1"/>
          </p:cNvSpPr>
          <p:nvPr/>
        </p:nvSpPr>
        <p:spPr>
          <a:xfrm xmlns:a="http://schemas.openxmlformats.org/drawingml/2006/main">
            <a:off x="1562100" y="3924300"/>
            <a:ext cx="66675" cy="1143000"/>
          </a:xfrm>
          <a:prstGeom xmlns:a="http://schemas.openxmlformats.org/drawingml/2006/main" prst="rect">
            <a:avLst/>
          </a:prstGeom>
          <a:solidFill xmlns:a="http://schemas.openxmlformats.org/drawingml/2006/main">
            <a:srgbClr val="1D9A69"/>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64F7B82C-D6D2-4D9C-ACAF-48C7B76F8A97}"/>
              </a:ext>
            </a:extLst>
          </p:cNvPr>
          <p:cNvSpPr>
            <a:spLocks xmlns:a="http://schemas.openxmlformats.org/drawingml/2006/main" noGrp="1"/>
          </p:cNvSpPr>
          <p:nvPr/>
        </p:nvSpPr>
        <p:spPr>
          <a:xfrm xmlns:a="http://schemas.openxmlformats.org/drawingml/2006/main">
            <a:off x="1733550" y="4076700"/>
            <a:ext cx="647700" cy="228600"/>
          </a:xfrm>
          <a:prstGeom xmlns:a="http://schemas.openxmlformats.org/drawingml/2006/main" prst="rect">
            <a:avLst/>
          </a:prstGeom>
          <a:solidFill xmlns:a="http://schemas.openxmlformats.org/drawingml/2006/main">
            <a:srgbClr val="DCE7EE"/>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274D63"/>
                </a:solidFill>
              </a:defRPr>
            </a:pPr>
            <a:r>
              <a:rPr sz="900" b="1">
                <a:solidFill>
                  <a:srgbClr val="274D63"/>
                </a:solidFill>
              </a:rPr>
              <a:t>source</a:t>
            </a:r>
          </a:p>
        </p:txBody>
      </p:sp>
      <p:sp>
        <p:nvSpPr>
          <p:cNvPr id="29" name="">
            <a:extLst xmlns:a="http://schemas.openxmlformats.org/drawingml/2006/main">
              <a:ext uri="{FF2B5EF4-FFF2-40B4-BE49-F238E27FC236}">
                <a16:creationId xmlns:a16="http://schemas.microsoft.com/office/drawing/2014/main" id="{5B603C58-0C03-4965-9D2D-4B56DA422DC7}"/>
              </a:ext>
            </a:extLst>
          </p:cNvPr>
          <p:cNvSpPr>
            <a:spLocks xmlns:a="http://schemas.openxmlformats.org/drawingml/2006/main" noGrp="1"/>
          </p:cNvSpPr>
          <p:nvPr/>
        </p:nvSpPr>
        <p:spPr>
          <a:xfrm xmlns:a="http://schemas.openxmlformats.org/drawingml/2006/main">
            <a:off x="1733550" y="4362450"/>
            <a:ext cx="1619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32024"/>
                </a:solidFill>
              </a:defRPr>
            </a:pPr>
            <a:r>
              <a:rPr sz="1275" b="1">
                <a:solidFill>
                  <a:srgbClr val="132024"/>
                </a:solidFill>
              </a:rPr>
              <a:t>Yoon 2019</a:t>
            </a:r>
          </a:p>
        </p:txBody>
      </p:sp>
      <p:sp>
        <p:nvSpPr>
          <p:cNvPr id="30" name="">
            <a:extLst xmlns:a="http://schemas.openxmlformats.org/drawingml/2006/main">
              <a:ext uri="{FF2B5EF4-FFF2-40B4-BE49-F238E27FC236}">
                <a16:creationId xmlns:a16="http://schemas.microsoft.com/office/drawing/2014/main" id="{1AA15915-B048-48E2-92D4-37C7CDD32FAF}"/>
              </a:ext>
            </a:extLst>
          </p:cNvPr>
          <p:cNvSpPr>
            <a:spLocks xmlns:a="http://schemas.openxmlformats.org/drawingml/2006/main" noGrp="1"/>
          </p:cNvSpPr>
          <p:nvPr/>
        </p:nvSpPr>
        <p:spPr>
          <a:xfrm xmlns:a="http://schemas.openxmlformats.org/drawingml/2006/main">
            <a:off x="1733550" y="4610100"/>
            <a:ext cx="16192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344146"/>
                </a:solidFill>
              </a:defRPr>
            </a:pPr>
            <a:r>
              <a:rPr sz="825" b="0">
                <a:solidFill>
                  <a:srgbClr val="344146"/>
                </a:solidFill>
              </a:rPr>
              <a:t>cross-line</a:t>
            </a:r>
          </a:p>
          <a:p xmlns:a="http://schemas.openxmlformats.org/drawingml/2006/main">
            <a:pPr algn="l">
              <a:defRPr sz="825" b="0">
                <a:solidFill>
                  <a:srgbClr val="344146"/>
                </a:solidFill>
              </a:defRPr>
            </a:pPr>
            <a:r>
              <a:rPr sz="825" b="0">
                <a:solidFill>
                  <a:srgbClr val="344146"/>
                </a:solidFill>
              </a:rPr>
              <a:t>reliability</a:t>
            </a:r>
          </a:p>
        </p:txBody>
      </p:sp>
      <p:sp>
        <p:nvSpPr>
          <p:cNvPr id="31" name="">
            <a:extLst xmlns:a="http://schemas.openxmlformats.org/drawingml/2006/main">
              <a:ext uri="{FF2B5EF4-FFF2-40B4-BE49-F238E27FC236}">
                <a16:creationId xmlns:a16="http://schemas.microsoft.com/office/drawing/2014/main" id="{CC36B0F8-849F-4018-9B6D-45E727F966C4}"/>
              </a:ext>
            </a:extLst>
          </p:cNvPr>
          <p:cNvSpPr>
            <a:spLocks xmlns:a="http://schemas.openxmlformats.org/drawingml/2006/main" noGrp="1"/>
          </p:cNvSpPr>
          <p:nvPr/>
        </p:nvSpPr>
        <p:spPr>
          <a:xfrm xmlns:a="http://schemas.openxmlformats.org/drawingml/2006/main">
            <a:off x="8191500" y="1562100"/>
            <a:ext cx="2038350" cy="1219200"/>
          </a:xfrm>
          <a:prstGeom xmlns:a="http://schemas.openxmlformats.org/drawingml/2006/main" prst="roundRect">
            <a:avLst>
              <a:gd name="adj" fmla="val 6250"/>
            </a:avLst>
          </a:prstGeom>
          <a:solidFill xmlns:a="http://schemas.openxmlformats.org/drawingml/2006/main">
            <a:srgbClr val="FFFDF8"/>
          </a:solidFill>
          <a:ln xmlns:a="http://schemas.openxmlformats.org/drawingml/2006/main" w="10478">
            <a:solidFill>
              <a:srgbClr val="132024"/>
            </a:solidFill>
            <a:prstDash val="solid"/>
          </a:ln>
        </p:spPr>
      </p:sp>
      <p:sp>
        <p:nvSpPr>
          <p:cNvPr id="32" name="">
            <a:extLst xmlns:a="http://schemas.openxmlformats.org/drawingml/2006/main">
              <a:ext uri="{FF2B5EF4-FFF2-40B4-BE49-F238E27FC236}">
                <a16:creationId xmlns:a16="http://schemas.microsoft.com/office/drawing/2014/main" id="{52B6C334-F0B8-48F1-83FD-FB161B4E8222}"/>
              </a:ext>
            </a:extLst>
          </p:cNvPr>
          <p:cNvSpPr>
            <a:spLocks xmlns:a="http://schemas.openxmlformats.org/drawingml/2006/main" noGrp="1"/>
          </p:cNvSpPr>
          <p:nvPr/>
        </p:nvSpPr>
        <p:spPr>
          <a:xfrm xmlns:a="http://schemas.openxmlformats.org/drawingml/2006/main">
            <a:off x="8191500" y="1562100"/>
            <a:ext cx="66675" cy="1219200"/>
          </a:xfrm>
          <a:prstGeom xmlns:a="http://schemas.openxmlformats.org/drawingml/2006/main" prst="rect">
            <a:avLst/>
          </a:prstGeom>
          <a:solidFill xmlns:a="http://schemas.openxmlformats.org/drawingml/2006/main">
            <a:srgbClr val="D66C60"/>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91887849-63AA-4DA0-A48C-F6663173CB18}"/>
              </a:ext>
            </a:extLst>
          </p:cNvPr>
          <p:cNvSpPr>
            <a:spLocks xmlns:a="http://schemas.openxmlformats.org/drawingml/2006/main" noGrp="1"/>
          </p:cNvSpPr>
          <p:nvPr/>
        </p:nvSpPr>
        <p:spPr>
          <a:xfrm xmlns:a="http://schemas.openxmlformats.org/drawingml/2006/main">
            <a:off x="8362950" y="1714500"/>
            <a:ext cx="647700" cy="228600"/>
          </a:xfrm>
          <a:prstGeom xmlns:a="http://schemas.openxmlformats.org/drawingml/2006/main" prst="rect">
            <a:avLst/>
          </a:prstGeom>
          <a:solidFill xmlns:a="http://schemas.openxmlformats.org/drawingml/2006/main">
            <a:srgbClr val="DCE7EE"/>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274D63"/>
                </a:solidFill>
              </a:defRPr>
            </a:pPr>
            <a:r>
              <a:rPr sz="900" b="1">
                <a:solidFill>
                  <a:srgbClr val="274D63"/>
                </a:solidFill>
              </a:rPr>
              <a:t>source</a:t>
            </a:r>
          </a:p>
        </p:txBody>
      </p:sp>
      <p:sp>
        <p:nvSpPr>
          <p:cNvPr id="34" name="">
            <a:extLst xmlns:a="http://schemas.openxmlformats.org/drawingml/2006/main">
              <a:ext uri="{FF2B5EF4-FFF2-40B4-BE49-F238E27FC236}">
                <a16:creationId xmlns:a16="http://schemas.microsoft.com/office/drawing/2014/main" id="{126DF275-D2D4-481D-BF20-43657DEE1FC1}"/>
              </a:ext>
            </a:extLst>
          </p:cNvPr>
          <p:cNvSpPr>
            <a:spLocks xmlns:a="http://schemas.openxmlformats.org/drawingml/2006/main" noGrp="1"/>
          </p:cNvSpPr>
          <p:nvPr/>
        </p:nvSpPr>
        <p:spPr>
          <a:xfrm xmlns:a="http://schemas.openxmlformats.org/drawingml/2006/main">
            <a:off x="8362950" y="2000250"/>
            <a:ext cx="1714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32024"/>
                </a:solidFill>
              </a:defRPr>
            </a:pPr>
            <a:r>
              <a:rPr sz="1275" b="1">
                <a:solidFill>
                  <a:srgbClr val="132024"/>
                </a:solidFill>
              </a:rPr>
              <a:t>Bhaduri 2020</a:t>
            </a:r>
          </a:p>
        </p:txBody>
      </p:sp>
      <p:sp>
        <p:nvSpPr>
          <p:cNvPr id="35" name="">
            <a:extLst xmlns:a="http://schemas.openxmlformats.org/drawingml/2006/main">
              <a:ext uri="{FF2B5EF4-FFF2-40B4-BE49-F238E27FC236}">
                <a16:creationId xmlns:a16="http://schemas.microsoft.com/office/drawing/2014/main" id="{7890FAA9-7FD2-4462-9100-38F8E3FD9CB1}"/>
              </a:ext>
            </a:extLst>
          </p:cNvPr>
          <p:cNvSpPr>
            <a:spLocks xmlns:a="http://schemas.openxmlformats.org/drawingml/2006/main" noGrp="1"/>
          </p:cNvSpPr>
          <p:nvPr/>
        </p:nvSpPr>
        <p:spPr>
          <a:xfrm xmlns:a="http://schemas.openxmlformats.org/drawingml/2006/main">
            <a:off x="8362950" y="2247900"/>
            <a:ext cx="17145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344146"/>
                </a:solidFill>
              </a:defRPr>
            </a:pPr>
            <a:r>
              <a:rPr sz="825" b="0">
                <a:solidFill>
                  <a:srgbClr val="344146"/>
                </a:solidFill>
              </a:rPr>
              <a:t>fidelity versus</a:t>
            </a:r>
          </a:p>
          <a:p xmlns:a="http://schemas.openxmlformats.org/drawingml/2006/main">
            <a:pPr algn="l">
              <a:defRPr sz="825" b="0">
                <a:solidFill>
                  <a:srgbClr val="344146"/>
                </a:solidFill>
              </a:defRPr>
            </a:pPr>
            <a:r>
              <a:rPr sz="825" b="0">
                <a:solidFill>
                  <a:srgbClr val="344146"/>
                </a:solidFill>
              </a:rPr>
              <a:t>stress</a:t>
            </a:r>
          </a:p>
        </p:txBody>
      </p:sp>
      <p:sp>
        <p:nvSpPr>
          <p:cNvPr id="36" name="">
            <a:extLst xmlns:a="http://schemas.openxmlformats.org/drawingml/2006/main">
              <a:ext uri="{FF2B5EF4-FFF2-40B4-BE49-F238E27FC236}">
                <a16:creationId xmlns:a16="http://schemas.microsoft.com/office/drawing/2014/main" id="{3B742E03-3851-427C-8A8C-336C5051C5D3}"/>
              </a:ext>
            </a:extLst>
          </p:cNvPr>
          <p:cNvSpPr>
            <a:spLocks xmlns:a="http://schemas.openxmlformats.org/drawingml/2006/main" noGrp="1"/>
          </p:cNvSpPr>
          <p:nvPr/>
        </p:nvSpPr>
        <p:spPr>
          <a:xfrm xmlns:a="http://schemas.openxmlformats.org/drawingml/2006/main">
            <a:off x="8858250" y="3200400"/>
            <a:ext cx="2038350" cy="1219200"/>
          </a:xfrm>
          <a:prstGeom xmlns:a="http://schemas.openxmlformats.org/drawingml/2006/main" prst="roundRect">
            <a:avLst>
              <a:gd name="adj" fmla="val 6250"/>
            </a:avLst>
          </a:prstGeom>
          <a:solidFill xmlns:a="http://schemas.openxmlformats.org/drawingml/2006/main">
            <a:srgbClr val="FFFDF8"/>
          </a:solidFill>
          <a:ln xmlns:a="http://schemas.openxmlformats.org/drawingml/2006/main" w="10478">
            <a:solidFill>
              <a:srgbClr val="132024"/>
            </a:solidFill>
            <a:prstDash val="solid"/>
          </a:ln>
        </p:spPr>
      </p:sp>
      <p:sp>
        <p:nvSpPr>
          <p:cNvPr id="37" name="">
            <a:extLst xmlns:a="http://schemas.openxmlformats.org/drawingml/2006/main">
              <a:ext uri="{FF2B5EF4-FFF2-40B4-BE49-F238E27FC236}">
                <a16:creationId xmlns:a16="http://schemas.microsoft.com/office/drawing/2014/main" id="{0CA364B5-7705-4768-8858-20F5BE206188}"/>
              </a:ext>
            </a:extLst>
          </p:cNvPr>
          <p:cNvSpPr>
            <a:spLocks xmlns:a="http://schemas.openxmlformats.org/drawingml/2006/main" noGrp="1"/>
          </p:cNvSpPr>
          <p:nvPr/>
        </p:nvSpPr>
        <p:spPr>
          <a:xfrm xmlns:a="http://schemas.openxmlformats.org/drawingml/2006/main">
            <a:off x="8858250" y="3200400"/>
            <a:ext cx="66675" cy="1219200"/>
          </a:xfrm>
          <a:prstGeom xmlns:a="http://schemas.openxmlformats.org/drawingml/2006/main" prst="rect">
            <a:avLst/>
          </a:prstGeom>
          <a:solidFill xmlns:a="http://schemas.openxmlformats.org/drawingml/2006/main">
            <a:srgbClr val="C9972B"/>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32C64406-EA35-4BB2-8434-C6E4131C98D7}"/>
              </a:ext>
            </a:extLst>
          </p:cNvPr>
          <p:cNvSpPr>
            <a:spLocks xmlns:a="http://schemas.openxmlformats.org/drawingml/2006/main" noGrp="1"/>
          </p:cNvSpPr>
          <p:nvPr/>
        </p:nvSpPr>
        <p:spPr>
          <a:xfrm xmlns:a="http://schemas.openxmlformats.org/drawingml/2006/main">
            <a:off x="9029700" y="3352800"/>
            <a:ext cx="647700" cy="228600"/>
          </a:xfrm>
          <a:prstGeom xmlns:a="http://schemas.openxmlformats.org/drawingml/2006/main" prst="rect">
            <a:avLst/>
          </a:prstGeom>
          <a:solidFill xmlns:a="http://schemas.openxmlformats.org/drawingml/2006/main">
            <a:srgbClr val="DCE7EE"/>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274D63"/>
                </a:solidFill>
              </a:defRPr>
            </a:pPr>
            <a:r>
              <a:rPr sz="900" b="1">
                <a:solidFill>
                  <a:srgbClr val="274D63"/>
                </a:solidFill>
              </a:rPr>
              <a:t>source</a:t>
            </a:r>
          </a:p>
        </p:txBody>
      </p:sp>
      <p:sp>
        <p:nvSpPr>
          <p:cNvPr id="39" name="">
            <a:extLst xmlns:a="http://schemas.openxmlformats.org/drawingml/2006/main">
              <a:ext uri="{FF2B5EF4-FFF2-40B4-BE49-F238E27FC236}">
                <a16:creationId xmlns:a16="http://schemas.microsoft.com/office/drawing/2014/main" id="{2DB02456-16C5-4851-B039-B5A918EDC518}"/>
              </a:ext>
            </a:extLst>
          </p:cNvPr>
          <p:cNvSpPr>
            <a:spLocks xmlns:a="http://schemas.openxmlformats.org/drawingml/2006/main" noGrp="1"/>
          </p:cNvSpPr>
          <p:nvPr/>
        </p:nvSpPr>
        <p:spPr>
          <a:xfrm xmlns:a="http://schemas.openxmlformats.org/drawingml/2006/main">
            <a:off x="9029700" y="3638550"/>
            <a:ext cx="1714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32024"/>
                </a:solidFill>
              </a:defRPr>
            </a:pPr>
            <a:r>
              <a:rPr sz="1275" b="1">
                <a:solidFill>
                  <a:srgbClr val="132024"/>
                </a:solidFill>
              </a:rPr>
              <a:t>Kanton 2019</a:t>
            </a:r>
          </a:p>
        </p:txBody>
      </p:sp>
      <p:sp>
        <p:nvSpPr>
          <p:cNvPr id="40" name="">
            <a:extLst xmlns:a="http://schemas.openxmlformats.org/drawingml/2006/main">
              <a:ext uri="{FF2B5EF4-FFF2-40B4-BE49-F238E27FC236}">
                <a16:creationId xmlns:a16="http://schemas.microsoft.com/office/drawing/2014/main" id="{E004849A-6AD4-4A53-B46C-8FCBEDA344AE}"/>
              </a:ext>
            </a:extLst>
          </p:cNvPr>
          <p:cNvSpPr>
            <a:spLocks xmlns:a="http://schemas.openxmlformats.org/drawingml/2006/main" noGrp="1"/>
          </p:cNvSpPr>
          <p:nvPr/>
        </p:nvSpPr>
        <p:spPr>
          <a:xfrm xmlns:a="http://schemas.openxmlformats.org/drawingml/2006/main">
            <a:off x="9029700" y="3886200"/>
            <a:ext cx="17145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344146"/>
                </a:solidFill>
              </a:defRPr>
            </a:pPr>
            <a:r>
              <a:rPr sz="825" b="0">
                <a:solidFill>
                  <a:srgbClr val="344146"/>
                </a:solidFill>
              </a:rPr>
              <a:t>temporal map</a:t>
            </a:r>
          </a:p>
        </p:txBody>
      </p:sp>
      <p:sp>
        <p:nvSpPr>
          <p:cNvPr id="41" name="">
            <a:extLst xmlns:a="http://schemas.openxmlformats.org/drawingml/2006/main">
              <a:ext uri="{FF2B5EF4-FFF2-40B4-BE49-F238E27FC236}">
                <a16:creationId xmlns:a16="http://schemas.microsoft.com/office/drawing/2014/main" id="{B75EA2E6-668B-421D-9913-A9551503D35A}"/>
              </a:ext>
            </a:extLst>
          </p:cNvPr>
          <p:cNvSpPr>
            <a:spLocks xmlns:a="http://schemas.openxmlformats.org/drawingml/2006/main" noGrp="1"/>
          </p:cNvSpPr>
          <p:nvPr/>
        </p:nvSpPr>
        <p:spPr>
          <a:xfrm xmlns:a="http://schemas.openxmlformats.org/drawingml/2006/main">
            <a:off x="7981950" y="4857750"/>
            <a:ext cx="2419350" cy="1047750"/>
          </a:xfrm>
          <a:prstGeom xmlns:a="http://schemas.openxmlformats.org/drawingml/2006/main" prst="roundRect">
            <a:avLst>
              <a:gd name="adj" fmla="val 7273"/>
            </a:avLst>
          </a:prstGeom>
          <a:solidFill xmlns:a="http://schemas.openxmlformats.org/drawingml/2006/main">
            <a:srgbClr val="FFFDF8"/>
          </a:solidFill>
          <a:ln xmlns:a="http://schemas.openxmlformats.org/drawingml/2006/main" w="10478">
            <a:solidFill>
              <a:srgbClr val="132024"/>
            </a:solidFill>
            <a:prstDash val="solid"/>
          </a:ln>
        </p:spPr>
      </p:sp>
      <p:sp>
        <p:nvSpPr>
          <p:cNvPr id="42" name="">
            <a:extLst xmlns:a="http://schemas.openxmlformats.org/drawingml/2006/main">
              <a:ext uri="{FF2B5EF4-FFF2-40B4-BE49-F238E27FC236}">
                <a16:creationId xmlns:a16="http://schemas.microsoft.com/office/drawing/2014/main" id="{7DCEC619-7758-4FAC-AB6C-6D5B51628006}"/>
              </a:ext>
            </a:extLst>
          </p:cNvPr>
          <p:cNvSpPr>
            <a:spLocks xmlns:a="http://schemas.openxmlformats.org/drawingml/2006/main" noGrp="1"/>
          </p:cNvSpPr>
          <p:nvPr/>
        </p:nvSpPr>
        <p:spPr>
          <a:xfrm xmlns:a="http://schemas.openxmlformats.org/drawingml/2006/main">
            <a:off x="7981950" y="4857750"/>
            <a:ext cx="66675" cy="1047750"/>
          </a:xfrm>
          <a:prstGeom xmlns:a="http://schemas.openxmlformats.org/drawingml/2006/main" prst="rect">
            <a:avLst/>
          </a:prstGeom>
          <a:solidFill xmlns:a="http://schemas.openxmlformats.org/drawingml/2006/main">
            <a:srgbClr val="517C95"/>
          </a:solidFill>
          <a:ln xmlns:a="http://schemas.openxmlformats.org/drawingml/2006/main" w="0">
            <a:solidFill>
              <a:srgbClr val="000000">
                <a:alpha val="0"/>
              </a:srgbClr>
            </a:solidFill>
            <a:prstDash val="solid"/>
          </a:ln>
        </p:spPr>
      </p:sp>
      <p:sp>
        <p:nvSpPr>
          <p:cNvPr id="43" name="">
            <a:extLst xmlns:a="http://schemas.openxmlformats.org/drawingml/2006/main">
              <a:ext uri="{FF2B5EF4-FFF2-40B4-BE49-F238E27FC236}">
                <a16:creationId xmlns:a16="http://schemas.microsoft.com/office/drawing/2014/main" id="{F2E0B718-2EE8-46B7-A47A-8827EC3114D5}"/>
              </a:ext>
            </a:extLst>
          </p:cNvPr>
          <p:cNvSpPr>
            <a:spLocks xmlns:a="http://schemas.openxmlformats.org/drawingml/2006/main" noGrp="1"/>
          </p:cNvSpPr>
          <p:nvPr/>
        </p:nvSpPr>
        <p:spPr>
          <a:xfrm xmlns:a="http://schemas.openxmlformats.org/drawingml/2006/main">
            <a:off x="8153400" y="5010150"/>
            <a:ext cx="647700" cy="228600"/>
          </a:xfrm>
          <a:prstGeom xmlns:a="http://schemas.openxmlformats.org/drawingml/2006/main" prst="rect">
            <a:avLst/>
          </a:prstGeom>
          <a:solidFill xmlns:a="http://schemas.openxmlformats.org/drawingml/2006/main">
            <a:srgbClr val="DCE7EE"/>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274D63"/>
                </a:solidFill>
              </a:defRPr>
            </a:pPr>
            <a:r>
              <a:rPr sz="900" b="1">
                <a:solidFill>
                  <a:srgbClr val="274D63"/>
                </a:solidFill>
              </a:rPr>
              <a:t>source</a:t>
            </a:r>
          </a:p>
        </p:txBody>
      </p:sp>
      <p:sp>
        <p:nvSpPr>
          <p:cNvPr id="44" name="">
            <a:extLst xmlns:a="http://schemas.openxmlformats.org/drawingml/2006/main">
              <a:ext uri="{FF2B5EF4-FFF2-40B4-BE49-F238E27FC236}">
                <a16:creationId xmlns:a16="http://schemas.microsoft.com/office/drawing/2014/main" id="{29D6D26E-E0D9-483E-9184-CE94EF498588}"/>
              </a:ext>
            </a:extLst>
          </p:cNvPr>
          <p:cNvSpPr>
            <a:spLocks xmlns:a="http://schemas.openxmlformats.org/drawingml/2006/main" noGrp="1"/>
          </p:cNvSpPr>
          <p:nvPr/>
        </p:nvSpPr>
        <p:spPr>
          <a:xfrm xmlns:a="http://schemas.openxmlformats.org/drawingml/2006/main">
            <a:off x="8153400" y="5295900"/>
            <a:ext cx="2095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32024"/>
                </a:solidFill>
              </a:defRPr>
            </a:pPr>
            <a:r>
              <a:rPr sz="1275" b="1">
                <a:solidFill>
                  <a:srgbClr val="132024"/>
                </a:solidFill>
              </a:rPr>
              <a:t>He 2024</a:t>
            </a:r>
          </a:p>
        </p:txBody>
      </p:sp>
      <p:sp>
        <p:nvSpPr>
          <p:cNvPr id="45" name="">
            <a:extLst xmlns:a="http://schemas.openxmlformats.org/drawingml/2006/main">
              <a:ext uri="{FF2B5EF4-FFF2-40B4-BE49-F238E27FC236}">
                <a16:creationId xmlns:a16="http://schemas.microsoft.com/office/drawing/2014/main" id="{018582C1-0C78-4369-99AD-92144B125CBE}"/>
              </a:ext>
            </a:extLst>
          </p:cNvPr>
          <p:cNvSpPr>
            <a:spLocks xmlns:a="http://schemas.openxmlformats.org/drawingml/2006/main" noGrp="1"/>
          </p:cNvSpPr>
          <p:nvPr/>
        </p:nvSpPr>
        <p:spPr>
          <a:xfrm xmlns:a="http://schemas.openxmlformats.org/drawingml/2006/main">
            <a:off x="8153400" y="5543550"/>
            <a:ext cx="2095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344146"/>
                </a:solidFill>
              </a:defRPr>
            </a:pPr>
            <a:r>
              <a:rPr sz="825" b="0">
                <a:solidFill>
                  <a:srgbClr val="344146"/>
                </a:solidFill>
              </a:rPr>
              <a:t>integrated atlas</a:t>
            </a:r>
          </a:p>
          <a:p xmlns:a="http://schemas.openxmlformats.org/drawingml/2006/main">
            <a:pPr algn="l">
              <a:defRPr sz="825" b="0">
                <a:solidFill>
                  <a:srgbClr val="344146"/>
                </a:solidFill>
              </a:defRPr>
            </a:pPr>
            <a:r>
              <a:rPr sz="825" b="0">
                <a:solidFill>
                  <a:srgbClr val="344146"/>
                </a:solidFill>
              </a:rPr>
              <a:t>alignment</a:t>
            </a:r>
          </a:p>
        </p:txBody>
      </p:sp>
      <p:sp>
        <p:nvSpPr>
          <p:cNvPr id="46" name="">
            <a:extLst xmlns:a="http://schemas.openxmlformats.org/drawingml/2006/main">
              <a:ext uri="{FF2B5EF4-FFF2-40B4-BE49-F238E27FC236}">
                <a16:creationId xmlns:a16="http://schemas.microsoft.com/office/drawing/2014/main" id="{F664B76E-B2E6-4450-B188-B1D01B842289}"/>
              </a:ext>
            </a:extLst>
          </p:cNvPr>
          <p:cNvSpPr>
            <a:spLocks xmlns:a="http://schemas.openxmlformats.org/drawingml/2006/main" noGrp="1"/>
          </p:cNvSpPr>
          <p:nvPr/>
        </p:nvSpPr>
        <p:spPr>
          <a:xfrm xmlns:a="http://schemas.openxmlformats.org/drawingml/2006/main" rot="-10253933">
            <a:off x="1918083" y="2871788"/>
            <a:ext cx="3974334" cy="28575"/>
          </a:xfrm>
          <a:prstGeom xmlns:a="http://schemas.openxmlformats.org/drawingml/2006/main" prst="rect">
            <a:avLst/>
          </a:prstGeom>
          <a:solidFill xmlns:a="http://schemas.openxmlformats.org/drawingml/2006/main">
            <a:srgbClr val="98A7AD"/>
          </a:solidFill>
          <a:ln xmlns:a="http://schemas.openxmlformats.org/drawingml/2006/main" w="0">
            <a:solidFill>
              <a:srgbClr val="000000">
                <a:alpha val="0"/>
              </a:srgbClr>
            </a:solidFill>
            <a:prstDash val="solid"/>
          </a:ln>
        </p:spPr>
      </p:sp>
      <p:sp>
        <p:nvSpPr>
          <p:cNvPr id="47" name="">
            <a:extLst xmlns:a="http://schemas.openxmlformats.org/drawingml/2006/main">
              <a:ext uri="{FF2B5EF4-FFF2-40B4-BE49-F238E27FC236}">
                <a16:creationId xmlns:a16="http://schemas.microsoft.com/office/drawing/2014/main" id="{99E5139C-CE5A-4C98-B18D-232FAB59F781}"/>
              </a:ext>
            </a:extLst>
          </p:cNvPr>
          <p:cNvSpPr>
            <a:spLocks xmlns:a="http://schemas.openxmlformats.org/drawingml/2006/main" noGrp="1"/>
          </p:cNvSpPr>
          <p:nvPr/>
        </p:nvSpPr>
        <p:spPr>
          <a:xfrm xmlns:a="http://schemas.openxmlformats.org/drawingml/2006/main" rot="9525918">
            <a:off x="2412233" y="3833813"/>
            <a:ext cx="3576584" cy="28575"/>
          </a:xfrm>
          <a:prstGeom xmlns:a="http://schemas.openxmlformats.org/drawingml/2006/main" prst="rect">
            <a:avLst/>
          </a:prstGeom>
          <a:solidFill xmlns:a="http://schemas.openxmlformats.org/drawingml/2006/main">
            <a:srgbClr val="98A7AD"/>
          </a:solidFill>
          <a:ln xmlns:a="http://schemas.openxmlformats.org/drawingml/2006/main" w="0">
            <a:solidFill>
              <a:srgbClr val="000000">
                <a:alpha val="0"/>
              </a:srgbClr>
            </a:solidFill>
            <a:prstDash val="solid"/>
          </a:ln>
        </p:spPr>
      </p:sp>
      <p:sp>
        <p:nvSpPr>
          <p:cNvPr id="48" name="">
            <a:extLst xmlns:a="http://schemas.openxmlformats.org/drawingml/2006/main">
              <a:ext uri="{FF2B5EF4-FFF2-40B4-BE49-F238E27FC236}">
                <a16:creationId xmlns:a16="http://schemas.microsoft.com/office/drawing/2014/main" id="{B7C9A656-35E7-4EB3-BD06-8571E5F7FEC8}"/>
              </a:ext>
            </a:extLst>
          </p:cNvPr>
          <p:cNvSpPr>
            <a:spLocks xmlns:a="http://schemas.openxmlformats.org/drawingml/2006/main" noGrp="1"/>
          </p:cNvSpPr>
          <p:nvPr/>
        </p:nvSpPr>
        <p:spPr>
          <a:xfrm xmlns:a="http://schemas.openxmlformats.org/drawingml/2006/main" rot="-1026164">
            <a:off x="5790058" y="2671763"/>
            <a:ext cx="3497958" cy="28575"/>
          </a:xfrm>
          <a:prstGeom xmlns:a="http://schemas.openxmlformats.org/drawingml/2006/main" prst="rect">
            <a:avLst/>
          </a:prstGeom>
          <a:solidFill xmlns:a="http://schemas.openxmlformats.org/drawingml/2006/main">
            <a:srgbClr val="98A7AD"/>
          </a:solidFill>
          <a:ln xmlns:a="http://schemas.openxmlformats.org/drawingml/2006/main" w="0">
            <a:solidFill>
              <a:srgbClr val="000000">
                <a:alpha val="0"/>
              </a:srgbClr>
            </a:solidFill>
            <a:prstDash val="solid"/>
          </a:ln>
        </p:spPr>
      </p:sp>
      <p:sp>
        <p:nvSpPr>
          <p:cNvPr id="49" name="">
            <a:extLst xmlns:a="http://schemas.openxmlformats.org/drawingml/2006/main">
              <a:ext uri="{FF2B5EF4-FFF2-40B4-BE49-F238E27FC236}">
                <a16:creationId xmlns:a16="http://schemas.microsoft.com/office/drawing/2014/main" id="{69486279-B779-4F1C-8731-D1A3435E9A12}"/>
              </a:ext>
            </a:extLst>
          </p:cNvPr>
          <p:cNvSpPr>
            <a:spLocks xmlns:a="http://schemas.openxmlformats.org/drawingml/2006/main" noGrp="1"/>
          </p:cNvSpPr>
          <p:nvPr/>
        </p:nvSpPr>
        <p:spPr>
          <a:xfrm xmlns:a="http://schemas.openxmlformats.org/drawingml/2006/main" rot="518632">
            <a:off x="5844365" y="3490913"/>
            <a:ext cx="4056096" cy="28575"/>
          </a:xfrm>
          <a:prstGeom xmlns:a="http://schemas.openxmlformats.org/drawingml/2006/main" prst="rect">
            <a:avLst/>
          </a:prstGeom>
          <a:solidFill xmlns:a="http://schemas.openxmlformats.org/drawingml/2006/main">
            <a:srgbClr val="98A7AD"/>
          </a:solidFill>
          <a:ln xmlns:a="http://schemas.openxmlformats.org/drawingml/2006/main" w="0">
            <a:solidFill>
              <a:srgbClr val="000000">
                <a:alpha val="0"/>
              </a:srgbClr>
            </a:solidFill>
            <a:prstDash val="solid"/>
          </a:ln>
        </p:spPr>
      </p:sp>
      <p:sp>
        <p:nvSpPr>
          <p:cNvPr id="50" name="">
            <a:extLst xmlns:a="http://schemas.openxmlformats.org/drawingml/2006/main">
              <a:ext uri="{FF2B5EF4-FFF2-40B4-BE49-F238E27FC236}">
                <a16:creationId xmlns:a16="http://schemas.microsoft.com/office/drawing/2014/main" id="{CDE24545-0972-46F0-A477-C208C7C97C81}"/>
              </a:ext>
            </a:extLst>
          </p:cNvPr>
          <p:cNvSpPr>
            <a:spLocks xmlns:a="http://schemas.openxmlformats.org/drawingml/2006/main" noGrp="1"/>
          </p:cNvSpPr>
          <p:nvPr/>
        </p:nvSpPr>
        <p:spPr>
          <a:xfrm xmlns:a="http://schemas.openxmlformats.org/drawingml/2006/main" rot="1996278">
            <a:off x="5541535" y="4276725"/>
            <a:ext cx="3975955" cy="28575"/>
          </a:xfrm>
          <a:prstGeom xmlns:a="http://schemas.openxmlformats.org/drawingml/2006/main" prst="rect">
            <a:avLst/>
          </a:prstGeom>
          <a:solidFill xmlns:a="http://schemas.openxmlformats.org/drawingml/2006/main">
            <a:srgbClr val="98A7AD"/>
          </a:solidFill>
          <a:ln xmlns:a="http://schemas.openxmlformats.org/drawingml/2006/main" w="0">
            <a:solidFill>
              <a:srgbClr val="000000">
                <a:alpha val="0"/>
              </a:srgbClr>
            </a:solidFill>
            <a:prstDash val="solid"/>
          </a:ln>
        </p:spPr>
      </p:sp>
      <p:sp>
        <p:nvSpPr>
          <p:cNvPr id="51" name="">
            <a:extLst xmlns:a="http://schemas.openxmlformats.org/drawingml/2006/main">
              <a:ext uri="{FF2B5EF4-FFF2-40B4-BE49-F238E27FC236}">
                <a16:creationId xmlns:a16="http://schemas.microsoft.com/office/drawing/2014/main" id="{0B2DB7CE-44ED-4EFF-962B-F517355A6F2A}"/>
              </a:ext>
            </a:extLst>
          </p:cNvPr>
          <p:cNvSpPr>
            <a:spLocks xmlns:a="http://schemas.openxmlformats.org/drawingml/2006/main" noGrp="1"/>
          </p:cNvSpPr>
          <p:nvPr/>
        </p:nvSpPr>
        <p:spPr>
          <a:xfrm xmlns:a="http://schemas.openxmlformats.org/drawingml/2006/main">
            <a:off x="609600" y="6153150"/>
            <a:ext cx="171450" cy="171450"/>
          </a:xfrm>
          <a:prstGeom xmlns:a="http://schemas.openxmlformats.org/drawingml/2006/main" prst="roundRect">
            <a:avLst>
              <a:gd name="adj" fmla="val 44444"/>
            </a:avLst>
          </a:prstGeom>
          <a:solidFill xmlns:a="http://schemas.openxmlformats.org/drawingml/2006/main">
            <a:srgbClr val="DDF4E8"/>
          </a:solidFill>
          <a:ln xmlns:a="http://schemas.openxmlformats.org/drawingml/2006/main" w="9525">
            <a:solidFill>
              <a:srgbClr val="132024"/>
            </a:solidFill>
            <a:prstDash val="solid"/>
          </a:ln>
        </p:spPr>
      </p:sp>
      <p:sp>
        <p:nvSpPr>
          <p:cNvPr id="52" name="">
            <a:extLst xmlns:a="http://schemas.openxmlformats.org/drawingml/2006/main">
              <a:ext uri="{FF2B5EF4-FFF2-40B4-BE49-F238E27FC236}">
                <a16:creationId xmlns:a16="http://schemas.microsoft.com/office/drawing/2014/main" id="{D682F3DB-644C-4432-9C6F-D04E8E005BD2}"/>
              </a:ext>
            </a:extLst>
          </p:cNvPr>
          <p:cNvSpPr>
            <a:spLocks xmlns:a="http://schemas.openxmlformats.org/drawingml/2006/main" noGrp="1"/>
          </p:cNvSpPr>
          <p:nvPr/>
        </p:nvSpPr>
        <p:spPr>
          <a:xfrm xmlns:a="http://schemas.openxmlformats.org/drawingml/2006/main">
            <a:off x="876300" y="6143625"/>
            <a:ext cx="1524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344146"/>
                </a:solidFill>
              </a:defRPr>
            </a:pPr>
            <a:r>
              <a:rPr sz="825" b="0">
                <a:solidFill>
                  <a:srgbClr val="344146"/>
                </a:solidFill>
              </a:rPr>
              <a:t>query note</a:t>
            </a:r>
          </a:p>
        </p:txBody>
      </p:sp>
      <p:sp>
        <p:nvSpPr>
          <p:cNvPr id="53" name="">
            <a:extLst xmlns:a="http://schemas.openxmlformats.org/drawingml/2006/main">
              <a:ext uri="{FF2B5EF4-FFF2-40B4-BE49-F238E27FC236}">
                <a16:creationId xmlns:a16="http://schemas.microsoft.com/office/drawing/2014/main" id="{1F099B62-C5C1-4E6F-AC55-0D70557A5942}"/>
              </a:ext>
            </a:extLst>
          </p:cNvPr>
          <p:cNvSpPr>
            <a:spLocks xmlns:a="http://schemas.openxmlformats.org/drawingml/2006/main" noGrp="1"/>
          </p:cNvSpPr>
          <p:nvPr/>
        </p:nvSpPr>
        <p:spPr>
          <a:xfrm xmlns:a="http://schemas.openxmlformats.org/drawingml/2006/main">
            <a:off x="2038350" y="6153150"/>
            <a:ext cx="171450" cy="171450"/>
          </a:xfrm>
          <a:prstGeom xmlns:a="http://schemas.openxmlformats.org/drawingml/2006/main" prst="roundRect">
            <a:avLst>
              <a:gd name="adj" fmla="val 44444"/>
            </a:avLst>
          </a:prstGeom>
          <a:solidFill xmlns:a="http://schemas.openxmlformats.org/drawingml/2006/main">
            <a:srgbClr val="FFFDF8"/>
          </a:solidFill>
          <a:ln xmlns:a="http://schemas.openxmlformats.org/drawingml/2006/main" w="9525">
            <a:solidFill>
              <a:srgbClr val="132024"/>
            </a:solidFill>
            <a:prstDash val="solid"/>
          </a:ln>
        </p:spPr>
      </p:sp>
      <p:sp>
        <p:nvSpPr>
          <p:cNvPr id="54" name="">
            <a:extLst xmlns:a="http://schemas.openxmlformats.org/drawingml/2006/main">
              <a:ext uri="{FF2B5EF4-FFF2-40B4-BE49-F238E27FC236}">
                <a16:creationId xmlns:a16="http://schemas.microsoft.com/office/drawing/2014/main" id="{4E308F91-27F3-4C46-B522-0129E8EFDC90}"/>
              </a:ext>
            </a:extLst>
          </p:cNvPr>
          <p:cNvSpPr>
            <a:spLocks xmlns:a="http://schemas.openxmlformats.org/drawingml/2006/main" noGrp="1"/>
          </p:cNvSpPr>
          <p:nvPr/>
        </p:nvSpPr>
        <p:spPr>
          <a:xfrm xmlns:a="http://schemas.openxmlformats.org/drawingml/2006/main">
            <a:off x="2305050" y="6143625"/>
            <a:ext cx="1524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344146"/>
                </a:solidFill>
              </a:defRPr>
            </a:pPr>
            <a:r>
              <a:rPr sz="825" b="0">
                <a:solidFill>
                  <a:srgbClr val="344146"/>
                </a:solidFill>
              </a:rPr>
              <a:t>benchmark source</a:t>
            </a:r>
          </a:p>
        </p:txBody>
      </p:sp>
      <p:sp>
        <p:nvSpPr>
          <p:cNvPr id="55" name="">
            <a:extLst xmlns:a="http://schemas.openxmlformats.org/drawingml/2006/main">
              <a:ext uri="{FF2B5EF4-FFF2-40B4-BE49-F238E27FC236}">
                <a16:creationId xmlns:a16="http://schemas.microsoft.com/office/drawing/2014/main" id="{F74730F4-F747-4314-874C-7D9C89A173C8}"/>
              </a:ext>
            </a:extLst>
          </p:cNvPr>
          <p:cNvSpPr>
            <a:spLocks xmlns:a="http://schemas.openxmlformats.org/drawingml/2006/main" noGrp="1"/>
          </p:cNvSpPr>
          <p:nvPr/>
        </p:nvSpPr>
        <p:spPr>
          <a:xfrm xmlns:a="http://schemas.openxmlformats.org/drawingml/2006/main">
            <a:off x="6057900" y="5905500"/>
            <a:ext cx="5524500" cy="552450"/>
          </a:xfrm>
          <a:prstGeom xmlns:a="http://schemas.openxmlformats.org/drawingml/2006/main" prst="roundRect">
            <a:avLst>
              <a:gd name="adj" fmla="val 13793"/>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56" name="">
            <a:extLst xmlns:a="http://schemas.openxmlformats.org/drawingml/2006/main">
              <a:ext uri="{FF2B5EF4-FFF2-40B4-BE49-F238E27FC236}">
                <a16:creationId xmlns:a16="http://schemas.microsoft.com/office/drawing/2014/main" id="{C287B9E1-9753-4912-AE3B-242985B2D81E}"/>
              </a:ext>
            </a:extLst>
          </p:cNvPr>
          <p:cNvSpPr>
            <a:spLocks xmlns:a="http://schemas.openxmlformats.org/drawingml/2006/main" noGrp="1"/>
          </p:cNvSpPr>
          <p:nvPr/>
        </p:nvSpPr>
        <p:spPr>
          <a:xfrm xmlns:a="http://schemas.openxmlformats.org/drawingml/2006/main">
            <a:off x="6057900" y="5905500"/>
            <a:ext cx="76200" cy="552450"/>
          </a:xfrm>
          <a:prstGeom xmlns:a="http://schemas.openxmlformats.org/drawingml/2006/main" prst="rect">
            <a:avLst/>
          </a:prstGeom>
          <a:solidFill xmlns:a="http://schemas.openxmlformats.org/drawingml/2006/main">
            <a:srgbClr val="1D9A69"/>
          </a:solidFill>
          <a:ln xmlns:a="http://schemas.openxmlformats.org/drawingml/2006/main" w="0">
            <a:solidFill>
              <a:srgbClr val="000000">
                <a:alpha val="0"/>
              </a:srgbClr>
            </a:solidFill>
            <a:prstDash val="solid"/>
          </a:ln>
        </p:spPr>
      </p:sp>
      <p:sp>
        <p:nvSpPr>
          <p:cNvPr id="57" name="">
            <a:extLst xmlns:a="http://schemas.openxmlformats.org/drawingml/2006/main">
              <a:ext uri="{FF2B5EF4-FFF2-40B4-BE49-F238E27FC236}">
                <a16:creationId xmlns:a16="http://schemas.microsoft.com/office/drawing/2014/main" id="{8D153683-9705-4ADD-BEC6-A71649399971}"/>
              </a:ext>
            </a:extLst>
          </p:cNvPr>
          <p:cNvSpPr>
            <a:spLocks xmlns:a="http://schemas.openxmlformats.org/drawingml/2006/main" noGrp="1"/>
          </p:cNvSpPr>
          <p:nvPr/>
        </p:nvSpPr>
        <p:spPr>
          <a:xfrm xmlns:a="http://schemas.openxmlformats.org/drawingml/2006/main">
            <a:off x="6267450" y="6057900"/>
            <a:ext cx="5143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32024"/>
                </a:solidFill>
              </a:defRPr>
            </a:pPr>
            <a:r>
              <a:rPr sz="1350" b="0">
                <a:solidFill>
                  <a:srgbClr val="132024"/>
                </a:solidFill>
              </a:rPr>
              <a:t>새 논문이 추가되면서 '더 많이 안다'가 아니라 '무엇을 따로 질문해야 하는가'가 바뀌었다.</a:t>
            </a:r>
          </a:p>
        </p:txBody>
      </p:sp>
      <p:sp>
        <p:nvSpPr>
          <p:cNvPr id="58" name="">
            <a:extLst xmlns:a="http://schemas.openxmlformats.org/drawingml/2006/main">
              <a:ext uri="{FF2B5EF4-FFF2-40B4-BE49-F238E27FC236}">
                <a16:creationId xmlns:a16="http://schemas.microsoft.com/office/drawing/2014/main" id="{C1FDF736-8F01-4816-91AE-3561F6511A00}"/>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A767C"/>
                </a:solidFill>
              </a:defRPr>
            </a:pPr>
            <a:r>
              <a:rPr sz="750" b="0">
                <a:solidFill>
                  <a:srgbClr val="6A767C"/>
                </a:solidFill>
              </a:rPr>
              <a:t>graph-style view: subregion map 위에 benchmark branch가 새로 얹힌 순간</a:t>
            </a:r>
          </a:p>
        </p:txBody>
      </p:sp>
    </p:spTree>
    <p:extLst>
      <p:ext uri="{BB962C8B-B14F-4D97-AF65-F5344CB8AC3E}">
        <p14:creationId xmlns:p14="http://schemas.microsoft.com/office/powerpoint/2010/main" val="282822978"/>
      </p:ext>
    </p:extLst>
  </p:cSld>
</p:sld>
</file>

<file path=ppt/slides/slide7.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8BDF79F-9F16-4FEE-B72E-1F506FE9EBEC}"/>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7d977ec12ed4227"/>
          <a:srcRect xmlns:a="http://schemas.openxmlformats.org/drawingml/2006/main" l="0" t="21875" r="0" b="2187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F5B2FFD-362C-4FC6-A498-D78B138C909F}"/>
              </a:ext>
            </a:extLst>
          </p:cNvPr>
          <p:cNvSpPr>
            <a:spLocks xmlns:a="http://schemas.openxmlformats.org/drawingml/2006/main" noGrp="1"/>
          </p:cNvSpPr>
          <p:nvPr/>
        </p:nvSpPr>
        <p:spPr>
          <a:xfrm xmlns:a="http://schemas.openxmlformats.org/drawingml/2006/main">
            <a:off x="7867650" y="781050"/>
            <a:ext cx="3638550" cy="3638550"/>
          </a:xfrm>
          <a:prstGeom xmlns:a="http://schemas.openxmlformats.org/drawingml/2006/main" prst="ellipse">
            <a:avLst/>
          </a:prstGeom>
          <a:solidFill xmlns:a="http://schemas.openxmlformats.org/drawingml/2006/main">
            <a:srgbClr val="E4F5EC"/>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45362FD2-715C-44D1-89BF-10960BFB871D}"/>
              </a:ext>
            </a:extLst>
          </p:cNvPr>
          <p:cNvSpPr>
            <a:spLocks xmlns:a="http://schemas.openxmlformats.org/drawingml/2006/main" noGrp="1"/>
          </p:cNvSpPr>
          <p:nvPr/>
        </p:nvSpPr>
        <p:spPr>
          <a:xfrm xmlns:a="http://schemas.openxmlformats.org/drawingml/2006/main">
            <a:off x="9220200" y="4152900"/>
            <a:ext cx="1962150" cy="1962150"/>
          </a:xfrm>
          <a:prstGeom xmlns:a="http://schemas.openxmlformats.org/drawingml/2006/main" prst="ellipse">
            <a:avLst/>
          </a:prstGeom>
          <a:solidFill xmlns:a="http://schemas.openxmlformats.org/drawingml/2006/main">
            <a:srgbClr val="F6EAD0"/>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70937945-E060-48D6-AEFD-3661DFA77FDF}"/>
              </a:ext>
            </a:extLst>
          </p:cNvPr>
          <p:cNvSpPr>
            <a:spLocks xmlns:a="http://schemas.openxmlformats.org/drawingml/2006/main" noGrp="1"/>
          </p:cNvSpPr>
          <p:nvPr/>
        </p:nvSpPr>
        <p:spPr>
          <a:xfrm xmlns:a="http://schemas.openxmlformats.org/drawingml/2006/main">
            <a:off x="8534400" y="1409700"/>
            <a:ext cx="2457450" cy="1409700"/>
          </a:xfrm>
          <a:prstGeom xmlns:a="http://schemas.openxmlformats.org/drawingml/2006/main" prst="roundRect">
            <a:avLst>
              <a:gd name="adj" fmla="val 5405"/>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6" name="">
            <a:extLst xmlns:a="http://schemas.openxmlformats.org/drawingml/2006/main">
              <a:ext uri="{FF2B5EF4-FFF2-40B4-BE49-F238E27FC236}">
                <a16:creationId xmlns:a16="http://schemas.microsoft.com/office/drawing/2014/main" id="{8CF7672A-B8FC-4D68-8DF9-097DC65A941F}"/>
              </a:ext>
            </a:extLst>
          </p:cNvPr>
          <p:cNvSpPr>
            <a:spLocks xmlns:a="http://schemas.openxmlformats.org/drawingml/2006/main" noGrp="1"/>
          </p:cNvSpPr>
          <p:nvPr/>
        </p:nvSpPr>
        <p:spPr>
          <a:xfrm xmlns:a="http://schemas.openxmlformats.org/drawingml/2006/main">
            <a:off x="9010650" y="3067050"/>
            <a:ext cx="2152650" cy="1123950"/>
          </a:xfrm>
          <a:prstGeom xmlns:a="http://schemas.openxmlformats.org/drawingml/2006/main" prst="roundRect">
            <a:avLst>
              <a:gd name="adj" fmla="val 6780"/>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7" name="">
            <a:extLst xmlns:a="http://schemas.openxmlformats.org/drawingml/2006/main">
              <a:ext uri="{FF2B5EF4-FFF2-40B4-BE49-F238E27FC236}">
                <a16:creationId xmlns:a16="http://schemas.microsoft.com/office/drawing/2014/main" id="{999F4448-BE64-45D8-B6A5-FDD80AA93F35}"/>
              </a:ext>
            </a:extLst>
          </p:cNvPr>
          <p:cNvSpPr>
            <a:spLocks xmlns:a="http://schemas.openxmlformats.org/drawingml/2006/main" noGrp="1"/>
          </p:cNvSpPr>
          <p:nvPr/>
        </p:nvSpPr>
        <p:spPr>
          <a:xfrm xmlns:a="http://schemas.openxmlformats.org/drawingml/2006/main">
            <a:off x="8039100" y="4629150"/>
            <a:ext cx="2000250" cy="914400"/>
          </a:xfrm>
          <a:prstGeom xmlns:a="http://schemas.openxmlformats.org/drawingml/2006/main" prst="roundRect">
            <a:avLst>
              <a:gd name="adj" fmla="val 8333"/>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8" name="">
            <a:extLst xmlns:a="http://schemas.openxmlformats.org/drawingml/2006/main">
              <a:ext uri="{FF2B5EF4-FFF2-40B4-BE49-F238E27FC236}">
                <a16:creationId xmlns:a16="http://schemas.microsoft.com/office/drawing/2014/main" id="{2018F5E5-349D-421F-A8A0-56BA9BF5A08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CF7">
              <a:alpha val="82353"/>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EE1FC54F-21A0-49FD-9A39-6668A2BB6A02}"/>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F5B3F"/>
                </a:solidFill>
              </a:defRPr>
            </a:pPr>
            <a:r>
              <a:rPr sz="975" b="1">
                <a:solidFill>
                  <a:srgbClr val="0F5B3F"/>
                </a:solidFill>
              </a:rPr>
              <a:t>FRAMEWORK</a:t>
            </a:r>
          </a:p>
        </p:txBody>
      </p:sp>
      <p:sp>
        <p:nvSpPr>
          <p:cNvPr id="10" name="">
            <a:extLst xmlns:a="http://schemas.openxmlformats.org/drawingml/2006/main">
              <a:ext uri="{FF2B5EF4-FFF2-40B4-BE49-F238E27FC236}">
                <a16:creationId xmlns:a16="http://schemas.microsoft.com/office/drawing/2014/main" id="{E3A54548-AB3D-4B34-AD73-2796C7BA8644}"/>
              </a:ext>
            </a:extLst>
          </p:cNvPr>
          <p:cNvSpPr>
            <a:spLocks xmlns:a="http://schemas.openxmlformats.org/drawingml/2006/main" noGrp="1"/>
          </p:cNvSpPr>
          <p:nvPr/>
        </p:nvSpPr>
        <p:spPr>
          <a:xfrm xmlns:a="http://schemas.openxmlformats.org/drawingml/2006/main">
            <a:off x="10610850" y="323850"/>
            <a:ext cx="990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0F5B3F"/>
                </a:solidFill>
              </a:defRPr>
            </a:pPr>
            <a:r>
              <a:rPr sz="975" b="1">
                <a:solidFill>
                  <a:srgbClr val="0F5B3F"/>
                </a:solidFill>
              </a:rPr>
              <a:t>07 / 09</a:t>
            </a:r>
          </a:p>
        </p:txBody>
      </p:sp>
      <p:sp>
        <p:nvSpPr>
          <p:cNvPr id="11" name="">
            <a:extLst xmlns:a="http://schemas.openxmlformats.org/drawingml/2006/main">
              <a:ext uri="{FF2B5EF4-FFF2-40B4-BE49-F238E27FC236}">
                <a16:creationId xmlns:a16="http://schemas.microsoft.com/office/drawing/2014/main" id="{F1AE3A78-3CBE-4209-A7AD-50FDFA4775B7}"/>
              </a:ext>
            </a:extLst>
          </p:cNvPr>
          <p:cNvSpPr>
            <a:spLocks xmlns:a="http://schemas.openxmlformats.org/drawingml/2006/main" noGrp="1"/>
          </p:cNvSpPr>
          <p:nvPr/>
        </p:nvSpPr>
        <p:spPr>
          <a:xfrm xmlns:a="http://schemas.openxmlformats.org/drawingml/2006/main">
            <a:off x="609600" y="609600"/>
            <a:ext cx="10972800" cy="19050"/>
          </a:xfrm>
          <a:prstGeom xmlns:a="http://schemas.openxmlformats.org/drawingml/2006/main" prst="rect">
            <a:avLst/>
          </a:prstGeom>
          <a:solidFill xmlns:a="http://schemas.openxmlformats.org/drawingml/2006/main">
            <a:srgbClr val="132024"/>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5B4F5D7E-9CDA-4E29-8600-37074BC150E2}"/>
              </a:ext>
            </a:extLst>
          </p:cNvPr>
          <p:cNvSpPr>
            <a:spLocks xmlns:a="http://schemas.openxmlformats.org/drawingml/2006/main" noGrp="1"/>
          </p:cNvSpPr>
          <p:nvPr/>
        </p:nvSpPr>
        <p:spPr>
          <a:xfrm xmlns:a="http://schemas.openxmlformats.org/drawingml/2006/main">
            <a:off x="542925" y="542925"/>
            <a:ext cx="152400" cy="152400"/>
          </a:xfrm>
          <a:prstGeom xmlns:a="http://schemas.openxmlformats.org/drawingml/2006/main" prst="ellipse">
            <a:avLst/>
          </a:prstGeom>
          <a:solidFill xmlns:a="http://schemas.openxmlformats.org/drawingml/2006/main">
            <a:srgbClr val="1D9A69"/>
          </a:solidFill>
          <a:ln xmlns:a="http://schemas.openxmlformats.org/drawingml/2006/main" w="19050">
            <a:solidFill>
              <a:srgbClr val="132024"/>
            </a:solidFill>
            <a:prstDash val="solid"/>
          </a:ln>
        </p:spPr>
      </p:sp>
      <p:sp>
        <p:nvSpPr>
          <p:cNvPr id="13" name="">
            <a:extLst xmlns:a="http://schemas.openxmlformats.org/drawingml/2006/main">
              <a:ext uri="{FF2B5EF4-FFF2-40B4-BE49-F238E27FC236}">
                <a16:creationId xmlns:a16="http://schemas.microsoft.com/office/drawing/2014/main" id="{1F8D2F0E-ADC4-4AFF-AC70-7DBB2D61A085}"/>
              </a:ext>
            </a:extLst>
          </p:cNvPr>
          <p:cNvSpPr>
            <a:spLocks xmlns:a="http://schemas.openxmlformats.org/drawingml/2006/main" noGrp="1"/>
          </p:cNvSpPr>
          <p:nvPr/>
        </p:nvSpPr>
        <p:spPr>
          <a:xfrm xmlns:a="http://schemas.openxmlformats.org/drawingml/2006/main">
            <a:off x="609600" y="838200"/>
            <a:ext cx="7239000" cy="112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32024"/>
                </a:solidFill>
              </a:defRPr>
            </a:pPr>
            <a:r>
              <a:rPr sz="2850" b="1">
                <a:solidFill>
                  <a:srgbClr val="132024"/>
                </a:solidFill>
              </a:rPr>
              <a:t>최종적으로 얻은 5축 프레임워크</a:t>
            </a:r>
          </a:p>
        </p:txBody>
      </p:sp>
      <p:sp>
        <p:nvSpPr>
          <p:cNvPr id="14" name="">
            <a:extLst xmlns:a="http://schemas.openxmlformats.org/drawingml/2006/main">
              <a:ext uri="{FF2B5EF4-FFF2-40B4-BE49-F238E27FC236}">
                <a16:creationId xmlns:a16="http://schemas.microsoft.com/office/drawing/2014/main" id="{17E0DC1A-8997-4FBF-B8C5-C1978D78901B}"/>
              </a:ext>
            </a:extLst>
          </p:cNvPr>
          <p:cNvSpPr>
            <a:spLocks xmlns:a="http://schemas.openxmlformats.org/drawingml/2006/main" noGrp="1"/>
          </p:cNvSpPr>
          <p:nvPr/>
        </p:nvSpPr>
        <p:spPr>
          <a:xfrm xmlns:a="http://schemas.openxmlformats.org/drawingml/2006/main">
            <a:off x="685800" y="2095500"/>
            <a:ext cx="3352800" cy="1390650"/>
          </a:xfrm>
          <a:prstGeom xmlns:a="http://schemas.openxmlformats.org/drawingml/2006/main" prst="roundRect">
            <a:avLst>
              <a:gd name="adj" fmla="val 5479"/>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15" name="">
            <a:extLst xmlns:a="http://schemas.openxmlformats.org/drawingml/2006/main">
              <a:ext uri="{FF2B5EF4-FFF2-40B4-BE49-F238E27FC236}">
                <a16:creationId xmlns:a16="http://schemas.microsoft.com/office/drawing/2014/main" id="{B9F48D9E-A0E0-4570-9780-9CD6AF15AC05}"/>
              </a:ext>
            </a:extLst>
          </p:cNvPr>
          <p:cNvSpPr>
            <a:spLocks xmlns:a="http://schemas.openxmlformats.org/drawingml/2006/main" noGrp="1"/>
          </p:cNvSpPr>
          <p:nvPr/>
        </p:nvSpPr>
        <p:spPr>
          <a:xfrm xmlns:a="http://schemas.openxmlformats.org/drawingml/2006/main">
            <a:off x="685800" y="2095500"/>
            <a:ext cx="3352800" cy="76200"/>
          </a:xfrm>
          <a:prstGeom xmlns:a="http://schemas.openxmlformats.org/drawingml/2006/main" prst="rect">
            <a:avLst/>
          </a:prstGeom>
          <a:solidFill xmlns:a="http://schemas.openxmlformats.org/drawingml/2006/main">
            <a:srgbClr val="1D9A69"/>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337DBC74-EE0A-4F28-BA67-5C3C03F3F3D3}"/>
              </a:ext>
            </a:extLst>
          </p:cNvPr>
          <p:cNvSpPr>
            <a:spLocks xmlns:a="http://schemas.openxmlformats.org/drawingml/2006/main" noGrp="1"/>
          </p:cNvSpPr>
          <p:nvPr/>
        </p:nvSpPr>
        <p:spPr>
          <a:xfrm xmlns:a="http://schemas.openxmlformats.org/drawingml/2006/main">
            <a:off x="895350" y="2286000"/>
            <a:ext cx="29337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1. region identity</a:t>
            </a:r>
          </a:p>
        </p:txBody>
      </p:sp>
      <p:sp>
        <p:nvSpPr>
          <p:cNvPr id="17" name="">
            <a:extLst xmlns:a="http://schemas.openxmlformats.org/drawingml/2006/main">
              <a:ext uri="{FF2B5EF4-FFF2-40B4-BE49-F238E27FC236}">
                <a16:creationId xmlns:a16="http://schemas.microsoft.com/office/drawing/2014/main" id="{25FE4692-8B58-47B7-A307-F1337756CBF6}"/>
              </a:ext>
            </a:extLst>
          </p:cNvPr>
          <p:cNvSpPr>
            <a:spLocks xmlns:a="http://schemas.openxmlformats.org/drawingml/2006/main" noGrp="1"/>
          </p:cNvSpPr>
          <p:nvPr/>
        </p:nvSpPr>
        <p:spPr>
          <a:xfrm xmlns:a="http://schemas.openxmlformats.org/drawingml/2006/main">
            <a:off x="895350" y="2705100"/>
            <a:ext cx="29337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어떤 brain region 또는 subregion을</a:t>
            </a:r>
          </a:p>
          <a:p xmlns:a="http://schemas.openxmlformats.org/drawingml/2006/main">
            <a:pPr algn="l">
              <a:defRPr sz="1200" b="0">
                <a:solidFill>
                  <a:srgbClr val="132024"/>
                </a:solidFill>
              </a:defRPr>
            </a:pPr>
            <a:r>
              <a:rPr sz="1200" b="0">
                <a:solidFill>
                  <a:srgbClr val="132024"/>
                </a:solidFill>
              </a:rPr>
              <a:t>만들고 있는가? anchor: Q1, Sloan,</a:t>
            </a:r>
          </a:p>
          <a:p xmlns:a="http://schemas.openxmlformats.org/drawingml/2006/main">
            <a:pPr algn="l">
              <a:defRPr sz="1200" b="0">
                <a:solidFill>
                  <a:srgbClr val="132024"/>
                </a:solidFill>
              </a:defRPr>
            </a:pPr>
            <a:r>
              <a:rPr sz="1200" b="0">
                <a:solidFill>
                  <a:srgbClr val="132024"/>
                </a:solidFill>
              </a:rPr>
              <a:t>Atamian</a:t>
            </a:r>
          </a:p>
        </p:txBody>
      </p:sp>
      <p:sp>
        <p:nvSpPr>
          <p:cNvPr id="18" name="">
            <a:extLst xmlns:a="http://schemas.openxmlformats.org/drawingml/2006/main">
              <a:ext uri="{FF2B5EF4-FFF2-40B4-BE49-F238E27FC236}">
                <a16:creationId xmlns:a16="http://schemas.microsoft.com/office/drawing/2014/main" id="{0A080E2F-BDFF-48E4-96E2-91A91A2E7D86}"/>
              </a:ext>
            </a:extLst>
          </p:cNvPr>
          <p:cNvSpPr>
            <a:spLocks xmlns:a="http://schemas.openxmlformats.org/drawingml/2006/main" noGrp="1"/>
          </p:cNvSpPr>
          <p:nvPr/>
        </p:nvSpPr>
        <p:spPr>
          <a:xfrm xmlns:a="http://schemas.openxmlformats.org/drawingml/2006/main">
            <a:off x="4419600" y="2095500"/>
            <a:ext cx="3352800" cy="1390650"/>
          </a:xfrm>
          <a:prstGeom xmlns:a="http://schemas.openxmlformats.org/drawingml/2006/main" prst="roundRect">
            <a:avLst>
              <a:gd name="adj" fmla="val 5479"/>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19" name="">
            <a:extLst xmlns:a="http://schemas.openxmlformats.org/drawingml/2006/main">
              <a:ext uri="{FF2B5EF4-FFF2-40B4-BE49-F238E27FC236}">
                <a16:creationId xmlns:a16="http://schemas.microsoft.com/office/drawing/2014/main" id="{9C710924-9967-4B4D-A0E5-30CF671C8EDD}"/>
              </a:ext>
            </a:extLst>
          </p:cNvPr>
          <p:cNvSpPr>
            <a:spLocks xmlns:a="http://schemas.openxmlformats.org/drawingml/2006/main" noGrp="1"/>
          </p:cNvSpPr>
          <p:nvPr/>
        </p:nvSpPr>
        <p:spPr>
          <a:xfrm xmlns:a="http://schemas.openxmlformats.org/drawingml/2006/main">
            <a:off x="4419600" y="2095500"/>
            <a:ext cx="3352800" cy="76200"/>
          </a:xfrm>
          <a:prstGeom xmlns:a="http://schemas.openxmlformats.org/drawingml/2006/main" prst="rect">
            <a:avLst/>
          </a:prstGeom>
          <a:solidFill xmlns:a="http://schemas.openxmlformats.org/drawingml/2006/main">
            <a:srgbClr val="C9972B"/>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F70D80D4-F639-46CC-ACA8-2C517D43FC69}"/>
              </a:ext>
            </a:extLst>
          </p:cNvPr>
          <p:cNvSpPr>
            <a:spLocks xmlns:a="http://schemas.openxmlformats.org/drawingml/2006/main" noGrp="1"/>
          </p:cNvSpPr>
          <p:nvPr/>
        </p:nvSpPr>
        <p:spPr>
          <a:xfrm xmlns:a="http://schemas.openxmlformats.org/drawingml/2006/main">
            <a:off x="4629150" y="2286000"/>
            <a:ext cx="29337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2. reproducibility</a:t>
            </a:r>
          </a:p>
        </p:txBody>
      </p:sp>
      <p:sp>
        <p:nvSpPr>
          <p:cNvPr id="21" name="">
            <a:extLst xmlns:a="http://schemas.openxmlformats.org/drawingml/2006/main">
              <a:ext uri="{FF2B5EF4-FFF2-40B4-BE49-F238E27FC236}">
                <a16:creationId xmlns:a16="http://schemas.microsoft.com/office/drawing/2014/main" id="{C36BEBE7-B496-444B-940E-9597B2B36487}"/>
              </a:ext>
            </a:extLst>
          </p:cNvPr>
          <p:cNvSpPr>
            <a:spLocks xmlns:a="http://schemas.openxmlformats.org/drawingml/2006/main" noGrp="1"/>
          </p:cNvSpPr>
          <p:nvPr/>
        </p:nvSpPr>
        <p:spPr>
          <a:xfrm xmlns:a="http://schemas.openxmlformats.org/drawingml/2006/main">
            <a:off x="4629150" y="2705100"/>
            <a:ext cx="29337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같은 protocol 안에서 cell</a:t>
            </a:r>
          </a:p>
          <a:p xmlns:a="http://schemas.openxmlformats.org/drawingml/2006/main">
            <a:pPr algn="l">
              <a:defRPr sz="1200" b="0">
                <a:solidFill>
                  <a:srgbClr val="132024"/>
                </a:solidFill>
              </a:defRPr>
            </a:pPr>
            <a:r>
              <a:rPr sz="1200" b="0">
                <a:solidFill>
                  <a:srgbClr val="132024"/>
                </a:solidFill>
              </a:rPr>
              <a:t>composition variance가 얼마나</a:t>
            </a:r>
          </a:p>
          <a:p xmlns:a="http://schemas.openxmlformats.org/drawingml/2006/main">
            <a:pPr algn="l">
              <a:defRPr sz="1200" b="0">
                <a:solidFill>
                  <a:srgbClr val="132024"/>
                </a:solidFill>
              </a:defRPr>
            </a:pPr>
            <a:r>
              <a:rPr sz="1200" b="0">
                <a:solidFill>
                  <a:srgbClr val="132024"/>
                </a:solidFill>
              </a:rPr>
              <a:t>낮은가? anchor: Velasco, Yoon</a:t>
            </a:r>
          </a:p>
        </p:txBody>
      </p:sp>
      <p:sp>
        <p:nvSpPr>
          <p:cNvPr id="22" name="">
            <a:extLst xmlns:a="http://schemas.openxmlformats.org/drawingml/2006/main">
              <a:ext uri="{FF2B5EF4-FFF2-40B4-BE49-F238E27FC236}">
                <a16:creationId xmlns:a16="http://schemas.microsoft.com/office/drawing/2014/main" id="{9FB2811E-0A9C-45AF-8BC6-2886CD7ACBE7}"/>
              </a:ext>
            </a:extLst>
          </p:cNvPr>
          <p:cNvSpPr>
            <a:spLocks xmlns:a="http://schemas.openxmlformats.org/drawingml/2006/main" noGrp="1"/>
          </p:cNvSpPr>
          <p:nvPr/>
        </p:nvSpPr>
        <p:spPr>
          <a:xfrm xmlns:a="http://schemas.openxmlformats.org/drawingml/2006/main">
            <a:off x="8153400" y="2095500"/>
            <a:ext cx="3352800" cy="1390650"/>
          </a:xfrm>
          <a:prstGeom xmlns:a="http://schemas.openxmlformats.org/drawingml/2006/main" prst="roundRect">
            <a:avLst>
              <a:gd name="adj" fmla="val 5479"/>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23" name="">
            <a:extLst xmlns:a="http://schemas.openxmlformats.org/drawingml/2006/main">
              <a:ext uri="{FF2B5EF4-FFF2-40B4-BE49-F238E27FC236}">
                <a16:creationId xmlns:a16="http://schemas.microsoft.com/office/drawing/2014/main" id="{6ADD634C-EB1B-4F73-907B-607DF77F08DD}"/>
              </a:ext>
            </a:extLst>
          </p:cNvPr>
          <p:cNvSpPr>
            <a:spLocks xmlns:a="http://schemas.openxmlformats.org/drawingml/2006/main" noGrp="1"/>
          </p:cNvSpPr>
          <p:nvPr/>
        </p:nvSpPr>
        <p:spPr>
          <a:xfrm xmlns:a="http://schemas.openxmlformats.org/drawingml/2006/main">
            <a:off x="8153400" y="2095500"/>
            <a:ext cx="3352800" cy="76200"/>
          </a:xfrm>
          <a:prstGeom xmlns:a="http://schemas.openxmlformats.org/drawingml/2006/main" prst="rect">
            <a:avLst/>
          </a:prstGeom>
          <a:solidFill xmlns:a="http://schemas.openxmlformats.org/drawingml/2006/main">
            <a:srgbClr val="D66C60"/>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0A4280E9-AA02-496C-BFDF-08B940B8279D}"/>
              </a:ext>
            </a:extLst>
          </p:cNvPr>
          <p:cNvSpPr>
            <a:spLocks xmlns:a="http://schemas.openxmlformats.org/drawingml/2006/main" noGrp="1"/>
          </p:cNvSpPr>
          <p:nvPr/>
        </p:nvSpPr>
        <p:spPr>
          <a:xfrm xmlns:a="http://schemas.openxmlformats.org/drawingml/2006/main">
            <a:off x="8362950" y="2286000"/>
            <a:ext cx="29337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3. fidelity</a:t>
            </a:r>
          </a:p>
        </p:txBody>
      </p:sp>
      <p:sp>
        <p:nvSpPr>
          <p:cNvPr id="25" name="">
            <a:extLst xmlns:a="http://schemas.openxmlformats.org/drawingml/2006/main">
              <a:ext uri="{FF2B5EF4-FFF2-40B4-BE49-F238E27FC236}">
                <a16:creationId xmlns:a16="http://schemas.microsoft.com/office/drawing/2014/main" id="{7685E2C3-195C-4064-A7E4-31F3DACFC6D7}"/>
              </a:ext>
            </a:extLst>
          </p:cNvPr>
          <p:cNvSpPr>
            <a:spLocks xmlns:a="http://schemas.openxmlformats.org/drawingml/2006/main" noGrp="1"/>
          </p:cNvSpPr>
          <p:nvPr/>
        </p:nvSpPr>
        <p:spPr>
          <a:xfrm xmlns:a="http://schemas.openxmlformats.org/drawingml/2006/main">
            <a:off x="8362950" y="2705100"/>
            <a:ext cx="29337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primary fetal brain과의</a:t>
            </a:r>
          </a:p>
          <a:p xmlns:a="http://schemas.openxmlformats.org/drawingml/2006/main">
            <a:pPr algn="l">
              <a:defRPr sz="1200" b="0">
                <a:solidFill>
                  <a:srgbClr val="132024"/>
                </a:solidFill>
              </a:defRPr>
            </a:pPr>
            <a:r>
              <a:rPr sz="1200" b="0">
                <a:solidFill>
                  <a:srgbClr val="132024"/>
                </a:solidFill>
              </a:rPr>
              <a:t>distance를 어떻게 볼 것인가? anchor:</a:t>
            </a:r>
          </a:p>
          <a:p xmlns:a="http://schemas.openxmlformats.org/drawingml/2006/main">
            <a:pPr algn="l">
              <a:defRPr sz="1200" b="0">
                <a:solidFill>
                  <a:srgbClr val="132024"/>
                </a:solidFill>
              </a:defRPr>
            </a:pPr>
            <a:r>
              <a:rPr sz="1200" b="0">
                <a:solidFill>
                  <a:srgbClr val="132024"/>
                </a:solidFill>
              </a:rPr>
              <a:t>Bhaduri, He</a:t>
            </a:r>
          </a:p>
        </p:txBody>
      </p:sp>
      <p:sp>
        <p:nvSpPr>
          <p:cNvPr id="26" name="">
            <a:extLst xmlns:a="http://schemas.openxmlformats.org/drawingml/2006/main">
              <a:ext uri="{FF2B5EF4-FFF2-40B4-BE49-F238E27FC236}">
                <a16:creationId xmlns:a16="http://schemas.microsoft.com/office/drawing/2014/main" id="{AE44771C-D5F5-4FDA-BE17-8EE2E56FE9D1}"/>
              </a:ext>
            </a:extLst>
          </p:cNvPr>
          <p:cNvSpPr>
            <a:spLocks xmlns:a="http://schemas.openxmlformats.org/drawingml/2006/main" noGrp="1"/>
          </p:cNvSpPr>
          <p:nvPr/>
        </p:nvSpPr>
        <p:spPr>
          <a:xfrm xmlns:a="http://schemas.openxmlformats.org/drawingml/2006/main">
            <a:off x="1371600" y="3790950"/>
            <a:ext cx="4400550" cy="1428750"/>
          </a:xfrm>
          <a:prstGeom xmlns:a="http://schemas.openxmlformats.org/drawingml/2006/main" prst="roundRect">
            <a:avLst>
              <a:gd name="adj" fmla="val 5333"/>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27" name="">
            <a:extLst xmlns:a="http://schemas.openxmlformats.org/drawingml/2006/main">
              <a:ext uri="{FF2B5EF4-FFF2-40B4-BE49-F238E27FC236}">
                <a16:creationId xmlns:a16="http://schemas.microsoft.com/office/drawing/2014/main" id="{D3F4D85E-B97B-4415-A3A3-BE9122E601E1}"/>
              </a:ext>
            </a:extLst>
          </p:cNvPr>
          <p:cNvSpPr>
            <a:spLocks xmlns:a="http://schemas.openxmlformats.org/drawingml/2006/main" noGrp="1"/>
          </p:cNvSpPr>
          <p:nvPr/>
        </p:nvSpPr>
        <p:spPr>
          <a:xfrm xmlns:a="http://schemas.openxmlformats.org/drawingml/2006/main">
            <a:off x="1371600" y="3790950"/>
            <a:ext cx="4400550" cy="76200"/>
          </a:xfrm>
          <a:prstGeom xmlns:a="http://schemas.openxmlformats.org/drawingml/2006/main" prst="rect">
            <a:avLst/>
          </a:prstGeom>
          <a:solidFill xmlns:a="http://schemas.openxmlformats.org/drawingml/2006/main">
            <a:srgbClr val="517C95"/>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31ACB868-46AB-454B-BC04-60038059FD34}"/>
              </a:ext>
            </a:extLst>
          </p:cNvPr>
          <p:cNvSpPr>
            <a:spLocks xmlns:a="http://schemas.openxmlformats.org/drawingml/2006/main" noGrp="1"/>
          </p:cNvSpPr>
          <p:nvPr/>
        </p:nvSpPr>
        <p:spPr>
          <a:xfrm xmlns:a="http://schemas.openxmlformats.org/drawingml/2006/main">
            <a:off x="1581150" y="3981450"/>
            <a:ext cx="39814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4. temporal mapping</a:t>
            </a:r>
          </a:p>
        </p:txBody>
      </p:sp>
      <p:sp>
        <p:nvSpPr>
          <p:cNvPr id="29" name="">
            <a:extLst xmlns:a="http://schemas.openxmlformats.org/drawingml/2006/main">
              <a:ext uri="{FF2B5EF4-FFF2-40B4-BE49-F238E27FC236}">
                <a16:creationId xmlns:a16="http://schemas.microsoft.com/office/drawing/2014/main" id="{9C222BFF-5AAE-474D-95B8-E70E5EC651AF}"/>
              </a:ext>
            </a:extLst>
          </p:cNvPr>
          <p:cNvSpPr>
            <a:spLocks xmlns:a="http://schemas.openxmlformats.org/drawingml/2006/main" noGrp="1"/>
          </p:cNvSpPr>
          <p:nvPr/>
        </p:nvSpPr>
        <p:spPr>
          <a:xfrm xmlns:a="http://schemas.openxmlformats.org/drawingml/2006/main">
            <a:off x="1581150" y="4400550"/>
            <a:ext cx="39814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culture day를 developmental stage로 어떻게</a:t>
            </a:r>
          </a:p>
          <a:p xmlns:a="http://schemas.openxmlformats.org/drawingml/2006/main">
            <a:pPr algn="l">
              <a:defRPr sz="1200" b="0">
                <a:solidFill>
                  <a:srgbClr val="132024"/>
                </a:solidFill>
              </a:defRPr>
            </a:pPr>
            <a:r>
              <a:rPr sz="1200" b="0">
                <a:solidFill>
                  <a:srgbClr val="132024"/>
                </a:solidFill>
              </a:rPr>
              <a:t>읽을 것인가? anchor: Kanton, Giandomenico</a:t>
            </a:r>
          </a:p>
        </p:txBody>
      </p:sp>
      <p:sp>
        <p:nvSpPr>
          <p:cNvPr id="30" name="">
            <a:extLst xmlns:a="http://schemas.openxmlformats.org/drawingml/2006/main">
              <a:ext uri="{FF2B5EF4-FFF2-40B4-BE49-F238E27FC236}">
                <a16:creationId xmlns:a16="http://schemas.microsoft.com/office/drawing/2014/main" id="{18A78621-996F-408A-BD2F-E48DFB27E780}"/>
              </a:ext>
            </a:extLst>
          </p:cNvPr>
          <p:cNvSpPr>
            <a:spLocks xmlns:a="http://schemas.openxmlformats.org/drawingml/2006/main" noGrp="1"/>
          </p:cNvSpPr>
          <p:nvPr/>
        </p:nvSpPr>
        <p:spPr>
          <a:xfrm xmlns:a="http://schemas.openxmlformats.org/drawingml/2006/main">
            <a:off x="6438900" y="3790950"/>
            <a:ext cx="4400550" cy="1428750"/>
          </a:xfrm>
          <a:prstGeom xmlns:a="http://schemas.openxmlformats.org/drawingml/2006/main" prst="roundRect">
            <a:avLst>
              <a:gd name="adj" fmla="val 5333"/>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31" name="">
            <a:extLst xmlns:a="http://schemas.openxmlformats.org/drawingml/2006/main">
              <a:ext uri="{FF2B5EF4-FFF2-40B4-BE49-F238E27FC236}">
                <a16:creationId xmlns:a16="http://schemas.microsoft.com/office/drawing/2014/main" id="{D949192C-4532-4E54-B738-E4ED4A6D0677}"/>
              </a:ext>
            </a:extLst>
          </p:cNvPr>
          <p:cNvSpPr>
            <a:spLocks xmlns:a="http://schemas.openxmlformats.org/drawingml/2006/main" noGrp="1"/>
          </p:cNvSpPr>
          <p:nvPr/>
        </p:nvSpPr>
        <p:spPr>
          <a:xfrm xmlns:a="http://schemas.openxmlformats.org/drawingml/2006/main">
            <a:off x="6438900" y="3790950"/>
            <a:ext cx="4400550" cy="76200"/>
          </a:xfrm>
          <a:prstGeom xmlns:a="http://schemas.openxmlformats.org/drawingml/2006/main" prst="rect">
            <a:avLst/>
          </a:prstGeom>
          <a:solidFill xmlns:a="http://schemas.openxmlformats.org/drawingml/2006/main">
            <a:srgbClr val="0F5B3F"/>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3E216671-517C-4CBB-B726-7F52C052457D}"/>
              </a:ext>
            </a:extLst>
          </p:cNvPr>
          <p:cNvSpPr>
            <a:spLocks xmlns:a="http://schemas.openxmlformats.org/drawingml/2006/main" noGrp="1"/>
          </p:cNvSpPr>
          <p:nvPr/>
        </p:nvSpPr>
        <p:spPr>
          <a:xfrm xmlns:a="http://schemas.openxmlformats.org/drawingml/2006/main">
            <a:off x="6648450" y="3981450"/>
            <a:ext cx="39814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5. atlas alignment</a:t>
            </a:r>
          </a:p>
        </p:txBody>
      </p:sp>
      <p:sp>
        <p:nvSpPr>
          <p:cNvPr id="33" name="">
            <a:extLst xmlns:a="http://schemas.openxmlformats.org/drawingml/2006/main">
              <a:ext uri="{FF2B5EF4-FFF2-40B4-BE49-F238E27FC236}">
                <a16:creationId xmlns:a16="http://schemas.microsoft.com/office/drawing/2014/main" id="{FDACCBAD-40CF-4EE2-B560-67EDF08C85B7}"/>
              </a:ext>
            </a:extLst>
          </p:cNvPr>
          <p:cNvSpPr>
            <a:spLocks xmlns:a="http://schemas.openxmlformats.org/drawingml/2006/main" noGrp="1"/>
          </p:cNvSpPr>
          <p:nvPr/>
        </p:nvSpPr>
        <p:spPr>
          <a:xfrm xmlns:a="http://schemas.openxmlformats.org/drawingml/2006/main">
            <a:off x="6648450" y="4400550"/>
            <a:ext cx="39814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여러 protocol을 같은 reference atlas 좌표계에서</a:t>
            </a:r>
          </a:p>
          <a:p xmlns:a="http://schemas.openxmlformats.org/drawingml/2006/main">
            <a:pPr algn="l">
              <a:defRPr sz="1200" b="0">
                <a:solidFill>
                  <a:srgbClr val="132024"/>
                </a:solidFill>
              </a:defRPr>
            </a:pPr>
            <a:r>
              <a:rPr sz="1200" b="0">
                <a:solidFill>
                  <a:srgbClr val="132024"/>
                </a:solidFill>
              </a:rPr>
              <a:t>어떻게 정렬할 것인가? anchor: He 2024</a:t>
            </a:r>
          </a:p>
        </p:txBody>
      </p:sp>
      <p:sp>
        <p:nvSpPr>
          <p:cNvPr id="34" name="">
            <a:extLst xmlns:a="http://schemas.openxmlformats.org/drawingml/2006/main">
              <a:ext uri="{FF2B5EF4-FFF2-40B4-BE49-F238E27FC236}">
                <a16:creationId xmlns:a16="http://schemas.microsoft.com/office/drawing/2014/main" id="{EA2FCB23-48EB-47D7-8B63-A24274CCB32D}"/>
              </a:ext>
            </a:extLst>
          </p:cNvPr>
          <p:cNvSpPr>
            <a:spLocks xmlns:a="http://schemas.openxmlformats.org/drawingml/2006/main" noGrp="1"/>
          </p:cNvSpPr>
          <p:nvPr/>
        </p:nvSpPr>
        <p:spPr>
          <a:xfrm xmlns:a="http://schemas.openxmlformats.org/drawingml/2006/main">
            <a:off x="2038350" y="5581650"/>
            <a:ext cx="8115300" cy="609600"/>
          </a:xfrm>
          <a:prstGeom xmlns:a="http://schemas.openxmlformats.org/drawingml/2006/main" prst="roundRect">
            <a:avLst>
              <a:gd name="adj" fmla="val 12500"/>
            </a:avLst>
          </a:prstGeom>
          <a:solidFill xmlns:a="http://schemas.openxmlformats.org/drawingml/2006/main">
            <a:srgbClr val="F7DDD8"/>
          </a:solidFill>
          <a:ln xmlns:a="http://schemas.openxmlformats.org/drawingml/2006/main" w="11430">
            <a:solidFill>
              <a:srgbClr val="132024"/>
            </a:solidFill>
            <a:prstDash val="solid"/>
          </a:ln>
        </p:spPr>
      </p:sp>
      <p:sp>
        <p:nvSpPr>
          <p:cNvPr id="35" name="">
            <a:extLst xmlns:a="http://schemas.openxmlformats.org/drawingml/2006/main">
              <a:ext uri="{FF2B5EF4-FFF2-40B4-BE49-F238E27FC236}">
                <a16:creationId xmlns:a16="http://schemas.microsoft.com/office/drawing/2014/main" id="{6C89C5D3-F06D-455E-9CE5-02E7393D1D9A}"/>
              </a:ext>
            </a:extLst>
          </p:cNvPr>
          <p:cNvSpPr>
            <a:spLocks xmlns:a="http://schemas.openxmlformats.org/drawingml/2006/main" noGrp="1"/>
          </p:cNvSpPr>
          <p:nvPr/>
        </p:nvSpPr>
        <p:spPr>
          <a:xfrm xmlns:a="http://schemas.openxmlformats.org/drawingml/2006/main">
            <a:off x="2038350" y="5581650"/>
            <a:ext cx="76200" cy="609600"/>
          </a:xfrm>
          <a:prstGeom xmlns:a="http://schemas.openxmlformats.org/drawingml/2006/main" prst="rect">
            <a:avLst/>
          </a:prstGeom>
          <a:solidFill xmlns:a="http://schemas.openxmlformats.org/drawingml/2006/main">
            <a:srgbClr val="D66C60"/>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F7D79A1D-1653-465C-AF14-ED992B123459}"/>
              </a:ext>
            </a:extLst>
          </p:cNvPr>
          <p:cNvSpPr>
            <a:spLocks xmlns:a="http://schemas.openxmlformats.org/drawingml/2006/main" noGrp="1"/>
          </p:cNvSpPr>
          <p:nvPr/>
        </p:nvSpPr>
        <p:spPr>
          <a:xfrm xmlns:a="http://schemas.openxmlformats.org/drawingml/2006/main">
            <a:off x="2247900" y="5734050"/>
            <a:ext cx="77343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32024"/>
                </a:solidFill>
              </a:defRPr>
            </a:pPr>
            <a:r>
              <a:rPr sz="1350" b="0">
                <a:solidFill>
                  <a:srgbClr val="132024"/>
                </a:solidFill>
              </a:rPr>
              <a:t>핵심 메시지: reproducibility와 fidelity는 같은 말이 아니다.</a:t>
            </a:r>
          </a:p>
        </p:txBody>
      </p:sp>
      <p:sp>
        <p:nvSpPr>
          <p:cNvPr id="37" name="">
            <a:extLst xmlns:a="http://schemas.openxmlformats.org/drawingml/2006/main">
              <a:ext uri="{FF2B5EF4-FFF2-40B4-BE49-F238E27FC236}">
                <a16:creationId xmlns:a16="http://schemas.microsoft.com/office/drawing/2014/main" id="{36CA988D-02FE-458D-8A18-C70D1C2E58EF}"/>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A767C"/>
                </a:solidFill>
              </a:defRPr>
            </a:pPr>
            <a:r>
              <a:rPr sz="750" b="0">
                <a:solidFill>
                  <a:srgbClr val="6A767C"/>
                </a:solidFill>
              </a:rPr>
              <a:t>5축은 서로 다른 benchmark question이며, 한 축의 강점이 다른 축의 답을 대신하지 않는다.</a:t>
            </a:r>
          </a:p>
        </p:txBody>
      </p:sp>
    </p:spTree>
    <p:extLst>
      <p:ext uri="{BB962C8B-B14F-4D97-AF65-F5344CB8AC3E}">
        <p14:creationId xmlns:p14="http://schemas.microsoft.com/office/powerpoint/2010/main" val="1293279042"/>
      </p:ext>
    </p:extLst>
  </p:cSld>
</p:sld>
</file>

<file path=ppt/slides/slide8.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8BDF79F-9F16-4FEE-B72E-1F506FE9EBEC}"/>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23d20a8cf224c17"/>
          <a:srcRect xmlns:a="http://schemas.openxmlformats.org/drawingml/2006/main" l="0" t="21875" r="0" b="2187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3A3B2FC-7E04-4C81-9C19-8F36EAB3664D}"/>
              </a:ext>
            </a:extLst>
          </p:cNvPr>
          <p:cNvSpPr>
            <a:spLocks xmlns:a="http://schemas.openxmlformats.org/drawingml/2006/main" noGrp="1"/>
          </p:cNvSpPr>
          <p:nvPr/>
        </p:nvSpPr>
        <p:spPr>
          <a:xfrm xmlns:a="http://schemas.openxmlformats.org/drawingml/2006/main">
            <a:off x="7867650" y="781050"/>
            <a:ext cx="3638550" cy="3638550"/>
          </a:xfrm>
          <a:prstGeom xmlns:a="http://schemas.openxmlformats.org/drawingml/2006/main" prst="ellipse">
            <a:avLst/>
          </a:prstGeom>
          <a:solidFill xmlns:a="http://schemas.openxmlformats.org/drawingml/2006/main">
            <a:srgbClr val="E4F5EC"/>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8CFB26AB-0E37-4138-ADBF-A67B4EC436EA}"/>
              </a:ext>
            </a:extLst>
          </p:cNvPr>
          <p:cNvSpPr>
            <a:spLocks xmlns:a="http://schemas.openxmlformats.org/drawingml/2006/main" noGrp="1"/>
          </p:cNvSpPr>
          <p:nvPr/>
        </p:nvSpPr>
        <p:spPr>
          <a:xfrm xmlns:a="http://schemas.openxmlformats.org/drawingml/2006/main">
            <a:off x="9220200" y="4152900"/>
            <a:ext cx="1962150" cy="1962150"/>
          </a:xfrm>
          <a:prstGeom xmlns:a="http://schemas.openxmlformats.org/drawingml/2006/main" prst="ellipse">
            <a:avLst/>
          </a:prstGeom>
          <a:solidFill xmlns:a="http://schemas.openxmlformats.org/drawingml/2006/main">
            <a:srgbClr val="E6EDF1"/>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078455BF-50A2-4F63-8C37-D70BA49B4101}"/>
              </a:ext>
            </a:extLst>
          </p:cNvPr>
          <p:cNvSpPr>
            <a:spLocks xmlns:a="http://schemas.openxmlformats.org/drawingml/2006/main" noGrp="1"/>
          </p:cNvSpPr>
          <p:nvPr/>
        </p:nvSpPr>
        <p:spPr>
          <a:xfrm xmlns:a="http://schemas.openxmlformats.org/drawingml/2006/main">
            <a:off x="8534400" y="1409700"/>
            <a:ext cx="2457450" cy="1409700"/>
          </a:xfrm>
          <a:prstGeom xmlns:a="http://schemas.openxmlformats.org/drawingml/2006/main" prst="roundRect">
            <a:avLst>
              <a:gd name="adj" fmla="val 5405"/>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6" name="">
            <a:extLst xmlns:a="http://schemas.openxmlformats.org/drawingml/2006/main">
              <a:ext uri="{FF2B5EF4-FFF2-40B4-BE49-F238E27FC236}">
                <a16:creationId xmlns:a16="http://schemas.microsoft.com/office/drawing/2014/main" id="{E24D0F3C-EE6D-4E3B-B8E2-9697D20E460C}"/>
              </a:ext>
            </a:extLst>
          </p:cNvPr>
          <p:cNvSpPr>
            <a:spLocks xmlns:a="http://schemas.openxmlformats.org/drawingml/2006/main" noGrp="1"/>
          </p:cNvSpPr>
          <p:nvPr/>
        </p:nvSpPr>
        <p:spPr>
          <a:xfrm xmlns:a="http://schemas.openxmlformats.org/drawingml/2006/main">
            <a:off x="9010650" y="3067050"/>
            <a:ext cx="2152650" cy="1123950"/>
          </a:xfrm>
          <a:prstGeom xmlns:a="http://schemas.openxmlformats.org/drawingml/2006/main" prst="roundRect">
            <a:avLst>
              <a:gd name="adj" fmla="val 6780"/>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7" name="">
            <a:extLst xmlns:a="http://schemas.openxmlformats.org/drawingml/2006/main">
              <a:ext uri="{FF2B5EF4-FFF2-40B4-BE49-F238E27FC236}">
                <a16:creationId xmlns:a16="http://schemas.microsoft.com/office/drawing/2014/main" id="{04424ABB-304E-4045-BC3F-224521C5F6E9}"/>
              </a:ext>
            </a:extLst>
          </p:cNvPr>
          <p:cNvSpPr>
            <a:spLocks xmlns:a="http://schemas.openxmlformats.org/drawingml/2006/main" noGrp="1"/>
          </p:cNvSpPr>
          <p:nvPr/>
        </p:nvSpPr>
        <p:spPr>
          <a:xfrm xmlns:a="http://schemas.openxmlformats.org/drawingml/2006/main">
            <a:off x="8039100" y="4629150"/>
            <a:ext cx="2000250" cy="914400"/>
          </a:xfrm>
          <a:prstGeom xmlns:a="http://schemas.openxmlformats.org/drawingml/2006/main" prst="roundRect">
            <a:avLst>
              <a:gd name="adj" fmla="val 8333"/>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8" name="">
            <a:extLst xmlns:a="http://schemas.openxmlformats.org/drawingml/2006/main">
              <a:ext uri="{FF2B5EF4-FFF2-40B4-BE49-F238E27FC236}">
                <a16:creationId xmlns:a16="http://schemas.microsoft.com/office/drawing/2014/main" id="{88AE7738-7DA7-43BD-A9ED-A0C7C7F50CB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CF7">
              <a:alpha val="80000"/>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3A6A833B-8FA5-452A-8378-A7C3A71662DA}"/>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F5B3F"/>
                </a:solidFill>
              </a:defRPr>
            </a:pPr>
            <a:r>
              <a:rPr sz="975" b="1">
                <a:solidFill>
                  <a:srgbClr val="0F5B3F"/>
                </a:solidFill>
              </a:rPr>
              <a:t>QUESTION 3</a:t>
            </a:r>
          </a:p>
        </p:txBody>
      </p:sp>
      <p:sp>
        <p:nvSpPr>
          <p:cNvPr id="10" name="">
            <a:extLst xmlns:a="http://schemas.openxmlformats.org/drawingml/2006/main">
              <a:ext uri="{FF2B5EF4-FFF2-40B4-BE49-F238E27FC236}">
                <a16:creationId xmlns:a16="http://schemas.microsoft.com/office/drawing/2014/main" id="{ED198204-E708-43C7-B764-C98D32012781}"/>
              </a:ext>
            </a:extLst>
          </p:cNvPr>
          <p:cNvSpPr>
            <a:spLocks xmlns:a="http://schemas.openxmlformats.org/drawingml/2006/main" noGrp="1"/>
          </p:cNvSpPr>
          <p:nvPr/>
        </p:nvSpPr>
        <p:spPr>
          <a:xfrm xmlns:a="http://schemas.openxmlformats.org/drawingml/2006/main">
            <a:off x="10610850" y="323850"/>
            <a:ext cx="990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0F5B3F"/>
                </a:solidFill>
              </a:defRPr>
            </a:pPr>
            <a:r>
              <a:rPr sz="975" b="1">
                <a:solidFill>
                  <a:srgbClr val="0F5B3F"/>
                </a:solidFill>
              </a:rPr>
              <a:t>08 / 09</a:t>
            </a:r>
          </a:p>
        </p:txBody>
      </p:sp>
      <p:sp>
        <p:nvSpPr>
          <p:cNvPr id="11" name="">
            <a:extLst xmlns:a="http://schemas.openxmlformats.org/drawingml/2006/main">
              <a:ext uri="{FF2B5EF4-FFF2-40B4-BE49-F238E27FC236}">
                <a16:creationId xmlns:a16="http://schemas.microsoft.com/office/drawing/2014/main" id="{FC8E3C39-DD16-485A-9DD6-547BBA485999}"/>
              </a:ext>
            </a:extLst>
          </p:cNvPr>
          <p:cNvSpPr>
            <a:spLocks xmlns:a="http://schemas.openxmlformats.org/drawingml/2006/main" noGrp="1"/>
          </p:cNvSpPr>
          <p:nvPr/>
        </p:nvSpPr>
        <p:spPr>
          <a:xfrm xmlns:a="http://schemas.openxmlformats.org/drawingml/2006/main">
            <a:off x="609600" y="609600"/>
            <a:ext cx="10972800" cy="19050"/>
          </a:xfrm>
          <a:prstGeom xmlns:a="http://schemas.openxmlformats.org/drawingml/2006/main" prst="rect">
            <a:avLst/>
          </a:prstGeom>
          <a:solidFill xmlns:a="http://schemas.openxmlformats.org/drawingml/2006/main">
            <a:srgbClr val="132024"/>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0F6F60E7-073B-476F-A101-6BCA0F4EE48F}"/>
              </a:ext>
            </a:extLst>
          </p:cNvPr>
          <p:cNvSpPr>
            <a:spLocks xmlns:a="http://schemas.openxmlformats.org/drawingml/2006/main" noGrp="1"/>
          </p:cNvSpPr>
          <p:nvPr/>
        </p:nvSpPr>
        <p:spPr>
          <a:xfrm xmlns:a="http://schemas.openxmlformats.org/drawingml/2006/main">
            <a:off x="542925" y="542925"/>
            <a:ext cx="152400" cy="152400"/>
          </a:xfrm>
          <a:prstGeom xmlns:a="http://schemas.openxmlformats.org/drawingml/2006/main" prst="ellipse">
            <a:avLst/>
          </a:prstGeom>
          <a:solidFill xmlns:a="http://schemas.openxmlformats.org/drawingml/2006/main">
            <a:srgbClr val="1D9A69"/>
          </a:solidFill>
          <a:ln xmlns:a="http://schemas.openxmlformats.org/drawingml/2006/main" w="19050">
            <a:solidFill>
              <a:srgbClr val="132024"/>
            </a:solidFill>
            <a:prstDash val="solid"/>
          </a:ln>
        </p:spPr>
      </p:sp>
      <p:sp>
        <p:nvSpPr>
          <p:cNvPr id="13" name="">
            <a:extLst xmlns:a="http://schemas.openxmlformats.org/drawingml/2006/main">
              <a:ext uri="{FF2B5EF4-FFF2-40B4-BE49-F238E27FC236}">
                <a16:creationId xmlns:a16="http://schemas.microsoft.com/office/drawing/2014/main" id="{61DBD056-F313-49A1-B952-87F35DDA9C37}"/>
              </a:ext>
            </a:extLst>
          </p:cNvPr>
          <p:cNvSpPr>
            <a:spLocks xmlns:a="http://schemas.openxmlformats.org/drawingml/2006/main" noGrp="1"/>
          </p:cNvSpPr>
          <p:nvPr/>
        </p:nvSpPr>
        <p:spPr>
          <a:xfrm xmlns:a="http://schemas.openxmlformats.org/drawingml/2006/main">
            <a:off x="609600" y="838200"/>
            <a:ext cx="7239000" cy="112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32024"/>
                </a:solidFill>
              </a:defRPr>
            </a:pPr>
            <a:r>
              <a:rPr sz="2850" b="1">
                <a:solidFill>
                  <a:srgbClr val="132024"/>
                </a:solidFill>
              </a:rPr>
              <a:t>다음 단계: 결국 무엇을</a:t>
            </a:r>
          </a:p>
          <a:p xmlns:a="http://schemas.openxmlformats.org/drawingml/2006/main">
            <a:pPr algn="l">
              <a:defRPr sz="2850" b="1">
                <a:solidFill>
                  <a:srgbClr val="132024"/>
                </a:solidFill>
              </a:defRPr>
            </a:pPr>
            <a:r>
              <a:rPr sz="2850" b="1">
                <a:solidFill>
                  <a:srgbClr val="132024"/>
                </a:solidFill>
              </a:rPr>
              <a:t>먼저 믿고 싶은가</a:t>
            </a:r>
          </a:p>
        </p:txBody>
      </p:sp>
      <p:sp>
        <p:nvSpPr>
          <p:cNvPr id="14" name="">
            <a:extLst xmlns:a="http://schemas.openxmlformats.org/drawingml/2006/main">
              <a:ext uri="{FF2B5EF4-FFF2-40B4-BE49-F238E27FC236}">
                <a16:creationId xmlns:a16="http://schemas.microsoft.com/office/drawing/2014/main" id="{4D26466D-7BDD-4F5C-958C-E7F4D7433B22}"/>
              </a:ext>
            </a:extLst>
          </p:cNvPr>
          <p:cNvSpPr>
            <a:spLocks xmlns:a="http://schemas.openxmlformats.org/drawingml/2006/main" noGrp="1"/>
          </p:cNvSpPr>
          <p:nvPr/>
        </p:nvSpPr>
        <p:spPr>
          <a:xfrm xmlns:a="http://schemas.openxmlformats.org/drawingml/2006/main">
            <a:off x="628650" y="2076450"/>
            <a:ext cx="2857500" cy="3562350"/>
          </a:xfrm>
          <a:prstGeom xmlns:a="http://schemas.openxmlformats.org/drawingml/2006/main" prst="roundRect">
            <a:avLst>
              <a:gd name="adj" fmla="val 2667"/>
            </a:avLst>
          </a:prstGeom>
          <a:solidFill xmlns:a="http://schemas.openxmlformats.org/drawingml/2006/main">
            <a:srgbClr val="DDF4E8"/>
          </a:solidFill>
          <a:ln xmlns:a="http://schemas.openxmlformats.org/drawingml/2006/main" w="11430">
            <a:solidFill>
              <a:srgbClr val="132024"/>
            </a:solidFill>
            <a:prstDash val="solid"/>
          </a:ln>
        </p:spPr>
      </p:sp>
      <p:sp>
        <p:nvSpPr>
          <p:cNvPr id="15" name="">
            <a:extLst xmlns:a="http://schemas.openxmlformats.org/drawingml/2006/main">
              <a:ext uri="{FF2B5EF4-FFF2-40B4-BE49-F238E27FC236}">
                <a16:creationId xmlns:a16="http://schemas.microsoft.com/office/drawing/2014/main" id="{B7A43FCC-789F-4100-9A24-59B27767795B}"/>
              </a:ext>
            </a:extLst>
          </p:cNvPr>
          <p:cNvSpPr>
            <a:spLocks xmlns:a="http://schemas.openxmlformats.org/drawingml/2006/main" noGrp="1"/>
          </p:cNvSpPr>
          <p:nvPr/>
        </p:nvSpPr>
        <p:spPr>
          <a:xfrm xmlns:a="http://schemas.openxmlformats.org/drawingml/2006/main">
            <a:off x="628650" y="2076450"/>
            <a:ext cx="2857500" cy="76200"/>
          </a:xfrm>
          <a:prstGeom xmlns:a="http://schemas.openxmlformats.org/drawingml/2006/main" prst="rect">
            <a:avLst/>
          </a:prstGeom>
          <a:solidFill xmlns:a="http://schemas.openxmlformats.org/drawingml/2006/main">
            <a:srgbClr val="1D9A69"/>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80F92F5E-6D94-4F01-A299-77B01217B456}"/>
              </a:ext>
            </a:extLst>
          </p:cNvPr>
          <p:cNvSpPr>
            <a:spLocks xmlns:a="http://schemas.openxmlformats.org/drawingml/2006/main" noGrp="1"/>
          </p:cNvSpPr>
          <p:nvPr/>
        </p:nvSpPr>
        <p:spPr>
          <a:xfrm xmlns:a="http://schemas.openxmlformats.org/drawingml/2006/main">
            <a:off x="838200" y="2266950"/>
            <a:ext cx="24384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readout-first rule</a:t>
            </a:r>
          </a:p>
        </p:txBody>
      </p:sp>
      <p:sp>
        <p:nvSpPr>
          <p:cNvPr id="17" name="">
            <a:extLst xmlns:a="http://schemas.openxmlformats.org/drawingml/2006/main">
              <a:ext uri="{FF2B5EF4-FFF2-40B4-BE49-F238E27FC236}">
                <a16:creationId xmlns:a16="http://schemas.microsoft.com/office/drawing/2014/main" id="{52D3225A-1CCF-4F37-B49A-9F64A5ABC183}"/>
              </a:ext>
            </a:extLst>
          </p:cNvPr>
          <p:cNvSpPr>
            <a:spLocks xmlns:a="http://schemas.openxmlformats.org/drawingml/2006/main" noGrp="1"/>
          </p:cNvSpPr>
          <p:nvPr/>
        </p:nvSpPr>
        <p:spPr>
          <a:xfrm xmlns:a="http://schemas.openxmlformats.org/drawingml/2006/main">
            <a:off x="838200" y="2686050"/>
            <a:ext cx="2438400" cy="2781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1. 먼저 가장 중요한 readout을</a:t>
            </a:r>
          </a:p>
          <a:p xmlns:a="http://schemas.openxmlformats.org/drawingml/2006/main">
            <a:pPr algn="l">
              <a:defRPr sz="1200" b="0">
                <a:solidFill>
                  <a:srgbClr val="132024"/>
                </a:solidFill>
              </a:defRPr>
            </a:pPr>
            <a:r>
              <a:rPr sz="1200" b="0">
                <a:solidFill>
                  <a:srgbClr val="132024"/>
                </a:solidFill>
              </a:rPr>
              <a:t>적는다. 2. 그 readout을 가장</a:t>
            </a:r>
          </a:p>
          <a:p xmlns:a="http://schemas.openxmlformats.org/drawingml/2006/main">
            <a:pPr algn="l">
              <a:defRPr sz="1200" b="0">
                <a:solidFill>
                  <a:srgbClr val="132024"/>
                </a:solidFill>
              </a:defRPr>
            </a:pPr>
            <a:r>
              <a:rPr sz="1200" b="0">
                <a:solidFill>
                  <a:srgbClr val="132024"/>
                </a:solidFill>
              </a:rPr>
              <a:t>직접적으로 최적화한 branch를 고른다.</a:t>
            </a:r>
          </a:p>
          <a:p xmlns:a="http://schemas.openxmlformats.org/drawingml/2006/main">
            <a:pPr algn="l">
              <a:defRPr sz="1200" b="0">
                <a:solidFill>
                  <a:srgbClr val="132024"/>
                </a:solidFill>
              </a:defRPr>
            </a:pPr>
            <a:r>
              <a:rPr sz="1200" b="0">
                <a:solidFill>
                  <a:srgbClr val="132024"/>
                </a:solidFill>
              </a:rPr>
              <a:t>3. region, benchmark,</a:t>
            </a:r>
          </a:p>
          <a:p xmlns:a="http://schemas.openxmlformats.org/drawingml/2006/main">
            <a:pPr algn="l">
              <a:defRPr sz="1200" b="0">
                <a:solidFill>
                  <a:srgbClr val="132024"/>
                </a:solidFill>
              </a:defRPr>
            </a:pPr>
            <a:r>
              <a:rPr sz="1200" b="0">
                <a:solidFill>
                  <a:srgbClr val="132024"/>
                </a:solidFill>
              </a:rPr>
              <a:t>host validation은 그다음 순서로</a:t>
            </a:r>
          </a:p>
          <a:p xmlns:a="http://schemas.openxmlformats.org/drawingml/2006/main">
            <a:pPr algn="l">
              <a:defRPr sz="1200" b="0">
                <a:solidFill>
                  <a:srgbClr val="132024"/>
                </a:solidFill>
              </a:defRPr>
            </a:pPr>
            <a:r>
              <a:rPr sz="1200" b="0">
                <a:solidFill>
                  <a:srgbClr val="132024"/>
                </a:solidFill>
              </a:rPr>
              <a:t>붙인다.</a:t>
            </a:r>
          </a:p>
        </p:txBody>
      </p:sp>
      <p:sp>
        <p:nvSpPr>
          <p:cNvPr id="18" name="">
            <a:extLst xmlns:a="http://schemas.openxmlformats.org/drawingml/2006/main">
              <a:ext uri="{FF2B5EF4-FFF2-40B4-BE49-F238E27FC236}">
                <a16:creationId xmlns:a16="http://schemas.microsoft.com/office/drawing/2014/main" id="{DBC91E45-9F27-4F02-9DBE-959AF90628BA}"/>
              </a:ext>
            </a:extLst>
          </p:cNvPr>
          <p:cNvSpPr>
            <a:spLocks xmlns:a="http://schemas.openxmlformats.org/drawingml/2006/main" noGrp="1"/>
          </p:cNvSpPr>
          <p:nvPr/>
        </p:nvSpPr>
        <p:spPr>
          <a:xfrm xmlns:a="http://schemas.openxmlformats.org/drawingml/2006/main">
            <a:off x="3848100" y="2114550"/>
            <a:ext cx="2305050" cy="1257300"/>
          </a:xfrm>
          <a:prstGeom xmlns:a="http://schemas.openxmlformats.org/drawingml/2006/main" prst="roundRect">
            <a:avLst>
              <a:gd name="adj" fmla="val 6061"/>
            </a:avLst>
          </a:prstGeom>
          <a:solidFill xmlns:a="http://schemas.openxmlformats.org/drawingml/2006/main">
            <a:srgbClr val="FFFDF8"/>
          </a:solidFill>
          <a:ln xmlns:a="http://schemas.openxmlformats.org/drawingml/2006/main" w="10478">
            <a:solidFill>
              <a:srgbClr val="132024"/>
            </a:solidFill>
            <a:prstDash val="solid"/>
          </a:ln>
        </p:spPr>
      </p:sp>
      <p:sp>
        <p:nvSpPr>
          <p:cNvPr id="19" name="">
            <a:extLst xmlns:a="http://schemas.openxmlformats.org/drawingml/2006/main">
              <a:ext uri="{FF2B5EF4-FFF2-40B4-BE49-F238E27FC236}">
                <a16:creationId xmlns:a16="http://schemas.microsoft.com/office/drawing/2014/main" id="{BF0BA9F4-20DF-4F0E-AF9E-70BA6524B803}"/>
              </a:ext>
            </a:extLst>
          </p:cNvPr>
          <p:cNvSpPr>
            <a:spLocks xmlns:a="http://schemas.openxmlformats.org/drawingml/2006/main" noGrp="1"/>
          </p:cNvSpPr>
          <p:nvPr/>
        </p:nvSpPr>
        <p:spPr>
          <a:xfrm xmlns:a="http://schemas.openxmlformats.org/drawingml/2006/main">
            <a:off x="3848100" y="2114550"/>
            <a:ext cx="66675" cy="1257300"/>
          </a:xfrm>
          <a:prstGeom xmlns:a="http://schemas.openxmlformats.org/drawingml/2006/main" prst="rect">
            <a:avLst/>
          </a:prstGeom>
          <a:solidFill xmlns:a="http://schemas.openxmlformats.org/drawingml/2006/main">
            <a:srgbClr val="1D9A69"/>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886FFAE2-659C-41B5-90B5-10A922ED307C}"/>
              </a:ext>
            </a:extLst>
          </p:cNvPr>
          <p:cNvSpPr>
            <a:spLocks xmlns:a="http://schemas.openxmlformats.org/drawingml/2006/main" noGrp="1"/>
          </p:cNvSpPr>
          <p:nvPr/>
        </p:nvSpPr>
        <p:spPr>
          <a:xfrm xmlns:a="http://schemas.openxmlformats.org/drawingml/2006/main">
            <a:off x="4019550" y="2266950"/>
            <a:ext cx="647700" cy="228600"/>
          </a:xfrm>
          <a:prstGeom xmlns:a="http://schemas.openxmlformats.org/drawingml/2006/main" prst="rect">
            <a:avLst/>
          </a:prstGeom>
          <a:solidFill xmlns:a="http://schemas.openxmlformats.org/drawingml/2006/main">
            <a:srgbClr val="DCE7EE"/>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274D63"/>
                </a:solidFill>
              </a:defRPr>
            </a:pPr>
            <a:r>
              <a:rPr sz="900" b="1">
                <a:solidFill>
                  <a:srgbClr val="274D63"/>
                </a:solidFill>
              </a:rPr>
              <a:t>source</a:t>
            </a:r>
          </a:p>
        </p:txBody>
      </p:sp>
      <p:sp>
        <p:nvSpPr>
          <p:cNvPr id="21" name="">
            <a:extLst xmlns:a="http://schemas.openxmlformats.org/drawingml/2006/main">
              <a:ext uri="{FF2B5EF4-FFF2-40B4-BE49-F238E27FC236}">
                <a16:creationId xmlns:a16="http://schemas.microsoft.com/office/drawing/2014/main" id="{E4DFCD2A-D6D3-4ED8-A979-835E00F80942}"/>
              </a:ext>
            </a:extLst>
          </p:cNvPr>
          <p:cNvSpPr>
            <a:spLocks xmlns:a="http://schemas.openxmlformats.org/drawingml/2006/main" noGrp="1"/>
          </p:cNvSpPr>
          <p:nvPr/>
        </p:nvSpPr>
        <p:spPr>
          <a:xfrm xmlns:a="http://schemas.openxmlformats.org/drawingml/2006/main">
            <a:off x="4019550" y="2552700"/>
            <a:ext cx="1981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32024"/>
                </a:solidFill>
              </a:defRPr>
            </a:pPr>
            <a:r>
              <a:rPr sz="1275" b="1">
                <a:solidFill>
                  <a:srgbClr val="132024"/>
                </a:solidFill>
              </a:rPr>
              <a:t>composition</a:t>
            </a:r>
          </a:p>
        </p:txBody>
      </p:sp>
      <p:sp>
        <p:nvSpPr>
          <p:cNvPr id="22" name="">
            <a:extLst xmlns:a="http://schemas.openxmlformats.org/drawingml/2006/main">
              <a:ext uri="{FF2B5EF4-FFF2-40B4-BE49-F238E27FC236}">
                <a16:creationId xmlns:a16="http://schemas.microsoft.com/office/drawing/2014/main" id="{C0BB9EA2-5673-4FFD-BD26-0D52790295F8}"/>
              </a:ext>
            </a:extLst>
          </p:cNvPr>
          <p:cNvSpPr>
            <a:spLocks xmlns:a="http://schemas.openxmlformats.org/drawingml/2006/main" noGrp="1"/>
          </p:cNvSpPr>
          <p:nvPr/>
        </p:nvSpPr>
        <p:spPr>
          <a:xfrm xmlns:a="http://schemas.openxmlformats.org/drawingml/2006/main">
            <a:off x="4019550" y="2800350"/>
            <a:ext cx="19812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344146"/>
                </a:solidFill>
              </a:defRPr>
            </a:pPr>
            <a:r>
              <a:rPr sz="825" b="0">
                <a:solidFill>
                  <a:srgbClr val="344146"/>
                </a:solidFill>
              </a:rPr>
              <a:t>stability</a:t>
            </a:r>
          </a:p>
          <a:p xmlns:a="http://schemas.openxmlformats.org/drawingml/2006/main">
            <a:pPr algn="l">
              <a:defRPr sz="825" b="0">
                <a:solidFill>
                  <a:srgbClr val="344146"/>
                </a:solidFill>
              </a:defRPr>
            </a:pPr>
            <a:r>
              <a:rPr sz="825" b="0">
                <a:solidFill>
                  <a:srgbClr val="344146"/>
                </a:solidFill>
              </a:rPr>
              <a:t>Velasco / Yoon</a:t>
            </a:r>
          </a:p>
        </p:txBody>
      </p:sp>
      <p:sp>
        <p:nvSpPr>
          <p:cNvPr id="23" name="">
            <a:extLst xmlns:a="http://schemas.openxmlformats.org/drawingml/2006/main">
              <a:ext uri="{FF2B5EF4-FFF2-40B4-BE49-F238E27FC236}">
                <a16:creationId xmlns:a16="http://schemas.microsoft.com/office/drawing/2014/main" id="{408DB472-624D-4915-9DE5-9C39146A6C47}"/>
              </a:ext>
            </a:extLst>
          </p:cNvPr>
          <p:cNvSpPr>
            <a:spLocks xmlns:a="http://schemas.openxmlformats.org/drawingml/2006/main" noGrp="1"/>
          </p:cNvSpPr>
          <p:nvPr/>
        </p:nvSpPr>
        <p:spPr>
          <a:xfrm xmlns:a="http://schemas.openxmlformats.org/drawingml/2006/main">
            <a:off x="6572250" y="2114550"/>
            <a:ext cx="2305050" cy="1257300"/>
          </a:xfrm>
          <a:prstGeom xmlns:a="http://schemas.openxmlformats.org/drawingml/2006/main" prst="roundRect">
            <a:avLst>
              <a:gd name="adj" fmla="val 6061"/>
            </a:avLst>
          </a:prstGeom>
          <a:solidFill xmlns:a="http://schemas.openxmlformats.org/drawingml/2006/main">
            <a:srgbClr val="FFFDF8"/>
          </a:solidFill>
          <a:ln xmlns:a="http://schemas.openxmlformats.org/drawingml/2006/main" w="10478">
            <a:solidFill>
              <a:srgbClr val="132024"/>
            </a:solidFill>
            <a:prstDash val="solid"/>
          </a:ln>
        </p:spPr>
      </p:sp>
      <p:sp>
        <p:nvSpPr>
          <p:cNvPr id="24" name="">
            <a:extLst xmlns:a="http://schemas.openxmlformats.org/drawingml/2006/main">
              <a:ext uri="{FF2B5EF4-FFF2-40B4-BE49-F238E27FC236}">
                <a16:creationId xmlns:a16="http://schemas.microsoft.com/office/drawing/2014/main" id="{B2AC93D5-ABF4-4F95-AEDC-B55E331E5265}"/>
              </a:ext>
            </a:extLst>
          </p:cNvPr>
          <p:cNvSpPr>
            <a:spLocks xmlns:a="http://schemas.openxmlformats.org/drawingml/2006/main" noGrp="1"/>
          </p:cNvSpPr>
          <p:nvPr/>
        </p:nvSpPr>
        <p:spPr>
          <a:xfrm xmlns:a="http://schemas.openxmlformats.org/drawingml/2006/main">
            <a:off x="6572250" y="2114550"/>
            <a:ext cx="66675" cy="1257300"/>
          </a:xfrm>
          <a:prstGeom xmlns:a="http://schemas.openxmlformats.org/drawingml/2006/main" prst="rect">
            <a:avLst/>
          </a:prstGeom>
          <a:solidFill xmlns:a="http://schemas.openxmlformats.org/drawingml/2006/main">
            <a:srgbClr val="C9972B"/>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ABDD2FC6-4478-4CED-A356-D7FA92A17C4B}"/>
              </a:ext>
            </a:extLst>
          </p:cNvPr>
          <p:cNvSpPr>
            <a:spLocks xmlns:a="http://schemas.openxmlformats.org/drawingml/2006/main" noGrp="1"/>
          </p:cNvSpPr>
          <p:nvPr/>
        </p:nvSpPr>
        <p:spPr>
          <a:xfrm xmlns:a="http://schemas.openxmlformats.org/drawingml/2006/main">
            <a:off x="6743700" y="2266950"/>
            <a:ext cx="647700" cy="228600"/>
          </a:xfrm>
          <a:prstGeom xmlns:a="http://schemas.openxmlformats.org/drawingml/2006/main" prst="rect">
            <a:avLst/>
          </a:prstGeom>
          <a:solidFill xmlns:a="http://schemas.openxmlformats.org/drawingml/2006/main">
            <a:srgbClr val="DCE7EE"/>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274D63"/>
                </a:solidFill>
              </a:defRPr>
            </a:pPr>
            <a:r>
              <a:rPr sz="900" b="1">
                <a:solidFill>
                  <a:srgbClr val="274D63"/>
                </a:solidFill>
              </a:rPr>
              <a:t>source</a:t>
            </a:r>
          </a:p>
        </p:txBody>
      </p:sp>
      <p:sp>
        <p:nvSpPr>
          <p:cNvPr id="26" name="">
            <a:extLst xmlns:a="http://schemas.openxmlformats.org/drawingml/2006/main">
              <a:ext uri="{FF2B5EF4-FFF2-40B4-BE49-F238E27FC236}">
                <a16:creationId xmlns:a16="http://schemas.microsoft.com/office/drawing/2014/main" id="{DF295926-BFC6-4B6F-AE4E-57AFA83A005B}"/>
              </a:ext>
            </a:extLst>
          </p:cNvPr>
          <p:cNvSpPr>
            <a:spLocks xmlns:a="http://schemas.openxmlformats.org/drawingml/2006/main" noGrp="1"/>
          </p:cNvSpPr>
          <p:nvPr/>
        </p:nvSpPr>
        <p:spPr>
          <a:xfrm xmlns:a="http://schemas.openxmlformats.org/drawingml/2006/main">
            <a:off x="6743700" y="2552700"/>
            <a:ext cx="1981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32024"/>
                </a:solidFill>
              </a:defRPr>
            </a:pPr>
            <a:r>
              <a:rPr sz="1275" b="1">
                <a:solidFill>
                  <a:srgbClr val="132024"/>
                </a:solidFill>
              </a:rPr>
              <a:t>fidelity</a:t>
            </a:r>
          </a:p>
        </p:txBody>
      </p:sp>
      <p:sp>
        <p:nvSpPr>
          <p:cNvPr id="27" name="">
            <a:extLst xmlns:a="http://schemas.openxmlformats.org/drawingml/2006/main">
              <a:ext uri="{FF2B5EF4-FFF2-40B4-BE49-F238E27FC236}">
                <a16:creationId xmlns:a16="http://schemas.microsoft.com/office/drawing/2014/main" id="{D3165107-9C9B-47FD-AFDA-E87C4147EBEB}"/>
              </a:ext>
            </a:extLst>
          </p:cNvPr>
          <p:cNvSpPr>
            <a:spLocks xmlns:a="http://schemas.openxmlformats.org/drawingml/2006/main" noGrp="1"/>
          </p:cNvSpPr>
          <p:nvPr/>
        </p:nvSpPr>
        <p:spPr>
          <a:xfrm xmlns:a="http://schemas.openxmlformats.org/drawingml/2006/main">
            <a:off x="6743700" y="2800350"/>
            <a:ext cx="19812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344146"/>
                </a:solidFill>
              </a:defRPr>
            </a:pPr>
            <a:r>
              <a:rPr sz="825" b="0">
                <a:solidFill>
                  <a:srgbClr val="344146"/>
                </a:solidFill>
              </a:rPr>
              <a:t>primary-like</a:t>
            </a:r>
          </a:p>
          <a:p xmlns:a="http://schemas.openxmlformats.org/drawingml/2006/main">
            <a:pPr algn="l">
              <a:defRPr sz="825" b="0">
                <a:solidFill>
                  <a:srgbClr val="344146"/>
                </a:solidFill>
              </a:defRPr>
            </a:pPr>
            <a:r>
              <a:rPr sz="825" b="0">
                <a:solidFill>
                  <a:srgbClr val="344146"/>
                </a:solidFill>
              </a:rPr>
              <a:t>Bhaduri / He</a:t>
            </a:r>
          </a:p>
        </p:txBody>
      </p:sp>
      <p:sp>
        <p:nvSpPr>
          <p:cNvPr id="28" name="">
            <a:extLst xmlns:a="http://schemas.openxmlformats.org/drawingml/2006/main">
              <a:ext uri="{FF2B5EF4-FFF2-40B4-BE49-F238E27FC236}">
                <a16:creationId xmlns:a16="http://schemas.microsoft.com/office/drawing/2014/main" id="{EA95FD51-CDBF-49BC-9A94-EEC1871C4D1E}"/>
              </a:ext>
            </a:extLst>
          </p:cNvPr>
          <p:cNvSpPr>
            <a:spLocks xmlns:a="http://schemas.openxmlformats.org/drawingml/2006/main" noGrp="1"/>
          </p:cNvSpPr>
          <p:nvPr/>
        </p:nvSpPr>
        <p:spPr>
          <a:xfrm xmlns:a="http://schemas.openxmlformats.org/drawingml/2006/main">
            <a:off x="9296400" y="2114550"/>
            <a:ext cx="2305050" cy="1257300"/>
          </a:xfrm>
          <a:prstGeom xmlns:a="http://schemas.openxmlformats.org/drawingml/2006/main" prst="roundRect">
            <a:avLst>
              <a:gd name="adj" fmla="val 6061"/>
            </a:avLst>
          </a:prstGeom>
          <a:solidFill xmlns:a="http://schemas.openxmlformats.org/drawingml/2006/main">
            <a:srgbClr val="FFFDF8"/>
          </a:solidFill>
          <a:ln xmlns:a="http://schemas.openxmlformats.org/drawingml/2006/main" w="10478">
            <a:solidFill>
              <a:srgbClr val="132024"/>
            </a:solidFill>
            <a:prstDash val="solid"/>
          </a:ln>
        </p:spPr>
      </p:sp>
      <p:sp>
        <p:nvSpPr>
          <p:cNvPr id="29" name="">
            <a:extLst xmlns:a="http://schemas.openxmlformats.org/drawingml/2006/main">
              <a:ext uri="{FF2B5EF4-FFF2-40B4-BE49-F238E27FC236}">
                <a16:creationId xmlns:a16="http://schemas.microsoft.com/office/drawing/2014/main" id="{280F5DCF-2239-498D-A67B-3FB1E75646AE}"/>
              </a:ext>
            </a:extLst>
          </p:cNvPr>
          <p:cNvSpPr>
            <a:spLocks xmlns:a="http://schemas.openxmlformats.org/drawingml/2006/main" noGrp="1"/>
          </p:cNvSpPr>
          <p:nvPr/>
        </p:nvSpPr>
        <p:spPr>
          <a:xfrm xmlns:a="http://schemas.openxmlformats.org/drawingml/2006/main">
            <a:off x="9296400" y="2114550"/>
            <a:ext cx="66675" cy="1257300"/>
          </a:xfrm>
          <a:prstGeom xmlns:a="http://schemas.openxmlformats.org/drawingml/2006/main" prst="rect">
            <a:avLst/>
          </a:prstGeom>
          <a:solidFill xmlns:a="http://schemas.openxmlformats.org/drawingml/2006/main">
            <a:srgbClr val="517C95"/>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1AC75DE0-F7AF-4123-AF88-09827BEAEFB1}"/>
              </a:ext>
            </a:extLst>
          </p:cNvPr>
          <p:cNvSpPr>
            <a:spLocks xmlns:a="http://schemas.openxmlformats.org/drawingml/2006/main" noGrp="1"/>
          </p:cNvSpPr>
          <p:nvPr/>
        </p:nvSpPr>
        <p:spPr>
          <a:xfrm xmlns:a="http://schemas.openxmlformats.org/drawingml/2006/main">
            <a:off x="9467850" y="2266950"/>
            <a:ext cx="647700" cy="228600"/>
          </a:xfrm>
          <a:prstGeom xmlns:a="http://schemas.openxmlformats.org/drawingml/2006/main" prst="rect">
            <a:avLst/>
          </a:prstGeom>
          <a:solidFill xmlns:a="http://schemas.openxmlformats.org/drawingml/2006/main">
            <a:srgbClr val="DCE7EE"/>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274D63"/>
                </a:solidFill>
              </a:defRPr>
            </a:pPr>
            <a:r>
              <a:rPr sz="900" b="1">
                <a:solidFill>
                  <a:srgbClr val="274D63"/>
                </a:solidFill>
              </a:rPr>
              <a:t>source</a:t>
            </a:r>
          </a:p>
        </p:txBody>
      </p:sp>
      <p:sp>
        <p:nvSpPr>
          <p:cNvPr id="31" name="">
            <a:extLst xmlns:a="http://schemas.openxmlformats.org/drawingml/2006/main">
              <a:ext uri="{FF2B5EF4-FFF2-40B4-BE49-F238E27FC236}">
                <a16:creationId xmlns:a16="http://schemas.microsoft.com/office/drawing/2014/main" id="{2E2B5C77-A65A-4062-AF36-B4F28E193E84}"/>
              </a:ext>
            </a:extLst>
          </p:cNvPr>
          <p:cNvSpPr>
            <a:spLocks xmlns:a="http://schemas.openxmlformats.org/drawingml/2006/main" noGrp="1"/>
          </p:cNvSpPr>
          <p:nvPr/>
        </p:nvSpPr>
        <p:spPr>
          <a:xfrm xmlns:a="http://schemas.openxmlformats.org/drawingml/2006/main">
            <a:off x="9467850" y="2552700"/>
            <a:ext cx="1981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32024"/>
                </a:solidFill>
              </a:defRPr>
            </a:pPr>
            <a:r>
              <a:rPr sz="1275" b="1">
                <a:solidFill>
                  <a:srgbClr val="132024"/>
                </a:solidFill>
              </a:rPr>
              <a:t>timing</a:t>
            </a:r>
          </a:p>
        </p:txBody>
      </p:sp>
      <p:sp>
        <p:nvSpPr>
          <p:cNvPr id="32" name="">
            <a:extLst xmlns:a="http://schemas.openxmlformats.org/drawingml/2006/main">
              <a:ext uri="{FF2B5EF4-FFF2-40B4-BE49-F238E27FC236}">
                <a16:creationId xmlns:a16="http://schemas.microsoft.com/office/drawing/2014/main" id="{1C354D2F-499D-47BE-88B5-71CF85EE94D7}"/>
              </a:ext>
            </a:extLst>
          </p:cNvPr>
          <p:cNvSpPr>
            <a:spLocks xmlns:a="http://schemas.openxmlformats.org/drawingml/2006/main" noGrp="1"/>
          </p:cNvSpPr>
          <p:nvPr/>
        </p:nvSpPr>
        <p:spPr>
          <a:xfrm xmlns:a="http://schemas.openxmlformats.org/drawingml/2006/main">
            <a:off x="9467850" y="2800350"/>
            <a:ext cx="19812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344146"/>
                </a:solidFill>
              </a:defRPr>
            </a:pPr>
            <a:r>
              <a:rPr sz="825" b="0">
                <a:solidFill>
                  <a:srgbClr val="344146"/>
                </a:solidFill>
              </a:rPr>
              <a:t>maturation map</a:t>
            </a:r>
          </a:p>
          <a:p xmlns:a="http://schemas.openxmlformats.org/drawingml/2006/main">
            <a:pPr algn="l">
              <a:defRPr sz="825" b="0">
                <a:solidFill>
                  <a:srgbClr val="344146"/>
                </a:solidFill>
              </a:defRPr>
            </a:pPr>
            <a:r>
              <a:rPr sz="825" b="0">
                <a:solidFill>
                  <a:srgbClr val="344146"/>
                </a:solidFill>
              </a:rPr>
              <a:t>Kanton / Giandomenico</a:t>
            </a:r>
          </a:p>
        </p:txBody>
      </p:sp>
      <p:sp>
        <p:nvSpPr>
          <p:cNvPr id="33" name="">
            <a:extLst xmlns:a="http://schemas.openxmlformats.org/drawingml/2006/main">
              <a:ext uri="{FF2B5EF4-FFF2-40B4-BE49-F238E27FC236}">
                <a16:creationId xmlns:a16="http://schemas.microsoft.com/office/drawing/2014/main" id="{472D7274-DE46-4BCE-9C02-3F837D3F8A3A}"/>
              </a:ext>
            </a:extLst>
          </p:cNvPr>
          <p:cNvSpPr>
            <a:spLocks xmlns:a="http://schemas.openxmlformats.org/drawingml/2006/main" noGrp="1"/>
          </p:cNvSpPr>
          <p:nvPr/>
        </p:nvSpPr>
        <p:spPr>
          <a:xfrm xmlns:a="http://schemas.openxmlformats.org/drawingml/2006/main">
            <a:off x="3848100" y="3924300"/>
            <a:ext cx="2305050" cy="1257300"/>
          </a:xfrm>
          <a:prstGeom xmlns:a="http://schemas.openxmlformats.org/drawingml/2006/main" prst="roundRect">
            <a:avLst>
              <a:gd name="adj" fmla="val 6061"/>
            </a:avLst>
          </a:prstGeom>
          <a:solidFill xmlns:a="http://schemas.openxmlformats.org/drawingml/2006/main">
            <a:srgbClr val="FFFDF8"/>
          </a:solidFill>
          <a:ln xmlns:a="http://schemas.openxmlformats.org/drawingml/2006/main" w="10478">
            <a:solidFill>
              <a:srgbClr val="132024"/>
            </a:solidFill>
            <a:prstDash val="solid"/>
          </a:ln>
        </p:spPr>
      </p:sp>
      <p:sp>
        <p:nvSpPr>
          <p:cNvPr id="34" name="">
            <a:extLst xmlns:a="http://schemas.openxmlformats.org/drawingml/2006/main">
              <a:ext uri="{FF2B5EF4-FFF2-40B4-BE49-F238E27FC236}">
                <a16:creationId xmlns:a16="http://schemas.microsoft.com/office/drawing/2014/main" id="{0CAB97A9-1A1F-489D-9EA8-8E1013BD2166}"/>
              </a:ext>
            </a:extLst>
          </p:cNvPr>
          <p:cNvSpPr>
            <a:spLocks xmlns:a="http://schemas.openxmlformats.org/drawingml/2006/main" noGrp="1"/>
          </p:cNvSpPr>
          <p:nvPr/>
        </p:nvSpPr>
        <p:spPr>
          <a:xfrm xmlns:a="http://schemas.openxmlformats.org/drawingml/2006/main">
            <a:off x="3848100" y="3924300"/>
            <a:ext cx="66675" cy="1257300"/>
          </a:xfrm>
          <a:prstGeom xmlns:a="http://schemas.openxmlformats.org/drawingml/2006/main" prst="rect">
            <a:avLst/>
          </a:prstGeom>
          <a:solidFill xmlns:a="http://schemas.openxmlformats.org/drawingml/2006/main">
            <a:srgbClr val="D66C60"/>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F4D17F32-1BD1-49A3-ACC5-BDB609421044}"/>
              </a:ext>
            </a:extLst>
          </p:cNvPr>
          <p:cNvSpPr>
            <a:spLocks xmlns:a="http://schemas.openxmlformats.org/drawingml/2006/main" noGrp="1"/>
          </p:cNvSpPr>
          <p:nvPr/>
        </p:nvSpPr>
        <p:spPr>
          <a:xfrm xmlns:a="http://schemas.openxmlformats.org/drawingml/2006/main">
            <a:off x="4019550" y="4076700"/>
            <a:ext cx="647700" cy="228600"/>
          </a:xfrm>
          <a:prstGeom xmlns:a="http://schemas.openxmlformats.org/drawingml/2006/main" prst="rect">
            <a:avLst/>
          </a:prstGeom>
          <a:solidFill xmlns:a="http://schemas.openxmlformats.org/drawingml/2006/main">
            <a:srgbClr val="DCE7EE"/>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274D63"/>
                </a:solidFill>
              </a:defRPr>
            </a:pPr>
            <a:r>
              <a:rPr sz="900" b="1">
                <a:solidFill>
                  <a:srgbClr val="274D63"/>
                </a:solidFill>
              </a:rPr>
              <a:t>source</a:t>
            </a:r>
          </a:p>
        </p:txBody>
      </p:sp>
      <p:sp>
        <p:nvSpPr>
          <p:cNvPr id="36" name="">
            <a:extLst xmlns:a="http://schemas.openxmlformats.org/drawingml/2006/main">
              <a:ext uri="{FF2B5EF4-FFF2-40B4-BE49-F238E27FC236}">
                <a16:creationId xmlns:a16="http://schemas.microsoft.com/office/drawing/2014/main" id="{EBC79638-64C9-4B6D-9AD8-70D624576800}"/>
              </a:ext>
            </a:extLst>
          </p:cNvPr>
          <p:cNvSpPr>
            <a:spLocks xmlns:a="http://schemas.openxmlformats.org/drawingml/2006/main" noGrp="1"/>
          </p:cNvSpPr>
          <p:nvPr/>
        </p:nvSpPr>
        <p:spPr>
          <a:xfrm xmlns:a="http://schemas.openxmlformats.org/drawingml/2006/main">
            <a:off x="4019550" y="4362450"/>
            <a:ext cx="1981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32024"/>
                </a:solidFill>
              </a:defRPr>
            </a:pPr>
            <a:r>
              <a:rPr sz="1275" b="1">
                <a:solidFill>
                  <a:srgbClr val="132024"/>
                </a:solidFill>
              </a:rPr>
              <a:t>MEA</a:t>
            </a:r>
          </a:p>
        </p:txBody>
      </p:sp>
      <p:sp>
        <p:nvSpPr>
          <p:cNvPr id="37" name="">
            <a:extLst xmlns:a="http://schemas.openxmlformats.org/drawingml/2006/main">
              <a:ext uri="{FF2B5EF4-FFF2-40B4-BE49-F238E27FC236}">
                <a16:creationId xmlns:a16="http://schemas.microsoft.com/office/drawing/2014/main" id="{A0A10920-BFE5-47ED-9C8E-AA84D98F83AE}"/>
              </a:ext>
            </a:extLst>
          </p:cNvPr>
          <p:cNvSpPr>
            <a:spLocks xmlns:a="http://schemas.openxmlformats.org/drawingml/2006/main" noGrp="1"/>
          </p:cNvSpPr>
          <p:nvPr/>
        </p:nvSpPr>
        <p:spPr>
          <a:xfrm xmlns:a="http://schemas.openxmlformats.org/drawingml/2006/main">
            <a:off x="4019550" y="4610100"/>
            <a:ext cx="19812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344146"/>
                </a:solidFill>
              </a:defRPr>
            </a:pPr>
            <a:r>
              <a:rPr sz="825" b="0">
                <a:solidFill>
                  <a:srgbClr val="344146"/>
                </a:solidFill>
              </a:rPr>
              <a:t>oscillation</a:t>
            </a:r>
          </a:p>
          <a:p xmlns:a="http://schemas.openxmlformats.org/drawingml/2006/main">
            <a:pPr algn="l">
              <a:defRPr sz="825" b="0">
                <a:solidFill>
                  <a:srgbClr val="344146"/>
                </a:solidFill>
              </a:defRPr>
            </a:pPr>
            <a:r>
              <a:rPr sz="825" b="0">
                <a:solidFill>
                  <a:srgbClr val="344146"/>
                </a:solidFill>
              </a:rPr>
              <a:t>Fitzgerald</a:t>
            </a:r>
          </a:p>
        </p:txBody>
      </p:sp>
      <p:sp>
        <p:nvSpPr>
          <p:cNvPr id="38" name="">
            <a:extLst xmlns:a="http://schemas.openxmlformats.org/drawingml/2006/main">
              <a:ext uri="{FF2B5EF4-FFF2-40B4-BE49-F238E27FC236}">
                <a16:creationId xmlns:a16="http://schemas.microsoft.com/office/drawing/2014/main" id="{EA58FB64-5617-43D0-965B-79DFC17E06AA}"/>
              </a:ext>
            </a:extLst>
          </p:cNvPr>
          <p:cNvSpPr>
            <a:spLocks xmlns:a="http://schemas.openxmlformats.org/drawingml/2006/main" noGrp="1"/>
          </p:cNvSpPr>
          <p:nvPr/>
        </p:nvSpPr>
        <p:spPr>
          <a:xfrm xmlns:a="http://schemas.openxmlformats.org/drawingml/2006/main">
            <a:off x="6572250" y="3924300"/>
            <a:ext cx="2305050" cy="1257300"/>
          </a:xfrm>
          <a:prstGeom xmlns:a="http://schemas.openxmlformats.org/drawingml/2006/main" prst="roundRect">
            <a:avLst>
              <a:gd name="adj" fmla="val 6061"/>
            </a:avLst>
          </a:prstGeom>
          <a:solidFill xmlns:a="http://schemas.openxmlformats.org/drawingml/2006/main">
            <a:srgbClr val="FFFDF8"/>
          </a:solidFill>
          <a:ln xmlns:a="http://schemas.openxmlformats.org/drawingml/2006/main" w="10478">
            <a:solidFill>
              <a:srgbClr val="132024"/>
            </a:solidFill>
            <a:prstDash val="solid"/>
          </a:ln>
        </p:spPr>
      </p:sp>
      <p:sp>
        <p:nvSpPr>
          <p:cNvPr id="39" name="">
            <a:extLst xmlns:a="http://schemas.openxmlformats.org/drawingml/2006/main">
              <a:ext uri="{FF2B5EF4-FFF2-40B4-BE49-F238E27FC236}">
                <a16:creationId xmlns:a16="http://schemas.microsoft.com/office/drawing/2014/main" id="{4A230E98-3D73-4B09-9436-2C51719E71C5}"/>
              </a:ext>
            </a:extLst>
          </p:cNvPr>
          <p:cNvSpPr>
            <a:spLocks xmlns:a="http://schemas.openxmlformats.org/drawingml/2006/main" noGrp="1"/>
          </p:cNvSpPr>
          <p:nvPr/>
        </p:nvSpPr>
        <p:spPr>
          <a:xfrm xmlns:a="http://schemas.openxmlformats.org/drawingml/2006/main">
            <a:off x="6572250" y="3924300"/>
            <a:ext cx="66675" cy="1257300"/>
          </a:xfrm>
          <a:prstGeom xmlns:a="http://schemas.openxmlformats.org/drawingml/2006/main" prst="rect">
            <a:avLst/>
          </a:prstGeom>
          <a:solidFill xmlns:a="http://schemas.openxmlformats.org/drawingml/2006/main">
            <a:srgbClr val="0F5B3F"/>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CF463AF9-74E4-4BEE-98FF-9B2A3140F7A1}"/>
              </a:ext>
            </a:extLst>
          </p:cNvPr>
          <p:cNvSpPr>
            <a:spLocks xmlns:a="http://schemas.openxmlformats.org/drawingml/2006/main" noGrp="1"/>
          </p:cNvSpPr>
          <p:nvPr/>
        </p:nvSpPr>
        <p:spPr>
          <a:xfrm xmlns:a="http://schemas.openxmlformats.org/drawingml/2006/main">
            <a:off x="6743700" y="4076700"/>
            <a:ext cx="647700" cy="228600"/>
          </a:xfrm>
          <a:prstGeom xmlns:a="http://schemas.openxmlformats.org/drawingml/2006/main" prst="rect">
            <a:avLst/>
          </a:prstGeom>
          <a:solidFill xmlns:a="http://schemas.openxmlformats.org/drawingml/2006/main">
            <a:srgbClr val="DCE7EE"/>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274D63"/>
                </a:solidFill>
              </a:defRPr>
            </a:pPr>
            <a:r>
              <a:rPr sz="900" b="1">
                <a:solidFill>
                  <a:srgbClr val="274D63"/>
                </a:solidFill>
              </a:rPr>
              <a:t>source</a:t>
            </a:r>
          </a:p>
        </p:txBody>
      </p:sp>
      <p:sp>
        <p:nvSpPr>
          <p:cNvPr id="41" name="">
            <a:extLst xmlns:a="http://schemas.openxmlformats.org/drawingml/2006/main">
              <a:ext uri="{FF2B5EF4-FFF2-40B4-BE49-F238E27FC236}">
                <a16:creationId xmlns:a16="http://schemas.microsoft.com/office/drawing/2014/main" id="{127C7D8E-85B9-4E82-9373-1C9D38EC4558}"/>
              </a:ext>
            </a:extLst>
          </p:cNvPr>
          <p:cNvSpPr>
            <a:spLocks xmlns:a="http://schemas.openxmlformats.org/drawingml/2006/main" noGrp="1"/>
          </p:cNvSpPr>
          <p:nvPr/>
        </p:nvSpPr>
        <p:spPr>
          <a:xfrm xmlns:a="http://schemas.openxmlformats.org/drawingml/2006/main">
            <a:off x="6743700" y="4362450"/>
            <a:ext cx="1981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32024"/>
                </a:solidFill>
              </a:defRPr>
            </a:pPr>
            <a:r>
              <a:rPr sz="1275" b="1">
                <a:solidFill>
                  <a:srgbClr val="132024"/>
                </a:solidFill>
              </a:rPr>
              <a:t>host circuit</a:t>
            </a:r>
          </a:p>
        </p:txBody>
      </p:sp>
      <p:sp>
        <p:nvSpPr>
          <p:cNvPr id="42" name="">
            <a:extLst xmlns:a="http://schemas.openxmlformats.org/drawingml/2006/main">
              <a:ext uri="{FF2B5EF4-FFF2-40B4-BE49-F238E27FC236}">
                <a16:creationId xmlns:a16="http://schemas.microsoft.com/office/drawing/2014/main" id="{FD9A9ECF-DD95-4BC9-8683-9E2D38A6EB07}"/>
              </a:ext>
            </a:extLst>
          </p:cNvPr>
          <p:cNvSpPr>
            <a:spLocks xmlns:a="http://schemas.openxmlformats.org/drawingml/2006/main" noGrp="1"/>
          </p:cNvSpPr>
          <p:nvPr/>
        </p:nvSpPr>
        <p:spPr>
          <a:xfrm xmlns:a="http://schemas.openxmlformats.org/drawingml/2006/main">
            <a:off x="6743700" y="4610100"/>
            <a:ext cx="19812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344146"/>
                </a:solidFill>
              </a:defRPr>
            </a:pPr>
            <a:r>
              <a:rPr sz="825" b="0">
                <a:solidFill>
                  <a:srgbClr val="344146"/>
                </a:solidFill>
              </a:rPr>
              <a:t>integration</a:t>
            </a:r>
          </a:p>
          <a:p xmlns:a="http://schemas.openxmlformats.org/drawingml/2006/main">
            <a:pPr algn="l">
              <a:defRPr sz="825" b="0">
                <a:solidFill>
                  <a:srgbClr val="344146"/>
                </a:solidFill>
              </a:defRPr>
            </a:pPr>
            <a:r>
              <a:rPr sz="825" b="0">
                <a:solidFill>
                  <a:srgbClr val="344146"/>
                </a:solidFill>
              </a:rPr>
              <a:t>Kelley</a:t>
            </a:r>
          </a:p>
        </p:txBody>
      </p:sp>
      <p:sp>
        <p:nvSpPr>
          <p:cNvPr id="43" name="">
            <a:extLst xmlns:a="http://schemas.openxmlformats.org/drawingml/2006/main">
              <a:ext uri="{FF2B5EF4-FFF2-40B4-BE49-F238E27FC236}">
                <a16:creationId xmlns:a16="http://schemas.microsoft.com/office/drawing/2014/main" id="{CC5BF9CB-35AC-4B93-A197-D0DBE0126F34}"/>
              </a:ext>
            </a:extLst>
          </p:cNvPr>
          <p:cNvSpPr>
            <a:spLocks xmlns:a="http://schemas.openxmlformats.org/drawingml/2006/main" noGrp="1"/>
          </p:cNvSpPr>
          <p:nvPr/>
        </p:nvSpPr>
        <p:spPr>
          <a:xfrm xmlns:a="http://schemas.openxmlformats.org/drawingml/2006/main">
            <a:off x="9296400" y="3924300"/>
            <a:ext cx="2305050" cy="1257300"/>
          </a:xfrm>
          <a:prstGeom xmlns:a="http://schemas.openxmlformats.org/drawingml/2006/main" prst="roundRect">
            <a:avLst>
              <a:gd name="adj" fmla="val 6061"/>
            </a:avLst>
          </a:prstGeom>
          <a:solidFill xmlns:a="http://schemas.openxmlformats.org/drawingml/2006/main">
            <a:srgbClr val="FFFDF8"/>
          </a:solidFill>
          <a:ln xmlns:a="http://schemas.openxmlformats.org/drawingml/2006/main" w="10478">
            <a:solidFill>
              <a:srgbClr val="132024"/>
            </a:solidFill>
            <a:prstDash val="solid"/>
          </a:ln>
        </p:spPr>
      </p:sp>
      <p:sp>
        <p:nvSpPr>
          <p:cNvPr id="44" name="">
            <a:extLst xmlns:a="http://schemas.openxmlformats.org/drawingml/2006/main">
              <a:ext uri="{FF2B5EF4-FFF2-40B4-BE49-F238E27FC236}">
                <a16:creationId xmlns:a16="http://schemas.microsoft.com/office/drawing/2014/main" id="{FBF11DAC-439D-4BEE-A4ED-656D383ED65E}"/>
              </a:ext>
            </a:extLst>
          </p:cNvPr>
          <p:cNvSpPr>
            <a:spLocks xmlns:a="http://schemas.openxmlformats.org/drawingml/2006/main" noGrp="1"/>
          </p:cNvSpPr>
          <p:nvPr/>
        </p:nvSpPr>
        <p:spPr>
          <a:xfrm xmlns:a="http://schemas.openxmlformats.org/drawingml/2006/main">
            <a:off x="9296400" y="3924300"/>
            <a:ext cx="66675" cy="1257300"/>
          </a:xfrm>
          <a:prstGeom xmlns:a="http://schemas.openxmlformats.org/drawingml/2006/main" prst="rect">
            <a:avLst/>
          </a:prstGeom>
          <a:solidFill xmlns:a="http://schemas.openxmlformats.org/drawingml/2006/main">
            <a:srgbClr val="7D6AA7"/>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72AE383F-900D-4F3F-A312-1B108C725E84}"/>
              </a:ext>
            </a:extLst>
          </p:cNvPr>
          <p:cNvSpPr>
            <a:spLocks xmlns:a="http://schemas.openxmlformats.org/drawingml/2006/main" noGrp="1"/>
          </p:cNvSpPr>
          <p:nvPr/>
        </p:nvSpPr>
        <p:spPr>
          <a:xfrm xmlns:a="http://schemas.openxmlformats.org/drawingml/2006/main">
            <a:off x="9467850" y="4076700"/>
            <a:ext cx="647700" cy="228600"/>
          </a:xfrm>
          <a:prstGeom xmlns:a="http://schemas.openxmlformats.org/drawingml/2006/main" prst="rect">
            <a:avLst/>
          </a:prstGeom>
          <a:solidFill xmlns:a="http://schemas.openxmlformats.org/drawingml/2006/main">
            <a:srgbClr val="DCE7EE"/>
          </a:solidFill>
          <a:ln xmlns:a="http://schemas.openxmlformats.org/drawingml/2006/main" w="9525">
            <a:solidFill>
              <a:srgbClr val="13202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274D63"/>
                </a:solidFill>
              </a:defRPr>
            </a:pPr>
            <a:r>
              <a:rPr sz="900" b="1">
                <a:solidFill>
                  <a:srgbClr val="274D63"/>
                </a:solidFill>
              </a:rPr>
              <a:t>source</a:t>
            </a:r>
          </a:p>
        </p:txBody>
      </p:sp>
      <p:sp>
        <p:nvSpPr>
          <p:cNvPr id="46" name="">
            <a:extLst xmlns:a="http://schemas.openxmlformats.org/drawingml/2006/main">
              <a:ext uri="{FF2B5EF4-FFF2-40B4-BE49-F238E27FC236}">
                <a16:creationId xmlns:a16="http://schemas.microsoft.com/office/drawing/2014/main" id="{668E09D5-68C1-492A-A853-574C19C30D0F}"/>
              </a:ext>
            </a:extLst>
          </p:cNvPr>
          <p:cNvSpPr>
            <a:spLocks xmlns:a="http://schemas.openxmlformats.org/drawingml/2006/main" noGrp="1"/>
          </p:cNvSpPr>
          <p:nvPr/>
        </p:nvSpPr>
        <p:spPr>
          <a:xfrm xmlns:a="http://schemas.openxmlformats.org/drawingml/2006/main">
            <a:off x="9467850" y="4362450"/>
            <a:ext cx="1981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32024"/>
                </a:solidFill>
              </a:defRPr>
            </a:pPr>
            <a:r>
              <a:rPr sz="1275" b="1">
                <a:solidFill>
                  <a:srgbClr val="132024"/>
                </a:solidFill>
              </a:rPr>
              <a:t>screening</a:t>
            </a:r>
          </a:p>
        </p:txBody>
      </p:sp>
      <p:sp>
        <p:nvSpPr>
          <p:cNvPr id="47" name="">
            <a:extLst xmlns:a="http://schemas.openxmlformats.org/drawingml/2006/main">
              <a:ext uri="{FF2B5EF4-FFF2-40B4-BE49-F238E27FC236}">
                <a16:creationId xmlns:a16="http://schemas.microsoft.com/office/drawing/2014/main" id="{F115606E-9F0C-4A08-B9AB-956D8C2E37A7}"/>
              </a:ext>
            </a:extLst>
          </p:cNvPr>
          <p:cNvSpPr>
            <a:spLocks xmlns:a="http://schemas.openxmlformats.org/drawingml/2006/main" noGrp="1"/>
          </p:cNvSpPr>
          <p:nvPr/>
        </p:nvSpPr>
        <p:spPr>
          <a:xfrm xmlns:a="http://schemas.openxmlformats.org/drawingml/2006/main">
            <a:off x="9467850" y="4610100"/>
            <a:ext cx="19812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344146"/>
                </a:solidFill>
              </a:defRPr>
            </a:pPr>
            <a:r>
              <a:rPr sz="825" b="0">
                <a:solidFill>
                  <a:srgbClr val="344146"/>
                </a:solidFill>
              </a:rPr>
              <a:t>perturbation</a:t>
            </a:r>
          </a:p>
          <a:p xmlns:a="http://schemas.openxmlformats.org/drawingml/2006/main">
            <a:pPr algn="l">
              <a:defRPr sz="825" b="0">
                <a:solidFill>
                  <a:srgbClr val="344146"/>
                </a:solidFill>
              </a:defRPr>
            </a:pPr>
            <a:r>
              <a:rPr sz="825" b="0">
                <a:solidFill>
                  <a:srgbClr val="344146"/>
                </a:solidFill>
              </a:rPr>
              <a:t>Chen / Meng</a:t>
            </a:r>
          </a:p>
        </p:txBody>
      </p:sp>
      <p:sp>
        <p:nvSpPr>
          <p:cNvPr id="48" name="">
            <a:extLst xmlns:a="http://schemas.openxmlformats.org/drawingml/2006/main">
              <a:ext uri="{FF2B5EF4-FFF2-40B4-BE49-F238E27FC236}">
                <a16:creationId xmlns:a16="http://schemas.microsoft.com/office/drawing/2014/main" id="{95EB6663-BC62-43A2-B3A0-CBA838599936}"/>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A767C"/>
                </a:solidFill>
              </a:defRPr>
            </a:pPr>
            <a:r>
              <a:rPr sz="750" b="0">
                <a:solidFill>
                  <a:srgbClr val="6A767C"/>
                </a:solidFill>
              </a:rPr>
              <a:t>최종 질문: 어느 region을 만들까? 보다 무엇을 먼저 믿고 싶은가?</a:t>
            </a:r>
          </a:p>
        </p:txBody>
      </p:sp>
    </p:spTree>
    <p:extLst>
      <p:ext uri="{BB962C8B-B14F-4D97-AF65-F5344CB8AC3E}">
        <p14:creationId xmlns:p14="http://schemas.microsoft.com/office/powerpoint/2010/main" val="215761826"/>
      </p:ext>
    </p:extLst>
  </p:cSld>
</p:sld>
</file>

<file path=ppt/slides/slide9.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8BDF79F-9F16-4FEE-B72E-1F506FE9EBEC}"/>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98304e6cc95476f"/>
          <a:srcRect xmlns:a="http://schemas.openxmlformats.org/drawingml/2006/main" l="0" t="21875" r="0" b="2187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A03BA67-B894-4C2A-873F-5D6CE90C2D79}"/>
              </a:ext>
            </a:extLst>
          </p:cNvPr>
          <p:cNvSpPr>
            <a:spLocks xmlns:a="http://schemas.openxmlformats.org/drawingml/2006/main" noGrp="1"/>
          </p:cNvSpPr>
          <p:nvPr/>
        </p:nvSpPr>
        <p:spPr>
          <a:xfrm xmlns:a="http://schemas.openxmlformats.org/drawingml/2006/main">
            <a:off x="7867650" y="781050"/>
            <a:ext cx="3638550" cy="3638550"/>
          </a:xfrm>
          <a:prstGeom xmlns:a="http://schemas.openxmlformats.org/drawingml/2006/main" prst="ellipse">
            <a:avLst/>
          </a:prstGeom>
          <a:solidFill xmlns:a="http://schemas.openxmlformats.org/drawingml/2006/main">
            <a:srgbClr val="E4F5EC"/>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9A2014B0-0DF3-431F-A91F-E1008DA7E24E}"/>
              </a:ext>
            </a:extLst>
          </p:cNvPr>
          <p:cNvSpPr>
            <a:spLocks xmlns:a="http://schemas.openxmlformats.org/drawingml/2006/main" noGrp="1"/>
          </p:cNvSpPr>
          <p:nvPr/>
        </p:nvSpPr>
        <p:spPr>
          <a:xfrm xmlns:a="http://schemas.openxmlformats.org/drawingml/2006/main">
            <a:off x="9220200" y="4152900"/>
            <a:ext cx="1962150" cy="1962150"/>
          </a:xfrm>
          <a:prstGeom xmlns:a="http://schemas.openxmlformats.org/drawingml/2006/main" prst="ellipse">
            <a:avLst/>
          </a:prstGeom>
          <a:solidFill xmlns:a="http://schemas.openxmlformats.org/drawingml/2006/main">
            <a:srgbClr val="F6EAD0"/>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F96DA863-5216-4F04-BCE9-AC6324FAE1AD}"/>
              </a:ext>
            </a:extLst>
          </p:cNvPr>
          <p:cNvSpPr>
            <a:spLocks xmlns:a="http://schemas.openxmlformats.org/drawingml/2006/main" noGrp="1"/>
          </p:cNvSpPr>
          <p:nvPr/>
        </p:nvSpPr>
        <p:spPr>
          <a:xfrm xmlns:a="http://schemas.openxmlformats.org/drawingml/2006/main">
            <a:off x="8534400" y="1409700"/>
            <a:ext cx="2457450" cy="1409700"/>
          </a:xfrm>
          <a:prstGeom xmlns:a="http://schemas.openxmlformats.org/drawingml/2006/main" prst="roundRect">
            <a:avLst>
              <a:gd name="adj" fmla="val 5405"/>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6" name="">
            <a:extLst xmlns:a="http://schemas.openxmlformats.org/drawingml/2006/main">
              <a:ext uri="{FF2B5EF4-FFF2-40B4-BE49-F238E27FC236}">
                <a16:creationId xmlns:a16="http://schemas.microsoft.com/office/drawing/2014/main" id="{B629AB18-35E1-4F24-BDDC-ACABFCF5C685}"/>
              </a:ext>
            </a:extLst>
          </p:cNvPr>
          <p:cNvSpPr>
            <a:spLocks xmlns:a="http://schemas.openxmlformats.org/drawingml/2006/main" noGrp="1"/>
          </p:cNvSpPr>
          <p:nvPr/>
        </p:nvSpPr>
        <p:spPr>
          <a:xfrm xmlns:a="http://schemas.openxmlformats.org/drawingml/2006/main">
            <a:off x="9010650" y="3067050"/>
            <a:ext cx="2152650" cy="1123950"/>
          </a:xfrm>
          <a:prstGeom xmlns:a="http://schemas.openxmlformats.org/drawingml/2006/main" prst="roundRect">
            <a:avLst>
              <a:gd name="adj" fmla="val 6780"/>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7" name="">
            <a:extLst xmlns:a="http://schemas.openxmlformats.org/drawingml/2006/main">
              <a:ext uri="{FF2B5EF4-FFF2-40B4-BE49-F238E27FC236}">
                <a16:creationId xmlns:a16="http://schemas.microsoft.com/office/drawing/2014/main" id="{477932E1-8F66-4074-893A-DFB725E1A9DF}"/>
              </a:ext>
            </a:extLst>
          </p:cNvPr>
          <p:cNvSpPr>
            <a:spLocks xmlns:a="http://schemas.openxmlformats.org/drawingml/2006/main" noGrp="1"/>
          </p:cNvSpPr>
          <p:nvPr/>
        </p:nvSpPr>
        <p:spPr>
          <a:xfrm xmlns:a="http://schemas.openxmlformats.org/drawingml/2006/main">
            <a:off x="8039100" y="4629150"/>
            <a:ext cx="2000250" cy="914400"/>
          </a:xfrm>
          <a:prstGeom xmlns:a="http://schemas.openxmlformats.org/drawingml/2006/main" prst="roundRect">
            <a:avLst>
              <a:gd name="adj" fmla="val 8333"/>
            </a:avLst>
          </a:prstGeom>
          <a:solidFill xmlns:a="http://schemas.openxmlformats.org/drawingml/2006/main">
            <a:srgbClr val="FFFDF8">
              <a:alpha val="96863"/>
            </a:srgbClr>
          </a:solidFill>
          <a:ln xmlns:a="http://schemas.openxmlformats.org/drawingml/2006/main" w="9525">
            <a:solidFill>
              <a:srgbClr val="132024"/>
            </a:solidFill>
            <a:prstDash val="solid"/>
          </a:ln>
        </p:spPr>
      </p:sp>
      <p:sp>
        <p:nvSpPr>
          <p:cNvPr id="8" name="">
            <a:extLst xmlns:a="http://schemas.openxmlformats.org/drawingml/2006/main">
              <a:ext uri="{FF2B5EF4-FFF2-40B4-BE49-F238E27FC236}">
                <a16:creationId xmlns:a16="http://schemas.microsoft.com/office/drawing/2014/main" id="{F7057823-6AD3-4F3F-A60A-3A5B85EB175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CF7">
              <a:alpha val="80000"/>
            </a:srgbClr>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0CA0DCC7-54E8-424D-8399-A5AD2A1FFF01}"/>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F5B3F"/>
                </a:solidFill>
              </a:defRPr>
            </a:pPr>
            <a:r>
              <a:rPr sz="975" b="1">
                <a:solidFill>
                  <a:srgbClr val="0F5B3F"/>
                </a:solidFill>
              </a:rPr>
              <a:t>CLOSING</a:t>
            </a:r>
          </a:p>
        </p:txBody>
      </p:sp>
      <p:sp>
        <p:nvSpPr>
          <p:cNvPr id="10" name="">
            <a:extLst xmlns:a="http://schemas.openxmlformats.org/drawingml/2006/main">
              <a:ext uri="{FF2B5EF4-FFF2-40B4-BE49-F238E27FC236}">
                <a16:creationId xmlns:a16="http://schemas.microsoft.com/office/drawing/2014/main" id="{0B5B9862-5664-4467-8C0B-D98DA3715513}"/>
              </a:ext>
            </a:extLst>
          </p:cNvPr>
          <p:cNvSpPr>
            <a:spLocks xmlns:a="http://schemas.openxmlformats.org/drawingml/2006/main" noGrp="1"/>
          </p:cNvSpPr>
          <p:nvPr/>
        </p:nvSpPr>
        <p:spPr>
          <a:xfrm xmlns:a="http://schemas.openxmlformats.org/drawingml/2006/main">
            <a:off x="10610850" y="323850"/>
            <a:ext cx="990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0F5B3F"/>
                </a:solidFill>
              </a:defRPr>
            </a:pPr>
            <a:r>
              <a:rPr sz="975" b="1">
                <a:solidFill>
                  <a:srgbClr val="0F5B3F"/>
                </a:solidFill>
              </a:rPr>
              <a:t>09 / 09</a:t>
            </a:r>
          </a:p>
        </p:txBody>
      </p:sp>
      <p:sp>
        <p:nvSpPr>
          <p:cNvPr id="11" name="">
            <a:extLst xmlns:a="http://schemas.openxmlformats.org/drawingml/2006/main">
              <a:ext uri="{FF2B5EF4-FFF2-40B4-BE49-F238E27FC236}">
                <a16:creationId xmlns:a16="http://schemas.microsoft.com/office/drawing/2014/main" id="{C03C2B40-4732-407A-8FF9-2BC5FE921742}"/>
              </a:ext>
            </a:extLst>
          </p:cNvPr>
          <p:cNvSpPr>
            <a:spLocks xmlns:a="http://schemas.openxmlformats.org/drawingml/2006/main" noGrp="1"/>
          </p:cNvSpPr>
          <p:nvPr/>
        </p:nvSpPr>
        <p:spPr>
          <a:xfrm xmlns:a="http://schemas.openxmlformats.org/drawingml/2006/main">
            <a:off x="609600" y="609600"/>
            <a:ext cx="10972800" cy="19050"/>
          </a:xfrm>
          <a:prstGeom xmlns:a="http://schemas.openxmlformats.org/drawingml/2006/main" prst="rect">
            <a:avLst/>
          </a:prstGeom>
          <a:solidFill xmlns:a="http://schemas.openxmlformats.org/drawingml/2006/main">
            <a:srgbClr val="132024"/>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1A5F7612-426A-4A66-8D1D-613DF56B3AE1}"/>
              </a:ext>
            </a:extLst>
          </p:cNvPr>
          <p:cNvSpPr>
            <a:spLocks xmlns:a="http://schemas.openxmlformats.org/drawingml/2006/main" noGrp="1"/>
          </p:cNvSpPr>
          <p:nvPr/>
        </p:nvSpPr>
        <p:spPr>
          <a:xfrm xmlns:a="http://schemas.openxmlformats.org/drawingml/2006/main">
            <a:off x="542925" y="542925"/>
            <a:ext cx="152400" cy="152400"/>
          </a:xfrm>
          <a:prstGeom xmlns:a="http://schemas.openxmlformats.org/drawingml/2006/main" prst="ellipse">
            <a:avLst/>
          </a:prstGeom>
          <a:solidFill xmlns:a="http://schemas.openxmlformats.org/drawingml/2006/main">
            <a:srgbClr val="1D9A69"/>
          </a:solidFill>
          <a:ln xmlns:a="http://schemas.openxmlformats.org/drawingml/2006/main" w="19050">
            <a:solidFill>
              <a:srgbClr val="132024"/>
            </a:solidFill>
            <a:prstDash val="solid"/>
          </a:ln>
        </p:spPr>
      </p:sp>
      <p:sp>
        <p:nvSpPr>
          <p:cNvPr id="13" name="">
            <a:extLst xmlns:a="http://schemas.openxmlformats.org/drawingml/2006/main">
              <a:ext uri="{FF2B5EF4-FFF2-40B4-BE49-F238E27FC236}">
                <a16:creationId xmlns:a16="http://schemas.microsoft.com/office/drawing/2014/main" id="{D9ED6F4B-133E-44F9-9CD8-8E663E2FD2FA}"/>
              </a:ext>
            </a:extLst>
          </p:cNvPr>
          <p:cNvSpPr>
            <a:spLocks xmlns:a="http://schemas.openxmlformats.org/drawingml/2006/main" noGrp="1"/>
          </p:cNvSpPr>
          <p:nvPr/>
        </p:nvSpPr>
        <p:spPr>
          <a:xfrm xmlns:a="http://schemas.openxmlformats.org/drawingml/2006/main">
            <a:off x="609600" y="838200"/>
            <a:ext cx="7239000" cy="112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32024"/>
                </a:solidFill>
              </a:defRPr>
            </a:pPr>
            <a:r>
              <a:rPr sz="2850" b="1">
                <a:solidFill>
                  <a:srgbClr val="132024"/>
                </a:solidFill>
              </a:rPr>
              <a:t>결론과 토론</a:t>
            </a:r>
          </a:p>
        </p:txBody>
      </p:sp>
      <p:sp>
        <p:nvSpPr>
          <p:cNvPr id="14" name="">
            <a:extLst xmlns:a="http://schemas.openxmlformats.org/drawingml/2006/main">
              <a:ext uri="{FF2B5EF4-FFF2-40B4-BE49-F238E27FC236}">
                <a16:creationId xmlns:a16="http://schemas.microsoft.com/office/drawing/2014/main" id="{01D12F6D-C45B-4F0D-81D1-0AF8AE37D072}"/>
              </a:ext>
            </a:extLst>
          </p:cNvPr>
          <p:cNvSpPr>
            <a:spLocks xmlns:a="http://schemas.openxmlformats.org/drawingml/2006/main" noGrp="1"/>
          </p:cNvSpPr>
          <p:nvPr/>
        </p:nvSpPr>
        <p:spPr>
          <a:xfrm xmlns:a="http://schemas.openxmlformats.org/drawingml/2006/main">
            <a:off x="704850" y="2095500"/>
            <a:ext cx="3143250" cy="1676400"/>
          </a:xfrm>
          <a:prstGeom xmlns:a="http://schemas.openxmlformats.org/drawingml/2006/main" prst="roundRect">
            <a:avLst>
              <a:gd name="adj" fmla="val 4545"/>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15" name="">
            <a:extLst xmlns:a="http://schemas.openxmlformats.org/drawingml/2006/main">
              <a:ext uri="{FF2B5EF4-FFF2-40B4-BE49-F238E27FC236}">
                <a16:creationId xmlns:a16="http://schemas.microsoft.com/office/drawing/2014/main" id="{F73D4000-DDFF-42FE-AB3A-5DA655170701}"/>
              </a:ext>
            </a:extLst>
          </p:cNvPr>
          <p:cNvSpPr>
            <a:spLocks xmlns:a="http://schemas.openxmlformats.org/drawingml/2006/main" noGrp="1"/>
          </p:cNvSpPr>
          <p:nvPr/>
        </p:nvSpPr>
        <p:spPr>
          <a:xfrm xmlns:a="http://schemas.openxmlformats.org/drawingml/2006/main">
            <a:off x="704850" y="2095500"/>
            <a:ext cx="3143250" cy="76200"/>
          </a:xfrm>
          <a:prstGeom xmlns:a="http://schemas.openxmlformats.org/drawingml/2006/main" prst="rect">
            <a:avLst/>
          </a:prstGeom>
          <a:solidFill xmlns:a="http://schemas.openxmlformats.org/drawingml/2006/main">
            <a:srgbClr val="1D9A69"/>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6BB4AD58-37CB-4092-8617-D9621AC11D74}"/>
              </a:ext>
            </a:extLst>
          </p:cNvPr>
          <p:cNvSpPr>
            <a:spLocks xmlns:a="http://schemas.openxmlformats.org/drawingml/2006/main" noGrp="1"/>
          </p:cNvSpPr>
          <p:nvPr/>
        </p:nvSpPr>
        <p:spPr>
          <a:xfrm xmlns:a="http://schemas.openxmlformats.org/drawingml/2006/main">
            <a:off x="914400" y="2286000"/>
            <a:ext cx="27241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takeaway 1</a:t>
            </a:r>
          </a:p>
        </p:txBody>
      </p:sp>
      <p:sp>
        <p:nvSpPr>
          <p:cNvPr id="17" name="">
            <a:extLst xmlns:a="http://schemas.openxmlformats.org/drawingml/2006/main">
              <a:ext uri="{FF2B5EF4-FFF2-40B4-BE49-F238E27FC236}">
                <a16:creationId xmlns:a16="http://schemas.microsoft.com/office/drawing/2014/main" id="{42389042-5B39-4419-BD2A-7986B0E17C6C}"/>
              </a:ext>
            </a:extLst>
          </p:cNvPr>
          <p:cNvSpPr>
            <a:spLocks xmlns:a="http://schemas.openxmlformats.org/drawingml/2006/main" noGrp="1"/>
          </p:cNvSpPr>
          <p:nvPr/>
        </p:nvSpPr>
        <p:spPr>
          <a:xfrm xmlns:a="http://schemas.openxmlformats.org/drawingml/2006/main">
            <a:off x="914400" y="2705100"/>
            <a:ext cx="2724150" cy="895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subregion comparison은 좋은</a:t>
            </a:r>
          </a:p>
          <a:p xmlns:a="http://schemas.openxmlformats.org/drawingml/2006/main">
            <a:pPr algn="l">
              <a:defRPr sz="1200" b="0">
                <a:solidFill>
                  <a:srgbClr val="132024"/>
                </a:solidFill>
              </a:defRPr>
            </a:pPr>
            <a:r>
              <a:rPr sz="1200" b="0">
                <a:solidFill>
                  <a:srgbClr val="132024"/>
                </a:solidFill>
              </a:rPr>
              <a:t>출발점이었다. 질문을 broad brain에서</a:t>
            </a:r>
          </a:p>
          <a:p xmlns:a="http://schemas.openxmlformats.org/drawingml/2006/main">
            <a:pPr algn="l">
              <a:defRPr sz="1200" b="0">
                <a:solidFill>
                  <a:srgbClr val="132024"/>
                </a:solidFill>
              </a:defRPr>
            </a:pPr>
            <a:r>
              <a:rPr sz="1200" b="0">
                <a:solidFill>
                  <a:srgbClr val="132024"/>
                </a:solidFill>
              </a:rPr>
              <a:t>subregion choice로 좁혀줬다.</a:t>
            </a:r>
          </a:p>
        </p:txBody>
      </p:sp>
      <p:sp>
        <p:nvSpPr>
          <p:cNvPr id="18" name="">
            <a:extLst xmlns:a="http://schemas.openxmlformats.org/drawingml/2006/main">
              <a:ext uri="{FF2B5EF4-FFF2-40B4-BE49-F238E27FC236}">
                <a16:creationId xmlns:a16="http://schemas.microsoft.com/office/drawing/2014/main" id="{E5A854FC-1325-477D-89D6-3D1085E2CDC3}"/>
              </a:ext>
            </a:extLst>
          </p:cNvPr>
          <p:cNvSpPr>
            <a:spLocks xmlns:a="http://schemas.openxmlformats.org/drawingml/2006/main" noGrp="1"/>
          </p:cNvSpPr>
          <p:nvPr/>
        </p:nvSpPr>
        <p:spPr>
          <a:xfrm xmlns:a="http://schemas.openxmlformats.org/drawingml/2006/main">
            <a:off x="4095750" y="2095500"/>
            <a:ext cx="3143250" cy="1676400"/>
          </a:xfrm>
          <a:prstGeom xmlns:a="http://schemas.openxmlformats.org/drawingml/2006/main" prst="roundRect">
            <a:avLst>
              <a:gd name="adj" fmla="val 4545"/>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19" name="">
            <a:extLst xmlns:a="http://schemas.openxmlformats.org/drawingml/2006/main">
              <a:ext uri="{FF2B5EF4-FFF2-40B4-BE49-F238E27FC236}">
                <a16:creationId xmlns:a16="http://schemas.microsoft.com/office/drawing/2014/main" id="{97C268CF-78FE-43F7-A86A-03BCF5C1775D}"/>
              </a:ext>
            </a:extLst>
          </p:cNvPr>
          <p:cNvSpPr>
            <a:spLocks xmlns:a="http://schemas.openxmlformats.org/drawingml/2006/main" noGrp="1"/>
          </p:cNvSpPr>
          <p:nvPr/>
        </p:nvSpPr>
        <p:spPr>
          <a:xfrm xmlns:a="http://schemas.openxmlformats.org/drawingml/2006/main">
            <a:off x="4095750" y="2095500"/>
            <a:ext cx="3143250" cy="76200"/>
          </a:xfrm>
          <a:prstGeom xmlns:a="http://schemas.openxmlformats.org/drawingml/2006/main" prst="rect">
            <a:avLst/>
          </a:prstGeom>
          <a:solidFill xmlns:a="http://schemas.openxmlformats.org/drawingml/2006/main">
            <a:srgbClr val="C9972B"/>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29FD1B36-5EF8-4A26-9690-DC79E71BE031}"/>
              </a:ext>
            </a:extLst>
          </p:cNvPr>
          <p:cNvSpPr>
            <a:spLocks xmlns:a="http://schemas.openxmlformats.org/drawingml/2006/main" noGrp="1"/>
          </p:cNvSpPr>
          <p:nvPr/>
        </p:nvSpPr>
        <p:spPr>
          <a:xfrm xmlns:a="http://schemas.openxmlformats.org/drawingml/2006/main">
            <a:off x="4305300" y="2286000"/>
            <a:ext cx="27241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takeaway 2</a:t>
            </a:r>
          </a:p>
        </p:txBody>
      </p:sp>
      <p:sp>
        <p:nvSpPr>
          <p:cNvPr id="21" name="">
            <a:extLst xmlns:a="http://schemas.openxmlformats.org/drawingml/2006/main">
              <a:ext uri="{FF2B5EF4-FFF2-40B4-BE49-F238E27FC236}">
                <a16:creationId xmlns:a16="http://schemas.microsoft.com/office/drawing/2014/main" id="{449F23E7-B896-4111-AC8D-2E070D9D74DB}"/>
              </a:ext>
            </a:extLst>
          </p:cNvPr>
          <p:cNvSpPr>
            <a:spLocks xmlns:a="http://schemas.openxmlformats.org/drawingml/2006/main" noGrp="1"/>
          </p:cNvSpPr>
          <p:nvPr/>
        </p:nvSpPr>
        <p:spPr>
          <a:xfrm xmlns:a="http://schemas.openxmlformats.org/drawingml/2006/main">
            <a:off x="4305300" y="2705100"/>
            <a:ext cx="2724150" cy="895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하지만 benchmark 축이 들어오자, 같은</a:t>
            </a:r>
          </a:p>
          <a:p xmlns:a="http://schemas.openxmlformats.org/drawingml/2006/main">
            <a:pPr algn="l">
              <a:defRPr sz="1200" b="0">
                <a:solidFill>
                  <a:srgbClr val="132024"/>
                </a:solidFill>
              </a:defRPr>
            </a:pPr>
            <a:r>
              <a:rPr sz="1200" b="0">
                <a:solidFill>
                  <a:srgbClr val="132024"/>
                </a:solidFill>
              </a:rPr>
              <a:t>region 안에서도 다른 질문이 생겼다.</a:t>
            </a:r>
          </a:p>
        </p:txBody>
      </p:sp>
      <p:sp>
        <p:nvSpPr>
          <p:cNvPr id="22" name="">
            <a:extLst xmlns:a="http://schemas.openxmlformats.org/drawingml/2006/main">
              <a:ext uri="{FF2B5EF4-FFF2-40B4-BE49-F238E27FC236}">
                <a16:creationId xmlns:a16="http://schemas.microsoft.com/office/drawing/2014/main" id="{5E312C2C-1528-49C2-AF99-1C0AF1D9B5C5}"/>
              </a:ext>
            </a:extLst>
          </p:cNvPr>
          <p:cNvSpPr>
            <a:spLocks xmlns:a="http://schemas.openxmlformats.org/drawingml/2006/main" noGrp="1"/>
          </p:cNvSpPr>
          <p:nvPr/>
        </p:nvSpPr>
        <p:spPr>
          <a:xfrm xmlns:a="http://schemas.openxmlformats.org/drawingml/2006/main">
            <a:off x="7486650" y="2095500"/>
            <a:ext cx="4000500" cy="1676400"/>
          </a:xfrm>
          <a:prstGeom xmlns:a="http://schemas.openxmlformats.org/drawingml/2006/main" prst="roundRect">
            <a:avLst>
              <a:gd name="adj" fmla="val 4545"/>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23" name="">
            <a:extLst xmlns:a="http://schemas.openxmlformats.org/drawingml/2006/main">
              <a:ext uri="{FF2B5EF4-FFF2-40B4-BE49-F238E27FC236}">
                <a16:creationId xmlns:a16="http://schemas.microsoft.com/office/drawing/2014/main" id="{77A34212-C0F3-413F-AAEE-64CAC96E01D7}"/>
              </a:ext>
            </a:extLst>
          </p:cNvPr>
          <p:cNvSpPr>
            <a:spLocks xmlns:a="http://schemas.openxmlformats.org/drawingml/2006/main" noGrp="1"/>
          </p:cNvSpPr>
          <p:nvPr/>
        </p:nvSpPr>
        <p:spPr>
          <a:xfrm xmlns:a="http://schemas.openxmlformats.org/drawingml/2006/main">
            <a:off x="7486650" y="2095500"/>
            <a:ext cx="4000500" cy="76200"/>
          </a:xfrm>
          <a:prstGeom xmlns:a="http://schemas.openxmlformats.org/drawingml/2006/main" prst="rect">
            <a:avLst/>
          </a:prstGeom>
          <a:solidFill xmlns:a="http://schemas.openxmlformats.org/drawingml/2006/main">
            <a:srgbClr val="D66C60"/>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3DDBBB5F-D4B6-4463-BCE8-724F1AE575C5}"/>
              </a:ext>
            </a:extLst>
          </p:cNvPr>
          <p:cNvSpPr>
            <a:spLocks xmlns:a="http://schemas.openxmlformats.org/drawingml/2006/main" noGrp="1"/>
          </p:cNvSpPr>
          <p:nvPr/>
        </p:nvSpPr>
        <p:spPr>
          <a:xfrm xmlns:a="http://schemas.openxmlformats.org/drawingml/2006/main">
            <a:off x="7696200" y="2286000"/>
            <a:ext cx="35814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5B3F"/>
                </a:solidFill>
              </a:defRPr>
            </a:pPr>
            <a:r>
              <a:rPr sz="1125" b="1">
                <a:solidFill>
                  <a:srgbClr val="0F5B3F"/>
                </a:solidFill>
              </a:rPr>
              <a:t>takeaway 3</a:t>
            </a:r>
          </a:p>
        </p:txBody>
      </p:sp>
      <p:sp>
        <p:nvSpPr>
          <p:cNvPr id="25" name="">
            <a:extLst xmlns:a="http://schemas.openxmlformats.org/drawingml/2006/main">
              <a:ext uri="{FF2B5EF4-FFF2-40B4-BE49-F238E27FC236}">
                <a16:creationId xmlns:a16="http://schemas.microsoft.com/office/drawing/2014/main" id="{52FB4B09-7525-4F8B-9338-25E07FD53356}"/>
              </a:ext>
            </a:extLst>
          </p:cNvPr>
          <p:cNvSpPr>
            <a:spLocks xmlns:a="http://schemas.openxmlformats.org/drawingml/2006/main" noGrp="1"/>
          </p:cNvSpPr>
          <p:nvPr/>
        </p:nvSpPr>
        <p:spPr>
          <a:xfrm xmlns:a="http://schemas.openxmlformats.org/drawingml/2006/main">
            <a:off x="7696200" y="2705100"/>
            <a:ext cx="3581400" cy="895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32024"/>
                </a:solidFill>
              </a:defRPr>
            </a:pPr>
            <a:r>
              <a:rPr sz="1200" b="0">
                <a:solidFill>
                  <a:srgbClr val="132024"/>
                </a:solidFill>
              </a:rPr>
              <a:t>최종적으로 protocol choice는 region</a:t>
            </a:r>
          </a:p>
          <a:p xmlns:a="http://schemas.openxmlformats.org/drawingml/2006/main">
            <a:pPr algn="l">
              <a:defRPr sz="1200" b="0">
                <a:solidFill>
                  <a:srgbClr val="132024"/>
                </a:solidFill>
              </a:defRPr>
            </a:pPr>
            <a:r>
              <a:rPr sz="1200" b="0">
                <a:solidFill>
                  <a:srgbClr val="132024"/>
                </a:solidFill>
              </a:rPr>
              <a:t>choice를 넘어 readout-first selection</a:t>
            </a:r>
          </a:p>
          <a:p xmlns:a="http://schemas.openxmlformats.org/drawingml/2006/main">
            <a:pPr algn="l">
              <a:defRPr sz="1200" b="0">
                <a:solidFill>
                  <a:srgbClr val="132024"/>
                </a:solidFill>
              </a:defRPr>
            </a:pPr>
            <a:r>
              <a:rPr sz="1200" b="0">
                <a:solidFill>
                  <a:srgbClr val="132024"/>
                </a:solidFill>
              </a:rPr>
              <a:t>rule로 이동했다.</a:t>
            </a:r>
          </a:p>
        </p:txBody>
      </p:sp>
      <p:sp>
        <p:nvSpPr>
          <p:cNvPr id="26" name="">
            <a:extLst xmlns:a="http://schemas.openxmlformats.org/drawingml/2006/main">
              <a:ext uri="{FF2B5EF4-FFF2-40B4-BE49-F238E27FC236}">
                <a16:creationId xmlns:a16="http://schemas.microsoft.com/office/drawing/2014/main" id="{DA980EBD-03BB-429D-AF2F-05B0C63417F2}"/>
              </a:ext>
            </a:extLst>
          </p:cNvPr>
          <p:cNvSpPr>
            <a:spLocks xmlns:a="http://schemas.openxmlformats.org/drawingml/2006/main" noGrp="1"/>
          </p:cNvSpPr>
          <p:nvPr/>
        </p:nvSpPr>
        <p:spPr>
          <a:xfrm xmlns:a="http://schemas.openxmlformats.org/drawingml/2006/main">
            <a:off x="704850" y="4095750"/>
            <a:ext cx="10782300" cy="819150"/>
          </a:xfrm>
          <a:prstGeom xmlns:a="http://schemas.openxmlformats.org/drawingml/2006/main" prst="roundRect">
            <a:avLst>
              <a:gd name="adj" fmla="val 9302"/>
            </a:avLst>
          </a:prstGeom>
          <a:solidFill xmlns:a="http://schemas.openxmlformats.org/drawingml/2006/main">
            <a:srgbClr val="FFFDF8">
              <a:alpha val="96863"/>
            </a:srgbClr>
          </a:solidFill>
          <a:ln xmlns:a="http://schemas.openxmlformats.org/drawingml/2006/main" w="11430">
            <a:solidFill>
              <a:srgbClr val="132024"/>
            </a:solidFill>
            <a:prstDash val="solid"/>
          </a:ln>
        </p:spPr>
      </p:sp>
      <p:sp>
        <p:nvSpPr>
          <p:cNvPr id="27" name="">
            <a:extLst xmlns:a="http://schemas.openxmlformats.org/drawingml/2006/main">
              <a:ext uri="{FF2B5EF4-FFF2-40B4-BE49-F238E27FC236}">
                <a16:creationId xmlns:a16="http://schemas.microsoft.com/office/drawing/2014/main" id="{427697C4-B73A-4839-AC83-6F1A4C226C3B}"/>
              </a:ext>
            </a:extLst>
          </p:cNvPr>
          <p:cNvSpPr>
            <a:spLocks xmlns:a="http://schemas.openxmlformats.org/drawingml/2006/main" noGrp="1"/>
          </p:cNvSpPr>
          <p:nvPr/>
        </p:nvSpPr>
        <p:spPr>
          <a:xfrm xmlns:a="http://schemas.openxmlformats.org/drawingml/2006/main">
            <a:off x="704850" y="4095750"/>
            <a:ext cx="76200" cy="819150"/>
          </a:xfrm>
          <a:prstGeom xmlns:a="http://schemas.openxmlformats.org/drawingml/2006/main" prst="rect">
            <a:avLst/>
          </a:prstGeom>
          <a:solidFill xmlns:a="http://schemas.openxmlformats.org/drawingml/2006/main">
            <a:srgbClr val="1D9A69"/>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9B9A0C58-AEBD-4694-8DE7-26BA7C20C836}"/>
              </a:ext>
            </a:extLst>
          </p:cNvPr>
          <p:cNvSpPr>
            <a:spLocks xmlns:a="http://schemas.openxmlformats.org/drawingml/2006/main" noGrp="1"/>
          </p:cNvSpPr>
          <p:nvPr/>
        </p:nvSpPr>
        <p:spPr>
          <a:xfrm xmlns:a="http://schemas.openxmlformats.org/drawingml/2006/main">
            <a:off x="914400" y="4248150"/>
            <a:ext cx="104013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32024"/>
                </a:solidFill>
              </a:defRPr>
            </a:pPr>
            <a:r>
              <a:rPr sz="1350" b="0">
                <a:solidFill>
                  <a:srgbClr val="132024"/>
                </a:solidFill>
              </a:rPr>
              <a:t>토론용 질문: 왜 reproducibility와 fidelity를 분리해야 하는가? 어느 축을 먼저 봐야 하는가? host validation은 언제 필요한가?</a:t>
            </a:r>
          </a:p>
        </p:txBody>
      </p:sp>
      <p:sp>
        <p:nvSpPr>
          <p:cNvPr id="29" name="">
            <a:extLst xmlns:a="http://schemas.openxmlformats.org/drawingml/2006/main">
              <a:ext uri="{FF2B5EF4-FFF2-40B4-BE49-F238E27FC236}">
                <a16:creationId xmlns:a16="http://schemas.microsoft.com/office/drawing/2014/main" id="{4EC3E7AF-113D-4A49-824D-BD67E67D7232}"/>
              </a:ext>
            </a:extLst>
          </p:cNvPr>
          <p:cNvSpPr>
            <a:spLocks xmlns:a="http://schemas.openxmlformats.org/drawingml/2006/main" noGrp="1"/>
          </p:cNvSpPr>
          <p:nvPr/>
        </p:nvSpPr>
        <p:spPr>
          <a:xfrm xmlns:a="http://schemas.openxmlformats.org/drawingml/2006/main">
            <a:off x="704850" y="5257800"/>
            <a:ext cx="10782300" cy="781050"/>
          </a:xfrm>
          <a:prstGeom xmlns:a="http://schemas.openxmlformats.org/drawingml/2006/main" prst="roundRect">
            <a:avLst>
              <a:gd name="adj" fmla="val 9756"/>
            </a:avLst>
          </a:prstGeom>
          <a:solidFill xmlns:a="http://schemas.openxmlformats.org/drawingml/2006/main">
            <a:srgbClr val="F4E8C8"/>
          </a:solidFill>
          <a:ln xmlns:a="http://schemas.openxmlformats.org/drawingml/2006/main" w="11430">
            <a:solidFill>
              <a:srgbClr val="132024"/>
            </a:solidFill>
            <a:prstDash val="solid"/>
          </a:ln>
        </p:spPr>
      </p:sp>
      <p:sp>
        <p:nvSpPr>
          <p:cNvPr id="30" name="">
            <a:extLst xmlns:a="http://schemas.openxmlformats.org/drawingml/2006/main">
              <a:ext uri="{FF2B5EF4-FFF2-40B4-BE49-F238E27FC236}">
                <a16:creationId xmlns:a16="http://schemas.microsoft.com/office/drawing/2014/main" id="{D9CE5809-E7FF-4400-9F55-84E47A0E0985}"/>
              </a:ext>
            </a:extLst>
          </p:cNvPr>
          <p:cNvSpPr>
            <a:spLocks xmlns:a="http://schemas.openxmlformats.org/drawingml/2006/main" noGrp="1"/>
          </p:cNvSpPr>
          <p:nvPr/>
        </p:nvSpPr>
        <p:spPr>
          <a:xfrm xmlns:a="http://schemas.openxmlformats.org/drawingml/2006/main">
            <a:off x="704850" y="5257800"/>
            <a:ext cx="76200" cy="781050"/>
          </a:xfrm>
          <a:prstGeom xmlns:a="http://schemas.openxmlformats.org/drawingml/2006/main" prst="rect">
            <a:avLst/>
          </a:prstGeom>
          <a:solidFill xmlns:a="http://schemas.openxmlformats.org/drawingml/2006/main">
            <a:srgbClr val="C9972B"/>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218A7CF8-E4E1-4FFB-9795-002AA4FC02FC}"/>
              </a:ext>
            </a:extLst>
          </p:cNvPr>
          <p:cNvSpPr>
            <a:spLocks xmlns:a="http://schemas.openxmlformats.org/drawingml/2006/main" noGrp="1"/>
          </p:cNvSpPr>
          <p:nvPr/>
        </p:nvSpPr>
        <p:spPr>
          <a:xfrm xmlns:a="http://schemas.openxmlformats.org/drawingml/2006/main">
            <a:off x="914400" y="5410200"/>
            <a:ext cx="104013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32024"/>
                </a:solidFill>
              </a:defRPr>
            </a:pPr>
            <a:r>
              <a:rPr sz="1350" b="0">
                <a:solidFill>
                  <a:srgbClr val="132024"/>
                </a:solidFill>
              </a:rPr>
              <a:t>정리: 위키를 정리하자 질문이 바뀌었고, 질문이 바뀌자 비교 기준도 바뀌었다.</a:t>
            </a:r>
          </a:p>
        </p:txBody>
      </p:sp>
      <p:sp>
        <p:nvSpPr>
          <p:cNvPr id="32" name="">
            <a:extLst xmlns:a="http://schemas.openxmlformats.org/drawingml/2006/main">
              <a:ext uri="{FF2B5EF4-FFF2-40B4-BE49-F238E27FC236}">
                <a16:creationId xmlns:a16="http://schemas.microsoft.com/office/drawing/2014/main" id="{73BC0608-1B18-4777-A0B5-487C4ABD145B}"/>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A767C"/>
                </a:solidFill>
              </a:defRPr>
            </a:pPr>
            <a:r>
              <a:rPr sz="750" b="0">
                <a:solidFill>
                  <a:srgbClr val="6A767C"/>
                </a:solidFill>
              </a:rPr>
              <a:t>Q&amp;A로 넘어가면 각 질문의 우선축과 validation 순서를 중심으로 답하면 된다.</a:t>
            </a:r>
          </a:p>
        </p:txBody>
      </p:sp>
    </p:spTree>
    <p:extLst>
      <p:ext uri="{BB962C8B-B14F-4D97-AF65-F5344CB8AC3E}">
        <p14:creationId xmlns:p14="http://schemas.microsoft.com/office/powerpoint/2010/main" val="1711492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2026-04-27T01:38:59.7340000Z</dcterms:created>
  <dcterms:modified xsi:type="dcterms:W3CDTF">2026-04-27T01:38:59.7350000Z</dcterms:modified>
</coreProperties>
</file>