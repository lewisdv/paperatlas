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e0309a9ed9495b" /><Relationship Type="http://schemas.openxmlformats.org/officeDocument/2006/relationships/extended-properties" Target="/docProps/app.xml" Id="R56ea76565a494e38" /><Relationship Type="http://schemas.openxmlformats.org/officeDocument/2006/relationships/officeDocument" Target="/ppt/presentation.xml" Id="Rf8026864e1014f17" /></Relationships>
</file>

<file path=ppt/presentation.xml><?xml version="1.0" encoding="utf-8"?>
<p:presentation xmlns:p="http://schemas.openxmlformats.org/presentationml/2006/main">
  <p:sldMasterIdLst>
    <p:sldMasterId xmlns:r="http://schemas.openxmlformats.org/officeDocument/2006/relationships" id="2147483648" r:id="R59d8d55b52544e80"/>
  </p:sldMasterIdLst>
  <p:notesMasterIdLst>
    <p:notesMasterId xmlns:r="http://schemas.openxmlformats.org/officeDocument/2006/relationships" r:id="R897b400928fe4194"/>
  </p:notesMasterIdLst>
  <p:sldIdLst>
    <p:sldId xmlns:r="http://schemas.openxmlformats.org/officeDocument/2006/relationships" id="256" r:id="R298c4f830490421e"/>
    <p:sldId xmlns:r="http://schemas.openxmlformats.org/officeDocument/2006/relationships" id="257" r:id="R6a8facdd2e9f41f0"/>
    <p:sldId xmlns:r="http://schemas.openxmlformats.org/officeDocument/2006/relationships" id="258" r:id="R751300ae35ac42e1"/>
    <p:sldId xmlns:r="http://schemas.openxmlformats.org/officeDocument/2006/relationships" id="259" r:id="Rb84bb13bc6284db1"/>
    <p:sldId xmlns:r="http://schemas.openxmlformats.org/officeDocument/2006/relationships" id="260" r:id="R2df036b8fef74c9f"/>
    <p:sldId xmlns:r="http://schemas.openxmlformats.org/officeDocument/2006/relationships" id="261" r:id="R614fdacc59d6410e"/>
    <p:sldId xmlns:r="http://schemas.openxmlformats.org/officeDocument/2006/relationships" id="262" r:id="Rcfb526a55e5e41bc"/>
    <p:sldId xmlns:r="http://schemas.openxmlformats.org/officeDocument/2006/relationships" id="263" r:id="R4699cedc23b046bd"/>
    <p:sldId xmlns:r="http://schemas.openxmlformats.org/officeDocument/2006/relationships" id="264" r:id="Rfad30d8528fd437c"/>
    <p:sldId xmlns:r="http://schemas.openxmlformats.org/officeDocument/2006/relationships" id="265" r:id="R9aa31311cf1b4849"/>
    <p:sldId xmlns:r="http://schemas.openxmlformats.org/officeDocument/2006/relationships" id="266" r:id="R16b7209c25d54427"/>
    <p:sldId xmlns:r="http://schemas.openxmlformats.org/officeDocument/2006/relationships" id="267" r:id="Ra2b9134bdbe44ed6"/>
    <p:sldId xmlns:r="http://schemas.openxmlformats.org/officeDocument/2006/relationships" id="268" r:id="R5f4460b6ab8c418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9d8d55b52544e80" /><Relationship Type="http://schemas.openxmlformats.org/officeDocument/2006/relationships/theme" Target="/ppt/theme/theme1.xml" Id="R98e8b49ee5504dff" /><Relationship Type="http://schemas.openxmlformats.org/officeDocument/2006/relationships/notesMaster" Target="/ppt/notesMasters/notesMaster1.xml" Id="R897b400928fe4194" /><Relationship Type="http://schemas.openxmlformats.org/officeDocument/2006/relationships/presProps" Target="/ppt/presProps.xml" Id="R5b13286d2ff04a2f" /><Relationship Type="http://schemas.openxmlformats.org/officeDocument/2006/relationships/viewProps" Target="/ppt/viewProps.xml" Id="Raf3604bec8794513" /><Relationship Type="http://schemas.openxmlformats.org/officeDocument/2006/relationships/tableStyles" Target="/ppt/tableStyles.xml" Id="R6b8086c034f2435b" /><Relationship Type="http://schemas.openxmlformats.org/officeDocument/2006/relationships/slide" Target="/ppt/slides/slide1.xml" Id="R298c4f830490421e" /><Relationship Type="http://schemas.openxmlformats.org/officeDocument/2006/relationships/slide" Target="/ppt/slides/slide2.xml" Id="R6a8facdd2e9f41f0" /><Relationship Type="http://schemas.openxmlformats.org/officeDocument/2006/relationships/slide" Target="/ppt/slides/slide3.xml" Id="R751300ae35ac42e1" /><Relationship Type="http://schemas.openxmlformats.org/officeDocument/2006/relationships/slide" Target="/ppt/slides/slide4.xml" Id="Rb84bb13bc6284db1" /><Relationship Type="http://schemas.openxmlformats.org/officeDocument/2006/relationships/slide" Target="/ppt/slides/slide5.xml" Id="R2df036b8fef74c9f" /><Relationship Type="http://schemas.openxmlformats.org/officeDocument/2006/relationships/slide" Target="/ppt/slides/slide6.xml" Id="R614fdacc59d6410e" /><Relationship Type="http://schemas.openxmlformats.org/officeDocument/2006/relationships/slide" Target="/ppt/slides/slide7.xml" Id="Rcfb526a55e5e41bc" /><Relationship Type="http://schemas.openxmlformats.org/officeDocument/2006/relationships/slide" Target="/ppt/slides/slide8.xml" Id="R4699cedc23b046bd" /><Relationship Type="http://schemas.openxmlformats.org/officeDocument/2006/relationships/slide" Target="/ppt/slides/slide9.xml" Id="Rfad30d8528fd437c" /><Relationship Type="http://schemas.openxmlformats.org/officeDocument/2006/relationships/slide" Target="/ppt/slides/slide10.xml" Id="R9aa31311cf1b4849" /><Relationship Type="http://schemas.openxmlformats.org/officeDocument/2006/relationships/slide" Target="/ppt/slides/slide11.xml" Id="R16b7209c25d54427" /><Relationship Type="http://schemas.openxmlformats.org/officeDocument/2006/relationships/slide" Target="/ppt/slides/slide12.xml" Id="Ra2b9134bdbe44ed6" /><Relationship Type="http://schemas.openxmlformats.org/officeDocument/2006/relationships/slide" Target="/ppt/slides/slide13.xml" Id="R5f4460b6ab8c41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9dd6dbe308d4b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1030e4441d4172" /><Relationship Type="http://schemas.openxmlformats.org/officeDocument/2006/relationships/notesMaster" Target="/ppt/notesMasters/notesMaster1.xml" Id="Rfa71e3792c994d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d6e30867ca44c8" /><Relationship Type="http://schemas.openxmlformats.org/officeDocument/2006/relationships/notesMaster" Target="/ppt/notesMasters/notesMaster1.xml" Id="R14537f6bd09e47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a6587dae0a4dd4" /><Relationship Type="http://schemas.openxmlformats.org/officeDocument/2006/relationships/notesMaster" Target="/ppt/notesMasters/notesMaster1.xml" Id="Rc14a6551c8e14a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8d312a8fad48fb" /><Relationship Type="http://schemas.openxmlformats.org/officeDocument/2006/relationships/notesMaster" Target="/ppt/notesMasters/notesMaster1.xml" Id="R0091ec00890341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5d6fa5c247490b" /><Relationship Type="http://schemas.openxmlformats.org/officeDocument/2006/relationships/notesMaster" Target="/ppt/notesMasters/notesMaster1.xml" Id="R2fce61890c0043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6f7d5c8ade483d" /><Relationship Type="http://schemas.openxmlformats.org/officeDocument/2006/relationships/notesMaster" Target="/ppt/notesMasters/notesMaster1.xml" Id="R74d94c4881384b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360adb6f5141db" /><Relationship Type="http://schemas.openxmlformats.org/officeDocument/2006/relationships/notesMaster" Target="/ppt/notesMasters/notesMaster1.xml" Id="R1a6d440b274c45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040ef6d94d4fee" /><Relationship Type="http://schemas.openxmlformats.org/officeDocument/2006/relationships/notesMaster" Target="/ppt/notesMasters/notesMaster1.xml" Id="Rf5cae2c48b8047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19d12c1aa74827" /><Relationship Type="http://schemas.openxmlformats.org/officeDocument/2006/relationships/notesMaster" Target="/ppt/notesMasters/notesMaster1.xml" Id="R538b71d9e78d4f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1fcce037814548" /><Relationship Type="http://schemas.openxmlformats.org/officeDocument/2006/relationships/notesMaster" Target="/ppt/notesMasters/notesMaster1.xml" Id="R97684a07ca1b4f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e62365f5764d67" /><Relationship Type="http://schemas.openxmlformats.org/officeDocument/2006/relationships/notesMaster" Target="/ppt/notesMasters/notesMaster1.xml" Id="Reea064ae4b8645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a45e01749548e7" /><Relationship Type="http://schemas.openxmlformats.org/officeDocument/2006/relationships/notesMaster" Target="/ppt/notesMasters/notesMaster1.xml" Id="R290cf19d442546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89486d11e94206" /><Relationship Type="http://schemas.openxmlformats.org/officeDocument/2006/relationships/notesMaster" Target="/ppt/notesMasters/notesMaster1.xml" Id="Rdb2fb293630b44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LLM-wiki 운영 방식을 짧게 소개한 뒤, 그 위에서 brain organoid 질문이 어떻게 정교해졌는지를 보여준다.</a:t>
            </a:r>
          </a:p>
          <a:p xmlns:a="http://schemas.openxmlformats.org/drawingml/2006/main">
            <a:r>
              <a:t>처음에는 brain subregion별 프로토콜 차이를 비교하고 싶었지만, 정리할수록 reproducibility, fidelity, timing, readout 문제가 분리되기 시작했다.</a:t>
            </a:r>
          </a:p>
          <a:p xmlns:a="http://schemas.openxmlformats.org/drawingml/2006/main">
            <a:r>
              <a:t>오늘의 핵심 문장은 '질문이 바뀌면 비교 기준도 바뀐다'이다.</a:t>
            </a:r>
          </a:p>
          <a:p xmlns:a="http://schemas.openxmlformats.org/drawingml/2006/main">
            <a:r>
              <a:t/>
            </a:r>
          </a:p>
          <a:p xmlns:a="http://schemas.openxmlformats.org/drawingml/2006/main">
            <a:r>
              <a:t>[Sources]</a:t>
            </a:r>
          </a:p>
          <a:p xmlns:a="http://schemas.openxmlformats.org/drawingml/2006/main">
            <a:r>
              <a:t>- collections/organoid/wiki/index.md</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슬라이드에서는 문헌을 어떻게 구조화했는지 먼저 소개한다.</a:t>
            </a:r>
          </a:p>
          <a:p xmlns:a="http://schemas.openxmlformats.org/drawingml/2006/main">
            <a:r>
              <a:t>collections 단위로 주제를 분리하고, raw source와 wiki synthesis를 나눠서 질문 범위를 좁혔다.</a:t>
            </a:r>
          </a:p>
          <a:p xmlns:a="http://schemas.openxmlformats.org/drawingml/2006/main">
            <a:r>
              <a:t>그 결과 관련 없는 topic drift를 줄이고, 같은 주제 안에서 source, concept, query를 더 조밀하게 연결할 수 있었다.</a:t>
            </a:r>
          </a:p>
          <a:p xmlns:a="http://schemas.openxmlformats.org/drawingml/2006/main">
            <a:r>
              <a:t/>
            </a:r>
          </a:p>
          <a:p xmlns:a="http://schemas.openxmlformats.org/drawingml/2006/main">
            <a:r>
              <a:t>[Sources]</a:t>
            </a:r>
          </a:p>
          <a:p xmlns:a="http://schemas.openxmlformats.org/drawingml/2006/main">
            <a:r>
              <a:t>- collections/organoid/wiki/overview.md</a:t>
            </a:r>
          </a:p>
          <a:p xmlns:a="http://schemas.openxmlformats.org/drawingml/2006/main">
            <a:r>
              <a:t>- collections/organoid/wiki/index.md</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Markdown wiki를 그대로 두지 않고 HTML site로 렌더링해 읽기 쉬운 탐색 계층을 따로 운영했다.</a:t>
            </a:r>
          </a:p>
          <a:p xmlns:a="http://schemas.openxmlformats.org/drawingml/2006/main">
            <a:r>
              <a:t>render_wiki_html.py는 collection site와 top-level hub를 만들고, localhost viewer는 검색과 태그 필터, 그래프 뷰를 제공한다.</a:t>
            </a:r>
          </a:p>
          <a:p xmlns:a="http://schemas.openxmlformats.org/drawingml/2006/main">
            <a:r>
              <a:t>또 GitHub Actions와 Pages를 붙여 원격에서도 같은 구조로 접근할 수 있게 했다.</a:t>
            </a:r>
          </a:p>
          <a:p xmlns:a="http://schemas.openxmlformats.org/drawingml/2006/main">
            <a:r>
              <a:t/>
            </a:r>
          </a:p>
          <a:p xmlns:a="http://schemas.openxmlformats.org/drawingml/2006/main">
            <a:r>
              <a:t>[Sources]</a:t>
            </a:r>
          </a:p>
          <a:p xmlns:a="http://schemas.openxmlformats.org/drawingml/2006/main">
            <a:r>
              <a:t>- collections/organoid/wiki/index.md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brain branch는 broad cerebral baseline에서 niche subregion까지 이어지고, 그 위에 benchmark 논문과 functional readout 논문이 덧붙는다.</a:t>
            </a:r>
          </a:p>
          <a:p xmlns:a="http://schemas.openxmlformats.org/drawingml/2006/main">
            <a:r>
              <a:t>그래서 단순 문헌 요약이 아니라 질문의 이동을 단계적으로 보여주기 좋다.</a:t>
            </a:r>
          </a:p>
          <a:p xmlns:a="http://schemas.openxmlformats.org/drawingml/2006/main">
            <a:r>
              <a:t>즉 workflow를 설명한 뒤 실제 branch 사례로 넘어가기에 가장 적합한 축이었다.</a:t>
            </a:r>
          </a:p>
          <a:p xmlns:a="http://schemas.openxmlformats.org/drawingml/2006/main">
            <a:r>
              <a:t/>
            </a:r>
          </a:p>
          <a:p xmlns:a="http://schemas.openxmlformats.org/drawingml/2006/main">
            <a:r>
              <a:t>[Sources]</a:t>
            </a:r>
          </a:p>
          <a:p xmlns:a="http://schemas.openxmlformats.org/drawingml/2006/main">
            <a:r>
              <a:t>- collections/organoid/wiki/overview.md</a:t>
            </a:r>
          </a:p>
          <a:p xmlns:a="http://schemas.openxmlformats.org/drawingml/2006/main">
            <a:r>
              <a:t>- collections/organoid/wiki/index.md</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a:p xmlns:a="http://schemas.openxmlformats.org/drawingml/2006/main">
            <a:r>
              <a:t>- collections/organoid/wiki/syntheses/20260424_organoid-developmental-baseline-and-regionalization-playbook.md</a:t>
            </a:r>
          </a:p>
          <a:p xmlns:a="http://schemas.openxmlformats.org/drawingml/2006/main">
            <a:r>
              <a:t>- collections/organoid/wiki/concepts/brain-organoid-fidelity-reproducibility-and-atlases.md</a:t>
            </a:r>
          </a:p>
          <a:p xmlns:a="http://schemas.openxmlformats.org/drawingml/2006/main">
            <a:r>
              <a:t>- collections/organoid/wiki/concepts/brain-organoid-patterning-and-assembloids.md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질문 노트는 subregion 중심 비교다.</a:t>
            </a:r>
          </a:p>
          <a:p xmlns:a="http://schemas.openxmlformats.org/drawingml/2006/main">
            <a:r>
              <a:t>Lancaster는 broad cerebral baseline, Sloan과 Fitzgerald는 forebrain or cortical control, Zagare와 Eura와 Valiulahi는 posterior branch, Pomeshchik과 Atamian은 niche specialization으로 묶였다.</a:t>
            </a:r>
          </a:p>
          <a:p xmlns:a="http://schemas.openxmlformats.org/drawingml/2006/main">
            <a:r>
              <a:t>이 단계에서는 brain organoid 설계 문제가 주로 subregion selection 문제처럼 보였다.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collections/organoid/wiki/concepts/brain-subregion-specific-organoid-protocols.md</a:t>
            </a:r>
          </a:p>
          <a:p xmlns:a="http://schemas.openxmlformats.org/drawingml/2006/main">
            <a:r>
              <a:t>- Lancaster 2014 | Generation of cerebral organoids from human pluripotent stem cells</a:t>
            </a:r>
          </a:p>
          <a:p xmlns:a="http://schemas.openxmlformats.org/drawingml/2006/main">
            <a:r>
              <a:t>- Sloan 2018 | Generation and assembly of human brain region-specific three-dimensional cultures</a:t>
            </a:r>
          </a:p>
          <a:p xmlns:a="http://schemas.openxmlformats.org/drawingml/2006/main">
            <a:r>
              <a:t>- Fitzgerald 2024 | Generation of semi-guided cortical organoids with complex neural oscillations</a:t>
            </a:r>
          </a:p>
          <a:p xmlns:a="http://schemas.openxmlformats.org/drawingml/2006/main">
            <a:r>
              <a:t>- Zagare 2021 | A robust protocol for the generation of human midbrain organoids</a:t>
            </a:r>
          </a:p>
          <a:p xmlns:a="http://schemas.openxmlformats.org/drawingml/2006/main">
            <a:r>
              <a:t>- Eura 2020 | Brainstem organoids from human pluripotent stem cells</a:t>
            </a:r>
          </a:p>
          <a:p xmlns:a="http://schemas.openxmlformats.org/drawingml/2006/main">
            <a:r>
              <a:t>- Valiulahi 2021 | Generation of caudal-type serotonin neurons and hindbrain-fate organoids</a:t>
            </a:r>
          </a:p>
          <a:p xmlns:a="http://schemas.openxmlformats.org/drawingml/2006/main">
            <a:r>
              <a:t>- Pomeshchik 2020 | Human iPSC-derived hippocampal spheroids</a:t>
            </a:r>
          </a:p>
          <a:p xmlns:a="http://schemas.openxmlformats.org/drawingml/2006/main">
            <a:r>
              <a:t>- Atamian 2024 | Generation and long-term culture of human cerebellar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정리에서 얻은 핵심은 세 갈래였다.</a:t>
            </a:r>
          </a:p>
          <a:p xmlns:a="http://schemas.openxmlformats.org/drawingml/2006/main">
            <a:r>
              <a:t>첫째, broad cerebral baseline은 diversity가 크지만 variability도 크다.</a:t>
            </a:r>
          </a:p>
          <a:p xmlns:a="http://schemas.openxmlformats.org/drawingml/2006/main">
            <a:r>
              <a:t>둘째, forebrain or cortical routes는 더 clean한 regional control을 준다.</a:t>
            </a:r>
          </a:p>
          <a:p xmlns:a="http://schemas.openxmlformats.org/drawingml/2006/main">
            <a:r>
              <a:t>셋째, posterior or niche routes는 특정 biological question에 더 직접적이다.</a:t>
            </a:r>
          </a:p>
          <a:p xmlns:a="http://schemas.openxmlformats.org/drawingml/2006/main">
            <a:r>
              <a:t>이 단계의 잠정 결론은 '많은 brain design 문제는 subregion selection 문제다'였다.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collections/organoid/wiki/concepts/brain-organoid-patterning-and-assembloids.md</a:t>
            </a:r>
          </a:p>
          <a:p xmlns:a="http://schemas.openxmlformats.org/drawingml/2006/main">
            <a:r>
              <a:t>- collections/organoid/wiki/syntheses/20260424_organoid-developmental-baseline-and-regionalization-playbook.md</a:t>
            </a:r>
          </a:p>
          <a:p xmlns:a="http://schemas.openxmlformats.org/drawingml/2006/main">
            <a:r>
              <a:t>- Lancaster 2014 | Generation of cerebral organoids from human pluripotent stem cells</a:t>
            </a:r>
          </a:p>
          <a:p xmlns:a="http://schemas.openxmlformats.org/drawingml/2006/main">
            <a:r>
              <a:t>- Sloan 2018 | Generation and assembly of human brain region-specific three-dimensional cultures</a:t>
            </a:r>
          </a:p>
          <a:p xmlns:a="http://schemas.openxmlformats.org/drawingml/2006/main">
            <a:r>
              <a:t>- Zagare 2021 | A robust protocol for the generation of human midbrain organoids</a:t>
            </a:r>
          </a:p>
          <a:p xmlns:a="http://schemas.openxmlformats.org/drawingml/2006/main">
            <a:r>
              <a:t>- Atamian 2024 | Generation and long-term culture of human cerebellar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subregion 비교는 useful한 출발점이었지만, 그것만으로는 모델의 quality를 설명하지 못했다.</a:t>
            </a:r>
          </a:p>
          <a:p xmlns:a="http://schemas.openxmlformats.org/drawingml/2006/main">
            <a:r>
              <a:t>같은 cortical branch 안에서도 어떤 프로토콜은 더 reproducible하고, 어떤 것은 primary tissue와 더 닮고, 어떤 것은 timing mapping이 더 분명했다.</a:t>
            </a:r>
          </a:p>
          <a:p xmlns:a="http://schemas.openxmlformats.org/drawingml/2006/main">
            <a:r>
              <a:t>그래서 질문이 '어떤 region인가'에서 '어떤 benchmark로 믿을 수 있는가'로 이동했다.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질문 노트는 benchmark question이다.</a:t>
            </a:r>
          </a:p>
          <a:p xmlns:a="http://schemas.openxmlformats.org/drawingml/2006/main">
            <a:r>
              <a:t>Velasco와 Yoon은 reproducibility, Bhaduri는 fidelity, Kanton은 timing, He는 cross-protocol atlas alignment를 제공했다.</a:t>
            </a:r>
          </a:p>
          <a:p xmlns:a="http://schemas.openxmlformats.org/drawingml/2006/main">
            <a:r>
              <a:t>즉 새 논문이 추가되면서 더 많은 근거가 생긴 것이 아니라, 어떤 질문을 던져야 하는지 자체가 바뀌었다.</a:t>
            </a:r>
          </a:p>
          <a:p xmlns:a="http://schemas.openxmlformats.org/drawingml/2006/main">
            <a:r>
              <a:t/>
            </a:r>
          </a:p>
          <a:p xmlns:a="http://schemas.openxmlformats.org/drawingml/2006/main">
            <a:r>
              <a:t>[Sources]</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a:p xmlns:a="http://schemas.openxmlformats.org/drawingml/2006/main">
            <a:r>
              <a:t>- Velasco 2019 | Individual brain organoids reproducibly form cell diversity of the human cerebral cortex</a:t>
            </a:r>
          </a:p>
          <a:p xmlns:a="http://schemas.openxmlformats.org/drawingml/2006/main">
            <a:r>
              <a:t>- Yoon 2019 | Reliability of human cortical organoid generation</a:t>
            </a:r>
          </a:p>
          <a:p xmlns:a="http://schemas.openxmlformats.org/drawingml/2006/main">
            <a:r>
              <a:t>- Bhaduri 2020 | Cell stress in cortical organoids impairs molecular subtype specification</a:t>
            </a:r>
          </a:p>
          <a:p xmlns:a="http://schemas.openxmlformats.org/drawingml/2006/main">
            <a:r>
              <a:t>- Kanton 2019 | Organoid single-cell genomic atlas uncovers human-specific features of brain development</a:t>
            </a:r>
          </a:p>
          <a:p xmlns:a="http://schemas.openxmlformats.org/drawingml/2006/main">
            <a:r>
              <a:t>- He 2024 | An integrated transcriptomic cell atlas of human neural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benchmark slide와 framework slide 사이의 다리 역할을 한다.</a:t>
            </a:r>
          </a:p>
          <a:p xmlns:a="http://schemas.openxmlformats.org/drawingml/2006/main">
            <a:r>
              <a:t>Velasco와 Yoon은 잘 반복되는 cortical branch를 보여주지만, Bhaduri는 그 branch가 primary fetal cortex와 얼마나 다른지를 보여준다.</a:t>
            </a:r>
          </a:p>
          <a:p xmlns:a="http://schemas.openxmlformats.org/drawingml/2006/main">
            <a:r>
              <a:t>즉 '잘 반복된다'와 '더 진짜 같다'는 다른 질문이며, 이 구분이 이후 5축 프레임워크의 핵심이 된다.</a:t>
            </a:r>
          </a:p>
          <a:p xmlns:a="http://schemas.openxmlformats.org/drawingml/2006/main">
            <a:r>
              <a:t/>
            </a:r>
          </a:p>
          <a:p xmlns:a="http://schemas.openxmlformats.org/drawingml/2006/main">
            <a:r>
              <a:t>[Sources]</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a:p xmlns:a="http://schemas.openxmlformats.org/drawingml/2006/main">
            <a:r>
              <a:t>- Velasco 2019 | Individual brain organoids reproducibly form cell diversity of the human cerebral cortex</a:t>
            </a:r>
          </a:p>
          <a:p xmlns:a="http://schemas.openxmlformats.org/drawingml/2006/main">
            <a:r>
              <a:t>- Yoon 2019 | Reliability of human cortical organoid generation</a:t>
            </a:r>
          </a:p>
          <a:p xmlns:a="http://schemas.openxmlformats.org/drawingml/2006/main">
            <a:r>
              <a:t>- Bhaduri 2020 | Cell stress in cortical organoids impairs molecular subtype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결국 이 컬렉션에서 brain organoid 비교는 다섯 축으로 정리됐다.</a:t>
            </a:r>
          </a:p>
          <a:p xmlns:a="http://schemas.openxmlformats.org/drawingml/2006/main">
            <a:r>
              <a:t>region identity, reproducibility, fidelity, temporal mapping, atlas alignment는 서로 다른 measurement question이다.</a:t>
            </a:r>
          </a:p>
          <a:p xmlns:a="http://schemas.openxmlformats.org/drawingml/2006/main">
            <a:r>
              <a:t>여기서 가장 중요한 메시지는 reproducibility와 fidelity가 같은 말이 아니라는 점이다.</a:t>
            </a:r>
          </a:p>
          <a:p xmlns:a="http://schemas.openxmlformats.org/drawingml/2006/main">
            <a:r>
              <a:t/>
            </a:r>
          </a:p>
          <a:p xmlns:a="http://schemas.openxmlformats.org/drawingml/2006/main">
            <a:r>
              <a:t>[Sources]</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a:p xmlns:a="http://schemas.openxmlformats.org/drawingml/2006/main">
            <a:r>
              <a:t>- Velasco 2019 | Individual brain organoids reproducibly form cell diversity of the human cerebral cortex</a:t>
            </a:r>
          </a:p>
          <a:p xmlns:a="http://schemas.openxmlformats.org/drawingml/2006/main">
            <a:r>
              <a:t>- Yoon 2019 | Reliability of human cortical organoid generation</a:t>
            </a:r>
          </a:p>
          <a:p xmlns:a="http://schemas.openxmlformats.org/drawingml/2006/main">
            <a:r>
              <a:t>- Bhaduri 2020 | Cell stress in cortical organoids impairs molecular subtype specification</a:t>
            </a:r>
          </a:p>
          <a:p xmlns:a="http://schemas.openxmlformats.org/drawingml/2006/main">
            <a:r>
              <a:t>- Kanton 2019 | Organoid single-cell genomic atlas uncovers human-specific features of brain development</a:t>
            </a:r>
          </a:p>
          <a:p xmlns:a="http://schemas.openxmlformats.org/drawingml/2006/main">
            <a:r>
              <a:t>- He 2024 | An integrated transcriptomic cell atlas of human neural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질문 노트에서는 protocol choice가 readout-first rule로 재정리된다.</a:t>
            </a:r>
          </a:p>
          <a:p xmlns:a="http://schemas.openxmlformats.org/drawingml/2006/main">
            <a:r>
              <a:t>composition reproducibility를 원하면 Velasco or Yoon 계열, fidelity를 원하면 Bhaduri or He, timing을 원하면 Kanton, dish function을 원하면 Fitzgerald, host relevance를 원하면 Kelley, screening을 원하면 Chen or Meng이 우선 anchor가 된다.</a:t>
            </a:r>
          </a:p>
          <a:p xmlns:a="http://schemas.openxmlformats.org/drawingml/2006/main">
            <a:r>
              <a:t>즉 최종 질문은 '어느 region을 만들까'보다 '무슨 readout을 먼저 믿고 싶은가'가 됐다.</a:t>
            </a:r>
          </a:p>
          <a:p xmlns:a="http://schemas.openxmlformats.org/drawingml/2006/main">
            <a:r>
              <a:t/>
            </a:r>
          </a:p>
          <a:p xmlns:a="http://schemas.openxmlformats.org/drawingml/2006/main">
            <a:r>
              <a:t>[Sources]</a:t>
            </a:r>
          </a:p>
          <a:p xmlns:a="http://schemas.openxmlformats.org/drawingml/2006/main">
            <a:r>
              <a:t>- collections/organoid/wiki/queries/20260420_172825_brain-functional-readout-selection.md</a:t>
            </a:r>
          </a:p>
          <a:p xmlns:a="http://schemas.openxmlformats.org/drawingml/2006/main">
            <a:r>
              <a:t>- collections/organoid/wiki/concepts/brain-organoid-patterning-and-assembloids.md</a:t>
            </a:r>
          </a:p>
          <a:p xmlns:a="http://schemas.openxmlformats.org/drawingml/2006/main">
            <a:r>
              <a:t>- collections/organoid/wiki/concepts/brain-organoid-fidelity-reproducibility-and-atlases.md</a:t>
            </a:r>
          </a:p>
          <a:p xmlns:a="http://schemas.openxmlformats.org/drawingml/2006/main">
            <a:r>
              <a:t>- Fitzgerald 2024 | Generation of semi-guided cortical organoids with complex neural oscillations</a:t>
            </a:r>
          </a:p>
          <a:p xmlns:a="http://schemas.openxmlformats.org/drawingml/2006/main">
            <a:r>
              <a:t>- Kelley 2024 | Host circuit engagement of human cortical organoids transplanted in rodents</a:t>
            </a:r>
          </a:p>
          <a:p xmlns:a="http://schemas.openxmlformats.org/drawingml/2006/main">
            <a:r>
              <a:t>- Chen 2023 | Protocol for generating reproducible miniaturized controlled midbrain organoids</a:t>
            </a:r>
          </a:p>
          <a:p xmlns:a="http://schemas.openxmlformats.org/drawingml/2006/main">
            <a:r>
              <a:t>- Meng 2025 | CRISPR screens in human neural organoids and assembloids</a:t>
            </a:r>
          </a:p>
          <a:p xmlns:a="http://schemas.openxmlformats.org/drawingml/2006/main">
            <a:r>
              <a:t>- Kanton 2019 | Organoid single-cell genomic atlas uncovers human-specific features of brain development</a:t>
            </a:r>
          </a:p>
          <a:p xmlns:a="http://schemas.openxmlformats.org/drawingml/2006/main">
            <a:r>
              <a:t>- He 2024 | An integrated transcriptomic cell atlas of human neural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발표의 마지막 부분에서 review paper writing과 직접 연결해 주는 역할을 한다.</a:t>
            </a:r>
          </a:p>
          <a:p xmlns:a="http://schemas.openxmlformats.org/drawingml/2006/main">
            <a:r>
              <a:t>핵심은 논문을 하나씩 나열하는 리뷰가 아니라, 질문이 이동한 순서대로 chapter를 세우는 것이다.</a:t>
            </a:r>
          </a:p>
          <a:p xmlns:a="http://schemas.openxmlformats.org/drawingml/2006/main">
            <a:r>
              <a:t>즉 protocol family에서 시작해 benchmark axes로 확장하고, 마지막에는 readout-first selection rule로 정리하는 구조가 된다.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a:p xmlns:a="http://schemas.openxmlformats.org/drawingml/2006/main">
            <a:r>
              <a:t>- collections/organoid/wiki/syntheses/20260424_organoid-developmental-baseline-and-regionalization-playbook.md</a:t>
            </a:r>
          </a:p>
          <a:p xmlns:a="http://schemas.openxmlformats.org/drawingml/2006/main">
            <a:r>
              <a:t>- collections/organoid/wiki/concepts/brain-organoid-fidelity-reproducibility-and-atlases.md</a:t>
            </a:r>
          </a:p>
          <a:p xmlns:a="http://schemas.openxmlformats.org/drawingml/2006/main">
            <a:r>
              <a:t>- collections/organoid/wiki/concepts/brain-organoid-patterning-and-assembloids.md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마무리에서는 세 가지 takeaway를 다시 강조한다.</a:t>
            </a:r>
          </a:p>
          <a:p xmlns:a="http://schemas.openxmlformats.org/drawingml/2006/main">
            <a:r>
              <a:t>첫째, subregion comparison은 출발점으로 유효했다.</a:t>
            </a:r>
          </a:p>
          <a:p xmlns:a="http://schemas.openxmlformats.org/drawingml/2006/main">
            <a:r>
              <a:t>둘째, benchmark 축이 들어오면서 질문이 바뀌었다.</a:t>
            </a:r>
          </a:p>
          <a:p xmlns:a="http://schemas.openxmlformats.org/drawingml/2006/main">
            <a:r>
              <a:t>셋째, 최종 rule은 readout-first protocol selection이다.</a:t>
            </a:r>
          </a:p>
          <a:p xmlns:a="http://schemas.openxmlformats.org/drawingml/2006/main">
            <a:r>
              <a:t>Q and A에서는 reproducibility와 fidelity를 왜 분리해야 하는지, 어느 축을 먼저 볼지, host validation이 언제 필요한지를 중심으로 받으면 된다.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a:p xmlns:a="http://schemas.openxmlformats.org/drawingml/2006/main">
            <a:r>
              <a:t>- collections/organoid/wiki/concepts/brain-organoid-fidelity-reproducibility-and-atlases.md</a:t>
            </a:r>
          </a:p>
          <a:p xmlns:a="http://schemas.openxmlformats.org/drawingml/2006/main">
            <a:r>
              <a:t>- collections/organoid/wiki/concepts/brain-organoid-patterning-and-assembloids.md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47f1aa44104f2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34045EEF-0E9B-40F1-9156-295B22028368}"/>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5C7DB787-FFA2-4AA0-AB74-4B583BE10B1B}"/>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F2EBD201-56F1-4389-B290-FDF9A544066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BD8CEA7E-CE08-4D5A-84A1-87A543129B89}"/>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316B49F2-843A-4E0C-BBC2-0E3A47804521}"/>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4d73dcf942e94907" /><Relationship Type="http://schemas.openxmlformats.org/officeDocument/2006/relationships/slideLayout" Target="/ppt/slideLayouts/slideLayout2.xml" Id="Rd80a3c90fd414d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006676B3-2C8D-4448-BBE4-F73EC8E9FFBC}"/>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0a3c90fd414d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a85a6589db9f43fb" /><Relationship Type="http://schemas.openxmlformats.org/officeDocument/2006/relationships/image" Target="/ppt/media/image.png" Id="Rd0b08e13d6864c4f" /><Relationship Type="http://schemas.openxmlformats.org/officeDocument/2006/relationships/notesSlide" Target="/ppt/notesSlides/notesSlide1.xml" Id="Rb9f040d5d04747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97c575a426c494f" /><Relationship Type="http://schemas.openxmlformats.org/officeDocument/2006/relationships/image" Target="/ppt/media/image2.png" Id="R062f4a4f85224aa1" /><Relationship Type="http://schemas.openxmlformats.org/officeDocument/2006/relationships/notesSlide" Target="/ppt/notesSlides/notesSlide2.xml" Id="R6f2c09f8dc4e47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783e04ca3754045" /><Relationship Type="http://schemas.openxmlformats.org/officeDocument/2006/relationships/image" Target="/ppt/media/image3.png" Id="R5aaf6af2cd6d4b30" /><Relationship Type="http://schemas.openxmlformats.org/officeDocument/2006/relationships/notesSlide" Target="/ppt/notesSlides/notesSlide3.xml" Id="R93e936c2c97442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6c0e09902b54f77" /><Relationship Type="http://schemas.openxmlformats.org/officeDocument/2006/relationships/image" Target="/ppt/media/image4.png" Id="R2a659865880f4f50" /><Relationship Type="http://schemas.openxmlformats.org/officeDocument/2006/relationships/notesSlide" Target="/ppt/notesSlides/notesSlide4.xml" Id="R58f7a8e17ded4b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6ce4286403f4a81" /><Relationship Type="http://schemas.openxmlformats.org/officeDocument/2006/relationships/image" Target="/ppt/media/image5.png" Id="Re42b89e959284c84" /><Relationship Type="http://schemas.openxmlformats.org/officeDocument/2006/relationships/notesSlide" Target="/ppt/notesSlides/notesSlide5.xml" Id="R4bc3c729525644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3f34d03e0224c05" /><Relationship Type="http://schemas.openxmlformats.org/officeDocument/2006/relationships/image" Target="/ppt/media/image6.png" Id="R83a7eb41e0414a28" /><Relationship Type="http://schemas.openxmlformats.org/officeDocument/2006/relationships/notesSlide" Target="/ppt/notesSlides/notesSlide6.xml" Id="Rd31718dcc93044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fa16b3d09724778" /><Relationship Type="http://schemas.openxmlformats.org/officeDocument/2006/relationships/image" Target="/ppt/media/image7.png" Id="R37581bb9ff7340cf" /><Relationship Type="http://schemas.openxmlformats.org/officeDocument/2006/relationships/notesSlide" Target="/ppt/notesSlides/notesSlide7.xml" Id="Rc0f9540f2ff446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6f2eda47af34c44" /><Relationship Type="http://schemas.openxmlformats.org/officeDocument/2006/relationships/image" Target="/ppt/media/image8.png" Id="R41c42878740b485d" /><Relationship Type="http://schemas.openxmlformats.org/officeDocument/2006/relationships/notesSlide" Target="/ppt/notesSlides/notesSlide8.xml" Id="Rf760c7eff7b246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230059f1a384bcb" /><Relationship Type="http://schemas.openxmlformats.org/officeDocument/2006/relationships/image" Target="/ppt/media/image9.png" Id="R4a0fe7168d604ba0" /><Relationship Type="http://schemas.openxmlformats.org/officeDocument/2006/relationships/notesSlide" Target="/ppt/notesSlides/notesSlide9.xml" Id="Re54a4de3343c4b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c2d9b6c43f347cf" /><Relationship Type="http://schemas.openxmlformats.org/officeDocument/2006/relationships/image" Target="/ppt/media/image10.png" Id="Rcd83ae1958854270" /><Relationship Type="http://schemas.openxmlformats.org/officeDocument/2006/relationships/notesSlide" Target="/ppt/notesSlides/notesSlide10.xml" Id="R90013950257344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c539f6a33d94b02" /><Relationship Type="http://schemas.openxmlformats.org/officeDocument/2006/relationships/image" Target="/ppt/media/image11.png" Id="R7b2e90d100df4277" /><Relationship Type="http://schemas.openxmlformats.org/officeDocument/2006/relationships/notesSlide" Target="/ppt/notesSlides/notesSlide11.xml" Id="R76c78137258b41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23edae45b4142fc" /><Relationship Type="http://schemas.openxmlformats.org/officeDocument/2006/relationships/image" Target="/ppt/media/image12.png" Id="R384ee0d779004d36" /><Relationship Type="http://schemas.openxmlformats.org/officeDocument/2006/relationships/notesSlide" Target="/ppt/notesSlides/notesSlide12.xml" Id="Rb9c370e727c349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b2a7186eb3d4dc1" /><Relationship Type="http://schemas.openxmlformats.org/officeDocument/2006/relationships/image" Target="/ppt/media/image13.png" Id="Rf44be0902a5f4499" /><Relationship Type="http://schemas.openxmlformats.org/officeDocument/2006/relationships/notesSlide" Target="/ppt/notesSlides/notesSlide13.xml" Id="R56393de02e5a4ffe"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0b08e13d6864c4f"/>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56FAE8-B3CF-44B9-9795-D32F4BF6A1A3}"/>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750F254-C91C-4C81-9ADC-51FA2074BEF4}"/>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914214C-3FB8-40EF-8FE3-EEAE67828A36}"/>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B71DE6D7-4367-4F4E-84A9-C187320141EE}"/>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B4722D10-310C-442D-9842-E5C4793E9B93}"/>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74C5DFE0-A242-4E9D-9785-95CCB6B020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F7E8EF2-C956-41E5-BD1B-1C155FD95BCA}"/>
              </a:ext>
            </a:extLst>
          </p:cNvPr>
          <p:cNvSpPr>
            <a:spLocks xmlns:a="http://schemas.openxmlformats.org/drawingml/2006/main" noGrp="1"/>
          </p:cNvSpPr>
          <p:nvPr/>
        </p:nvSpPr>
        <p:spPr>
          <a:xfrm xmlns:a="http://schemas.openxmlformats.org/drawingml/2006/main">
            <a:off x="609600" y="819150"/>
            <a:ext cx="76200" cy="43624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484B1F6-4F97-48A2-81AB-A091C0404C86}"/>
              </a:ext>
            </a:extLst>
          </p:cNvPr>
          <p:cNvSpPr>
            <a:spLocks xmlns:a="http://schemas.openxmlformats.org/drawingml/2006/main" noGrp="1"/>
          </p:cNvSpPr>
          <p:nvPr/>
        </p:nvSpPr>
        <p:spPr>
          <a:xfrm xmlns:a="http://schemas.openxmlformats.org/drawingml/2006/main">
            <a:off x="819150" y="8382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BRAIN ORGANOID QUESTION CHAIN</a:t>
            </a:r>
          </a:p>
        </p:txBody>
      </p:sp>
      <p:sp>
        <p:nvSpPr>
          <p:cNvPr id="11" name="">
            <a:extLst xmlns:a="http://schemas.openxmlformats.org/drawingml/2006/main">
              <a:ext uri="{FF2B5EF4-FFF2-40B4-BE49-F238E27FC236}">
                <a16:creationId xmlns:a16="http://schemas.microsoft.com/office/drawing/2014/main" id="{7352E215-1981-4884-B48E-F802D5172DA4}"/>
              </a:ext>
            </a:extLst>
          </p:cNvPr>
          <p:cNvSpPr>
            <a:spLocks xmlns:a="http://schemas.openxmlformats.org/drawingml/2006/main" noGrp="1"/>
          </p:cNvSpPr>
          <p:nvPr/>
        </p:nvSpPr>
        <p:spPr>
          <a:xfrm xmlns:a="http://schemas.openxmlformats.org/drawingml/2006/main">
            <a:off x="781050" y="1238250"/>
            <a:ext cx="657225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75" b="1">
                <a:solidFill>
                  <a:srgbClr val="132024"/>
                </a:solidFill>
              </a:defRPr>
            </a:pPr>
            <a:r>
              <a:rPr sz="3375" b="1">
                <a:solidFill>
                  <a:srgbClr val="132024"/>
                </a:solidFill>
              </a:rPr>
              <a:t>Brain organoid protocol 비교:</a:t>
            </a:r>
          </a:p>
          <a:p xmlns:a="http://schemas.openxmlformats.org/drawingml/2006/main">
            <a:pPr algn="l">
              <a:defRPr sz="3375" b="1">
                <a:solidFill>
                  <a:srgbClr val="132024"/>
                </a:solidFill>
              </a:defRPr>
            </a:pPr>
            <a:r>
              <a:rPr sz="3375" b="1">
                <a:solidFill>
                  <a:srgbClr val="132024"/>
                </a:solidFill>
              </a:rPr>
              <a:t>subregion에서 readout까지</a:t>
            </a:r>
          </a:p>
        </p:txBody>
      </p:sp>
      <p:sp>
        <p:nvSpPr>
          <p:cNvPr id="12" name="">
            <a:extLst xmlns:a="http://schemas.openxmlformats.org/drawingml/2006/main">
              <a:ext uri="{FF2B5EF4-FFF2-40B4-BE49-F238E27FC236}">
                <a16:creationId xmlns:a16="http://schemas.microsoft.com/office/drawing/2014/main" id="{B0885214-41E6-40DB-B1B0-303D693B6D38}"/>
              </a:ext>
            </a:extLst>
          </p:cNvPr>
          <p:cNvSpPr>
            <a:spLocks xmlns:a="http://schemas.openxmlformats.org/drawingml/2006/main" noGrp="1"/>
          </p:cNvSpPr>
          <p:nvPr/>
        </p:nvSpPr>
        <p:spPr>
          <a:xfrm xmlns:a="http://schemas.openxmlformats.org/drawingml/2006/main">
            <a:off x="819150" y="2933700"/>
            <a:ext cx="5905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44146"/>
                </a:solidFill>
              </a:defRPr>
            </a:pPr>
            <a:r>
              <a:rPr sz="1500" b="0">
                <a:solidFill>
                  <a:srgbClr val="344146"/>
                </a:solidFill>
              </a:rPr>
              <a:t>collection 기반 LLM-wiki 운영을 바탕으로,</a:t>
            </a:r>
          </a:p>
          <a:p xmlns:a="http://schemas.openxmlformats.org/drawingml/2006/main">
            <a:pPr algn="l">
              <a:defRPr sz="1500" b="0">
                <a:solidFill>
                  <a:srgbClr val="344146"/>
                </a:solidFill>
              </a:defRPr>
            </a:pPr>
            <a:r>
              <a:rPr sz="1500" b="0">
                <a:solidFill>
                  <a:srgbClr val="344146"/>
                </a:solidFill>
              </a:rPr>
              <a:t>brain organoid protocol 비교 기준의 확장 과정을 제시한다.</a:t>
            </a:r>
          </a:p>
        </p:txBody>
      </p:sp>
      <p:sp>
        <p:nvSpPr>
          <p:cNvPr id="13" name="">
            <a:extLst xmlns:a="http://schemas.openxmlformats.org/drawingml/2006/main">
              <a:ext uri="{FF2B5EF4-FFF2-40B4-BE49-F238E27FC236}">
                <a16:creationId xmlns:a16="http://schemas.microsoft.com/office/drawing/2014/main" id="{6E6BC554-D3DC-49C9-88C8-F038E5CB52A8}"/>
              </a:ext>
            </a:extLst>
          </p:cNvPr>
          <p:cNvSpPr>
            <a:spLocks xmlns:a="http://schemas.openxmlformats.org/drawingml/2006/main" noGrp="1"/>
          </p:cNvSpPr>
          <p:nvPr/>
        </p:nvSpPr>
        <p:spPr>
          <a:xfrm xmlns:a="http://schemas.openxmlformats.org/drawingml/2006/main">
            <a:off x="819150" y="4210050"/>
            <a:ext cx="4114800" cy="876300"/>
          </a:xfrm>
          <a:prstGeom xmlns:a="http://schemas.openxmlformats.org/drawingml/2006/main" prst="roundRect">
            <a:avLst>
              <a:gd name="adj" fmla="val 8696"/>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4" name="">
            <a:extLst xmlns:a="http://schemas.openxmlformats.org/drawingml/2006/main">
              <a:ext uri="{FF2B5EF4-FFF2-40B4-BE49-F238E27FC236}">
                <a16:creationId xmlns:a16="http://schemas.microsoft.com/office/drawing/2014/main" id="{90B48BE7-B62E-4F24-B688-42FCFE781FD7}"/>
              </a:ext>
            </a:extLst>
          </p:cNvPr>
          <p:cNvSpPr>
            <a:spLocks xmlns:a="http://schemas.openxmlformats.org/drawingml/2006/main" noGrp="1"/>
          </p:cNvSpPr>
          <p:nvPr/>
        </p:nvSpPr>
        <p:spPr>
          <a:xfrm xmlns:a="http://schemas.openxmlformats.org/drawingml/2006/main">
            <a:off x="1066800" y="4457700"/>
            <a:ext cx="3695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32024"/>
                </a:solidFill>
              </a:defRPr>
            </a:pPr>
            <a:r>
              <a:rPr sz="1650" b="1">
                <a:solidFill>
                  <a:srgbClr val="132024"/>
                </a:solidFill>
              </a:rPr>
              <a:t>질문의 변화는 비교 기준의 변화를 요구한다</a:t>
            </a:r>
          </a:p>
        </p:txBody>
      </p:sp>
      <p:sp>
        <p:nvSpPr>
          <p:cNvPr id="15" name="">
            <a:extLst xmlns:a="http://schemas.openxmlformats.org/drawingml/2006/main">
              <a:ext uri="{FF2B5EF4-FFF2-40B4-BE49-F238E27FC236}">
                <a16:creationId xmlns:a16="http://schemas.microsoft.com/office/drawing/2014/main" id="{D1D6A755-DC72-413F-91B6-4732872374A9}"/>
              </a:ext>
            </a:extLst>
          </p:cNvPr>
          <p:cNvSpPr>
            <a:spLocks xmlns:a="http://schemas.openxmlformats.org/drawingml/2006/main" noGrp="1"/>
          </p:cNvSpPr>
          <p:nvPr/>
        </p:nvSpPr>
        <p:spPr>
          <a:xfrm xmlns:a="http://schemas.openxmlformats.org/drawingml/2006/main">
            <a:off x="8020050" y="1200150"/>
            <a:ext cx="2038350" cy="1104900"/>
          </a:xfrm>
          <a:prstGeom xmlns:a="http://schemas.openxmlformats.org/drawingml/2006/main" prst="roundRect">
            <a:avLst>
              <a:gd name="adj" fmla="val 6897"/>
            </a:avLst>
          </a:prstGeom>
          <a:solidFill xmlns:a="http://schemas.openxmlformats.org/drawingml/2006/main">
            <a:srgbClr val="FFFDF8"/>
          </a:solidFill>
          <a:ln xmlns:a="http://schemas.openxmlformats.org/drawingml/2006/main" w="10478">
            <a:solidFill>
              <a:srgbClr val="132024"/>
            </a:solidFill>
            <a:prstDash val="solid"/>
          </a:ln>
        </p:spPr>
      </p:sp>
      <p:sp>
        <p:nvSpPr>
          <p:cNvPr id="16" name="">
            <a:extLst xmlns:a="http://schemas.openxmlformats.org/drawingml/2006/main">
              <a:ext uri="{FF2B5EF4-FFF2-40B4-BE49-F238E27FC236}">
                <a16:creationId xmlns:a16="http://schemas.microsoft.com/office/drawing/2014/main" id="{9459B3D6-3117-4A3B-9B95-323D86AA1CAC}"/>
              </a:ext>
            </a:extLst>
          </p:cNvPr>
          <p:cNvSpPr>
            <a:spLocks xmlns:a="http://schemas.openxmlformats.org/drawingml/2006/main" noGrp="1"/>
          </p:cNvSpPr>
          <p:nvPr/>
        </p:nvSpPr>
        <p:spPr>
          <a:xfrm xmlns:a="http://schemas.openxmlformats.org/drawingml/2006/main">
            <a:off x="8067675" y="1247775"/>
            <a:ext cx="47625" cy="10096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B0C58E2-E62C-4B36-BFF2-687794D9EF59}"/>
              </a:ext>
            </a:extLst>
          </p:cNvPr>
          <p:cNvSpPr>
            <a:spLocks xmlns:a="http://schemas.openxmlformats.org/drawingml/2006/main" noGrp="1"/>
          </p:cNvSpPr>
          <p:nvPr/>
        </p:nvSpPr>
        <p:spPr>
          <a:xfrm xmlns:a="http://schemas.openxmlformats.org/drawingml/2006/main">
            <a:off x="8191500" y="1352550"/>
            <a:ext cx="723900" cy="2286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a:t>
            </a:r>
          </a:p>
        </p:txBody>
      </p:sp>
      <p:sp>
        <p:nvSpPr>
          <p:cNvPr id="18" name="">
            <a:extLst xmlns:a="http://schemas.openxmlformats.org/drawingml/2006/main">
              <a:ext uri="{FF2B5EF4-FFF2-40B4-BE49-F238E27FC236}">
                <a16:creationId xmlns:a16="http://schemas.microsoft.com/office/drawing/2014/main" id="{DFEC0294-7B58-4C17-922F-13AD6BDBD9DC}"/>
              </a:ext>
            </a:extLst>
          </p:cNvPr>
          <p:cNvSpPr>
            <a:spLocks xmlns:a="http://schemas.openxmlformats.org/drawingml/2006/main" noGrp="1"/>
          </p:cNvSpPr>
          <p:nvPr/>
        </p:nvSpPr>
        <p:spPr>
          <a:xfrm xmlns:a="http://schemas.openxmlformats.org/drawingml/2006/main">
            <a:off x="8191500" y="16383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subregion</a:t>
            </a:r>
          </a:p>
        </p:txBody>
      </p:sp>
      <p:sp>
        <p:nvSpPr>
          <p:cNvPr id="19" name="">
            <a:extLst xmlns:a="http://schemas.openxmlformats.org/drawingml/2006/main">
              <a:ext uri="{FF2B5EF4-FFF2-40B4-BE49-F238E27FC236}">
                <a16:creationId xmlns:a16="http://schemas.microsoft.com/office/drawing/2014/main" id="{241C0B32-E579-4255-AEA6-8F13080A89C5}"/>
              </a:ext>
            </a:extLst>
          </p:cNvPr>
          <p:cNvSpPr>
            <a:spLocks xmlns:a="http://schemas.openxmlformats.org/drawingml/2006/main" noGrp="1"/>
          </p:cNvSpPr>
          <p:nvPr/>
        </p:nvSpPr>
        <p:spPr>
          <a:xfrm xmlns:a="http://schemas.openxmlformats.org/drawingml/2006/main">
            <a:off x="8191500" y="1885950"/>
            <a:ext cx="1714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whole cerebral,</a:t>
            </a:r>
          </a:p>
          <a:p xmlns:a="http://schemas.openxmlformats.org/drawingml/2006/main">
            <a:pPr algn="l">
              <a:defRPr sz="825" b="0">
                <a:solidFill>
                  <a:srgbClr val="344146"/>
                </a:solidFill>
              </a:defRPr>
            </a:pPr>
            <a:r>
              <a:rPr sz="825" b="0">
                <a:solidFill>
                  <a:srgbClr val="344146"/>
                </a:solidFill>
              </a:rPr>
              <a:t>forebrain, midbrain</a:t>
            </a:r>
          </a:p>
        </p:txBody>
      </p:sp>
      <p:sp>
        <p:nvSpPr>
          <p:cNvPr id="20" name="">
            <a:extLst xmlns:a="http://schemas.openxmlformats.org/drawingml/2006/main">
              <a:ext uri="{FF2B5EF4-FFF2-40B4-BE49-F238E27FC236}">
                <a16:creationId xmlns:a16="http://schemas.microsoft.com/office/drawing/2014/main" id="{E6F9DABF-8D16-4137-A4E9-938E799684CC}"/>
              </a:ext>
            </a:extLst>
          </p:cNvPr>
          <p:cNvSpPr>
            <a:spLocks xmlns:a="http://schemas.openxmlformats.org/drawingml/2006/main" noGrp="1"/>
          </p:cNvSpPr>
          <p:nvPr/>
        </p:nvSpPr>
        <p:spPr>
          <a:xfrm xmlns:a="http://schemas.openxmlformats.org/drawingml/2006/main">
            <a:off x="9296400" y="2667000"/>
            <a:ext cx="1981200" cy="1104900"/>
          </a:xfrm>
          <a:prstGeom xmlns:a="http://schemas.openxmlformats.org/drawingml/2006/main" prst="roundRect">
            <a:avLst>
              <a:gd name="adj" fmla="val 6897"/>
            </a:avLst>
          </a:prstGeom>
          <a:solidFill xmlns:a="http://schemas.openxmlformats.org/drawingml/2006/main">
            <a:srgbClr val="FFFDF8"/>
          </a:solidFill>
          <a:ln xmlns:a="http://schemas.openxmlformats.org/drawingml/2006/main" w="10478">
            <a:solidFill>
              <a:srgbClr val="132024"/>
            </a:solidFill>
            <a:prstDash val="solid"/>
          </a:ln>
        </p:spPr>
      </p:sp>
      <p:sp>
        <p:nvSpPr>
          <p:cNvPr id="21" name="">
            <a:extLst xmlns:a="http://schemas.openxmlformats.org/drawingml/2006/main">
              <a:ext uri="{FF2B5EF4-FFF2-40B4-BE49-F238E27FC236}">
                <a16:creationId xmlns:a16="http://schemas.microsoft.com/office/drawing/2014/main" id="{D471E07E-CC92-40A1-B485-C23FBBCBEA20}"/>
              </a:ext>
            </a:extLst>
          </p:cNvPr>
          <p:cNvSpPr>
            <a:spLocks xmlns:a="http://schemas.openxmlformats.org/drawingml/2006/main" noGrp="1"/>
          </p:cNvSpPr>
          <p:nvPr/>
        </p:nvSpPr>
        <p:spPr>
          <a:xfrm xmlns:a="http://schemas.openxmlformats.org/drawingml/2006/main">
            <a:off x="9344025" y="2714625"/>
            <a:ext cx="47625" cy="10096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6FB9AF7-F8D4-4387-842C-92E2DDA598A0}"/>
              </a:ext>
            </a:extLst>
          </p:cNvPr>
          <p:cNvSpPr>
            <a:spLocks xmlns:a="http://schemas.openxmlformats.org/drawingml/2006/main" noGrp="1"/>
          </p:cNvSpPr>
          <p:nvPr/>
        </p:nvSpPr>
        <p:spPr>
          <a:xfrm xmlns:a="http://schemas.openxmlformats.org/drawingml/2006/main">
            <a:off x="9467850" y="2819400"/>
            <a:ext cx="723900" cy="2286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a:t>
            </a:r>
          </a:p>
        </p:txBody>
      </p:sp>
      <p:sp>
        <p:nvSpPr>
          <p:cNvPr id="23" name="">
            <a:extLst xmlns:a="http://schemas.openxmlformats.org/drawingml/2006/main">
              <a:ext uri="{FF2B5EF4-FFF2-40B4-BE49-F238E27FC236}">
                <a16:creationId xmlns:a16="http://schemas.microsoft.com/office/drawing/2014/main" id="{A466E300-5B9D-4FD3-B774-4DA47E8A8789}"/>
              </a:ext>
            </a:extLst>
          </p:cNvPr>
          <p:cNvSpPr>
            <a:spLocks xmlns:a="http://schemas.openxmlformats.org/drawingml/2006/main" noGrp="1"/>
          </p:cNvSpPr>
          <p:nvPr/>
        </p:nvSpPr>
        <p:spPr>
          <a:xfrm xmlns:a="http://schemas.openxmlformats.org/drawingml/2006/main">
            <a:off x="9467850" y="3105150"/>
            <a:ext cx="165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benchmark</a:t>
            </a:r>
          </a:p>
        </p:txBody>
      </p:sp>
      <p:sp>
        <p:nvSpPr>
          <p:cNvPr id="24" name="">
            <a:extLst xmlns:a="http://schemas.openxmlformats.org/drawingml/2006/main">
              <a:ext uri="{FF2B5EF4-FFF2-40B4-BE49-F238E27FC236}">
                <a16:creationId xmlns:a16="http://schemas.microsoft.com/office/drawing/2014/main" id="{D6AF835F-ABD2-48C5-9906-1A48D4D70966}"/>
              </a:ext>
            </a:extLst>
          </p:cNvPr>
          <p:cNvSpPr>
            <a:spLocks xmlns:a="http://schemas.openxmlformats.org/drawingml/2006/main" noGrp="1"/>
          </p:cNvSpPr>
          <p:nvPr/>
        </p:nvSpPr>
        <p:spPr>
          <a:xfrm xmlns:a="http://schemas.openxmlformats.org/drawingml/2006/main">
            <a:off x="9467850" y="3352800"/>
            <a:ext cx="1657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reproducibility,</a:t>
            </a:r>
          </a:p>
          <a:p xmlns:a="http://schemas.openxmlformats.org/drawingml/2006/main">
            <a:pPr algn="l">
              <a:defRPr sz="825" b="0">
                <a:solidFill>
                  <a:srgbClr val="344146"/>
                </a:solidFill>
              </a:defRPr>
            </a:pPr>
            <a:r>
              <a:rPr sz="825" b="0">
                <a:solidFill>
                  <a:srgbClr val="344146"/>
                </a:solidFill>
              </a:rPr>
              <a:t>fidelity, timing</a:t>
            </a:r>
          </a:p>
        </p:txBody>
      </p:sp>
      <p:sp>
        <p:nvSpPr>
          <p:cNvPr id="25" name="">
            <a:extLst xmlns:a="http://schemas.openxmlformats.org/drawingml/2006/main">
              <a:ext uri="{FF2B5EF4-FFF2-40B4-BE49-F238E27FC236}">
                <a16:creationId xmlns:a16="http://schemas.microsoft.com/office/drawing/2014/main" id="{61C4FF31-4441-49B3-81C8-F1E27E678143}"/>
              </a:ext>
            </a:extLst>
          </p:cNvPr>
          <p:cNvSpPr>
            <a:spLocks xmlns:a="http://schemas.openxmlformats.org/drawingml/2006/main" noGrp="1"/>
          </p:cNvSpPr>
          <p:nvPr/>
        </p:nvSpPr>
        <p:spPr>
          <a:xfrm xmlns:a="http://schemas.openxmlformats.org/drawingml/2006/main">
            <a:off x="8001000" y="4191000"/>
            <a:ext cx="2114550" cy="1104900"/>
          </a:xfrm>
          <a:prstGeom xmlns:a="http://schemas.openxmlformats.org/drawingml/2006/main" prst="roundRect">
            <a:avLst>
              <a:gd name="adj" fmla="val 6897"/>
            </a:avLst>
          </a:prstGeom>
          <a:solidFill xmlns:a="http://schemas.openxmlformats.org/drawingml/2006/main">
            <a:srgbClr val="FFFDF8"/>
          </a:solidFill>
          <a:ln xmlns:a="http://schemas.openxmlformats.org/drawingml/2006/main" w="10478">
            <a:solidFill>
              <a:srgbClr val="132024"/>
            </a:solidFill>
            <a:prstDash val="solid"/>
          </a:ln>
        </p:spPr>
      </p:sp>
      <p:sp>
        <p:nvSpPr>
          <p:cNvPr id="26" name="">
            <a:extLst xmlns:a="http://schemas.openxmlformats.org/drawingml/2006/main">
              <a:ext uri="{FF2B5EF4-FFF2-40B4-BE49-F238E27FC236}">
                <a16:creationId xmlns:a16="http://schemas.microsoft.com/office/drawing/2014/main" id="{7CD70868-2D59-425C-BC16-6DE39B255C3D}"/>
              </a:ext>
            </a:extLst>
          </p:cNvPr>
          <p:cNvSpPr>
            <a:spLocks xmlns:a="http://schemas.openxmlformats.org/drawingml/2006/main" noGrp="1"/>
          </p:cNvSpPr>
          <p:nvPr/>
        </p:nvSpPr>
        <p:spPr>
          <a:xfrm xmlns:a="http://schemas.openxmlformats.org/drawingml/2006/main">
            <a:off x="8048625" y="4238625"/>
            <a:ext cx="47625" cy="10096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3F9B6D3-B0D5-4E3F-9334-7E9D306C533A}"/>
              </a:ext>
            </a:extLst>
          </p:cNvPr>
          <p:cNvSpPr>
            <a:spLocks xmlns:a="http://schemas.openxmlformats.org/drawingml/2006/main" noGrp="1"/>
          </p:cNvSpPr>
          <p:nvPr/>
        </p:nvSpPr>
        <p:spPr>
          <a:xfrm xmlns:a="http://schemas.openxmlformats.org/drawingml/2006/main">
            <a:off x="8172450" y="4343400"/>
            <a:ext cx="723900" cy="2286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a:t>
            </a:r>
          </a:p>
        </p:txBody>
      </p:sp>
      <p:sp>
        <p:nvSpPr>
          <p:cNvPr id="28" name="">
            <a:extLst xmlns:a="http://schemas.openxmlformats.org/drawingml/2006/main">
              <a:ext uri="{FF2B5EF4-FFF2-40B4-BE49-F238E27FC236}">
                <a16:creationId xmlns:a16="http://schemas.microsoft.com/office/drawing/2014/main" id="{C4EF457D-B929-478D-8FFC-63BA2D733642}"/>
              </a:ext>
            </a:extLst>
          </p:cNvPr>
          <p:cNvSpPr>
            <a:spLocks xmlns:a="http://schemas.openxmlformats.org/drawingml/2006/main" noGrp="1"/>
          </p:cNvSpPr>
          <p:nvPr/>
        </p:nvSpPr>
        <p:spPr>
          <a:xfrm xmlns:a="http://schemas.openxmlformats.org/drawingml/2006/main">
            <a:off x="8172450" y="462915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readout</a:t>
            </a:r>
          </a:p>
        </p:txBody>
      </p:sp>
      <p:sp>
        <p:nvSpPr>
          <p:cNvPr id="29" name="">
            <a:extLst xmlns:a="http://schemas.openxmlformats.org/drawingml/2006/main">
              <a:ext uri="{FF2B5EF4-FFF2-40B4-BE49-F238E27FC236}">
                <a16:creationId xmlns:a16="http://schemas.microsoft.com/office/drawing/2014/main" id="{43897698-2ECB-40FF-BA0B-65D414457630}"/>
              </a:ext>
            </a:extLst>
          </p:cNvPr>
          <p:cNvSpPr>
            <a:spLocks xmlns:a="http://schemas.openxmlformats.org/drawingml/2006/main" noGrp="1"/>
          </p:cNvSpPr>
          <p:nvPr/>
        </p:nvSpPr>
        <p:spPr>
          <a:xfrm xmlns:a="http://schemas.openxmlformats.org/drawingml/2006/main">
            <a:off x="8172450" y="4876800"/>
            <a:ext cx="17907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MEA, atlas, host,</a:t>
            </a:r>
          </a:p>
          <a:p xmlns:a="http://schemas.openxmlformats.org/drawingml/2006/main">
            <a:pPr algn="l">
              <a:defRPr sz="825" b="0">
                <a:solidFill>
                  <a:srgbClr val="344146"/>
                </a:solidFill>
              </a:defRPr>
            </a:pPr>
            <a:r>
              <a:rPr sz="825" b="0">
                <a:solidFill>
                  <a:srgbClr val="344146"/>
                </a:solidFill>
              </a:rPr>
              <a:t>screening</a:t>
            </a:r>
          </a:p>
        </p:txBody>
      </p:sp>
      <p:sp>
        <p:nvSpPr>
          <p:cNvPr id="30" name="">
            <a:extLst xmlns:a="http://schemas.openxmlformats.org/drawingml/2006/main">
              <a:ext uri="{FF2B5EF4-FFF2-40B4-BE49-F238E27FC236}">
                <a16:creationId xmlns:a16="http://schemas.microsoft.com/office/drawing/2014/main" id="{B25BFFAD-7AA2-4144-BC63-DFBB1E866E5B}"/>
              </a:ext>
            </a:extLst>
          </p:cNvPr>
          <p:cNvSpPr>
            <a:spLocks xmlns:a="http://schemas.openxmlformats.org/drawingml/2006/main" noGrp="1"/>
          </p:cNvSpPr>
          <p:nvPr/>
        </p:nvSpPr>
        <p:spPr>
          <a:xfrm xmlns:a="http://schemas.openxmlformats.org/drawingml/2006/main">
            <a:off x="7391400" y="2609850"/>
            <a:ext cx="2095500" cy="990600"/>
          </a:xfrm>
          <a:prstGeom xmlns:a="http://schemas.openxmlformats.org/drawingml/2006/main" prst="roundRect">
            <a:avLst>
              <a:gd name="adj" fmla="val 7692"/>
            </a:avLst>
          </a:prstGeom>
          <a:solidFill xmlns:a="http://schemas.openxmlformats.org/drawingml/2006/main">
            <a:srgbClr val="DDF4E8"/>
          </a:solidFill>
          <a:ln xmlns:a="http://schemas.openxmlformats.org/drawingml/2006/main" w="10478">
            <a:solidFill>
              <a:srgbClr val="132024"/>
            </a:solidFill>
            <a:prstDash val="solid"/>
          </a:ln>
        </p:spPr>
      </p:sp>
      <p:sp>
        <p:nvSpPr>
          <p:cNvPr id="31" name="">
            <a:extLst xmlns:a="http://schemas.openxmlformats.org/drawingml/2006/main">
              <a:ext uri="{FF2B5EF4-FFF2-40B4-BE49-F238E27FC236}">
                <a16:creationId xmlns:a16="http://schemas.microsoft.com/office/drawing/2014/main" id="{293EC087-C258-4FCC-BF7E-41A12BD5D45D}"/>
              </a:ext>
            </a:extLst>
          </p:cNvPr>
          <p:cNvSpPr>
            <a:spLocks xmlns:a="http://schemas.openxmlformats.org/drawingml/2006/main" noGrp="1"/>
          </p:cNvSpPr>
          <p:nvPr/>
        </p:nvSpPr>
        <p:spPr>
          <a:xfrm xmlns:a="http://schemas.openxmlformats.org/drawingml/2006/main">
            <a:off x="7439025" y="2657475"/>
            <a:ext cx="47625" cy="89535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0E9ECC2-EB6F-484E-9ECD-46DA5562E01A}"/>
              </a:ext>
            </a:extLst>
          </p:cNvPr>
          <p:cNvSpPr>
            <a:spLocks xmlns:a="http://schemas.openxmlformats.org/drawingml/2006/main" noGrp="1"/>
          </p:cNvSpPr>
          <p:nvPr/>
        </p:nvSpPr>
        <p:spPr>
          <a:xfrm xmlns:a="http://schemas.openxmlformats.org/drawingml/2006/main">
            <a:off x="7562850" y="2762250"/>
            <a:ext cx="609600" cy="2286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query</a:t>
            </a:r>
          </a:p>
        </p:txBody>
      </p:sp>
      <p:sp>
        <p:nvSpPr>
          <p:cNvPr id="33" name="">
            <a:extLst xmlns:a="http://schemas.openxmlformats.org/drawingml/2006/main">
              <a:ext uri="{FF2B5EF4-FFF2-40B4-BE49-F238E27FC236}">
                <a16:creationId xmlns:a16="http://schemas.microsoft.com/office/drawing/2014/main" id="{279AB456-368D-47C0-A868-AF5046217353}"/>
              </a:ext>
            </a:extLst>
          </p:cNvPr>
          <p:cNvSpPr>
            <a:spLocks xmlns:a="http://schemas.openxmlformats.org/drawingml/2006/main" noGrp="1"/>
          </p:cNvSpPr>
          <p:nvPr/>
        </p:nvSpPr>
        <p:spPr>
          <a:xfrm xmlns:a="http://schemas.openxmlformats.org/drawingml/2006/main">
            <a:off x="7562850" y="3048000"/>
            <a:ext cx="1771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질문의 이동</a:t>
            </a:r>
          </a:p>
        </p:txBody>
      </p:sp>
      <p:sp>
        <p:nvSpPr>
          <p:cNvPr id="34" name="">
            <a:extLst xmlns:a="http://schemas.openxmlformats.org/drawingml/2006/main">
              <a:ext uri="{FF2B5EF4-FFF2-40B4-BE49-F238E27FC236}">
                <a16:creationId xmlns:a16="http://schemas.microsoft.com/office/drawing/2014/main" id="{9EA499CD-2133-43C2-A5C2-727F304BDEB6}"/>
              </a:ext>
            </a:extLst>
          </p:cNvPr>
          <p:cNvSpPr>
            <a:spLocks xmlns:a="http://schemas.openxmlformats.org/drawingml/2006/main" noGrp="1"/>
          </p:cNvSpPr>
          <p:nvPr/>
        </p:nvSpPr>
        <p:spPr>
          <a:xfrm xmlns:a="http://schemas.openxmlformats.org/drawingml/2006/main">
            <a:off x="7562850" y="3295650"/>
            <a:ext cx="1771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what should I compare first?</a:t>
            </a:r>
          </a:p>
        </p:txBody>
      </p:sp>
      <p:sp>
        <p:nvSpPr>
          <p:cNvPr id="35" name="">
            <a:extLst xmlns:a="http://schemas.openxmlformats.org/drawingml/2006/main">
              <a:ext uri="{FF2B5EF4-FFF2-40B4-BE49-F238E27FC236}">
                <a16:creationId xmlns:a16="http://schemas.microsoft.com/office/drawing/2014/main" id="{F6B289DA-CFBC-4286-ADA5-AB55B67B113C}"/>
              </a:ext>
            </a:extLst>
          </p:cNvPr>
          <p:cNvSpPr>
            <a:spLocks xmlns:a="http://schemas.openxmlformats.org/drawingml/2006/main" noGrp="1"/>
          </p:cNvSpPr>
          <p:nvPr/>
        </p:nvSpPr>
        <p:spPr>
          <a:xfrm xmlns:a="http://schemas.openxmlformats.org/drawingml/2006/main" rot="-3964498">
            <a:off x="7999343" y="2414588"/>
            <a:ext cx="1479690" cy="28575"/>
          </a:xfrm>
          <a:prstGeom xmlns:a="http://schemas.openxmlformats.org/drawingml/2006/main" prst="rect">
            <a:avLst/>
          </a:prstGeom>
          <a:solidFill xmlns:a="http://schemas.openxmlformats.org/drawingml/2006/main">
            <a:srgbClr val="97B7AA"/>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26584A45-7366-4C7F-83C0-46D04DB35D6C}"/>
              </a:ext>
            </a:extLst>
          </p:cNvPr>
          <p:cNvSpPr>
            <a:spLocks xmlns:a="http://schemas.openxmlformats.org/drawingml/2006/main" noGrp="1"/>
          </p:cNvSpPr>
          <p:nvPr/>
        </p:nvSpPr>
        <p:spPr>
          <a:xfrm xmlns:a="http://schemas.openxmlformats.org/drawingml/2006/main" rot="212374">
            <a:off x="8437384" y="3148013"/>
            <a:ext cx="1851382" cy="28575"/>
          </a:xfrm>
          <a:prstGeom xmlns:a="http://schemas.openxmlformats.org/drawingml/2006/main" prst="rect">
            <a:avLst/>
          </a:prstGeom>
          <a:solidFill xmlns:a="http://schemas.openxmlformats.org/drawingml/2006/main">
            <a:srgbClr val="B7B0A1"/>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3E8FB96C-1C65-4C7A-9C81-5774BDDDC5E6}"/>
              </a:ext>
            </a:extLst>
          </p:cNvPr>
          <p:cNvSpPr>
            <a:spLocks xmlns:a="http://schemas.openxmlformats.org/drawingml/2006/main" noGrp="1"/>
          </p:cNvSpPr>
          <p:nvPr/>
        </p:nvSpPr>
        <p:spPr>
          <a:xfrm xmlns:a="http://schemas.openxmlformats.org/drawingml/2006/main" rot="4157884">
            <a:off x="7873021" y="3910013"/>
            <a:ext cx="1751383" cy="28575"/>
          </a:xfrm>
          <a:prstGeom xmlns:a="http://schemas.openxmlformats.org/drawingml/2006/main" prst="rect">
            <a:avLst/>
          </a:prstGeom>
          <a:solidFill xmlns:a="http://schemas.openxmlformats.org/drawingml/2006/main">
            <a:srgbClr val="CDA69F"/>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9A3370F3-703D-4578-AF6D-3C4010F62607}"/>
              </a:ext>
            </a:extLst>
          </p:cNvPr>
          <p:cNvSpPr>
            <a:spLocks xmlns:a="http://schemas.openxmlformats.org/drawingml/2006/main" noGrp="1"/>
          </p:cNvSpPr>
          <p:nvPr/>
        </p:nvSpPr>
        <p:spPr>
          <a:xfrm xmlns:a="http://schemas.openxmlformats.org/drawingml/2006/main">
            <a:off x="819150" y="5448300"/>
            <a:ext cx="990600" cy="2667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LLM-wiki</a:t>
            </a:r>
          </a:p>
        </p:txBody>
      </p:sp>
      <p:sp>
        <p:nvSpPr>
          <p:cNvPr id="39" name="">
            <a:extLst xmlns:a="http://schemas.openxmlformats.org/drawingml/2006/main">
              <a:ext uri="{FF2B5EF4-FFF2-40B4-BE49-F238E27FC236}">
                <a16:creationId xmlns:a16="http://schemas.microsoft.com/office/drawing/2014/main" id="{A57DD1DB-E2B2-449B-99E3-DF7E045AC1F9}"/>
              </a:ext>
            </a:extLst>
          </p:cNvPr>
          <p:cNvSpPr>
            <a:spLocks xmlns:a="http://schemas.openxmlformats.org/drawingml/2006/main" noGrp="1"/>
          </p:cNvSpPr>
          <p:nvPr/>
        </p:nvSpPr>
        <p:spPr>
          <a:xfrm xmlns:a="http://schemas.openxmlformats.org/drawingml/2006/main">
            <a:off x="1924050" y="5448300"/>
            <a:ext cx="1257300" cy="2667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brain branch</a:t>
            </a:r>
          </a:p>
        </p:txBody>
      </p:sp>
      <p:sp>
        <p:nvSpPr>
          <p:cNvPr id="40" name="">
            <a:extLst xmlns:a="http://schemas.openxmlformats.org/drawingml/2006/main">
              <a:ext uri="{FF2B5EF4-FFF2-40B4-BE49-F238E27FC236}">
                <a16:creationId xmlns:a16="http://schemas.microsoft.com/office/drawing/2014/main" id="{382DC030-A32B-4182-B980-1C93264562A2}"/>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구성: LLM-wiki 운영 -&gt; subregion 기준 -&gt; benchmark 축 -&gt; readout-first rule</a:t>
            </a:r>
          </a:p>
        </p:txBody>
      </p:sp>
    </p:spTree>
    <p:extLst>
      <p:ext uri="{BB962C8B-B14F-4D97-AF65-F5344CB8AC3E}">
        <p14:creationId xmlns:p14="http://schemas.microsoft.com/office/powerpoint/2010/main" val="572877768"/>
      </p:ext>
    </p:extLst>
  </p:cSld>
</p:sld>
</file>

<file path=ppt/slides/slide2.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62f4a4f85224aa1"/>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328710-7B2B-45FD-8CEE-5F67872A1A93}"/>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D66D503-98BB-4177-9050-AF2DC4DC7AD4}"/>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8CBD866-0FBB-4C06-BA6A-95042F696BED}"/>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13C453D3-FFF7-44FC-93A7-FEC11122C8EA}"/>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DD1BD497-5184-4276-86AE-39F377BE9BC0}"/>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8B72EFBA-C097-4593-970C-09D59B8503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78431"/>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6D1AC6C-A9F4-48A2-B116-F6839B3A3C9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LLM-WIKI WORKFLOW</a:t>
            </a:r>
          </a:p>
        </p:txBody>
      </p:sp>
      <p:sp>
        <p:nvSpPr>
          <p:cNvPr id="10" name="">
            <a:extLst xmlns:a="http://schemas.openxmlformats.org/drawingml/2006/main">
              <a:ext uri="{FF2B5EF4-FFF2-40B4-BE49-F238E27FC236}">
                <a16:creationId xmlns:a16="http://schemas.microsoft.com/office/drawing/2014/main" id="{CF49761F-B2B4-4776-AC48-4F0489596C38}"/>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02 / 13</a:t>
            </a:r>
          </a:p>
        </p:txBody>
      </p:sp>
      <p:sp>
        <p:nvSpPr>
          <p:cNvPr id="11" name="">
            <a:extLst xmlns:a="http://schemas.openxmlformats.org/drawingml/2006/main">
              <a:ext uri="{FF2B5EF4-FFF2-40B4-BE49-F238E27FC236}">
                <a16:creationId xmlns:a16="http://schemas.microsoft.com/office/drawing/2014/main" id="{32BA6C35-1DFE-4430-BBB2-B73454522B8D}"/>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34D1BAC-5C77-4FA6-BB66-65378FC50EA2}"/>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93ACFD68-E3CA-4EC3-AC8B-CC8C9EB186FF}"/>
              </a:ext>
            </a:extLst>
          </p:cNvPr>
          <p:cNvSpPr>
            <a:spLocks xmlns:a="http://schemas.openxmlformats.org/drawingml/2006/main" noGrp="1"/>
          </p:cNvSpPr>
          <p:nvPr/>
        </p:nvSpPr>
        <p:spPr>
          <a:xfrm xmlns:a="http://schemas.openxmlformats.org/drawingml/2006/main">
            <a:off x="609600" y="838200"/>
            <a:ext cx="6858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LLM-wiki</a:t>
            </a:r>
          </a:p>
          <a:p xmlns:a="http://schemas.openxmlformats.org/drawingml/2006/main">
            <a:pPr algn="l">
              <a:defRPr sz="2850" b="1">
                <a:solidFill>
                  <a:srgbClr val="132024"/>
                </a:solidFill>
              </a:defRPr>
            </a:pPr>
            <a:r>
              <a:rPr sz="2850" b="1">
                <a:solidFill>
                  <a:srgbClr val="132024"/>
                </a:solidFill>
              </a:rPr>
              <a:t>운영 구조</a:t>
            </a:r>
          </a:p>
        </p:txBody>
      </p:sp>
      <p:sp>
        <p:nvSpPr>
          <p:cNvPr id="14" name="">
            <a:extLst xmlns:a="http://schemas.openxmlformats.org/drawingml/2006/main">
              <a:ext uri="{FF2B5EF4-FFF2-40B4-BE49-F238E27FC236}">
                <a16:creationId xmlns:a16="http://schemas.microsoft.com/office/drawing/2014/main" id="{318AAD89-7DC1-4033-A91D-0BFEED2DA8DD}"/>
              </a:ext>
            </a:extLst>
          </p:cNvPr>
          <p:cNvSpPr>
            <a:spLocks xmlns:a="http://schemas.openxmlformats.org/drawingml/2006/main" noGrp="1"/>
          </p:cNvSpPr>
          <p:nvPr/>
        </p:nvSpPr>
        <p:spPr>
          <a:xfrm xmlns:a="http://schemas.openxmlformats.org/drawingml/2006/main">
            <a:off x="609600" y="1657350"/>
            <a:ext cx="10858500" cy="742950"/>
          </a:xfrm>
          <a:prstGeom xmlns:a="http://schemas.openxmlformats.org/drawingml/2006/main" prst="roundRect">
            <a:avLst>
              <a:gd name="adj" fmla="val 10256"/>
            </a:avLst>
          </a:prstGeom>
          <a:solidFill xmlns:a="http://schemas.openxmlformats.org/drawingml/2006/main">
            <a:srgbClr val="F4E8C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631C815F-07B6-4227-BD59-425BA6BFED1B}"/>
              </a:ext>
            </a:extLst>
          </p:cNvPr>
          <p:cNvSpPr>
            <a:spLocks xmlns:a="http://schemas.openxmlformats.org/drawingml/2006/main" noGrp="1"/>
          </p:cNvSpPr>
          <p:nvPr/>
        </p:nvSpPr>
        <p:spPr>
          <a:xfrm xmlns:a="http://schemas.openxmlformats.org/drawingml/2006/main">
            <a:off x="657225" y="1704975"/>
            <a:ext cx="57150" cy="6477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184A8BC-C846-49F9-9B5E-1621BC735495}"/>
              </a:ext>
            </a:extLst>
          </p:cNvPr>
          <p:cNvSpPr>
            <a:spLocks xmlns:a="http://schemas.openxmlformats.org/drawingml/2006/main" noGrp="1"/>
          </p:cNvSpPr>
          <p:nvPr/>
        </p:nvSpPr>
        <p:spPr>
          <a:xfrm xmlns:a="http://schemas.openxmlformats.org/drawingml/2006/main">
            <a:off x="819150" y="1809750"/>
            <a:ext cx="10477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collection 단위의 범위 제한을 통해 비관련 지식의 혼입을 줄이고, 동일 주제 내 source와 해석을 조밀하게 축적하였다.</a:t>
            </a:r>
          </a:p>
        </p:txBody>
      </p:sp>
      <p:sp>
        <p:nvSpPr>
          <p:cNvPr id="17" name="">
            <a:extLst xmlns:a="http://schemas.openxmlformats.org/drawingml/2006/main">
              <a:ext uri="{FF2B5EF4-FFF2-40B4-BE49-F238E27FC236}">
                <a16:creationId xmlns:a16="http://schemas.microsoft.com/office/drawing/2014/main" id="{D1BE06B9-2F3D-4A45-8324-676FD39FEFC8}"/>
              </a:ext>
            </a:extLst>
          </p:cNvPr>
          <p:cNvSpPr>
            <a:spLocks xmlns:a="http://schemas.openxmlformats.org/drawingml/2006/main" noGrp="1"/>
          </p:cNvSpPr>
          <p:nvPr/>
        </p:nvSpPr>
        <p:spPr>
          <a:xfrm xmlns:a="http://schemas.openxmlformats.org/drawingml/2006/main">
            <a:off x="723900" y="2724150"/>
            <a:ext cx="2400300" cy="1828800"/>
          </a:xfrm>
          <a:prstGeom xmlns:a="http://schemas.openxmlformats.org/drawingml/2006/main" prst="roundRect">
            <a:avLst>
              <a:gd name="adj" fmla="val 41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BB3C64E4-17B1-4063-9BE4-A37E3393F941}"/>
              </a:ext>
            </a:extLst>
          </p:cNvPr>
          <p:cNvSpPr>
            <a:spLocks xmlns:a="http://schemas.openxmlformats.org/drawingml/2006/main" noGrp="1"/>
          </p:cNvSpPr>
          <p:nvPr/>
        </p:nvSpPr>
        <p:spPr>
          <a:xfrm xmlns:a="http://schemas.openxmlformats.org/drawingml/2006/main">
            <a:off x="781050" y="2781300"/>
            <a:ext cx="22860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287EEB81-C92E-41F3-BD7B-C22958A55839}"/>
              </a:ext>
            </a:extLst>
          </p:cNvPr>
          <p:cNvSpPr>
            <a:spLocks xmlns:a="http://schemas.openxmlformats.org/drawingml/2006/main" noGrp="1"/>
          </p:cNvSpPr>
          <p:nvPr/>
        </p:nvSpPr>
        <p:spPr>
          <a:xfrm xmlns:a="http://schemas.openxmlformats.org/drawingml/2006/main">
            <a:off x="933450" y="2914650"/>
            <a:ext cx="1981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collection 분리</a:t>
            </a:r>
          </a:p>
        </p:txBody>
      </p:sp>
      <p:sp>
        <p:nvSpPr>
          <p:cNvPr id="20" name="">
            <a:extLst xmlns:a="http://schemas.openxmlformats.org/drawingml/2006/main">
              <a:ext uri="{FF2B5EF4-FFF2-40B4-BE49-F238E27FC236}">
                <a16:creationId xmlns:a16="http://schemas.microsoft.com/office/drawing/2014/main" id="{38CC65A6-E2E8-47FD-8CD1-0C6F9D5EB3AA}"/>
              </a:ext>
            </a:extLst>
          </p:cNvPr>
          <p:cNvSpPr>
            <a:spLocks xmlns:a="http://schemas.openxmlformats.org/drawingml/2006/main" noGrp="1"/>
          </p:cNvSpPr>
          <p:nvPr/>
        </p:nvSpPr>
        <p:spPr>
          <a:xfrm xmlns:a="http://schemas.openxmlformats.org/drawingml/2006/main">
            <a:off x="933450" y="3333750"/>
            <a:ext cx="19812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collection 분리를 통해 주제 간</a:t>
            </a:r>
          </a:p>
          <a:p xmlns:a="http://schemas.openxmlformats.org/drawingml/2006/main">
            <a:pPr algn="l">
              <a:defRPr sz="1200" b="0">
                <a:solidFill>
                  <a:srgbClr val="132024"/>
                </a:solidFill>
              </a:defRPr>
            </a:pPr>
            <a:r>
              <a:rPr sz="1200" b="0">
                <a:solidFill>
                  <a:srgbClr val="132024"/>
                </a:solidFill>
              </a:rPr>
              <a:t>문헌과 해석이 동일 응답 안에 혼입되지</a:t>
            </a:r>
          </a:p>
          <a:p xmlns:a="http://schemas.openxmlformats.org/drawingml/2006/main">
            <a:pPr algn="l">
              <a:defRPr sz="1200" b="0">
                <a:solidFill>
                  <a:srgbClr val="132024"/>
                </a:solidFill>
              </a:defRPr>
            </a:pPr>
            <a:r>
              <a:rPr sz="1200" b="0">
                <a:solidFill>
                  <a:srgbClr val="132024"/>
                </a:solidFill>
              </a:rPr>
              <a:t>않도록 구성하였다.</a:t>
            </a:r>
          </a:p>
        </p:txBody>
      </p:sp>
      <p:sp>
        <p:nvSpPr>
          <p:cNvPr id="21" name="">
            <a:extLst xmlns:a="http://schemas.openxmlformats.org/drawingml/2006/main">
              <a:ext uri="{FF2B5EF4-FFF2-40B4-BE49-F238E27FC236}">
                <a16:creationId xmlns:a16="http://schemas.microsoft.com/office/drawing/2014/main" id="{2D79AF91-E399-40F3-8477-31A9387806C7}"/>
              </a:ext>
            </a:extLst>
          </p:cNvPr>
          <p:cNvSpPr>
            <a:spLocks xmlns:a="http://schemas.openxmlformats.org/drawingml/2006/main" noGrp="1"/>
          </p:cNvSpPr>
          <p:nvPr/>
        </p:nvSpPr>
        <p:spPr>
          <a:xfrm xmlns:a="http://schemas.openxmlformats.org/drawingml/2006/main">
            <a:off x="3352800" y="2724150"/>
            <a:ext cx="2400300" cy="1828800"/>
          </a:xfrm>
          <a:prstGeom xmlns:a="http://schemas.openxmlformats.org/drawingml/2006/main" prst="roundRect">
            <a:avLst>
              <a:gd name="adj" fmla="val 41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2" name="">
            <a:extLst xmlns:a="http://schemas.openxmlformats.org/drawingml/2006/main">
              <a:ext uri="{FF2B5EF4-FFF2-40B4-BE49-F238E27FC236}">
                <a16:creationId xmlns:a16="http://schemas.microsoft.com/office/drawing/2014/main" id="{37286235-1757-41F0-B432-9583CCAFB23E}"/>
              </a:ext>
            </a:extLst>
          </p:cNvPr>
          <p:cNvSpPr>
            <a:spLocks xmlns:a="http://schemas.openxmlformats.org/drawingml/2006/main" noGrp="1"/>
          </p:cNvSpPr>
          <p:nvPr/>
        </p:nvSpPr>
        <p:spPr>
          <a:xfrm xmlns:a="http://schemas.openxmlformats.org/drawingml/2006/main">
            <a:off x="3409950" y="2781300"/>
            <a:ext cx="22860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E04B857C-54F2-4BFB-8AE3-C035C7CF7EBF}"/>
              </a:ext>
            </a:extLst>
          </p:cNvPr>
          <p:cNvSpPr>
            <a:spLocks xmlns:a="http://schemas.openxmlformats.org/drawingml/2006/main" noGrp="1"/>
          </p:cNvSpPr>
          <p:nvPr/>
        </p:nvSpPr>
        <p:spPr>
          <a:xfrm xmlns:a="http://schemas.openxmlformats.org/drawingml/2006/main">
            <a:off x="3562350" y="2914650"/>
            <a:ext cx="1981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raw / wiki 분리</a:t>
            </a:r>
          </a:p>
        </p:txBody>
      </p:sp>
      <p:sp>
        <p:nvSpPr>
          <p:cNvPr id="24" name="">
            <a:extLst xmlns:a="http://schemas.openxmlformats.org/drawingml/2006/main">
              <a:ext uri="{FF2B5EF4-FFF2-40B4-BE49-F238E27FC236}">
                <a16:creationId xmlns:a16="http://schemas.microsoft.com/office/drawing/2014/main" id="{48119EE1-5009-4D3A-9B9E-34D10D06A89E}"/>
              </a:ext>
            </a:extLst>
          </p:cNvPr>
          <p:cNvSpPr>
            <a:spLocks xmlns:a="http://schemas.openxmlformats.org/drawingml/2006/main" noGrp="1"/>
          </p:cNvSpPr>
          <p:nvPr/>
        </p:nvSpPr>
        <p:spPr>
          <a:xfrm xmlns:a="http://schemas.openxmlformats.org/drawingml/2006/main">
            <a:off x="3562350" y="3333750"/>
            <a:ext cx="19812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raw는 원본 보관 계층으로 유지하고,</a:t>
            </a:r>
          </a:p>
          <a:p xmlns:a="http://schemas.openxmlformats.org/drawingml/2006/main">
            <a:pPr algn="l">
              <a:defRPr sz="1200" b="0">
                <a:solidFill>
                  <a:srgbClr val="132024"/>
                </a:solidFill>
              </a:defRPr>
            </a:pPr>
            <a:r>
              <a:rPr sz="1200" b="0">
                <a:solidFill>
                  <a:srgbClr val="132024"/>
                </a:solidFill>
              </a:rPr>
              <a:t>wiki에서 source page,</a:t>
            </a:r>
          </a:p>
          <a:p xmlns:a="http://schemas.openxmlformats.org/drawingml/2006/main">
            <a:pPr algn="l">
              <a:defRPr sz="1200" b="0">
                <a:solidFill>
                  <a:srgbClr val="132024"/>
                </a:solidFill>
              </a:defRPr>
            </a:pPr>
            <a:r>
              <a:rPr sz="1200" b="0">
                <a:solidFill>
                  <a:srgbClr val="132024"/>
                </a:solidFill>
              </a:rPr>
              <a:t>concept page, query를</a:t>
            </a:r>
          </a:p>
          <a:p xmlns:a="http://schemas.openxmlformats.org/drawingml/2006/main">
            <a:pPr algn="l">
              <a:defRPr sz="1200" b="0">
                <a:solidFill>
                  <a:srgbClr val="132024"/>
                </a:solidFill>
              </a:defRPr>
            </a:pPr>
            <a:r>
              <a:rPr sz="1200" b="0">
                <a:solidFill>
                  <a:srgbClr val="132024"/>
                </a:solidFill>
              </a:rPr>
              <a:t>지속적으로 갱신한다.</a:t>
            </a:r>
          </a:p>
        </p:txBody>
      </p:sp>
      <p:sp>
        <p:nvSpPr>
          <p:cNvPr id="25" name="">
            <a:extLst xmlns:a="http://schemas.openxmlformats.org/drawingml/2006/main">
              <a:ext uri="{FF2B5EF4-FFF2-40B4-BE49-F238E27FC236}">
                <a16:creationId xmlns:a16="http://schemas.microsoft.com/office/drawing/2014/main" id="{1D116847-DA90-46D5-9BB2-F114F6FEAF18}"/>
              </a:ext>
            </a:extLst>
          </p:cNvPr>
          <p:cNvSpPr>
            <a:spLocks xmlns:a="http://schemas.openxmlformats.org/drawingml/2006/main" noGrp="1"/>
          </p:cNvSpPr>
          <p:nvPr/>
        </p:nvSpPr>
        <p:spPr>
          <a:xfrm xmlns:a="http://schemas.openxmlformats.org/drawingml/2006/main">
            <a:off x="5981700" y="2724150"/>
            <a:ext cx="2400300" cy="1828800"/>
          </a:xfrm>
          <a:prstGeom xmlns:a="http://schemas.openxmlformats.org/drawingml/2006/main" prst="roundRect">
            <a:avLst>
              <a:gd name="adj" fmla="val 41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6" name="">
            <a:extLst xmlns:a="http://schemas.openxmlformats.org/drawingml/2006/main">
              <a:ext uri="{FF2B5EF4-FFF2-40B4-BE49-F238E27FC236}">
                <a16:creationId xmlns:a16="http://schemas.microsoft.com/office/drawing/2014/main" id="{281B9882-4DA4-4C99-80D4-3638F4DDDA21}"/>
              </a:ext>
            </a:extLst>
          </p:cNvPr>
          <p:cNvSpPr>
            <a:spLocks xmlns:a="http://schemas.openxmlformats.org/drawingml/2006/main" noGrp="1"/>
          </p:cNvSpPr>
          <p:nvPr/>
        </p:nvSpPr>
        <p:spPr>
          <a:xfrm xmlns:a="http://schemas.openxmlformats.org/drawingml/2006/main">
            <a:off x="6038850" y="2781300"/>
            <a:ext cx="22860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616850D-E241-4043-85E0-114D0546FA1A}"/>
              </a:ext>
            </a:extLst>
          </p:cNvPr>
          <p:cNvSpPr>
            <a:spLocks xmlns:a="http://schemas.openxmlformats.org/drawingml/2006/main" noGrp="1"/>
          </p:cNvSpPr>
          <p:nvPr/>
        </p:nvSpPr>
        <p:spPr>
          <a:xfrm xmlns:a="http://schemas.openxmlformats.org/drawingml/2006/main">
            <a:off x="6191250" y="2914650"/>
            <a:ext cx="1981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질문 범위 제한</a:t>
            </a:r>
          </a:p>
        </p:txBody>
      </p:sp>
      <p:sp>
        <p:nvSpPr>
          <p:cNvPr id="28" name="">
            <a:extLst xmlns:a="http://schemas.openxmlformats.org/drawingml/2006/main">
              <a:ext uri="{FF2B5EF4-FFF2-40B4-BE49-F238E27FC236}">
                <a16:creationId xmlns:a16="http://schemas.microsoft.com/office/drawing/2014/main" id="{57A86E19-BF68-4F60-A409-A3B9A768C72A}"/>
              </a:ext>
            </a:extLst>
          </p:cNvPr>
          <p:cNvSpPr>
            <a:spLocks xmlns:a="http://schemas.openxmlformats.org/drawingml/2006/main" noGrp="1"/>
          </p:cNvSpPr>
          <p:nvPr/>
        </p:nvSpPr>
        <p:spPr>
          <a:xfrm xmlns:a="http://schemas.openxmlformats.org/drawingml/2006/main">
            <a:off x="6191250" y="3333750"/>
            <a:ext cx="19812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collection 질의는 해당</a:t>
            </a:r>
          </a:p>
          <a:p xmlns:a="http://schemas.openxmlformats.org/drawingml/2006/main">
            <a:pPr algn="l">
              <a:defRPr sz="1200" b="0">
                <a:solidFill>
                  <a:srgbClr val="132024"/>
                </a:solidFill>
              </a:defRPr>
            </a:pPr>
            <a:r>
              <a:rPr sz="1200" b="0">
                <a:solidFill>
                  <a:srgbClr val="132024"/>
                </a:solidFill>
              </a:rPr>
              <a:t>collection의 wiki와</a:t>
            </a:r>
          </a:p>
          <a:p xmlns:a="http://schemas.openxmlformats.org/drawingml/2006/main">
            <a:pPr algn="l">
              <a:defRPr sz="1200" b="0">
                <a:solidFill>
                  <a:srgbClr val="132024"/>
                </a:solidFill>
              </a:defRPr>
            </a:pPr>
            <a:r>
              <a:rPr sz="1200" b="0">
                <a:solidFill>
                  <a:srgbClr val="132024"/>
                </a:solidFill>
              </a:rPr>
              <a:t>raw만을 근거로 제한하여</a:t>
            </a:r>
          </a:p>
          <a:p xmlns:a="http://schemas.openxmlformats.org/drawingml/2006/main">
            <a:pPr algn="l">
              <a:defRPr sz="1200" b="0">
                <a:solidFill>
                  <a:srgbClr val="132024"/>
                </a:solidFill>
              </a:defRPr>
            </a:pPr>
            <a:r>
              <a:rPr sz="1200" b="0">
                <a:solidFill>
                  <a:srgbClr val="132024"/>
                </a:solidFill>
              </a:rPr>
              <a:t>hallucination과 topic</a:t>
            </a:r>
          </a:p>
          <a:p xmlns:a="http://schemas.openxmlformats.org/drawingml/2006/main">
            <a:pPr algn="l">
              <a:defRPr sz="1200" b="0">
                <a:solidFill>
                  <a:srgbClr val="132024"/>
                </a:solidFill>
              </a:defRPr>
            </a:pPr>
            <a:r>
              <a:rPr sz="1200" b="0">
                <a:solidFill>
                  <a:srgbClr val="132024"/>
                </a:solidFill>
              </a:rPr>
              <a:t>drift를 완화한다.</a:t>
            </a:r>
          </a:p>
        </p:txBody>
      </p:sp>
      <p:sp>
        <p:nvSpPr>
          <p:cNvPr id="29" name="">
            <a:extLst xmlns:a="http://schemas.openxmlformats.org/drawingml/2006/main">
              <a:ext uri="{FF2B5EF4-FFF2-40B4-BE49-F238E27FC236}">
                <a16:creationId xmlns:a16="http://schemas.microsoft.com/office/drawing/2014/main" id="{F3CDD240-8BAA-419E-929D-7397CF4DA8C8}"/>
              </a:ext>
            </a:extLst>
          </p:cNvPr>
          <p:cNvSpPr>
            <a:spLocks xmlns:a="http://schemas.openxmlformats.org/drawingml/2006/main" noGrp="1"/>
          </p:cNvSpPr>
          <p:nvPr/>
        </p:nvSpPr>
        <p:spPr>
          <a:xfrm xmlns:a="http://schemas.openxmlformats.org/drawingml/2006/main">
            <a:off x="8610600" y="2724150"/>
            <a:ext cx="2400300" cy="1828800"/>
          </a:xfrm>
          <a:prstGeom xmlns:a="http://schemas.openxmlformats.org/drawingml/2006/main" prst="roundRect">
            <a:avLst>
              <a:gd name="adj" fmla="val 41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30" name="">
            <a:extLst xmlns:a="http://schemas.openxmlformats.org/drawingml/2006/main">
              <a:ext uri="{FF2B5EF4-FFF2-40B4-BE49-F238E27FC236}">
                <a16:creationId xmlns:a16="http://schemas.microsoft.com/office/drawing/2014/main" id="{57431142-0291-460D-9979-8798E690AA1A}"/>
              </a:ext>
            </a:extLst>
          </p:cNvPr>
          <p:cNvSpPr>
            <a:spLocks xmlns:a="http://schemas.openxmlformats.org/drawingml/2006/main" noGrp="1"/>
          </p:cNvSpPr>
          <p:nvPr/>
        </p:nvSpPr>
        <p:spPr>
          <a:xfrm xmlns:a="http://schemas.openxmlformats.org/drawingml/2006/main">
            <a:off x="8667750" y="2781300"/>
            <a:ext cx="2286000" cy="57150"/>
          </a:xfrm>
          <a:prstGeom xmlns:a="http://schemas.openxmlformats.org/drawingml/2006/main" prst="rect">
            <a:avLst/>
          </a:prstGeom>
          <a:solidFill xmlns:a="http://schemas.openxmlformats.org/drawingml/2006/main">
            <a:srgbClr val="517C95"/>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CB3BDAD8-3819-48F2-9FDA-512D4761ADC8}"/>
              </a:ext>
            </a:extLst>
          </p:cNvPr>
          <p:cNvSpPr>
            <a:spLocks xmlns:a="http://schemas.openxmlformats.org/drawingml/2006/main" noGrp="1"/>
          </p:cNvSpPr>
          <p:nvPr/>
        </p:nvSpPr>
        <p:spPr>
          <a:xfrm xmlns:a="http://schemas.openxmlformats.org/drawingml/2006/main">
            <a:off x="8820150" y="2914650"/>
            <a:ext cx="1981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지식 밀도 축적</a:t>
            </a:r>
          </a:p>
        </p:txBody>
      </p:sp>
      <p:sp>
        <p:nvSpPr>
          <p:cNvPr id="32" name="">
            <a:extLst xmlns:a="http://schemas.openxmlformats.org/drawingml/2006/main">
              <a:ext uri="{FF2B5EF4-FFF2-40B4-BE49-F238E27FC236}">
                <a16:creationId xmlns:a16="http://schemas.microsoft.com/office/drawing/2014/main" id="{7E13339E-1B1F-4B78-BA55-599006F1B482}"/>
              </a:ext>
            </a:extLst>
          </p:cNvPr>
          <p:cNvSpPr>
            <a:spLocks xmlns:a="http://schemas.openxmlformats.org/drawingml/2006/main" noGrp="1"/>
          </p:cNvSpPr>
          <p:nvPr/>
        </p:nvSpPr>
        <p:spPr>
          <a:xfrm xmlns:a="http://schemas.openxmlformats.org/drawingml/2006/main">
            <a:off x="8820150" y="3333750"/>
            <a:ext cx="19812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source -&gt; concept -&gt;</a:t>
            </a:r>
          </a:p>
          <a:p xmlns:a="http://schemas.openxmlformats.org/drawingml/2006/main">
            <a:pPr algn="l">
              <a:defRPr sz="1200" b="0">
                <a:solidFill>
                  <a:srgbClr val="132024"/>
                </a:solidFill>
              </a:defRPr>
            </a:pPr>
            <a:r>
              <a:rPr sz="1200" b="0">
                <a:solidFill>
                  <a:srgbClr val="132024"/>
                </a:solidFill>
              </a:rPr>
              <a:t>query -&gt; synthesis 구조를</a:t>
            </a:r>
          </a:p>
          <a:p xmlns:a="http://schemas.openxmlformats.org/drawingml/2006/main">
            <a:pPr algn="l">
              <a:defRPr sz="1200" b="0">
                <a:solidFill>
                  <a:srgbClr val="132024"/>
                </a:solidFill>
              </a:defRPr>
            </a:pPr>
            <a:r>
              <a:rPr sz="1200" b="0">
                <a:solidFill>
                  <a:srgbClr val="132024"/>
                </a:solidFill>
              </a:rPr>
              <a:t>통해 동일 주제권 내 정보 밀도를</a:t>
            </a:r>
          </a:p>
          <a:p xmlns:a="http://schemas.openxmlformats.org/drawingml/2006/main">
            <a:pPr algn="l">
              <a:defRPr sz="1200" b="0">
                <a:solidFill>
                  <a:srgbClr val="132024"/>
                </a:solidFill>
              </a:defRPr>
            </a:pPr>
            <a:r>
              <a:rPr sz="1200" b="0">
                <a:solidFill>
                  <a:srgbClr val="132024"/>
                </a:solidFill>
              </a:rPr>
              <a:t>높인다.</a:t>
            </a:r>
          </a:p>
        </p:txBody>
      </p:sp>
      <p:sp>
        <p:nvSpPr>
          <p:cNvPr id="33" name="">
            <a:extLst xmlns:a="http://schemas.openxmlformats.org/drawingml/2006/main">
              <a:ext uri="{FF2B5EF4-FFF2-40B4-BE49-F238E27FC236}">
                <a16:creationId xmlns:a16="http://schemas.microsoft.com/office/drawing/2014/main" id="{EA62A24A-F687-45C9-B8A6-DD8BE3061244}"/>
              </a:ext>
            </a:extLst>
          </p:cNvPr>
          <p:cNvSpPr>
            <a:spLocks xmlns:a="http://schemas.openxmlformats.org/drawingml/2006/main" noGrp="1"/>
          </p:cNvSpPr>
          <p:nvPr/>
        </p:nvSpPr>
        <p:spPr>
          <a:xfrm xmlns:a="http://schemas.openxmlformats.org/drawingml/2006/main">
            <a:off x="1314450" y="5334000"/>
            <a:ext cx="1390650" cy="28575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raw/sources</a:t>
            </a:r>
          </a:p>
        </p:txBody>
      </p:sp>
      <p:sp>
        <p:nvSpPr>
          <p:cNvPr id="34" name="">
            <a:extLst xmlns:a="http://schemas.openxmlformats.org/drawingml/2006/main">
              <a:ext uri="{FF2B5EF4-FFF2-40B4-BE49-F238E27FC236}">
                <a16:creationId xmlns:a16="http://schemas.microsoft.com/office/drawing/2014/main" id="{48AC055E-55A8-4744-8F81-2E5051321F18}"/>
              </a:ext>
            </a:extLst>
          </p:cNvPr>
          <p:cNvSpPr>
            <a:spLocks xmlns:a="http://schemas.openxmlformats.org/drawingml/2006/main" noGrp="1"/>
          </p:cNvSpPr>
          <p:nvPr/>
        </p:nvSpPr>
        <p:spPr>
          <a:xfrm xmlns:a="http://schemas.openxmlformats.org/drawingml/2006/main">
            <a:off x="2781300" y="5372100"/>
            <a:ext cx="6667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5" name="">
            <a:extLst xmlns:a="http://schemas.openxmlformats.org/drawingml/2006/main">
              <a:ext uri="{FF2B5EF4-FFF2-40B4-BE49-F238E27FC236}">
                <a16:creationId xmlns:a16="http://schemas.microsoft.com/office/drawing/2014/main" id="{C1E49A39-87BC-4621-BE8E-8D50CDBB27BA}"/>
              </a:ext>
            </a:extLst>
          </p:cNvPr>
          <p:cNvSpPr>
            <a:spLocks xmlns:a="http://schemas.openxmlformats.org/drawingml/2006/main" noGrp="1"/>
          </p:cNvSpPr>
          <p:nvPr/>
        </p:nvSpPr>
        <p:spPr>
          <a:xfrm xmlns:a="http://schemas.openxmlformats.org/drawingml/2006/main">
            <a:off x="3600450" y="5334000"/>
            <a:ext cx="1390650" cy="28575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wiki/sources</a:t>
            </a:r>
          </a:p>
        </p:txBody>
      </p:sp>
      <p:sp>
        <p:nvSpPr>
          <p:cNvPr id="36" name="">
            <a:extLst xmlns:a="http://schemas.openxmlformats.org/drawingml/2006/main">
              <a:ext uri="{FF2B5EF4-FFF2-40B4-BE49-F238E27FC236}">
                <a16:creationId xmlns:a16="http://schemas.microsoft.com/office/drawing/2014/main" id="{16DADCE7-6CAB-46A3-B5C3-1EE16353A5A3}"/>
              </a:ext>
            </a:extLst>
          </p:cNvPr>
          <p:cNvSpPr>
            <a:spLocks xmlns:a="http://schemas.openxmlformats.org/drawingml/2006/main" noGrp="1"/>
          </p:cNvSpPr>
          <p:nvPr/>
        </p:nvSpPr>
        <p:spPr>
          <a:xfrm xmlns:a="http://schemas.openxmlformats.org/drawingml/2006/main">
            <a:off x="5067300" y="5372100"/>
            <a:ext cx="6667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7" name="">
            <a:extLst xmlns:a="http://schemas.openxmlformats.org/drawingml/2006/main">
              <a:ext uri="{FF2B5EF4-FFF2-40B4-BE49-F238E27FC236}">
                <a16:creationId xmlns:a16="http://schemas.microsoft.com/office/drawing/2014/main" id="{A44AED83-2010-4877-82E4-27EBECB534E9}"/>
              </a:ext>
            </a:extLst>
          </p:cNvPr>
          <p:cNvSpPr>
            <a:spLocks xmlns:a="http://schemas.openxmlformats.org/drawingml/2006/main" noGrp="1"/>
          </p:cNvSpPr>
          <p:nvPr/>
        </p:nvSpPr>
        <p:spPr>
          <a:xfrm xmlns:a="http://schemas.openxmlformats.org/drawingml/2006/main">
            <a:off x="5905500" y="5334000"/>
            <a:ext cx="1543050" cy="28575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 / entity</a:t>
            </a:r>
          </a:p>
        </p:txBody>
      </p:sp>
      <p:sp>
        <p:nvSpPr>
          <p:cNvPr id="38" name="">
            <a:extLst xmlns:a="http://schemas.openxmlformats.org/drawingml/2006/main">
              <a:ext uri="{FF2B5EF4-FFF2-40B4-BE49-F238E27FC236}">
                <a16:creationId xmlns:a16="http://schemas.microsoft.com/office/drawing/2014/main" id="{84B57C63-5D67-47E4-ABC3-E9F58F6E26C3}"/>
              </a:ext>
            </a:extLst>
          </p:cNvPr>
          <p:cNvSpPr>
            <a:spLocks xmlns:a="http://schemas.openxmlformats.org/drawingml/2006/main" noGrp="1"/>
          </p:cNvSpPr>
          <p:nvPr/>
        </p:nvSpPr>
        <p:spPr>
          <a:xfrm xmlns:a="http://schemas.openxmlformats.org/drawingml/2006/main">
            <a:off x="7543800" y="5372100"/>
            <a:ext cx="6667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9" name="">
            <a:extLst xmlns:a="http://schemas.openxmlformats.org/drawingml/2006/main">
              <a:ext uri="{FF2B5EF4-FFF2-40B4-BE49-F238E27FC236}">
                <a16:creationId xmlns:a16="http://schemas.microsoft.com/office/drawing/2014/main" id="{2ECEFD9D-754D-4D8C-B12A-F08D9A1FF7CD}"/>
              </a:ext>
            </a:extLst>
          </p:cNvPr>
          <p:cNvSpPr>
            <a:spLocks xmlns:a="http://schemas.openxmlformats.org/drawingml/2006/main" noGrp="1"/>
          </p:cNvSpPr>
          <p:nvPr/>
        </p:nvSpPr>
        <p:spPr>
          <a:xfrm xmlns:a="http://schemas.openxmlformats.org/drawingml/2006/main">
            <a:off x="8362950" y="5334000"/>
            <a:ext cx="1695450" cy="285750"/>
          </a:xfrm>
          <a:prstGeom xmlns:a="http://schemas.openxmlformats.org/drawingml/2006/main" prst="rect">
            <a:avLst/>
          </a:prstGeom>
          <a:solidFill xmlns:a="http://schemas.openxmlformats.org/drawingml/2006/main">
            <a:srgbClr val="F7DDD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D66C60"/>
                </a:solidFill>
              </a:defRPr>
            </a:pPr>
            <a:r>
              <a:rPr sz="900" b="1">
                <a:solidFill>
                  <a:srgbClr val="D66C60"/>
                </a:solidFill>
              </a:rPr>
              <a:t>query / synthesis</a:t>
            </a:r>
          </a:p>
        </p:txBody>
      </p:sp>
      <p:sp>
        <p:nvSpPr>
          <p:cNvPr id="40" name="">
            <a:extLst xmlns:a="http://schemas.openxmlformats.org/drawingml/2006/main">
              <a:ext uri="{FF2B5EF4-FFF2-40B4-BE49-F238E27FC236}">
                <a16:creationId xmlns:a16="http://schemas.microsoft.com/office/drawing/2014/main" id="{80D491E9-3127-4B4D-83AF-CBB5481F165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운영 원리: 주제 경계를 축소하고, 해석 가능한 지식을 동일 collection 내에 누적한다.</a:t>
            </a:r>
          </a:p>
        </p:txBody>
      </p:sp>
    </p:spTree>
    <p:extLst>
      <p:ext uri="{BB962C8B-B14F-4D97-AF65-F5344CB8AC3E}">
        <p14:creationId xmlns:p14="http://schemas.microsoft.com/office/powerpoint/2010/main" val="1240013955"/>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aaf6af2cd6d4b30"/>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C152E14-3DCD-42DA-9C5C-8E9784B6DA51}"/>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1A2B379-512D-4F4E-9048-7B1409D4FEA3}"/>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4FB5095-BC8C-4839-8E75-64D8D3CB3383}"/>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1B9A3689-A612-4F7E-9CA0-551E4C7F90AD}"/>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F24691BF-603B-4D01-939B-567E52288C83}"/>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7CC4E1DD-5989-459B-A95D-6232035780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3C08434-7A15-4CA0-A35D-4176614349A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ACCESS LAYER</a:t>
            </a:r>
          </a:p>
        </p:txBody>
      </p:sp>
      <p:sp>
        <p:nvSpPr>
          <p:cNvPr id="10" name="">
            <a:extLst xmlns:a="http://schemas.openxmlformats.org/drawingml/2006/main">
              <a:ext uri="{FF2B5EF4-FFF2-40B4-BE49-F238E27FC236}">
                <a16:creationId xmlns:a16="http://schemas.microsoft.com/office/drawing/2014/main" id="{7B80ACAA-681F-4EA9-A477-BF45652A5B03}"/>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03 / 13</a:t>
            </a:r>
          </a:p>
        </p:txBody>
      </p:sp>
      <p:sp>
        <p:nvSpPr>
          <p:cNvPr id="11" name="">
            <a:extLst xmlns:a="http://schemas.openxmlformats.org/drawingml/2006/main">
              <a:ext uri="{FF2B5EF4-FFF2-40B4-BE49-F238E27FC236}">
                <a16:creationId xmlns:a16="http://schemas.microsoft.com/office/drawing/2014/main" id="{9DC7EE94-4F96-49D4-BF4C-59AC54408ED1}"/>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80D242B-160C-47A1-8151-D84DCB7A6F88}"/>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913F631B-0D5B-4F63-957B-DCD3121C16A1}"/>
              </a:ext>
            </a:extLst>
          </p:cNvPr>
          <p:cNvSpPr>
            <a:spLocks xmlns:a="http://schemas.openxmlformats.org/drawingml/2006/main" noGrp="1"/>
          </p:cNvSpPr>
          <p:nvPr/>
        </p:nvSpPr>
        <p:spPr>
          <a:xfrm xmlns:a="http://schemas.openxmlformats.org/drawingml/2006/main">
            <a:off x="609600" y="838200"/>
            <a:ext cx="70485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Markdown wiki의</a:t>
            </a:r>
          </a:p>
          <a:p xmlns:a="http://schemas.openxmlformats.org/drawingml/2006/main">
            <a:pPr algn="l">
              <a:defRPr sz="2850" b="1">
                <a:solidFill>
                  <a:srgbClr val="132024"/>
                </a:solidFill>
              </a:defRPr>
            </a:pPr>
            <a:r>
              <a:rPr sz="2850" b="1">
                <a:solidFill>
                  <a:srgbClr val="132024"/>
                </a:solidFill>
              </a:rPr>
              <a:t>HTML 접근 계층</a:t>
            </a:r>
          </a:p>
        </p:txBody>
      </p:sp>
      <p:sp>
        <p:nvSpPr>
          <p:cNvPr id="14" name="">
            <a:extLst xmlns:a="http://schemas.openxmlformats.org/drawingml/2006/main">
              <a:ext uri="{FF2B5EF4-FFF2-40B4-BE49-F238E27FC236}">
                <a16:creationId xmlns:a16="http://schemas.microsoft.com/office/drawing/2014/main" id="{BC5C016B-C48A-4256-A660-404CBB233171}"/>
              </a:ext>
            </a:extLst>
          </p:cNvPr>
          <p:cNvSpPr>
            <a:spLocks xmlns:a="http://schemas.openxmlformats.org/drawingml/2006/main" noGrp="1"/>
          </p:cNvSpPr>
          <p:nvPr/>
        </p:nvSpPr>
        <p:spPr>
          <a:xfrm xmlns:a="http://schemas.openxmlformats.org/drawingml/2006/main">
            <a:off x="609600" y="1657350"/>
            <a:ext cx="10858500" cy="742950"/>
          </a:xfrm>
          <a:prstGeom xmlns:a="http://schemas.openxmlformats.org/drawingml/2006/main" prst="roundRect">
            <a:avLst>
              <a:gd name="adj" fmla="val 10256"/>
            </a:avLst>
          </a:prstGeom>
          <a:solidFill xmlns:a="http://schemas.openxmlformats.org/drawingml/2006/main">
            <a:srgbClr val="DDF4E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741EEE5C-E729-4958-BF87-97C257034D4E}"/>
              </a:ext>
            </a:extLst>
          </p:cNvPr>
          <p:cNvSpPr>
            <a:spLocks xmlns:a="http://schemas.openxmlformats.org/drawingml/2006/main" noGrp="1"/>
          </p:cNvSpPr>
          <p:nvPr/>
        </p:nvSpPr>
        <p:spPr>
          <a:xfrm xmlns:a="http://schemas.openxmlformats.org/drawingml/2006/main">
            <a:off x="657225" y="1704975"/>
            <a:ext cx="57150" cy="6477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E02D1A1-7A06-410A-A5BC-B23EB206D1E3}"/>
              </a:ext>
            </a:extLst>
          </p:cNvPr>
          <p:cNvSpPr>
            <a:spLocks xmlns:a="http://schemas.openxmlformats.org/drawingml/2006/main" noGrp="1"/>
          </p:cNvSpPr>
          <p:nvPr/>
        </p:nvSpPr>
        <p:spPr>
          <a:xfrm xmlns:a="http://schemas.openxmlformats.org/drawingml/2006/main">
            <a:off x="819150" y="1809750"/>
            <a:ext cx="10477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Markdown 기반 wiki를 정적 HTML로 렌더링하고, 로컬 뷰어 및 GitHub Pages를 통해 지속적 탐색과 접근을 가능하게 하였다.</a:t>
            </a:r>
          </a:p>
        </p:txBody>
      </p:sp>
      <p:sp>
        <p:nvSpPr>
          <p:cNvPr id="17" name="">
            <a:extLst xmlns:a="http://schemas.openxmlformats.org/drawingml/2006/main">
              <a:ext uri="{FF2B5EF4-FFF2-40B4-BE49-F238E27FC236}">
                <a16:creationId xmlns:a16="http://schemas.microsoft.com/office/drawing/2014/main" id="{75283758-4358-47D1-A6A8-7C627FA76ED6}"/>
              </a:ext>
            </a:extLst>
          </p:cNvPr>
          <p:cNvSpPr>
            <a:spLocks xmlns:a="http://schemas.openxmlformats.org/drawingml/2006/main" noGrp="1"/>
          </p:cNvSpPr>
          <p:nvPr/>
        </p:nvSpPr>
        <p:spPr>
          <a:xfrm xmlns:a="http://schemas.openxmlformats.org/drawingml/2006/main">
            <a:off x="704850" y="2724150"/>
            <a:ext cx="2552700" cy="1924050"/>
          </a:xfrm>
          <a:prstGeom xmlns:a="http://schemas.openxmlformats.org/drawingml/2006/main" prst="roundRect">
            <a:avLst>
              <a:gd name="adj" fmla="val 396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C665AB7E-71F4-4D2A-B002-EB8CA51AA272}"/>
              </a:ext>
            </a:extLst>
          </p:cNvPr>
          <p:cNvSpPr>
            <a:spLocks xmlns:a="http://schemas.openxmlformats.org/drawingml/2006/main" noGrp="1"/>
          </p:cNvSpPr>
          <p:nvPr/>
        </p:nvSpPr>
        <p:spPr>
          <a:xfrm xmlns:a="http://schemas.openxmlformats.org/drawingml/2006/main">
            <a:off x="762000" y="2781300"/>
            <a:ext cx="24384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6ABC5E0-F820-46DA-A655-DE414CF1105E}"/>
              </a:ext>
            </a:extLst>
          </p:cNvPr>
          <p:cNvSpPr>
            <a:spLocks xmlns:a="http://schemas.openxmlformats.org/drawingml/2006/main" noGrp="1"/>
          </p:cNvSpPr>
          <p:nvPr/>
        </p:nvSpPr>
        <p:spPr>
          <a:xfrm xmlns:a="http://schemas.openxmlformats.org/drawingml/2006/main">
            <a:off x="914400" y="29146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static HTML render</a:t>
            </a:r>
          </a:p>
        </p:txBody>
      </p:sp>
      <p:sp>
        <p:nvSpPr>
          <p:cNvPr id="20" name="">
            <a:extLst xmlns:a="http://schemas.openxmlformats.org/drawingml/2006/main">
              <a:ext uri="{FF2B5EF4-FFF2-40B4-BE49-F238E27FC236}">
                <a16:creationId xmlns:a16="http://schemas.microsoft.com/office/drawing/2014/main" id="{4E26F4C8-6B62-487D-8182-8C5B62F0908F}"/>
              </a:ext>
            </a:extLst>
          </p:cNvPr>
          <p:cNvSpPr>
            <a:spLocks xmlns:a="http://schemas.openxmlformats.org/drawingml/2006/main" noGrp="1"/>
          </p:cNvSpPr>
          <p:nvPr/>
        </p:nvSpPr>
        <p:spPr>
          <a:xfrm xmlns:a="http://schemas.openxmlformats.org/drawingml/2006/main">
            <a:off x="914400" y="3333750"/>
            <a:ext cx="21336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Markdown wiki를</a:t>
            </a:r>
          </a:p>
          <a:p xmlns:a="http://schemas.openxmlformats.org/drawingml/2006/main">
            <a:pPr algn="l">
              <a:defRPr sz="1200" b="0">
                <a:solidFill>
                  <a:srgbClr val="132024"/>
                </a:solidFill>
              </a:defRPr>
            </a:pPr>
            <a:r>
              <a:rPr sz="1200" b="0">
                <a:solidFill>
                  <a:srgbClr val="132024"/>
                </a:solidFill>
              </a:rPr>
              <a:t>collection별 HTML site로</a:t>
            </a:r>
          </a:p>
          <a:p xmlns:a="http://schemas.openxmlformats.org/drawingml/2006/main">
            <a:pPr algn="l">
              <a:defRPr sz="1200" b="0">
                <a:solidFill>
                  <a:srgbClr val="132024"/>
                </a:solidFill>
              </a:defRPr>
            </a:pPr>
            <a:r>
              <a:rPr sz="1200" b="0">
                <a:solidFill>
                  <a:srgbClr val="132024"/>
                </a:solidFill>
              </a:rPr>
              <a:t>변환하고, top-level hub를</a:t>
            </a:r>
          </a:p>
          <a:p xmlns:a="http://schemas.openxmlformats.org/drawingml/2006/main">
            <a:pPr algn="l">
              <a:defRPr sz="1200" b="0">
                <a:solidFill>
                  <a:srgbClr val="132024"/>
                </a:solidFill>
              </a:defRPr>
            </a:pPr>
            <a:r>
              <a:rPr sz="1200" b="0">
                <a:solidFill>
                  <a:srgbClr val="132024"/>
                </a:solidFill>
              </a:rPr>
              <a:t>함께 갱신한다.</a:t>
            </a:r>
          </a:p>
        </p:txBody>
      </p:sp>
      <p:sp>
        <p:nvSpPr>
          <p:cNvPr id="21" name="">
            <a:extLst xmlns:a="http://schemas.openxmlformats.org/drawingml/2006/main">
              <a:ext uri="{FF2B5EF4-FFF2-40B4-BE49-F238E27FC236}">
                <a16:creationId xmlns:a16="http://schemas.microsoft.com/office/drawing/2014/main" id="{F2E5F243-BEAE-412F-8C3C-2CFD3509921F}"/>
              </a:ext>
            </a:extLst>
          </p:cNvPr>
          <p:cNvSpPr>
            <a:spLocks xmlns:a="http://schemas.openxmlformats.org/drawingml/2006/main" noGrp="1"/>
          </p:cNvSpPr>
          <p:nvPr/>
        </p:nvSpPr>
        <p:spPr>
          <a:xfrm xmlns:a="http://schemas.openxmlformats.org/drawingml/2006/main">
            <a:off x="3505200" y="2724150"/>
            <a:ext cx="2552700" cy="1924050"/>
          </a:xfrm>
          <a:prstGeom xmlns:a="http://schemas.openxmlformats.org/drawingml/2006/main" prst="roundRect">
            <a:avLst>
              <a:gd name="adj" fmla="val 396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2" name="">
            <a:extLst xmlns:a="http://schemas.openxmlformats.org/drawingml/2006/main">
              <a:ext uri="{FF2B5EF4-FFF2-40B4-BE49-F238E27FC236}">
                <a16:creationId xmlns:a16="http://schemas.microsoft.com/office/drawing/2014/main" id="{13B0D537-BD89-48ED-85ED-9FB7720FE74C}"/>
              </a:ext>
            </a:extLst>
          </p:cNvPr>
          <p:cNvSpPr>
            <a:spLocks xmlns:a="http://schemas.openxmlformats.org/drawingml/2006/main" noGrp="1"/>
          </p:cNvSpPr>
          <p:nvPr/>
        </p:nvSpPr>
        <p:spPr>
          <a:xfrm xmlns:a="http://schemas.openxmlformats.org/drawingml/2006/main">
            <a:off x="3562350" y="2781300"/>
            <a:ext cx="24384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428965E-1334-4011-B946-4728AAED90A5}"/>
              </a:ext>
            </a:extLst>
          </p:cNvPr>
          <p:cNvSpPr>
            <a:spLocks xmlns:a="http://schemas.openxmlformats.org/drawingml/2006/main" noGrp="1"/>
          </p:cNvSpPr>
          <p:nvPr/>
        </p:nvSpPr>
        <p:spPr>
          <a:xfrm xmlns:a="http://schemas.openxmlformats.org/drawingml/2006/main">
            <a:off x="3714750" y="29146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local viewer</a:t>
            </a:r>
          </a:p>
        </p:txBody>
      </p:sp>
      <p:sp>
        <p:nvSpPr>
          <p:cNvPr id="24" name="">
            <a:extLst xmlns:a="http://schemas.openxmlformats.org/drawingml/2006/main">
              <a:ext uri="{FF2B5EF4-FFF2-40B4-BE49-F238E27FC236}">
                <a16:creationId xmlns:a16="http://schemas.microsoft.com/office/drawing/2014/main" id="{E0C6CAE8-F4FD-4EB3-A906-7BD8EE3CD7AF}"/>
              </a:ext>
            </a:extLst>
          </p:cNvPr>
          <p:cNvSpPr>
            <a:spLocks xmlns:a="http://schemas.openxmlformats.org/drawingml/2006/main" noGrp="1"/>
          </p:cNvSpPr>
          <p:nvPr/>
        </p:nvSpPr>
        <p:spPr>
          <a:xfrm xmlns:a="http://schemas.openxmlformats.org/drawingml/2006/main">
            <a:off x="3714750" y="3333750"/>
            <a:ext cx="21336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localhost viewer에서 검색,</a:t>
            </a:r>
          </a:p>
          <a:p xmlns:a="http://schemas.openxmlformats.org/drawingml/2006/main">
            <a:pPr algn="l">
              <a:defRPr sz="1200" b="0">
                <a:solidFill>
                  <a:srgbClr val="132024"/>
                </a:solidFill>
              </a:defRPr>
            </a:pPr>
            <a:r>
              <a:rPr sz="1200" b="0">
                <a:solidFill>
                  <a:srgbClr val="132024"/>
                </a:solidFill>
              </a:rPr>
              <a:t>태그 필터, 그래프 뷰를 통해</a:t>
            </a:r>
          </a:p>
          <a:p xmlns:a="http://schemas.openxmlformats.org/drawingml/2006/main">
            <a:pPr algn="l">
              <a:defRPr sz="1200" b="0">
                <a:solidFill>
                  <a:srgbClr val="132024"/>
                </a:solidFill>
              </a:defRPr>
            </a:pPr>
            <a:r>
              <a:rPr sz="1200" b="0">
                <a:solidFill>
                  <a:srgbClr val="132024"/>
                </a:solidFill>
              </a:rPr>
              <a:t>collection 내부 페이지를</a:t>
            </a:r>
          </a:p>
          <a:p xmlns:a="http://schemas.openxmlformats.org/drawingml/2006/main">
            <a:pPr algn="l">
              <a:defRPr sz="1200" b="0">
                <a:solidFill>
                  <a:srgbClr val="132024"/>
                </a:solidFill>
              </a:defRPr>
            </a:pPr>
            <a:r>
              <a:rPr sz="1200" b="0">
                <a:solidFill>
                  <a:srgbClr val="132024"/>
                </a:solidFill>
              </a:rPr>
              <a:t>탐색한다.</a:t>
            </a:r>
          </a:p>
        </p:txBody>
      </p:sp>
      <p:sp>
        <p:nvSpPr>
          <p:cNvPr id="25" name="">
            <a:extLst xmlns:a="http://schemas.openxmlformats.org/drawingml/2006/main">
              <a:ext uri="{FF2B5EF4-FFF2-40B4-BE49-F238E27FC236}">
                <a16:creationId xmlns:a16="http://schemas.microsoft.com/office/drawing/2014/main" id="{0EF38319-5209-429C-902E-122A612C1E60}"/>
              </a:ext>
            </a:extLst>
          </p:cNvPr>
          <p:cNvSpPr>
            <a:spLocks xmlns:a="http://schemas.openxmlformats.org/drawingml/2006/main" noGrp="1"/>
          </p:cNvSpPr>
          <p:nvPr/>
        </p:nvSpPr>
        <p:spPr>
          <a:xfrm xmlns:a="http://schemas.openxmlformats.org/drawingml/2006/main">
            <a:off x="6305550" y="2724150"/>
            <a:ext cx="2552700" cy="1924050"/>
          </a:xfrm>
          <a:prstGeom xmlns:a="http://schemas.openxmlformats.org/drawingml/2006/main" prst="roundRect">
            <a:avLst>
              <a:gd name="adj" fmla="val 396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6" name="">
            <a:extLst xmlns:a="http://schemas.openxmlformats.org/drawingml/2006/main">
              <a:ext uri="{FF2B5EF4-FFF2-40B4-BE49-F238E27FC236}">
                <a16:creationId xmlns:a16="http://schemas.microsoft.com/office/drawing/2014/main" id="{960B6DB2-450B-43D7-8A4C-1D5343F1CBCC}"/>
              </a:ext>
            </a:extLst>
          </p:cNvPr>
          <p:cNvSpPr>
            <a:spLocks xmlns:a="http://schemas.openxmlformats.org/drawingml/2006/main" noGrp="1"/>
          </p:cNvSpPr>
          <p:nvPr/>
        </p:nvSpPr>
        <p:spPr>
          <a:xfrm xmlns:a="http://schemas.openxmlformats.org/drawingml/2006/main">
            <a:off x="6362700" y="2781300"/>
            <a:ext cx="24384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D5C47321-7A27-4ACE-A6C6-A8D7C71C1D0D}"/>
              </a:ext>
            </a:extLst>
          </p:cNvPr>
          <p:cNvSpPr>
            <a:spLocks xmlns:a="http://schemas.openxmlformats.org/drawingml/2006/main" noGrp="1"/>
          </p:cNvSpPr>
          <p:nvPr/>
        </p:nvSpPr>
        <p:spPr>
          <a:xfrm xmlns:a="http://schemas.openxmlformats.org/drawingml/2006/main">
            <a:off x="6515100" y="29146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GitHub Pages</a:t>
            </a:r>
          </a:p>
        </p:txBody>
      </p:sp>
      <p:sp>
        <p:nvSpPr>
          <p:cNvPr id="28" name="">
            <a:extLst xmlns:a="http://schemas.openxmlformats.org/drawingml/2006/main">
              <a:ext uri="{FF2B5EF4-FFF2-40B4-BE49-F238E27FC236}">
                <a16:creationId xmlns:a16="http://schemas.microsoft.com/office/drawing/2014/main" id="{4C1990EF-535F-4F91-B739-AE082FE0E70F}"/>
              </a:ext>
            </a:extLst>
          </p:cNvPr>
          <p:cNvSpPr>
            <a:spLocks xmlns:a="http://schemas.openxmlformats.org/drawingml/2006/main" noGrp="1"/>
          </p:cNvSpPr>
          <p:nvPr/>
        </p:nvSpPr>
        <p:spPr>
          <a:xfrm xmlns:a="http://schemas.openxmlformats.org/drawingml/2006/main">
            <a:off x="6515100" y="3333750"/>
            <a:ext cx="21336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원격 접근을 위해 public</a:t>
            </a:r>
          </a:p>
          <a:p xmlns:a="http://schemas.openxmlformats.org/drawingml/2006/main">
            <a:pPr algn="l">
              <a:defRPr sz="1200" b="0">
                <a:solidFill>
                  <a:srgbClr val="132024"/>
                </a:solidFill>
              </a:defRPr>
            </a:pPr>
            <a:r>
              <a:rPr sz="1200" b="0">
                <a:solidFill>
                  <a:srgbClr val="132024"/>
                </a:solidFill>
              </a:rPr>
              <a:t>static site로 export하고</a:t>
            </a:r>
          </a:p>
          <a:p xmlns:a="http://schemas.openxmlformats.org/drawingml/2006/main">
            <a:pPr algn="l">
              <a:defRPr sz="1200" b="0">
                <a:solidFill>
                  <a:srgbClr val="132024"/>
                </a:solidFill>
              </a:defRPr>
            </a:pPr>
            <a:r>
              <a:rPr sz="1200" b="0">
                <a:solidFill>
                  <a:srgbClr val="132024"/>
                </a:solidFill>
              </a:rPr>
              <a:t>GitHub Pages에 배포한다.</a:t>
            </a:r>
          </a:p>
        </p:txBody>
      </p:sp>
      <p:sp>
        <p:nvSpPr>
          <p:cNvPr id="29" name="">
            <a:extLst xmlns:a="http://schemas.openxmlformats.org/drawingml/2006/main">
              <a:ext uri="{FF2B5EF4-FFF2-40B4-BE49-F238E27FC236}">
                <a16:creationId xmlns:a16="http://schemas.microsoft.com/office/drawing/2014/main" id="{C55F1E94-9604-4A30-BFAB-97681ADDC3A8}"/>
              </a:ext>
            </a:extLst>
          </p:cNvPr>
          <p:cNvSpPr>
            <a:spLocks xmlns:a="http://schemas.openxmlformats.org/drawingml/2006/main" noGrp="1"/>
          </p:cNvSpPr>
          <p:nvPr/>
        </p:nvSpPr>
        <p:spPr>
          <a:xfrm xmlns:a="http://schemas.openxmlformats.org/drawingml/2006/main">
            <a:off x="9105900" y="2724150"/>
            <a:ext cx="2362200" cy="1924050"/>
          </a:xfrm>
          <a:prstGeom xmlns:a="http://schemas.openxmlformats.org/drawingml/2006/main" prst="roundRect">
            <a:avLst>
              <a:gd name="adj" fmla="val 396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30" name="">
            <a:extLst xmlns:a="http://schemas.openxmlformats.org/drawingml/2006/main">
              <a:ext uri="{FF2B5EF4-FFF2-40B4-BE49-F238E27FC236}">
                <a16:creationId xmlns:a16="http://schemas.microsoft.com/office/drawing/2014/main" id="{B9BD500C-C3E0-4267-8E6F-00E0672EE088}"/>
              </a:ext>
            </a:extLst>
          </p:cNvPr>
          <p:cNvSpPr>
            <a:spLocks xmlns:a="http://schemas.openxmlformats.org/drawingml/2006/main" noGrp="1"/>
          </p:cNvSpPr>
          <p:nvPr/>
        </p:nvSpPr>
        <p:spPr>
          <a:xfrm xmlns:a="http://schemas.openxmlformats.org/drawingml/2006/main">
            <a:off x="9163050" y="2781300"/>
            <a:ext cx="2247900" cy="57150"/>
          </a:xfrm>
          <a:prstGeom xmlns:a="http://schemas.openxmlformats.org/drawingml/2006/main" prst="rect">
            <a:avLst/>
          </a:prstGeom>
          <a:solidFill xmlns:a="http://schemas.openxmlformats.org/drawingml/2006/main">
            <a:srgbClr val="517C95"/>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74E8E5E-7DBE-4EAA-90DF-3C3A8338632F}"/>
              </a:ext>
            </a:extLst>
          </p:cNvPr>
          <p:cNvSpPr>
            <a:spLocks xmlns:a="http://schemas.openxmlformats.org/drawingml/2006/main" noGrp="1"/>
          </p:cNvSpPr>
          <p:nvPr/>
        </p:nvSpPr>
        <p:spPr>
          <a:xfrm xmlns:a="http://schemas.openxmlformats.org/drawingml/2006/main">
            <a:off x="9315450" y="2914650"/>
            <a:ext cx="1943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auto update</a:t>
            </a:r>
          </a:p>
        </p:txBody>
      </p:sp>
      <p:sp>
        <p:nvSpPr>
          <p:cNvPr id="32" name="">
            <a:extLst xmlns:a="http://schemas.openxmlformats.org/drawingml/2006/main">
              <a:ext uri="{FF2B5EF4-FFF2-40B4-BE49-F238E27FC236}">
                <a16:creationId xmlns:a16="http://schemas.microsoft.com/office/drawing/2014/main" id="{8465CB43-2D9B-4AAD-9715-7BE08E54207C}"/>
              </a:ext>
            </a:extLst>
          </p:cNvPr>
          <p:cNvSpPr>
            <a:spLocks xmlns:a="http://schemas.openxmlformats.org/drawingml/2006/main" noGrp="1"/>
          </p:cNvSpPr>
          <p:nvPr/>
        </p:nvSpPr>
        <p:spPr>
          <a:xfrm xmlns:a="http://schemas.openxmlformats.org/drawingml/2006/main">
            <a:off x="9315450" y="3333750"/>
            <a:ext cx="19431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watcher와 deploy</a:t>
            </a:r>
          </a:p>
          <a:p xmlns:a="http://schemas.openxmlformats.org/drawingml/2006/main">
            <a:pPr algn="l">
              <a:defRPr sz="1200" b="0">
                <a:solidFill>
                  <a:srgbClr val="132024"/>
                </a:solidFill>
              </a:defRPr>
            </a:pPr>
            <a:r>
              <a:rPr sz="1200" b="0">
                <a:solidFill>
                  <a:srgbClr val="132024"/>
                </a:solidFill>
              </a:rPr>
              <a:t>workflow를 통해</a:t>
            </a:r>
          </a:p>
          <a:p xmlns:a="http://schemas.openxmlformats.org/drawingml/2006/main">
            <a:pPr algn="l">
              <a:defRPr sz="1200" b="0">
                <a:solidFill>
                  <a:srgbClr val="132024"/>
                </a:solidFill>
              </a:defRPr>
            </a:pPr>
            <a:r>
              <a:rPr sz="1200" b="0">
                <a:solidFill>
                  <a:srgbClr val="132024"/>
                </a:solidFill>
              </a:rPr>
              <a:t>collection 변경 시 site를</a:t>
            </a:r>
          </a:p>
          <a:p xmlns:a="http://schemas.openxmlformats.org/drawingml/2006/main">
            <a:pPr algn="l">
              <a:defRPr sz="1200" b="0">
                <a:solidFill>
                  <a:srgbClr val="132024"/>
                </a:solidFill>
              </a:defRPr>
            </a:pPr>
            <a:r>
              <a:rPr sz="1200" b="0">
                <a:solidFill>
                  <a:srgbClr val="132024"/>
                </a:solidFill>
              </a:rPr>
              <a:t>함께 갱신하도록 구성하였다.</a:t>
            </a:r>
          </a:p>
        </p:txBody>
      </p:sp>
      <p:sp>
        <p:nvSpPr>
          <p:cNvPr id="33" name="">
            <a:extLst xmlns:a="http://schemas.openxmlformats.org/drawingml/2006/main">
              <a:ext uri="{FF2B5EF4-FFF2-40B4-BE49-F238E27FC236}">
                <a16:creationId xmlns:a16="http://schemas.microsoft.com/office/drawing/2014/main" id="{01750A2A-BD5E-4D13-A71E-CAE9D7173485}"/>
              </a:ext>
            </a:extLst>
          </p:cNvPr>
          <p:cNvSpPr>
            <a:spLocks xmlns:a="http://schemas.openxmlformats.org/drawingml/2006/main" noGrp="1"/>
          </p:cNvSpPr>
          <p:nvPr/>
        </p:nvSpPr>
        <p:spPr>
          <a:xfrm xmlns:a="http://schemas.openxmlformats.org/drawingml/2006/main">
            <a:off x="1143000" y="5334000"/>
            <a:ext cx="1143000" cy="28575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wiki/*.md</a:t>
            </a:r>
          </a:p>
        </p:txBody>
      </p:sp>
      <p:sp>
        <p:nvSpPr>
          <p:cNvPr id="34" name="">
            <a:extLst xmlns:a="http://schemas.openxmlformats.org/drawingml/2006/main">
              <a:ext uri="{FF2B5EF4-FFF2-40B4-BE49-F238E27FC236}">
                <a16:creationId xmlns:a16="http://schemas.microsoft.com/office/drawing/2014/main" id="{B6CE3625-6B7A-403F-B135-1CA9F2AD025C}"/>
              </a:ext>
            </a:extLst>
          </p:cNvPr>
          <p:cNvSpPr>
            <a:spLocks xmlns:a="http://schemas.openxmlformats.org/drawingml/2006/main" noGrp="1"/>
          </p:cNvSpPr>
          <p:nvPr/>
        </p:nvSpPr>
        <p:spPr>
          <a:xfrm xmlns:a="http://schemas.openxmlformats.org/drawingml/2006/main">
            <a:off x="2400300" y="5372100"/>
            <a:ext cx="64770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5" name="">
            <a:extLst xmlns:a="http://schemas.openxmlformats.org/drawingml/2006/main">
              <a:ext uri="{FF2B5EF4-FFF2-40B4-BE49-F238E27FC236}">
                <a16:creationId xmlns:a16="http://schemas.microsoft.com/office/drawing/2014/main" id="{E134F98C-F9F3-4E30-A708-AB90DE0DF1BB}"/>
              </a:ext>
            </a:extLst>
          </p:cNvPr>
          <p:cNvSpPr>
            <a:spLocks xmlns:a="http://schemas.openxmlformats.org/drawingml/2006/main" noGrp="1"/>
          </p:cNvSpPr>
          <p:nvPr/>
        </p:nvSpPr>
        <p:spPr>
          <a:xfrm xmlns:a="http://schemas.openxmlformats.org/drawingml/2006/main">
            <a:off x="3200400" y="5334000"/>
            <a:ext cx="1143000" cy="28575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wiki_html</a:t>
            </a:r>
          </a:p>
        </p:txBody>
      </p:sp>
      <p:sp>
        <p:nvSpPr>
          <p:cNvPr id="36" name="">
            <a:extLst xmlns:a="http://schemas.openxmlformats.org/drawingml/2006/main">
              <a:ext uri="{FF2B5EF4-FFF2-40B4-BE49-F238E27FC236}">
                <a16:creationId xmlns:a16="http://schemas.microsoft.com/office/drawing/2014/main" id="{80CF8D42-33D8-4070-BA05-9C1B40E21295}"/>
              </a:ext>
            </a:extLst>
          </p:cNvPr>
          <p:cNvSpPr>
            <a:spLocks xmlns:a="http://schemas.openxmlformats.org/drawingml/2006/main" noGrp="1"/>
          </p:cNvSpPr>
          <p:nvPr/>
        </p:nvSpPr>
        <p:spPr>
          <a:xfrm xmlns:a="http://schemas.openxmlformats.org/drawingml/2006/main">
            <a:off x="4476750" y="5372100"/>
            <a:ext cx="64770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7" name="">
            <a:extLst xmlns:a="http://schemas.openxmlformats.org/drawingml/2006/main">
              <a:ext uri="{FF2B5EF4-FFF2-40B4-BE49-F238E27FC236}">
                <a16:creationId xmlns:a16="http://schemas.microsoft.com/office/drawing/2014/main" id="{9F70D15A-D640-4572-91FA-23FFD49A7C40}"/>
              </a:ext>
            </a:extLst>
          </p:cNvPr>
          <p:cNvSpPr>
            <a:spLocks xmlns:a="http://schemas.openxmlformats.org/drawingml/2006/main" noGrp="1"/>
          </p:cNvSpPr>
          <p:nvPr/>
        </p:nvSpPr>
        <p:spPr>
          <a:xfrm xmlns:a="http://schemas.openxmlformats.org/drawingml/2006/main">
            <a:off x="5295900" y="5334000"/>
            <a:ext cx="1257300" cy="28575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local search</a:t>
            </a:r>
          </a:p>
        </p:txBody>
      </p:sp>
      <p:sp>
        <p:nvSpPr>
          <p:cNvPr id="38" name="">
            <a:extLst xmlns:a="http://schemas.openxmlformats.org/drawingml/2006/main">
              <a:ext uri="{FF2B5EF4-FFF2-40B4-BE49-F238E27FC236}">
                <a16:creationId xmlns:a16="http://schemas.microsoft.com/office/drawing/2014/main" id="{E04C351C-12CB-437D-86B4-11B6F3736E5B}"/>
              </a:ext>
            </a:extLst>
          </p:cNvPr>
          <p:cNvSpPr>
            <a:spLocks xmlns:a="http://schemas.openxmlformats.org/drawingml/2006/main" noGrp="1"/>
          </p:cNvSpPr>
          <p:nvPr/>
        </p:nvSpPr>
        <p:spPr>
          <a:xfrm xmlns:a="http://schemas.openxmlformats.org/drawingml/2006/main">
            <a:off x="6667500" y="5372100"/>
            <a:ext cx="64770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9" name="">
            <a:extLst xmlns:a="http://schemas.openxmlformats.org/drawingml/2006/main">
              <a:ext uri="{FF2B5EF4-FFF2-40B4-BE49-F238E27FC236}">
                <a16:creationId xmlns:a16="http://schemas.microsoft.com/office/drawing/2014/main" id="{B7600F71-2952-4D15-A51A-A55B2244D173}"/>
              </a:ext>
            </a:extLst>
          </p:cNvPr>
          <p:cNvSpPr>
            <a:spLocks xmlns:a="http://schemas.openxmlformats.org/drawingml/2006/main" noGrp="1"/>
          </p:cNvSpPr>
          <p:nvPr/>
        </p:nvSpPr>
        <p:spPr>
          <a:xfrm xmlns:a="http://schemas.openxmlformats.org/drawingml/2006/main">
            <a:off x="7486650" y="5334000"/>
            <a:ext cx="1390650" cy="285750"/>
          </a:xfrm>
          <a:prstGeom xmlns:a="http://schemas.openxmlformats.org/drawingml/2006/main" prst="rect">
            <a:avLst/>
          </a:prstGeom>
          <a:solidFill xmlns:a="http://schemas.openxmlformats.org/drawingml/2006/main">
            <a:srgbClr val="F7DDD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D66C60"/>
                </a:solidFill>
              </a:defRPr>
            </a:pPr>
            <a:r>
              <a:rPr sz="900" b="1">
                <a:solidFill>
                  <a:srgbClr val="D66C60"/>
                </a:solidFill>
              </a:rPr>
              <a:t>GitHub Pages</a:t>
            </a:r>
          </a:p>
        </p:txBody>
      </p:sp>
      <p:sp>
        <p:nvSpPr>
          <p:cNvPr id="40" name="">
            <a:extLst xmlns:a="http://schemas.openxmlformats.org/drawingml/2006/main">
              <a:ext uri="{FF2B5EF4-FFF2-40B4-BE49-F238E27FC236}">
                <a16:creationId xmlns:a16="http://schemas.microsoft.com/office/drawing/2014/main" id="{0D640AD3-CE58-41E8-8095-6F432D42D65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접근 계층: Markdown wiki를 site 형태로 전환하여 검색, 탐색, 공유가 가능하도록 구성하였다.</a:t>
            </a:r>
          </a:p>
        </p:txBody>
      </p:sp>
    </p:spTree>
    <p:extLst>
      <p:ext uri="{BB962C8B-B14F-4D97-AF65-F5344CB8AC3E}">
        <p14:creationId xmlns:p14="http://schemas.microsoft.com/office/powerpoint/2010/main" val="396527608"/>
      </p:ext>
    </p:extLst>
  </p:cSld>
</p:sld>
</file>

<file path=ppt/slides/slide4.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a659865880f4f50"/>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086B8B-C329-472E-AEBC-C81AA031ADA7}"/>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69C5685-8574-444C-8DA8-BE529F76B8F6}"/>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76FC50D-DB66-4C68-9E95-F8EFE89F77F4}"/>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2236E7D9-E849-4C12-BC3F-4F7BB3575FB9}"/>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E8A5DD1A-93BA-411F-9024-8AD6B04FD869}"/>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FAF81D66-B53E-463B-8137-C5FB178CAE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ACB54B9-537C-4891-8C40-105246A8D4E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WHY BRAIN</a:t>
            </a:r>
          </a:p>
        </p:txBody>
      </p:sp>
      <p:sp>
        <p:nvSpPr>
          <p:cNvPr id="10" name="">
            <a:extLst xmlns:a="http://schemas.openxmlformats.org/drawingml/2006/main">
              <a:ext uri="{FF2B5EF4-FFF2-40B4-BE49-F238E27FC236}">
                <a16:creationId xmlns:a16="http://schemas.microsoft.com/office/drawing/2014/main" id="{A097CF8F-504B-46EB-9B95-CD35BAD0F3F8}"/>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04 / 13</a:t>
            </a:r>
          </a:p>
        </p:txBody>
      </p:sp>
      <p:sp>
        <p:nvSpPr>
          <p:cNvPr id="11" name="">
            <a:extLst xmlns:a="http://schemas.openxmlformats.org/drawingml/2006/main">
              <a:ext uri="{FF2B5EF4-FFF2-40B4-BE49-F238E27FC236}">
                <a16:creationId xmlns:a16="http://schemas.microsoft.com/office/drawing/2014/main" id="{034EDF35-5866-4412-A8EC-BCA6471C21B2}"/>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F7DF009-5C77-4439-8C9A-07A63D650DD4}"/>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21377363-8A16-40D1-9467-E0D7A4993EA4}"/>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Brain branch</a:t>
            </a:r>
          </a:p>
          <a:p xmlns:a="http://schemas.openxmlformats.org/drawingml/2006/main">
            <a:pPr algn="l">
              <a:defRPr sz="2850" b="1">
                <a:solidFill>
                  <a:srgbClr val="132024"/>
                </a:solidFill>
              </a:defRPr>
            </a:pPr>
            <a:r>
              <a:rPr sz="2850" b="1">
                <a:solidFill>
                  <a:srgbClr val="132024"/>
                </a:solidFill>
              </a:rPr>
              <a:t>선택의 이유</a:t>
            </a:r>
          </a:p>
        </p:txBody>
      </p:sp>
      <p:sp>
        <p:nvSpPr>
          <p:cNvPr id="14" name="">
            <a:extLst xmlns:a="http://schemas.openxmlformats.org/drawingml/2006/main">
              <a:ext uri="{FF2B5EF4-FFF2-40B4-BE49-F238E27FC236}">
                <a16:creationId xmlns:a16="http://schemas.microsoft.com/office/drawing/2014/main" id="{56A95008-A3E6-49E7-BD9F-BC67560D074C}"/>
              </a:ext>
            </a:extLst>
          </p:cNvPr>
          <p:cNvSpPr>
            <a:spLocks xmlns:a="http://schemas.openxmlformats.org/drawingml/2006/main" noGrp="1"/>
          </p:cNvSpPr>
          <p:nvPr/>
        </p:nvSpPr>
        <p:spPr>
          <a:xfrm xmlns:a="http://schemas.openxmlformats.org/drawingml/2006/main">
            <a:off x="704850" y="2305050"/>
            <a:ext cx="3162300" cy="2247900"/>
          </a:xfrm>
          <a:prstGeom xmlns:a="http://schemas.openxmlformats.org/drawingml/2006/main" prst="roundRect">
            <a:avLst>
              <a:gd name="adj" fmla="val 339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2A4727BB-8BFD-438E-BCE2-295DA2E14211}"/>
              </a:ext>
            </a:extLst>
          </p:cNvPr>
          <p:cNvSpPr>
            <a:spLocks xmlns:a="http://schemas.openxmlformats.org/drawingml/2006/main" noGrp="1"/>
          </p:cNvSpPr>
          <p:nvPr/>
        </p:nvSpPr>
        <p:spPr>
          <a:xfrm xmlns:a="http://schemas.openxmlformats.org/drawingml/2006/main">
            <a:off x="762000" y="2362200"/>
            <a:ext cx="30480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8E6BD9E-1A22-4C14-828C-F2EA8F54B3AC}"/>
              </a:ext>
            </a:extLst>
          </p:cNvPr>
          <p:cNvSpPr>
            <a:spLocks xmlns:a="http://schemas.openxmlformats.org/drawingml/2006/main" noGrp="1"/>
          </p:cNvSpPr>
          <p:nvPr/>
        </p:nvSpPr>
        <p:spPr>
          <a:xfrm xmlns:a="http://schemas.openxmlformats.org/drawingml/2006/main">
            <a:off x="914400" y="2495550"/>
            <a:ext cx="2743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protocol family의 연속성</a:t>
            </a:r>
          </a:p>
        </p:txBody>
      </p:sp>
      <p:sp>
        <p:nvSpPr>
          <p:cNvPr id="17" name="">
            <a:extLst xmlns:a="http://schemas.openxmlformats.org/drawingml/2006/main">
              <a:ext uri="{FF2B5EF4-FFF2-40B4-BE49-F238E27FC236}">
                <a16:creationId xmlns:a16="http://schemas.microsoft.com/office/drawing/2014/main" id="{7EDD7738-D638-47C8-A255-1F9E14519E05}"/>
              </a:ext>
            </a:extLst>
          </p:cNvPr>
          <p:cNvSpPr>
            <a:spLocks xmlns:a="http://schemas.openxmlformats.org/drawingml/2006/main" noGrp="1"/>
          </p:cNvSpPr>
          <p:nvPr/>
        </p:nvSpPr>
        <p:spPr>
          <a:xfrm xmlns:a="http://schemas.openxmlformats.org/drawingml/2006/main">
            <a:off x="914400" y="2914650"/>
            <a:ext cx="27432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whole cerebral,</a:t>
            </a:r>
          </a:p>
          <a:p xmlns:a="http://schemas.openxmlformats.org/drawingml/2006/main">
            <a:pPr algn="l">
              <a:defRPr sz="1200" b="0">
                <a:solidFill>
                  <a:srgbClr val="132024"/>
                </a:solidFill>
              </a:defRPr>
            </a:pPr>
            <a:r>
              <a:rPr sz="1200" b="0">
                <a:solidFill>
                  <a:srgbClr val="132024"/>
                </a:solidFill>
              </a:rPr>
              <a:t>forebrain/cortical,</a:t>
            </a:r>
          </a:p>
          <a:p xmlns:a="http://schemas.openxmlformats.org/drawingml/2006/main">
            <a:pPr algn="l">
              <a:defRPr sz="1200" b="0">
                <a:solidFill>
                  <a:srgbClr val="132024"/>
                </a:solidFill>
              </a:defRPr>
            </a:pPr>
            <a:r>
              <a:rPr sz="1200" b="0">
                <a:solidFill>
                  <a:srgbClr val="132024"/>
                </a:solidFill>
              </a:rPr>
              <a:t>posterior/niche가 한 branch</a:t>
            </a:r>
          </a:p>
          <a:p xmlns:a="http://schemas.openxmlformats.org/drawingml/2006/main">
            <a:pPr algn="l">
              <a:defRPr sz="1200" b="0">
                <a:solidFill>
                  <a:srgbClr val="132024"/>
                </a:solidFill>
              </a:defRPr>
            </a:pPr>
            <a:r>
              <a:rPr sz="1200" b="0">
                <a:solidFill>
                  <a:srgbClr val="132024"/>
                </a:solidFill>
              </a:rPr>
              <a:t>안에서 연속적으로 정리된다.</a:t>
            </a:r>
          </a:p>
        </p:txBody>
      </p:sp>
      <p:sp>
        <p:nvSpPr>
          <p:cNvPr id="18" name="">
            <a:extLst xmlns:a="http://schemas.openxmlformats.org/drawingml/2006/main">
              <a:ext uri="{FF2B5EF4-FFF2-40B4-BE49-F238E27FC236}">
                <a16:creationId xmlns:a16="http://schemas.microsoft.com/office/drawing/2014/main" id="{005354FD-17C3-434B-9A96-DBA9524B1914}"/>
              </a:ext>
            </a:extLst>
          </p:cNvPr>
          <p:cNvSpPr>
            <a:spLocks xmlns:a="http://schemas.openxmlformats.org/drawingml/2006/main" noGrp="1"/>
          </p:cNvSpPr>
          <p:nvPr/>
        </p:nvSpPr>
        <p:spPr>
          <a:xfrm xmlns:a="http://schemas.openxmlformats.org/drawingml/2006/main">
            <a:off x="4000500" y="3257550"/>
            <a:ext cx="7048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19" name="">
            <a:extLst xmlns:a="http://schemas.openxmlformats.org/drawingml/2006/main">
              <a:ext uri="{FF2B5EF4-FFF2-40B4-BE49-F238E27FC236}">
                <a16:creationId xmlns:a16="http://schemas.microsoft.com/office/drawing/2014/main" id="{3F7D848C-3FB3-42FF-AA6C-94F7392A88A3}"/>
              </a:ext>
            </a:extLst>
          </p:cNvPr>
          <p:cNvSpPr>
            <a:spLocks xmlns:a="http://schemas.openxmlformats.org/drawingml/2006/main" noGrp="1"/>
          </p:cNvSpPr>
          <p:nvPr/>
        </p:nvSpPr>
        <p:spPr>
          <a:xfrm xmlns:a="http://schemas.openxmlformats.org/drawingml/2006/main">
            <a:off x="4762500" y="2305050"/>
            <a:ext cx="3162300" cy="2247900"/>
          </a:xfrm>
          <a:prstGeom xmlns:a="http://schemas.openxmlformats.org/drawingml/2006/main" prst="roundRect">
            <a:avLst>
              <a:gd name="adj" fmla="val 339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0" name="">
            <a:extLst xmlns:a="http://schemas.openxmlformats.org/drawingml/2006/main">
              <a:ext uri="{FF2B5EF4-FFF2-40B4-BE49-F238E27FC236}">
                <a16:creationId xmlns:a16="http://schemas.microsoft.com/office/drawing/2014/main" id="{EF1FD689-58AB-4427-8568-5423C31C6651}"/>
              </a:ext>
            </a:extLst>
          </p:cNvPr>
          <p:cNvSpPr>
            <a:spLocks xmlns:a="http://schemas.openxmlformats.org/drawingml/2006/main" noGrp="1"/>
          </p:cNvSpPr>
          <p:nvPr/>
        </p:nvSpPr>
        <p:spPr>
          <a:xfrm xmlns:a="http://schemas.openxmlformats.org/drawingml/2006/main">
            <a:off x="4819650" y="2362200"/>
            <a:ext cx="30480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70C0094-C25F-4BA1-96D2-76DA5ABE7DF0}"/>
              </a:ext>
            </a:extLst>
          </p:cNvPr>
          <p:cNvSpPr>
            <a:spLocks xmlns:a="http://schemas.openxmlformats.org/drawingml/2006/main" noGrp="1"/>
          </p:cNvSpPr>
          <p:nvPr/>
        </p:nvSpPr>
        <p:spPr>
          <a:xfrm xmlns:a="http://schemas.openxmlformats.org/drawingml/2006/main">
            <a:off x="4972050" y="2495550"/>
            <a:ext cx="27432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benchmark 축의 확장</a:t>
            </a:r>
          </a:p>
        </p:txBody>
      </p:sp>
      <p:sp>
        <p:nvSpPr>
          <p:cNvPr id="22" name="">
            <a:extLst xmlns:a="http://schemas.openxmlformats.org/drawingml/2006/main">
              <a:ext uri="{FF2B5EF4-FFF2-40B4-BE49-F238E27FC236}">
                <a16:creationId xmlns:a16="http://schemas.microsoft.com/office/drawing/2014/main" id="{F036D897-AB0C-4D84-91D6-CB8A00AD9C0B}"/>
              </a:ext>
            </a:extLst>
          </p:cNvPr>
          <p:cNvSpPr>
            <a:spLocks xmlns:a="http://schemas.openxmlformats.org/drawingml/2006/main" noGrp="1"/>
          </p:cNvSpPr>
          <p:nvPr/>
        </p:nvSpPr>
        <p:spPr>
          <a:xfrm xmlns:a="http://schemas.openxmlformats.org/drawingml/2006/main">
            <a:off x="4972050" y="2914650"/>
            <a:ext cx="27432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동일 branch 내에서도</a:t>
            </a:r>
          </a:p>
          <a:p xmlns:a="http://schemas.openxmlformats.org/drawingml/2006/main">
            <a:pPr algn="l">
              <a:defRPr sz="1200" b="0">
                <a:solidFill>
                  <a:srgbClr val="132024"/>
                </a:solidFill>
              </a:defRPr>
            </a:pPr>
            <a:r>
              <a:rPr sz="1200" b="0">
                <a:solidFill>
                  <a:srgbClr val="132024"/>
                </a:solidFill>
              </a:rPr>
              <a:t>reproducibility, fidelity,</a:t>
            </a:r>
          </a:p>
          <a:p xmlns:a="http://schemas.openxmlformats.org/drawingml/2006/main">
            <a:pPr algn="l">
              <a:defRPr sz="1200" b="0">
                <a:solidFill>
                  <a:srgbClr val="132024"/>
                </a:solidFill>
              </a:defRPr>
            </a:pPr>
            <a:r>
              <a:rPr sz="1200" b="0">
                <a:solidFill>
                  <a:srgbClr val="132024"/>
                </a:solidFill>
              </a:rPr>
              <a:t>timing, atlas alignment를</a:t>
            </a:r>
          </a:p>
          <a:p xmlns:a="http://schemas.openxmlformats.org/drawingml/2006/main">
            <a:pPr algn="l">
              <a:defRPr sz="1200" b="0">
                <a:solidFill>
                  <a:srgbClr val="132024"/>
                </a:solidFill>
              </a:defRPr>
            </a:pPr>
            <a:r>
              <a:rPr sz="1200" b="0">
                <a:solidFill>
                  <a:srgbClr val="132024"/>
                </a:solidFill>
              </a:rPr>
              <a:t>분리하여 평가할 수 있다.</a:t>
            </a:r>
          </a:p>
        </p:txBody>
      </p:sp>
      <p:sp>
        <p:nvSpPr>
          <p:cNvPr id="23" name="">
            <a:extLst xmlns:a="http://schemas.openxmlformats.org/drawingml/2006/main">
              <a:ext uri="{FF2B5EF4-FFF2-40B4-BE49-F238E27FC236}">
                <a16:creationId xmlns:a16="http://schemas.microsoft.com/office/drawing/2014/main" id="{9E0B9F96-6DAD-4C9F-ABD0-8DE0001EA7B7}"/>
              </a:ext>
            </a:extLst>
          </p:cNvPr>
          <p:cNvSpPr>
            <a:spLocks xmlns:a="http://schemas.openxmlformats.org/drawingml/2006/main" noGrp="1"/>
          </p:cNvSpPr>
          <p:nvPr/>
        </p:nvSpPr>
        <p:spPr>
          <a:xfrm xmlns:a="http://schemas.openxmlformats.org/drawingml/2006/main">
            <a:off x="8058150" y="3257550"/>
            <a:ext cx="7048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24" name="">
            <a:extLst xmlns:a="http://schemas.openxmlformats.org/drawingml/2006/main">
              <a:ext uri="{FF2B5EF4-FFF2-40B4-BE49-F238E27FC236}">
                <a16:creationId xmlns:a16="http://schemas.microsoft.com/office/drawing/2014/main" id="{9AF6AAD7-A62F-467B-889C-86D27BB4D2B3}"/>
              </a:ext>
            </a:extLst>
          </p:cNvPr>
          <p:cNvSpPr>
            <a:spLocks xmlns:a="http://schemas.openxmlformats.org/drawingml/2006/main" noGrp="1"/>
          </p:cNvSpPr>
          <p:nvPr/>
        </p:nvSpPr>
        <p:spPr>
          <a:xfrm xmlns:a="http://schemas.openxmlformats.org/drawingml/2006/main">
            <a:off x="8820150" y="2305050"/>
            <a:ext cx="2667000" cy="2247900"/>
          </a:xfrm>
          <a:prstGeom xmlns:a="http://schemas.openxmlformats.org/drawingml/2006/main" prst="roundRect">
            <a:avLst>
              <a:gd name="adj" fmla="val 339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5" name="">
            <a:extLst xmlns:a="http://schemas.openxmlformats.org/drawingml/2006/main">
              <a:ext uri="{FF2B5EF4-FFF2-40B4-BE49-F238E27FC236}">
                <a16:creationId xmlns:a16="http://schemas.microsoft.com/office/drawing/2014/main" id="{122D76B9-1F2D-4192-B889-D2B34A2748C1}"/>
              </a:ext>
            </a:extLst>
          </p:cNvPr>
          <p:cNvSpPr>
            <a:spLocks xmlns:a="http://schemas.openxmlformats.org/drawingml/2006/main" noGrp="1"/>
          </p:cNvSpPr>
          <p:nvPr/>
        </p:nvSpPr>
        <p:spPr>
          <a:xfrm xmlns:a="http://schemas.openxmlformats.org/drawingml/2006/main">
            <a:off x="8877300" y="2362200"/>
            <a:ext cx="25527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C00492A-0CA1-4AC3-8D3C-4146CE051911}"/>
              </a:ext>
            </a:extLst>
          </p:cNvPr>
          <p:cNvSpPr>
            <a:spLocks xmlns:a="http://schemas.openxmlformats.org/drawingml/2006/main" noGrp="1"/>
          </p:cNvSpPr>
          <p:nvPr/>
        </p:nvSpPr>
        <p:spPr>
          <a:xfrm xmlns:a="http://schemas.openxmlformats.org/drawingml/2006/main">
            <a:off x="9029700" y="2495550"/>
            <a:ext cx="2247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readout 중심 정리</a:t>
            </a:r>
          </a:p>
        </p:txBody>
      </p:sp>
      <p:sp>
        <p:nvSpPr>
          <p:cNvPr id="27" name="">
            <a:extLst xmlns:a="http://schemas.openxmlformats.org/drawingml/2006/main">
              <a:ext uri="{FF2B5EF4-FFF2-40B4-BE49-F238E27FC236}">
                <a16:creationId xmlns:a16="http://schemas.microsoft.com/office/drawing/2014/main" id="{AFD186C9-3A68-45DD-89A2-0AE3501F16B2}"/>
              </a:ext>
            </a:extLst>
          </p:cNvPr>
          <p:cNvSpPr>
            <a:spLocks xmlns:a="http://schemas.openxmlformats.org/drawingml/2006/main" noGrp="1"/>
          </p:cNvSpPr>
          <p:nvPr/>
        </p:nvSpPr>
        <p:spPr>
          <a:xfrm xmlns:a="http://schemas.openxmlformats.org/drawingml/2006/main">
            <a:off x="9029700" y="2914650"/>
            <a:ext cx="22479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최종적으로 protocol choice가</a:t>
            </a:r>
          </a:p>
          <a:p xmlns:a="http://schemas.openxmlformats.org/drawingml/2006/main">
            <a:pPr algn="l">
              <a:defRPr sz="1200" b="0">
                <a:solidFill>
                  <a:srgbClr val="132024"/>
                </a:solidFill>
              </a:defRPr>
            </a:pPr>
            <a:r>
              <a:rPr sz="1200" b="0">
                <a:solidFill>
                  <a:srgbClr val="132024"/>
                </a:solidFill>
              </a:rPr>
              <a:t>readout-first rule로</a:t>
            </a:r>
          </a:p>
          <a:p xmlns:a="http://schemas.openxmlformats.org/drawingml/2006/main">
            <a:pPr algn="l">
              <a:defRPr sz="1200" b="0">
                <a:solidFill>
                  <a:srgbClr val="132024"/>
                </a:solidFill>
              </a:defRPr>
            </a:pPr>
            <a:r>
              <a:rPr sz="1200" b="0">
                <a:solidFill>
                  <a:srgbClr val="132024"/>
                </a:solidFill>
              </a:rPr>
              <a:t>이동하면서 발표의 결론 구조가 완성된다.</a:t>
            </a:r>
          </a:p>
        </p:txBody>
      </p:sp>
      <p:sp>
        <p:nvSpPr>
          <p:cNvPr id="28" name="">
            <a:extLst xmlns:a="http://schemas.openxmlformats.org/drawingml/2006/main">
              <a:ext uri="{FF2B5EF4-FFF2-40B4-BE49-F238E27FC236}">
                <a16:creationId xmlns:a16="http://schemas.microsoft.com/office/drawing/2014/main" id="{19886A6C-AA9D-4C38-8442-03286882D89C}"/>
              </a:ext>
            </a:extLst>
          </p:cNvPr>
          <p:cNvSpPr>
            <a:spLocks xmlns:a="http://schemas.openxmlformats.org/drawingml/2006/main" noGrp="1"/>
          </p:cNvSpPr>
          <p:nvPr/>
        </p:nvSpPr>
        <p:spPr>
          <a:xfrm xmlns:a="http://schemas.openxmlformats.org/drawingml/2006/main">
            <a:off x="723900" y="5029200"/>
            <a:ext cx="10744200" cy="781050"/>
          </a:xfrm>
          <a:prstGeom xmlns:a="http://schemas.openxmlformats.org/drawingml/2006/main" prst="roundRect">
            <a:avLst>
              <a:gd name="adj" fmla="val 9756"/>
            </a:avLst>
          </a:prstGeom>
          <a:solidFill xmlns:a="http://schemas.openxmlformats.org/drawingml/2006/main">
            <a:srgbClr val="F4E8C8"/>
          </a:solidFill>
          <a:ln xmlns:a="http://schemas.openxmlformats.org/drawingml/2006/main" w="11430">
            <a:solidFill>
              <a:srgbClr val="132024"/>
            </a:solidFill>
            <a:prstDash val="solid"/>
          </a:ln>
        </p:spPr>
      </p:sp>
      <p:sp>
        <p:nvSpPr>
          <p:cNvPr id="29" name="">
            <a:extLst xmlns:a="http://schemas.openxmlformats.org/drawingml/2006/main">
              <a:ext uri="{FF2B5EF4-FFF2-40B4-BE49-F238E27FC236}">
                <a16:creationId xmlns:a16="http://schemas.microsoft.com/office/drawing/2014/main" id="{85D744B1-F3A8-49AD-ACFA-D483C1EF5CEB}"/>
              </a:ext>
            </a:extLst>
          </p:cNvPr>
          <p:cNvSpPr>
            <a:spLocks xmlns:a="http://schemas.openxmlformats.org/drawingml/2006/main" noGrp="1"/>
          </p:cNvSpPr>
          <p:nvPr/>
        </p:nvSpPr>
        <p:spPr>
          <a:xfrm xmlns:a="http://schemas.openxmlformats.org/drawingml/2006/main">
            <a:off x="771525" y="5076825"/>
            <a:ext cx="57150" cy="6858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1527CDBD-A279-4DD8-9E1A-BCCAA0B0CFDC}"/>
              </a:ext>
            </a:extLst>
          </p:cNvPr>
          <p:cNvSpPr>
            <a:spLocks xmlns:a="http://schemas.openxmlformats.org/drawingml/2006/main" noGrp="1"/>
          </p:cNvSpPr>
          <p:nvPr/>
        </p:nvSpPr>
        <p:spPr>
          <a:xfrm xmlns:a="http://schemas.openxmlformats.org/drawingml/2006/main">
            <a:off x="933450" y="5181600"/>
            <a:ext cx="10363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brain branch는 protocol family -&gt; benchmark -&gt; readout의 흐름이 연속적으로 연결되어, 질문 체인의 이동을 가장 선명하게 드러낸다.</a:t>
            </a:r>
          </a:p>
        </p:txBody>
      </p:sp>
      <p:sp>
        <p:nvSpPr>
          <p:cNvPr id="31" name="">
            <a:extLst xmlns:a="http://schemas.openxmlformats.org/drawingml/2006/main">
              <a:ext uri="{FF2B5EF4-FFF2-40B4-BE49-F238E27FC236}">
                <a16:creationId xmlns:a16="http://schemas.microsoft.com/office/drawing/2014/main" id="{20D33FCE-241D-418B-B9D2-27DA8A2DDC7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따라서 organoid collection 전체에서 brain branch는 발표 사례로서 가장 높은 설명력을 제공한다.</a:t>
            </a:r>
          </a:p>
        </p:txBody>
      </p:sp>
    </p:spTree>
    <p:extLst>
      <p:ext uri="{BB962C8B-B14F-4D97-AF65-F5344CB8AC3E}">
        <p14:creationId xmlns:p14="http://schemas.microsoft.com/office/powerpoint/2010/main" val="150234285"/>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2b89e959284c84"/>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CC57CF-6353-4165-BD4D-4E4693BF43AA}"/>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19AB712-871A-4A03-B4A2-482B633F3A6C}"/>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A5A70A2-8D63-45C1-8690-8472212C1C56}"/>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522B669D-E557-4C67-94AC-7B1B5CAAA830}"/>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0FE911F2-C8BD-4FD9-8703-D42976E3B592}"/>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E5872552-B1CB-44CB-BC89-10367E83A4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E66CA5A-FFBD-488C-B39B-909A2E1A625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QUESTION 1</a:t>
            </a:r>
          </a:p>
        </p:txBody>
      </p:sp>
      <p:sp>
        <p:nvSpPr>
          <p:cNvPr id="10" name="">
            <a:extLst xmlns:a="http://schemas.openxmlformats.org/drawingml/2006/main">
              <a:ext uri="{FF2B5EF4-FFF2-40B4-BE49-F238E27FC236}">
                <a16:creationId xmlns:a16="http://schemas.microsoft.com/office/drawing/2014/main" id="{0403987D-DF26-4D0C-958A-CB90C2D9AAD8}"/>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05 / 13</a:t>
            </a:r>
          </a:p>
        </p:txBody>
      </p:sp>
      <p:sp>
        <p:nvSpPr>
          <p:cNvPr id="11" name="">
            <a:extLst xmlns:a="http://schemas.openxmlformats.org/drawingml/2006/main">
              <a:ext uri="{FF2B5EF4-FFF2-40B4-BE49-F238E27FC236}">
                <a16:creationId xmlns:a16="http://schemas.microsoft.com/office/drawing/2014/main" id="{6443663B-E9C9-442F-AB18-38A723706330}"/>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871834A-42F9-47C2-9E66-CF5782E69D78}"/>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0292621D-CCF3-4F6E-8BB9-59ED3028AB1B}"/>
              </a:ext>
            </a:extLst>
          </p:cNvPr>
          <p:cNvSpPr>
            <a:spLocks xmlns:a="http://schemas.openxmlformats.org/drawingml/2006/main" noGrp="1"/>
          </p:cNvSpPr>
          <p:nvPr/>
        </p:nvSpPr>
        <p:spPr>
          <a:xfrm xmlns:a="http://schemas.openxmlformats.org/drawingml/2006/main">
            <a:off x="609600" y="838200"/>
            <a:ext cx="6096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32024"/>
                </a:solidFill>
              </a:defRPr>
            </a:pPr>
            <a:r>
              <a:rPr sz="2700" b="1">
                <a:solidFill>
                  <a:srgbClr val="132024"/>
                </a:solidFill>
              </a:rPr>
              <a:t>1차 질문: subregion 중심의</a:t>
            </a:r>
          </a:p>
          <a:p xmlns:a="http://schemas.openxmlformats.org/drawingml/2006/main">
            <a:pPr algn="l">
              <a:defRPr sz="2700" b="1">
                <a:solidFill>
                  <a:srgbClr val="132024"/>
                </a:solidFill>
              </a:defRPr>
            </a:pPr>
            <a:r>
              <a:rPr sz="2700" b="1">
                <a:solidFill>
                  <a:srgbClr val="132024"/>
                </a:solidFill>
              </a:rPr>
              <a:t>protocol 비교</a:t>
            </a:r>
          </a:p>
        </p:txBody>
      </p:sp>
      <p:sp>
        <p:nvSpPr>
          <p:cNvPr id="14" name="">
            <a:extLst xmlns:a="http://schemas.openxmlformats.org/drawingml/2006/main">
              <a:ext uri="{FF2B5EF4-FFF2-40B4-BE49-F238E27FC236}">
                <a16:creationId xmlns:a16="http://schemas.microsoft.com/office/drawing/2014/main" id="{715322D8-9322-4BD2-8420-3C564632EFAA}"/>
              </a:ext>
            </a:extLst>
          </p:cNvPr>
          <p:cNvSpPr>
            <a:spLocks xmlns:a="http://schemas.openxmlformats.org/drawingml/2006/main" noGrp="1"/>
          </p:cNvSpPr>
          <p:nvPr/>
        </p:nvSpPr>
        <p:spPr>
          <a:xfrm xmlns:a="http://schemas.openxmlformats.org/drawingml/2006/main">
            <a:off x="685800" y="2133600"/>
            <a:ext cx="3200400" cy="1333500"/>
          </a:xfrm>
          <a:prstGeom xmlns:a="http://schemas.openxmlformats.org/drawingml/2006/main" prst="roundRect">
            <a:avLst>
              <a:gd name="adj" fmla="val 5714"/>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832EA266-B129-4934-948A-15819853D267}"/>
              </a:ext>
            </a:extLst>
          </p:cNvPr>
          <p:cNvSpPr>
            <a:spLocks xmlns:a="http://schemas.openxmlformats.org/drawingml/2006/main" noGrp="1"/>
          </p:cNvSpPr>
          <p:nvPr/>
        </p:nvSpPr>
        <p:spPr>
          <a:xfrm xmlns:a="http://schemas.openxmlformats.org/drawingml/2006/main">
            <a:off x="742950" y="2190750"/>
            <a:ext cx="30861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36C3AFE-F9C0-49D6-9CF3-598DA3282F28}"/>
              </a:ext>
            </a:extLst>
          </p:cNvPr>
          <p:cNvSpPr>
            <a:spLocks xmlns:a="http://schemas.openxmlformats.org/drawingml/2006/main" noGrp="1"/>
          </p:cNvSpPr>
          <p:nvPr/>
        </p:nvSpPr>
        <p:spPr>
          <a:xfrm xmlns:a="http://schemas.openxmlformats.org/drawingml/2006/main">
            <a:off x="895350" y="232410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출발 질문</a:t>
            </a:r>
          </a:p>
        </p:txBody>
      </p:sp>
      <p:sp>
        <p:nvSpPr>
          <p:cNvPr id="17" name="">
            <a:extLst xmlns:a="http://schemas.openxmlformats.org/drawingml/2006/main">
              <a:ext uri="{FF2B5EF4-FFF2-40B4-BE49-F238E27FC236}">
                <a16:creationId xmlns:a16="http://schemas.microsoft.com/office/drawing/2014/main" id="{18B106E4-3CAB-47C3-941E-B24FC3E582CC}"/>
              </a:ext>
            </a:extLst>
          </p:cNvPr>
          <p:cNvSpPr>
            <a:spLocks xmlns:a="http://schemas.openxmlformats.org/drawingml/2006/main" noGrp="1"/>
          </p:cNvSpPr>
          <p:nvPr/>
        </p:nvSpPr>
        <p:spPr>
          <a:xfrm xmlns:a="http://schemas.openxmlformats.org/drawingml/2006/main">
            <a:off x="895350" y="2743200"/>
            <a:ext cx="278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whole, forebrain,</a:t>
            </a:r>
          </a:p>
          <a:p xmlns:a="http://schemas.openxmlformats.org/drawingml/2006/main">
            <a:pPr algn="l">
              <a:defRPr sz="1200" b="0">
                <a:solidFill>
                  <a:srgbClr val="132024"/>
                </a:solidFill>
              </a:defRPr>
            </a:pPr>
            <a:r>
              <a:rPr sz="1200" b="0">
                <a:solidFill>
                  <a:srgbClr val="132024"/>
                </a:solidFill>
              </a:rPr>
              <a:t>posterior/niche 중 연구 질문에</a:t>
            </a:r>
          </a:p>
          <a:p xmlns:a="http://schemas.openxmlformats.org/drawingml/2006/main">
            <a:pPr algn="l">
              <a:defRPr sz="1200" b="0">
                <a:solidFill>
                  <a:srgbClr val="132024"/>
                </a:solidFill>
              </a:defRPr>
            </a:pPr>
            <a:r>
              <a:rPr sz="1200" b="0">
                <a:solidFill>
                  <a:srgbClr val="132024"/>
                </a:solidFill>
              </a:rPr>
              <a:t>부합하는 branch의 선택</a:t>
            </a:r>
          </a:p>
        </p:txBody>
      </p:sp>
      <p:sp>
        <p:nvSpPr>
          <p:cNvPr id="18" name="">
            <a:extLst xmlns:a="http://schemas.openxmlformats.org/drawingml/2006/main">
              <a:ext uri="{FF2B5EF4-FFF2-40B4-BE49-F238E27FC236}">
                <a16:creationId xmlns:a16="http://schemas.microsoft.com/office/drawing/2014/main" id="{499089A3-FD7D-462F-A68C-D16BA70845BC}"/>
              </a:ext>
            </a:extLst>
          </p:cNvPr>
          <p:cNvSpPr>
            <a:spLocks xmlns:a="http://schemas.openxmlformats.org/drawingml/2006/main" noGrp="1"/>
          </p:cNvSpPr>
          <p:nvPr/>
        </p:nvSpPr>
        <p:spPr>
          <a:xfrm xmlns:a="http://schemas.openxmlformats.org/drawingml/2006/main">
            <a:off x="685800" y="3638550"/>
            <a:ext cx="3200400" cy="1333500"/>
          </a:xfrm>
          <a:prstGeom xmlns:a="http://schemas.openxmlformats.org/drawingml/2006/main" prst="roundRect">
            <a:avLst>
              <a:gd name="adj" fmla="val 5714"/>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648AE2E5-73A2-4873-A66C-A7144A07C96D}"/>
              </a:ext>
            </a:extLst>
          </p:cNvPr>
          <p:cNvSpPr>
            <a:spLocks xmlns:a="http://schemas.openxmlformats.org/drawingml/2006/main" noGrp="1"/>
          </p:cNvSpPr>
          <p:nvPr/>
        </p:nvSpPr>
        <p:spPr>
          <a:xfrm xmlns:a="http://schemas.openxmlformats.org/drawingml/2006/main">
            <a:off x="742950" y="3695700"/>
            <a:ext cx="30861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10FA36D-69D8-4018-A746-F199086198BA}"/>
              </a:ext>
            </a:extLst>
          </p:cNvPr>
          <p:cNvSpPr>
            <a:spLocks xmlns:a="http://schemas.openxmlformats.org/drawingml/2006/main" noGrp="1"/>
          </p:cNvSpPr>
          <p:nvPr/>
        </p:nvSpPr>
        <p:spPr>
          <a:xfrm xmlns:a="http://schemas.openxmlformats.org/drawingml/2006/main">
            <a:off x="895350" y="38290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여기에 연결된 문헌</a:t>
            </a:r>
          </a:p>
        </p:txBody>
      </p:sp>
      <p:sp>
        <p:nvSpPr>
          <p:cNvPr id="21" name="">
            <a:extLst xmlns:a="http://schemas.openxmlformats.org/drawingml/2006/main">
              <a:ext uri="{FF2B5EF4-FFF2-40B4-BE49-F238E27FC236}">
                <a16:creationId xmlns:a16="http://schemas.microsoft.com/office/drawing/2014/main" id="{0F2937A7-1434-4101-8A4E-06EEB9D99B60}"/>
              </a:ext>
            </a:extLst>
          </p:cNvPr>
          <p:cNvSpPr>
            <a:spLocks xmlns:a="http://schemas.openxmlformats.org/drawingml/2006/main" noGrp="1"/>
          </p:cNvSpPr>
          <p:nvPr/>
        </p:nvSpPr>
        <p:spPr>
          <a:xfrm xmlns:a="http://schemas.openxmlformats.org/drawingml/2006/main">
            <a:off x="895350" y="4248150"/>
            <a:ext cx="278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Lancaster, Sloan,</a:t>
            </a:r>
          </a:p>
          <a:p xmlns:a="http://schemas.openxmlformats.org/drawingml/2006/main">
            <a:pPr algn="l">
              <a:defRPr sz="1200" b="0">
                <a:solidFill>
                  <a:srgbClr val="132024"/>
                </a:solidFill>
              </a:defRPr>
            </a:pPr>
            <a:r>
              <a:rPr sz="1200" b="0">
                <a:solidFill>
                  <a:srgbClr val="132024"/>
                </a:solidFill>
              </a:rPr>
              <a:t>Fitzgerald, Zagare 등 주요</a:t>
            </a:r>
          </a:p>
          <a:p xmlns:a="http://schemas.openxmlformats.org/drawingml/2006/main">
            <a:pPr algn="l">
              <a:defRPr sz="1200" b="0">
                <a:solidFill>
                  <a:srgbClr val="132024"/>
                </a:solidFill>
              </a:defRPr>
            </a:pPr>
            <a:r>
              <a:rPr sz="1200" b="0">
                <a:solidFill>
                  <a:srgbClr val="132024"/>
                </a:solidFill>
              </a:rPr>
              <a:t>protocol 논문</a:t>
            </a:r>
          </a:p>
        </p:txBody>
      </p:sp>
      <p:sp>
        <p:nvSpPr>
          <p:cNvPr id="22" name="">
            <a:extLst xmlns:a="http://schemas.openxmlformats.org/drawingml/2006/main">
              <a:ext uri="{FF2B5EF4-FFF2-40B4-BE49-F238E27FC236}">
                <a16:creationId xmlns:a16="http://schemas.microsoft.com/office/drawing/2014/main" id="{1E16C1E8-4E59-4770-BE65-4232B7F053F2}"/>
              </a:ext>
            </a:extLst>
          </p:cNvPr>
          <p:cNvSpPr>
            <a:spLocks xmlns:a="http://schemas.openxmlformats.org/drawingml/2006/main" noGrp="1"/>
          </p:cNvSpPr>
          <p:nvPr/>
        </p:nvSpPr>
        <p:spPr>
          <a:xfrm xmlns:a="http://schemas.openxmlformats.org/drawingml/2006/main">
            <a:off x="685800" y="5162550"/>
            <a:ext cx="3200400" cy="1143000"/>
          </a:xfrm>
          <a:prstGeom xmlns:a="http://schemas.openxmlformats.org/drawingml/2006/main" prst="roundRect">
            <a:avLst>
              <a:gd name="adj" fmla="val 66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89E8B084-75FD-4E46-A2D2-76E808865385}"/>
              </a:ext>
            </a:extLst>
          </p:cNvPr>
          <p:cNvSpPr>
            <a:spLocks xmlns:a="http://schemas.openxmlformats.org/drawingml/2006/main" noGrp="1"/>
          </p:cNvSpPr>
          <p:nvPr/>
        </p:nvSpPr>
        <p:spPr>
          <a:xfrm xmlns:a="http://schemas.openxmlformats.org/drawingml/2006/main">
            <a:off x="742950" y="5219700"/>
            <a:ext cx="30861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034CAA1-C963-4E36-9DBA-CCAC778B57F5}"/>
              </a:ext>
            </a:extLst>
          </p:cNvPr>
          <p:cNvSpPr>
            <a:spLocks xmlns:a="http://schemas.openxmlformats.org/drawingml/2006/main" noGrp="1"/>
          </p:cNvSpPr>
          <p:nvPr/>
        </p:nvSpPr>
        <p:spPr>
          <a:xfrm xmlns:a="http://schemas.openxmlformats.org/drawingml/2006/main">
            <a:off x="895350" y="53530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1차 해석</a:t>
            </a:r>
          </a:p>
        </p:txBody>
      </p:sp>
      <p:sp>
        <p:nvSpPr>
          <p:cNvPr id="25" name="">
            <a:extLst xmlns:a="http://schemas.openxmlformats.org/drawingml/2006/main">
              <a:ext uri="{FF2B5EF4-FFF2-40B4-BE49-F238E27FC236}">
                <a16:creationId xmlns:a16="http://schemas.microsoft.com/office/drawing/2014/main" id="{6F5ABDD4-D4D3-44B7-A0A5-0BFA92296F42}"/>
              </a:ext>
            </a:extLst>
          </p:cNvPr>
          <p:cNvSpPr>
            <a:spLocks xmlns:a="http://schemas.openxmlformats.org/drawingml/2006/main" noGrp="1"/>
          </p:cNvSpPr>
          <p:nvPr/>
        </p:nvSpPr>
        <p:spPr>
          <a:xfrm xmlns:a="http://schemas.openxmlformats.org/drawingml/2006/main">
            <a:off x="895350" y="5772150"/>
            <a:ext cx="2781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1차 결론: subregion selection을</a:t>
            </a:r>
          </a:p>
          <a:p xmlns:a="http://schemas.openxmlformats.org/drawingml/2006/main">
            <a:pPr algn="l">
              <a:defRPr sz="1200" b="0">
                <a:solidFill>
                  <a:srgbClr val="132024"/>
                </a:solidFill>
              </a:defRPr>
            </a:pPr>
            <a:r>
              <a:rPr sz="1200" b="0">
                <a:solidFill>
                  <a:srgbClr val="132024"/>
                </a:solidFill>
              </a:rPr>
              <a:t>우선적 비교 기준으로 설정</a:t>
            </a:r>
          </a:p>
        </p:txBody>
      </p:sp>
      <p:sp>
        <p:nvSpPr>
          <p:cNvPr id="26" name="">
            <a:extLst xmlns:a="http://schemas.openxmlformats.org/drawingml/2006/main">
              <a:ext uri="{FF2B5EF4-FFF2-40B4-BE49-F238E27FC236}">
                <a16:creationId xmlns:a16="http://schemas.microsoft.com/office/drawing/2014/main" id="{2C8BF9E9-D2FA-41E7-A719-254BD2B46235}"/>
              </a:ext>
            </a:extLst>
          </p:cNvPr>
          <p:cNvSpPr>
            <a:spLocks xmlns:a="http://schemas.openxmlformats.org/drawingml/2006/main" noGrp="1"/>
          </p:cNvSpPr>
          <p:nvPr/>
        </p:nvSpPr>
        <p:spPr>
          <a:xfrm xmlns:a="http://schemas.openxmlformats.org/drawingml/2006/main">
            <a:off x="4362450" y="1943100"/>
            <a:ext cx="7029450" cy="4076700"/>
          </a:xfrm>
          <a:prstGeom xmlns:a="http://schemas.openxmlformats.org/drawingml/2006/main" prst="roundRect">
            <a:avLst>
              <a:gd name="adj" fmla="val 1869"/>
            </a:avLst>
          </a:prstGeom>
          <a:solidFill xmlns:a="http://schemas.openxmlformats.org/drawingml/2006/main">
            <a:srgbClr val="FBF7EF"/>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CD10FB7E-4C56-4A8A-8FBF-76B058DADB90}"/>
              </a:ext>
            </a:extLst>
          </p:cNvPr>
          <p:cNvSpPr>
            <a:spLocks xmlns:a="http://schemas.openxmlformats.org/drawingml/2006/main" noGrp="1"/>
          </p:cNvSpPr>
          <p:nvPr/>
        </p:nvSpPr>
        <p:spPr>
          <a:xfrm xmlns:a="http://schemas.openxmlformats.org/drawingml/2006/main">
            <a:off x="4419600" y="2000250"/>
            <a:ext cx="6915150" cy="57150"/>
          </a:xfrm>
          <a:prstGeom xmlns:a="http://schemas.openxmlformats.org/drawingml/2006/main" prst="rect">
            <a:avLst/>
          </a:prstGeom>
          <a:solidFill xmlns:a="http://schemas.openxmlformats.org/drawingml/2006/main">
            <a:srgbClr val="A9C9B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4A1D72C-7ED6-44B1-9FA0-A47A6009FFE9}"/>
              </a:ext>
            </a:extLst>
          </p:cNvPr>
          <p:cNvSpPr>
            <a:spLocks xmlns:a="http://schemas.openxmlformats.org/drawingml/2006/main" noGrp="1"/>
          </p:cNvSpPr>
          <p:nvPr/>
        </p:nvSpPr>
        <p:spPr>
          <a:xfrm xmlns:a="http://schemas.openxmlformats.org/drawingml/2006/main">
            <a:off x="4629150" y="2266950"/>
            <a:ext cx="6496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32024"/>
                </a:solidFill>
              </a:defRPr>
            </a:pPr>
            <a:r>
              <a:rPr sz="1575" b="1">
                <a:solidFill>
                  <a:srgbClr val="132024"/>
                </a:solidFill>
              </a:rPr>
              <a:t>Obsidian Local Graph</a:t>
            </a:r>
          </a:p>
        </p:txBody>
      </p:sp>
      <p:sp>
        <p:nvSpPr>
          <p:cNvPr id="29" name="">
            <a:extLst xmlns:a="http://schemas.openxmlformats.org/drawingml/2006/main">
              <a:ext uri="{FF2B5EF4-FFF2-40B4-BE49-F238E27FC236}">
                <a16:creationId xmlns:a16="http://schemas.microsoft.com/office/drawing/2014/main" id="{66B4BE89-48EF-48A4-BBE0-2D8E34CAD43C}"/>
              </a:ext>
            </a:extLst>
          </p:cNvPr>
          <p:cNvSpPr>
            <a:spLocks xmlns:a="http://schemas.openxmlformats.org/drawingml/2006/main" noGrp="1"/>
          </p:cNvSpPr>
          <p:nvPr/>
        </p:nvSpPr>
        <p:spPr>
          <a:xfrm xmlns:a="http://schemas.openxmlformats.org/drawingml/2006/main">
            <a:off x="4629150" y="2667000"/>
            <a:ext cx="649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344146"/>
                </a:solidFill>
              </a:defRPr>
            </a:pPr>
            <a:r>
              <a:rPr sz="900" b="0">
                <a:solidFill>
                  <a:srgbClr val="344146"/>
                </a:solidFill>
              </a:rPr>
              <a:t>Graph screenshot placeholder</a:t>
            </a:r>
          </a:p>
        </p:txBody>
      </p:sp>
      <p:sp>
        <p:nvSpPr>
          <p:cNvPr id="30" name="">
            <a:extLst xmlns:a="http://schemas.openxmlformats.org/drawingml/2006/main">
              <a:ext uri="{FF2B5EF4-FFF2-40B4-BE49-F238E27FC236}">
                <a16:creationId xmlns:a16="http://schemas.microsoft.com/office/drawing/2014/main" id="{E1BF03B4-34E8-4027-9594-3DFCD94A0EBE}"/>
              </a:ext>
            </a:extLst>
          </p:cNvPr>
          <p:cNvSpPr>
            <a:spLocks xmlns:a="http://schemas.openxmlformats.org/drawingml/2006/main" noGrp="1"/>
          </p:cNvSpPr>
          <p:nvPr/>
        </p:nvSpPr>
        <p:spPr>
          <a:xfrm xmlns:a="http://schemas.openxmlformats.org/drawingml/2006/main">
            <a:off x="4667250" y="3067050"/>
            <a:ext cx="6419850" cy="2228850"/>
          </a:xfrm>
          <a:prstGeom xmlns:a="http://schemas.openxmlformats.org/drawingml/2006/main" prst="roundRect">
            <a:avLst>
              <a:gd name="adj" fmla="val 3419"/>
            </a:avLst>
          </a:prstGeom>
          <a:solidFill xmlns:a="http://schemas.openxmlformats.org/drawingml/2006/main">
            <a:srgbClr val="FFFDF8"/>
          </a:solidFill>
          <a:ln xmlns:a="http://schemas.openxmlformats.org/drawingml/2006/main" w="9525">
            <a:solidFill>
              <a:srgbClr val="B6C1C5"/>
            </a:solidFill>
            <a:prstDash val="solid"/>
          </a:ln>
        </p:spPr>
      </p:sp>
      <p:sp>
        <p:nvSpPr>
          <p:cNvPr id="31" name="">
            <a:extLst xmlns:a="http://schemas.openxmlformats.org/drawingml/2006/main">
              <a:ext uri="{FF2B5EF4-FFF2-40B4-BE49-F238E27FC236}">
                <a16:creationId xmlns:a16="http://schemas.microsoft.com/office/drawing/2014/main" id="{BAD69422-CD13-487B-B7BC-481B5B9DE3BB}"/>
              </a:ext>
            </a:extLst>
          </p:cNvPr>
          <p:cNvSpPr>
            <a:spLocks xmlns:a="http://schemas.openxmlformats.org/drawingml/2006/main" noGrp="1"/>
          </p:cNvSpPr>
          <p:nvPr/>
        </p:nvSpPr>
        <p:spPr>
          <a:xfrm xmlns:a="http://schemas.openxmlformats.org/drawingml/2006/main">
            <a:off x="4857750" y="5219700"/>
            <a:ext cx="603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0F5B3F"/>
                </a:solidFill>
              </a:defRPr>
            </a:pPr>
            <a:r>
              <a:rPr sz="825" b="0">
                <a:solidFill>
                  <a:srgbClr val="0F5B3F"/>
                </a:solidFill>
              </a:rPr>
              <a:t>collections/organoid/wiki/queries/20260408_174047_brain-subregion-protocol-comparison.md</a:t>
            </a:r>
          </a:p>
        </p:txBody>
      </p:sp>
      <p:sp>
        <p:nvSpPr>
          <p:cNvPr id="32" name="">
            <a:extLst xmlns:a="http://schemas.openxmlformats.org/drawingml/2006/main">
              <a:ext uri="{FF2B5EF4-FFF2-40B4-BE49-F238E27FC236}">
                <a16:creationId xmlns:a16="http://schemas.microsoft.com/office/drawing/2014/main" id="{6B729911-3E98-4B8F-85D7-7D44A7862492}"/>
              </a:ext>
            </a:extLst>
          </p:cNvPr>
          <p:cNvSpPr>
            <a:spLocks xmlns:a="http://schemas.openxmlformats.org/drawingml/2006/main" noGrp="1"/>
          </p:cNvSpPr>
          <p:nvPr/>
        </p:nvSpPr>
        <p:spPr>
          <a:xfrm xmlns:a="http://schemas.openxmlformats.org/drawingml/2006/main">
            <a:off x="4667250" y="5619750"/>
            <a:ext cx="641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767C"/>
                </a:solidFill>
              </a:defRPr>
            </a:pPr>
            <a:r>
              <a:rPr sz="750" b="0">
                <a:solidFill>
                  <a:srgbClr val="6A767C"/>
                </a:solidFill>
              </a:rPr>
              <a:t>Q1 local graph</a:t>
            </a:r>
          </a:p>
        </p:txBody>
      </p:sp>
      <p:sp>
        <p:nvSpPr>
          <p:cNvPr id="33" name="">
            <a:extLst xmlns:a="http://schemas.openxmlformats.org/drawingml/2006/main">
              <a:ext uri="{FF2B5EF4-FFF2-40B4-BE49-F238E27FC236}">
                <a16:creationId xmlns:a16="http://schemas.microsoft.com/office/drawing/2014/main" id="{0A55AB48-A9F9-4A80-885E-749886BAFEE1}"/>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우측 패널: Q1 query note의 Obsidian local graph 삽입 위치</a:t>
            </a:r>
          </a:p>
        </p:txBody>
      </p:sp>
    </p:spTree>
    <p:extLst>
      <p:ext uri="{BB962C8B-B14F-4D97-AF65-F5344CB8AC3E}">
        <p14:creationId xmlns:p14="http://schemas.microsoft.com/office/powerpoint/2010/main" val="1849420513"/>
      </p:ext>
    </p:extLst>
  </p:cSld>
</p:sld>
</file>

<file path=ppt/slides/slide6.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3a7eb41e0414a28"/>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00A405-F6F1-45C6-B1DB-03958A38CA90}"/>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E419634-E73D-4E63-AD23-48FD96F4BD86}"/>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3532530-27C7-4DA0-B538-E06529153E66}"/>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F05DA9DD-74CD-4674-9F5C-022260BB1AD1}"/>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EF930495-393B-49A1-B2B8-3FECEC6380C7}"/>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54FFCC88-797A-4F64-B2BF-96A39B7BF0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A6348E0-192A-4EFD-847F-8930B55D434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FIRST ANSWER</a:t>
            </a:r>
          </a:p>
        </p:txBody>
      </p:sp>
      <p:sp>
        <p:nvSpPr>
          <p:cNvPr id="10" name="">
            <a:extLst xmlns:a="http://schemas.openxmlformats.org/drawingml/2006/main">
              <a:ext uri="{FF2B5EF4-FFF2-40B4-BE49-F238E27FC236}">
                <a16:creationId xmlns:a16="http://schemas.microsoft.com/office/drawing/2014/main" id="{95477F3C-64AF-4DA1-9A37-C4F87C811E91}"/>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06 / 13</a:t>
            </a:r>
          </a:p>
        </p:txBody>
      </p:sp>
      <p:sp>
        <p:nvSpPr>
          <p:cNvPr id="11" name="">
            <a:extLst xmlns:a="http://schemas.openxmlformats.org/drawingml/2006/main">
              <a:ext uri="{FF2B5EF4-FFF2-40B4-BE49-F238E27FC236}">
                <a16:creationId xmlns:a16="http://schemas.microsoft.com/office/drawing/2014/main" id="{2DA8A858-72CE-4393-BC21-84989A00F922}"/>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DF788AE-BB2B-468F-9B59-47490F46A7C7}"/>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C5A4DC0F-4D16-4496-BB90-07928EDC8D73}"/>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1차 정리: subregion selection 중심의</a:t>
            </a:r>
          </a:p>
          <a:p xmlns:a="http://schemas.openxmlformats.org/drawingml/2006/main">
            <a:pPr algn="l">
              <a:defRPr sz="2850" b="1">
                <a:solidFill>
                  <a:srgbClr val="132024"/>
                </a:solidFill>
              </a:defRPr>
            </a:pPr>
            <a:r>
              <a:rPr sz="2850" b="1">
                <a:solidFill>
                  <a:srgbClr val="132024"/>
                </a:solidFill>
              </a:rPr>
              <a:t>protocol 분류</a:t>
            </a:r>
          </a:p>
        </p:txBody>
      </p:sp>
      <p:sp>
        <p:nvSpPr>
          <p:cNvPr id="14" name="">
            <a:extLst xmlns:a="http://schemas.openxmlformats.org/drawingml/2006/main">
              <a:ext uri="{FF2B5EF4-FFF2-40B4-BE49-F238E27FC236}">
                <a16:creationId xmlns:a16="http://schemas.microsoft.com/office/drawing/2014/main" id="{893D9F0C-4044-4EAB-8CD6-82D3C23F7934}"/>
              </a:ext>
            </a:extLst>
          </p:cNvPr>
          <p:cNvSpPr>
            <a:spLocks xmlns:a="http://schemas.openxmlformats.org/drawingml/2006/main" noGrp="1"/>
          </p:cNvSpPr>
          <p:nvPr/>
        </p:nvSpPr>
        <p:spPr>
          <a:xfrm xmlns:a="http://schemas.openxmlformats.org/drawingml/2006/main">
            <a:off x="742950" y="2209800"/>
            <a:ext cx="3314700" cy="2781300"/>
          </a:xfrm>
          <a:prstGeom xmlns:a="http://schemas.openxmlformats.org/drawingml/2006/main" prst="roundRect">
            <a:avLst>
              <a:gd name="adj" fmla="val 274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6DBAE681-85B0-40C7-96D9-66C06B144E2F}"/>
              </a:ext>
            </a:extLst>
          </p:cNvPr>
          <p:cNvSpPr>
            <a:spLocks xmlns:a="http://schemas.openxmlformats.org/drawingml/2006/main" noGrp="1"/>
          </p:cNvSpPr>
          <p:nvPr/>
        </p:nvSpPr>
        <p:spPr>
          <a:xfrm xmlns:a="http://schemas.openxmlformats.org/drawingml/2006/main">
            <a:off x="800100" y="2266950"/>
            <a:ext cx="32004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A32788A-8A8F-4624-96CB-68C636DB3359}"/>
              </a:ext>
            </a:extLst>
          </p:cNvPr>
          <p:cNvSpPr>
            <a:spLocks xmlns:a="http://schemas.openxmlformats.org/drawingml/2006/main" noGrp="1"/>
          </p:cNvSpPr>
          <p:nvPr/>
        </p:nvSpPr>
        <p:spPr>
          <a:xfrm xmlns:a="http://schemas.openxmlformats.org/drawingml/2006/main">
            <a:off x="952500" y="24003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broad cerebral baseline</a:t>
            </a:r>
          </a:p>
        </p:txBody>
      </p:sp>
      <p:sp>
        <p:nvSpPr>
          <p:cNvPr id="17" name="">
            <a:extLst xmlns:a="http://schemas.openxmlformats.org/drawingml/2006/main">
              <a:ext uri="{FF2B5EF4-FFF2-40B4-BE49-F238E27FC236}">
                <a16:creationId xmlns:a16="http://schemas.microsoft.com/office/drawing/2014/main" id="{118116E0-BA27-4E51-B13A-7D44ABAA4D81}"/>
              </a:ext>
            </a:extLst>
          </p:cNvPr>
          <p:cNvSpPr>
            <a:spLocks xmlns:a="http://schemas.openxmlformats.org/drawingml/2006/main" noGrp="1"/>
          </p:cNvSpPr>
          <p:nvPr/>
        </p:nvSpPr>
        <p:spPr>
          <a:xfrm xmlns:a="http://schemas.openxmlformats.org/drawingml/2006/main">
            <a:off x="952500" y="2819400"/>
            <a:ext cx="2895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자가조직화 기반. regional diversity와</a:t>
            </a:r>
          </a:p>
          <a:p xmlns:a="http://schemas.openxmlformats.org/drawingml/2006/main">
            <a:pPr algn="l">
              <a:defRPr sz="1200" b="0">
                <a:solidFill>
                  <a:srgbClr val="132024"/>
                </a:solidFill>
              </a:defRPr>
            </a:pPr>
            <a:r>
              <a:rPr sz="1200" b="0">
                <a:solidFill>
                  <a:srgbClr val="132024"/>
                </a:solidFill>
              </a:rPr>
              <a:t>emergent architecture 관찰에</a:t>
            </a:r>
          </a:p>
          <a:p xmlns:a="http://schemas.openxmlformats.org/drawingml/2006/main">
            <a:pPr algn="l">
              <a:defRPr sz="1200" b="0">
                <a:solidFill>
                  <a:srgbClr val="132024"/>
                </a:solidFill>
              </a:defRPr>
            </a:pPr>
            <a:r>
              <a:rPr sz="1200" b="0">
                <a:solidFill>
                  <a:srgbClr val="132024"/>
                </a:solidFill>
              </a:rPr>
              <a:t>유리하나, batch variability와</a:t>
            </a:r>
          </a:p>
          <a:p xmlns:a="http://schemas.openxmlformats.org/drawingml/2006/main">
            <a:pPr algn="l">
              <a:defRPr sz="1200" b="0">
                <a:solidFill>
                  <a:srgbClr val="132024"/>
                </a:solidFill>
              </a:defRPr>
            </a:pPr>
            <a:r>
              <a:rPr sz="1200" b="0">
                <a:solidFill>
                  <a:srgbClr val="132024"/>
                </a:solidFill>
              </a:rPr>
              <a:t>mixed identity가 증가한다. 대표</a:t>
            </a:r>
          </a:p>
          <a:p xmlns:a="http://schemas.openxmlformats.org/drawingml/2006/main">
            <a:pPr algn="l">
              <a:defRPr sz="1200" b="0">
                <a:solidFill>
                  <a:srgbClr val="132024"/>
                </a:solidFill>
              </a:defRPr>
            </a:pPr>
            <a:r>
              <a:rPr sz="1200" b="0">
                <a:solidFill>
                  <a:srgbClr val="132024"/>
                </a:solidFill>
              </a:rPr>
              <a:t>anchor: Lancaster 2014.</a:t>
            </a:r>
          </a:p>
        </p:txBody>
      </p:sp>
      <p:sp>
        <p:nvSpPr>
          <p:cNvPr id="18" name="">
            <a:extLst xmlns:a="http://schemas.openxmlformats.org/drawingml/2006/main">
              <a:ext uri="{FF2B5EF4-FFF2-40B4-BE49-F238E27FC236}">
                <a16:creationId xmlns:a16="http://schemas.microsoft.com/office/drawing/2014/main" id="{4846E309-EC76-4CD7-B550-5C225E4BB5A8}"/>
              </a:ext>
            </a:extLst>
          </p:cNvPr>
          <p:cNvSpPr>
            <a:spLocks xmlns:a="http://schemas.openxmlformats.org/drawingml/2006/main" noGrp="1"/>
          </p:cNvSpPr>
          <p:nvPr/>
        </p:nvSpPr>
        <p:spPr>
          <a:xfrm xmlns:a="http://schemas.openxmlformats.org/drawingml/2006/main">
            <a:off x="4438650" y="2209800"/>
            <a:ext cx="3314700" cy="2781300"/>
          </a:xfrm>
          <a:prstGeom xmlns:a="http://schemas.openxmlformats.org/drawingml/2006/main" prst="roundRect">
            <a:avLst>
              <a:gd name="adj" fmla="val 274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3DC9F18F-8C20-4E12-85FB-A1E5E6B85F99}"/>
              </a:ext>
            </a:extLst>
          </p:cNvPr>
          <p:cNvSpPr>
            <a:spLocks xmlns:a="http://schemas.openxmlformats.org/drawingml/2006/main" noGrp="1"/>
          </p:cNvSpPr>
          <p:nvPr/>
        </p:nvSpPr>
        <p:spPr>
          <a:xfrm xmlns:a="http://schemas.openxmlformats.org/drawingml/2006/main">
            <a:off x="4495800" y="2266950"/>
            <a:ext cx="32004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A8E82FB-F662-4D59-A875-1DE5A581BC4F}"/>
              </a:ext>
            </a:extLst>
          </p:cNvPr>
          <p:cNvSpPr>
            <a:spLocks xmlns:a="http://schemas.openxmlformats.org/drawingml/2006/main" noGrp="1"/>
          </p:cNvSpPr>
          <p:nvPr/>
        </p:nvSpPr>
        <p:spPr>
          <a:xfrm xmlns:a="http://schemas.openxmlformats.org/drawingml/2006/main">
            <a:off x="4648200" y="24003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forebrain / cortical control</a:t>
            </a:r>
          </a:p>
        </p:txBody>
      </p:sp>
      <p:sp>
        <p:nvSpPr>
          <p:cNvPr id="21" name="">
            <a:extLst xmlns:a="http://schemas.openxmlformats.org/drawingml/2006/main">
              <a:ext uri="{FF2B5EF4-FFF2-40B4-BE49-F238E27FC236}">
                <a16:creationId xmlns:a16="http://schemas.microsoft.com/office/drawing/2014/main" id="{8C353C5F-4DC8-46F1-90B9-C50B9A0CB9C5}"/>
              </a:ext>
            </a:extLst>
          </p:cNvPr>
          <p:cNvSpPr>
            <a:spLocks xmlns:a="http://schemas.openxmlformats.org/drawingml/2006/main" noGrp="1"/>
          </p:cNvSpPr>
          <p:nvPr/>
        </p:nvSpPr>
        <p:spPr>
          <a:xfrm xmlns:a="http://schemas.openxmlformats.org/drawingml/2006/main">
            <a:off x="4648200" y="2819400"/>
            <a:ext cx="2895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dual SMAD 또는 semi-guided</a:t>
            </a:r>
          </a:p>
          <a:p xmlns:a="http://schemas.openxmlformats.org/drawingml/2006/main">
            <a:pPr algn="l">
              <a:defRPr sz="1200" b="0">
                <a:solidFill>
                  <a:srgbClr val="132024"/>
                </a:solidFill>
              </a:defRPr>
            </a:pPr>
            <a:r>
              <a:rPr sz="1200" b="0">
                <a:solidFill>
                  <a:srgbClr val="132024"/>
                </a:solidFill>
              </a:rPr>
              <a:t>control을 통해 regional identity</a:t>
            </a:r>
          </a:p>
          <a:p xmlns:a="http://schemas.openxmlformats.org/drawingml/2006/main">
            <a:pPr algn="l">
              <a:defRPr sz="1200" b="0">
                <a:solidFill>
                  <a:srgbClr val="132024"/>
                </a:solidFill>
              </a:defRPr>
            </a:pPr>
            <a:r>
              <a:rPr sz="1200" b="0">
                <a:solidFill>
                  <a:srgbClr val="132024"/>
                </a:solidFill>
              </a:rPr>
              <a:t>정제와 재현성 향상을 지향한다. 대표 anchor:</a:t>
            </a:r>
          </a:p>
          <a:p xmlns:a="http://schemas.openxmlformats.org/drawingml/2006/main">
            <a:pPr algn="l">
              <a:defRPr sz="1200" b="0">
                <a:solidFill>
                  <a:srgbClr val="132024"/>
                </a:solidFill>
              </a:defRPr>
            </a:pPr>
            <a:r>
              <a:rPr sz="1200" b="0">
                <a:solidFill>
                  <a:srgbClr val="132024"/>
                </a:solidFill>
              </a:rPr>
              <a:t>Sloan 2018, Fitzgerald 2024,</a:t>
            </a:r>
          </a:p>
          <a:p xmlns:a="http://schemas.openxmlformats.org/drawingml/2006/main">
            <a:pPr algn="l">
              <a:defRPr sz="1200" b="0">
                <a:solidFill>
                  <a:srgbClr val="132024"/>
                </a:solidFill>
              </a:defRPr>
            </a:pPr>
            <a:r>
              <a:rPr sz="1200" b="0">
                <a:solidFill>
                  <a:srgbClr val="132024"/>
                </a:solidFill>
              </a:rPr>
              <a:t>Ullah 2025.</a:t>
            </a:r>
          </a:p>
        </p:txBody>
      </p:sp>
      <p:sp>
        <p:nvSpPr>
          <p:cNvPr id="22" name="">
            <a:extLst xmlns:a="http://schemas.openxmlformats.org/drawingml/2006/main">
              <a:ext uri="{FF2B5EF4-FFF2-40B4-BE49-F238E27FC236}">
                <a16:creationId xmlns:a16="http://schemas.microsoft.com/office/drawing/2014/main" id="{7158427E-B2CB-47CC-A574-FAF2EE8092B4}"/>
              </a:ext>
            </a:extLst>
          </p:cNvPr>
          <p:cNvSpPr>
            <a:spLocks xmlns:a="http://schemas.openxmlformats.org/drawingml/2006/main" noGrp="1"/>
          </p:cNvSpPr>
          <p:nvPr/>
        </p:nvSpPr>
        <p:spPr>
          <a:xfrm xmlns:a="http://schemas.openxmlformats.org/drawingml/2006/main">
            <a:off x="8134350" y="2209800"/>
            <a:ext cx="3314700" cy="2781300"/>
          </a:xfrm>
          <a:prstGeom xmlns:a="http://schemas.openxmlformats.org/drawingml/2006/main" prst="roundRect">
            <a:avLst>
              <a:gd name="adj" fmla="val 274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4FBA5A0A-F875-46C5-B271-C61FC67C4980}"/>
              </a:ext>
            </a:extLst>
          </p:cNvPr>
          <p:cNvSpPr>
            <a:spLocks xmlns:a="http://schemas.openxmlformats.org/drawingml/2006/main" noGrp="1"/>
          </p:cNvSpPr>
          <p:nvPr/>
        </p:nvSpPr>
        <p:spPr>
          <a:xfrm xmlns:a="http://schemas.openxmlformats.org/drawingml/2006/main">
            <a:off x="8191500" y="2266950"/>
            <a:ext cx="32004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8C19393-5BC9-41C8-9DF9-D1CDF43BBE0D}"/>
              </a:ext>
            </a:extLst>
          </p:cNvPr>
          <p:cNvSpPr>
            <a:spLocks xmlns:a="http://schemas.openxmlformats.org/drawingml/2006/main" noGrp="1"/>
          </p:cNvSpPr>
          <p:nvPr/>
        </p:nvSpPr>
        <p:spPr>
          <a:xfrm xmlns:a="http://schemas.openxmlformats.org/drawingml/2006/main">
            <a:off x="8343900" y="24003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posterior / niche specialization</a:t>
            </a:r>
          </a:p>
        </p:txBody>
      </p:sp>
      <p:sp>
        <p:nvSpPr>
          <p:cNvPr id="25" name="">
            <a:extLst xmlns:a="http://schemas.openxmlformats.org/drawingml/2006/main">
              <a:ext uri="{FF2B5EF4-FFF2-40B4-BE49-F238E27FC236}">
                <a16:creationId xmlns:a16="http://schemas.microsoft.com/office/drawing/2014/main" id="{245606E2-D165-49EE-BC48-6197FA46FAE9}"/>
              </a:ext>
            </a:extLst>
          </p:cNvPr>
          <p:cNvSpPr>
            <a:spLocks xmlns:a="http://schemas.openxmlformats.org/drawingml/2006/main" noGrp="1"/>
          </p:cNvSpPr>
          <p:nvPr/>
        </p:nvSpPr>
        <p:spPr>
          <a:xfrm xmlns:a="http://schemas.openxmlformats.org/drawingml/2006/main">
            <a:off x="8343900" y="2819400"/>
            <a:ext cx="2895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midbrain, brainstem,</a:t>
            </a:r>
          </a:p>
          <a:p xmlns:a="http://schemas.openxmlformats.org/drawingml/2006/main">
            <a:pPr algn="l">
              <a:defRPr sz="1200" b="0">
                <a:solidFill>
                  <a:srgbClr val="132024"/>
                </a:solidFill>
              </a:defRPr>
            </a:pPr>
            <a:r>
              <a:rPr sz="1200" b="0">
                <a:solidFill>
                  <a:srgbClr val="132024"/>
                </a:solidFill>
              </a:rPr>
              <a:t>hindbrain, hippocampus,</a:t>
            </a:r>
          </a:p>
          <a:p xmlns:a="http://schemas.openxmlformats.org/drawingml/2006/main">
            <a:pPr algn="l">
              <a:defRPr sz="1200" b="0">
                <a:solidFill>
                  <a:srgbClr val="132024"/>
                </a:solidFill>
              </a:defRPr>
            </a:pPr>
            <a:r>
              <a:rPr sz="1200" b="0">
                <a:solidFill>
                  <a:srgbClr val="132024"/>
                </a:solidFill>
              </a:rPr>
              <a:t>cerebellum 등 질문 특이적</a:t>
            </a:r>
          </a:p>
          <a:p xmlns:a="http://schemas.openxmlformats.org/drawingml/2006/main">
            <a:pPr algn="l">
              <a:defRPr sz="1200" b="0">
                <a:solidFill>
                  <a:srgbClr val="132024"/>
                </a:solidFill>
              </a:defRPr>
            </a:pPr>
            <a:r>
              <a:rPr sz="1200" b="0">
                <a:solidFill>
                  <a:srgbClr val="132024"/>
                </a:solidFill>
              </a:rPr>
              <a:t>posterior/niche branch로 분화한다.</a:t>
            </a:r>
          </a:p>
          <a:p xmlns:a="http://schemas.openxmlformats.org/drawingml/2006/main">
            <a:pPr algn="l">
              <a:defRPr sz="1200" b="0">
                <a:solidFill>
                  <a:srgbClr val="132024"/>
                </a:solidFill>
              </a:defRPr>
            </a:pPr>
            <a:r>
              <a:rPr sz="1200" b="0">
                <a:solidFill>
                  <a:srgbClr val="132024"/>
                </a:solidFill>
              </a:rPr>
              <a:t>대표 anchor: Zagare, Eura,</a:t>
            </a:r>
          </a:p>
          <a:p xmlns:a="http://schemas.openxmlformats.org/drawingml/2006/main">
            <a:pPr algn="l">
              <a:defRPr sz="1200" b="0">
                <a:solidFill>
                  <a:srgbClr val="132024"/>
                </a:solidFill>
              </a:defRPr>
            </a:pPr>
            <a:r>
              <a:rPr sz="1200" b="0">
                <a:solidFill>
                  <a:srgbClr val="132024"/>
                </a:solidFill>
              </a:rPr>
              <a:t>Pomeshchik, Atamian.</a:t>
            </a:r>
          </a:p>
        </p:txBody>
      </p:sp>
      <p:sp>
        <p:nvSpPr>
          <p:cNvPr id="26" name="">
            <a:extLst xmlns:a="http://schemas.openxmlformats.org/drawingml/2006/main">
              <a:ext uri="{FF2B5EF4-FFF2-40B4-BE49-F238E27FC236}">
                <a16:creationId xmlns:a16="http://schemas.microsoft.com/office/drawing/2014/main" id="{F00E111A-3ED6-4648-8443-AAA6BAE5245C}"/>
              </a:ext>
            </a:extLst>
          </p:cNvPr>
          <p:cNvSpPr>
            <a:spLocks xmlns:a="http://schemas.openxmlformats.org/drawingml/2006/main" noGrp="1"/>
          </p:cNvSpPr>
          <p:nvPr/>
        </p:nvSpPr>
        <p:spPr>
          <a:xfrm xmlns:a="http://schemas.openxmlformats.org/drawingml/2006/main">
            <a:off x="857250" y="5353050"/>
            <a:ext cx="10572750" cy="704850"/>
          </a:xfrm>
          <a:prstGeom xmlns:a="http://schemas.openxmlformats.org/drawingml/2006/main" prst="roundRect">
            <a:avLst>
              <a:gd name="adj" fmla="val 10811"/>
            </a:avLst>
          </a:prstGeom>
          <a:solidFill xmlns:a="http://schemas.openxmlformats.org/drawingml/2006/main">
            <a:srgbClr val="F4E8C8"/>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64990918-CFC3-4D5B-8F63-C07F1042947E}"/>
              </a:ext>
            </a:extLst>
          </p:cNvPr>
          <p:cNvSpPr>
            <a:spLocks xmlns:a="http://schemas.openxmlformats.org/drawingml/2006/main" noGrp="1"/>
          </p:cNvSpPr>
          <p:nvPr/>
        </p:nvSpPr>
        <p:spPr>
          <a:xfrm xmlns:a="http://schemas.openxmlformats.org/drawingml/2006/main">
            <a:off x="904875" y="5400675"/>
            <a:ext cx="57150" cy="6096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7DB82FD-ABDE-4C85-BB65-003A4DD47190}"/>
              </a:ext>
            </a:extLst>
          </p:cNvPr>
          <p:cNvSpPr>
            <a:spLocks xmlns:a="http://schemas.openxmlformats.org/drawingml/2006/main" noGrp="1"/>
          </p:cNvSpPr>
          <p:nvPr/>
        </p:nvSpPr>
        <p:spPr>
          <a:xfrm xmlns:a="http://schemas.openxmlformats.org/drawingml/2006/main">
            <a:off x="1066800" y="5505450"/>
            <a:ext cx="10191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1차 결론: brain organoid design의 1차 기준은 subregion selection이었다.</a:t>
            </a:r>
          </a:p>
        </p:txBody>
      </p:sp>
      <p:sp>
        <p:nvSpPr>
          <p:cNvPr id="29" name="">
            <a:extLst xmlns:a="http://schemas.openxmlformats.org/drawingml/2006/main">
              <a:ext uri="{FF2B5EF4-FFF2-40B4-BE49-F238E27FC236}">
                <a16:creationId xmlns:a16="http://schemas.microsoft.com/office/drawing/2014/main" id="{D0865537-9E89-4A6D-9AA7-0367D28EB67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subregion logic는 유효한 출발점이지만, 모델 평가 전반을 설명하지는 못하였다.</a:t>
            </a:r>
          </a:p>
        </p:txBody>
      </p:sp>
    </p:spTree>
    <p:extLst>
      <p:ext uri="{BB962C8B-B14F-4D97-AF65-F5344CB8AC3E}">
        <p14:creationId xmlns:p14="http://schemas.microsoft.com/office/powerpoint/2010/main" val="1537473146"/>
      </p:ext>
    </p:extLst>
  </p:cSld>
</p:sld>
</file>

<file path=ppt/slides/slide7.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7581bb9ff7340cf"/>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051EE4-A839-47EB-AA88-F2EE6CF870A8}"/>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F9E5E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8880933-82DE-42CC-8551-7109EC05BA5F}"/>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FC1B3F0-FE79-4EEC-80B5-4D4EE3AB23A1}"/>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90520F22-B647-416D-A343-BFF0FE838684}"/>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F87DD9F6-1B5B-4572-A38C-6605907E232B}"/>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CC02F48E-BA36-4ED1-947C-F933FA2D40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1569"/>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6EEAA08-81C1-463C-8D3E-7F8CB1F96E2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LIMITATION</a:t>
            </a:r>
          </a:p>
        </p:txBody>
      </p:sp>
      <p:sp>
        <p:nvSpPr>
          <p:cNvPr id="10" name="">
            <a:extLst xmlns:a="http://schemas.openxmlformats.org/drawingml/2006/main">
              <a:ext uri="{FF2B5EF4-FFF2-40B4-BE49-F238E27FC236}">
                <a16:creationId xmlns:a16="http://schemas.microsoft.com/office/drawing/2014/main" id="{0C0B5F29-AD0B-438D-AC18-D2A9E0488117}"/>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07 / 13</a:t>
            </a:r>
          </a:p>
        </p:txBody>
      </p:sp>
      <p:sp>
        <p:nvSpPr>
          <p:cNvPr id="11" name="">
            <a:extLst xmlns:a="http://schemas.openxmlformats.org/drawingml/2006/main">
              <a:ext uri="{FF2B5EF4-FFF2-40B4-BE49-F238E27FC236}">
                <a16:creationId xmlns:a16="http://schemas.microsoft.com/office/drawing/2014/main" id="{BF838A1C-BD38-470D-B5FF-74F05F2EAB29}"/>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454684D-9CFA-403E-8088-BF5D334EC596}"/>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C01FECB3-D26B-427C-BA1C-0CEDCF2F48B8}"/>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한계: 동일 subregion은</a:t>
            </a:r>
          </a:p>
          <a:p xmlns:a="http://schemas.openxmlformats.org/drawingml/2006/main">
            <a:pPr algn="l">
              <a:defRPr sz="2850" b="1">
                <a:solidFill>
                  <a:srgbClr val="132024"/>
                </a:solidFill>
              </a:defRPr>
            </a:pPr>
            <a:r>
              <a:rPr sz="2850" b="1">
                <a:solidFill>
                  <a:srgbClr val="132024"/>
                </a:solidFill>
              </a:rPr>
              <a:t>동일 모델을 의미하지 않음</a:t>
            </a:r>
          </a:p>
        </p:txBody>
      </p:sp>
      <p:sp>
        <p:nvSpPr>
          <p:cNvPr id="14" name="">
            <a:extLst xmlns:a="http://schemas.openxmlformats.org/drawingml/2006/main">
              <a:ext uri="{FF2B5EF4-FFF2-40B4-BE49-F238E27FC236}">
                <a16:creationId xmlns:a16="http://schemas.microsoft.com/office/drawing/2014/main" id="{24E61F0C-DB21-47DD-97D6-8DCD278CEA40}"/>
              </a:ext>
            </a:extLst>
          </p:cNvPr>
          <p:cNvSpPr>
            <a:spLocks xmlns:a="http://schemas.openxmlformats.org/drawingml/2006/main" noGrp="1"/>
          </p:cNvSpPr>
          <p:nvPr/>
        </p:nvSpPr>
        <p:spPr>
          <a:xfrm xmlns:a="http://schemas.openxmlformats.org/drawingml/2006/main">
            <a:off x="800100" y="2133600"/>
            <a:ext cx="10591800" cy="971550"/>
          </a:xfrm>
          <a:prstGeom xmlns:a="http://schemas.openxmlformats.org/drawingml/2006/main" prst="roundRect">
            <a:avLst>
              <a:gd name="adj" fmla="val 7843"/>
            </a:avLst>
          </a:prstGeom>
          <a:solidFill xmlns:a="http://schemas.openxmlformats.org/drawingml/2006/main">
            <a:srgbClr val="F7DDD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5B96345C-FE2D-4E74-8E73-FE9A2233169F}"/>
              </a:ext>
            </a:extLst>
          </p:cNvPr>
          <p:cNvSpPr>
            <a:spLocks xmlns:a="http://schemas.openxmlformats.org/drawingml/2006/main" noGrp="1"/>
          </p:cNvSpPr>
          <p:nvPr/>
        </p:nvSpPr>
        <p:spPr>
          <a:xfrm xmlns:a="http://schemas.openxmlformats.org/drawingml/2006/main">
            <a:off x="847725" y="2181225"/>
            <a:ext cx="57150" cy="8763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403C592-90EF-4058-815C-3C3D67F89DA1}"/>
              </a:ext>
            </a:extLst>
          </p:cNvPr>
          <p:cNvSpPr>
            <a:spLocks xmlns:a="http://schemas.openxmlformats.org/drawingml/2006/main" noGrp="1"/>
          </p:cNvSpPr>
          <p:nvPr/>
        </p:nvSpPr>
        <p:spPr>
          <a:xfrm xmlns:a="http://schemas.openxmlformats.org/drawingml/2006/main">
            <a:off x="1009650" y="2286000"/>
            <a:ext cx="102108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동일 forebrain branch 내에서도 protocol별 reproducibility, primary-like fidelity, developmental timing 해석 가능성은 서로 달랐다.</a:t>
            </a:r>
          </a:p>
        </p:txBody>
      </p:sp>
      <p:sp>
        <p:nvSpPr>
          <p:cNvPr id="17" name="">
            <a:extLst xmlns:a="http://schemas.openxmlformats.org/drawingml/2006/main">
              <a:ext uri="{FF2B5EF4-FFF2-40B4-BE49-F238E27FC236}">
                <a16:creationId xmlns:a16="http://schemas.microsoft.com/office/drawing/2014/main" id="{FB291580-1920-4D45-963F-177E09A817AE}"/>
              </a:ext>
            </a:extLst>
          </p:cNvPr>
          <p:cNvSpPr>
            <a:spLocks xmlns:a="http://schemas.openxmlformats.org/drawingml/2006/main" noGrp="1"/>
          </p:cNvSpPr>
          <p:nvPr/>
        </p:nvSpPr>
        <p:spPr>
          <a:xfrm xmlns:a="http://schemas.openxmlformats.org/drawingml/2006/main">
            <a:off x="800100" y="3638550"/>
            <a:ext cx="3143250" cy="1809750"/>
          </a:xfrm>
          <a:prstGeom xmlns:a="http://schemas.openxmlformats.org/drawingml/2006/main" prst="roundRect">
            <a:avLst>
              <a:gd name="adj" fmla="val 4211"/>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D46AB670-954C-40EB-AED5-D6A417F25D42}"/>
              </a:ext>
            </a:extLst>
          </p:cNvPr>
          <p:cNvSpPr>
            <a:spLocks xmlns:a="http://schemas.openxmlformats.org/drawingml/2006/main" noGrp="1"/>
          </p:cNvSpPr>
          <p:nvPr/>
        </p:nvSpPr>
        <p:spPr>
          <a:xfrm xmlns:a="http://schemas.openxmlformats.org/drawingml/2006/main">
            <a:off x="857250" y="3695700"/>
            <a:ext cx="302895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81609699-5A74-4E10-90ED-CE1454B2C9E4}"/>
              </a:ext>
            </a:extLst>
          </p:cNvPr>
          <p:cNvSpPr>
            <a:spLocks xmlns:a="http://schemas.openxmlformats.org/drawingml/2006/main" noGrp="1"/>
          </p:cNvSpPr>
          <p:nvPr/>
        </p:nvSpPr>
        <p:spPr>
          <a:xfrm xmlns:a="http://schemas.openxmlformats.org/drawingml/2006/main">
            <a:off x="1009650" y="382905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reproducibility</a:t>
            </a:r>
          </a:p>
        </p:txBody>
      </p:sp>
      <p:sp>
        <p:nvSpPr>
          <p:cNvPr id="20" name="">
            <a:extLst xmlns:a="http://schemas.openxmlformats.org/drawingml/2006/main">
              <a:ext uri="{FF2B5EF4-FFF2-40B4-BE49-F238E27FC236}">
                <a16:creationId xmlns:a16="http://schemas.microsoft.com/office/drawing/2014/main" id="{9A4AF604-D73E-4DB9-8B2F-0ADB22A61805}"/>
              </a:ext>
            </a:extLst>
          </p:cNvPr>
          <p:cNvSpPr>
            <a:spLocks xmlns:a="http://schemas.openxmlformats.org/drawingml/2006/main" noGrp="1"/>
          </p:cNvSpPr>
          <p:nvPr/>
        </p:nvSpPr>
        <p:spPr>
          <a:xfrm xmlns:a="http://schemas.openxmlformats.org/drawingml/2006/main">
            <a:off x="1009650" y="4248150"/>
            <a:ext cx="27241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반복 배양 시 cell composition과</a:t>
            </a:r>
          </a:p>
          <a:p xmlns:a="http://schemas.openxmlformats.org/drawingml/2006/main">
            <a:pPr algn="l">
              <a:defRPr sz="1200" b="0">
                <a:solidFill>
                  <a:srgbClr val="132024"/>
                </a:solidFill>
              </a:defRPr>
            </a:pPr>
            <a:r>
              <a:rPr sz="1200" b="0">
                <a:solidFill>
                  <a:srgbClr val="132024"/>
                </a:solidFill>
              </a:rPr>
              <a:t>success rate의 안정성</a:t>
            </a:r>
          </a:p>
        </p:txBody>
      </p:sp>
      <p:sp>
        <p:nvSpPr>
          <p:cNvPr id="21" name="">
            <a:extLst xmlns:a="http://schemas.openxmlformats.org/drawingml/2006/main">
              <a:ext uri="{FF2B5EF4-FFF2-40B4-BE49-F238E27FC236}">
                <a16:creationId xmlns:a16="http://schemas.microsoft.com/office/drawing/2014/main" id="{982D2DEC-B17B-4C1C-AFC3-CEAD8F2F726A}"/>
              </a:ext>
            </a:extLst>
          </p:cNvPr>
          <p:cNvSpPr>
            <a:spLocks xmlns:a="http://schemas.openxmlformats.org/drawingml/2006/main" noGrp="1"/>
          </p:cNvSpPr>
          <p:nvPr/>
        </p:nvSpPr>
        <p:spPr>
          <a:xfrm xmlns:a="http://schemas.openxmlformats.org/drawingml/2006/main">
            <a:off x="4514850" y="3638550"/>
            <a:ext cx="3143250" cy="1809750"/>
          </a:xfrm>
          <a:prstGeom xmlns:a="http://schemas.openxmlformats.org/drawingml/2006/main" prst="roundRect">
            <a:avLst>
              <a:gd name="adj" fmla="val 4211"/>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2" name="">
            <a:extLst xmlns:a="http://schemas.openxmlformats.org/drawingml/2006/main">
              <a:ext uri="{FF2B5EF4-FFF2-40B4-BE49-F238E27FC236}">
                <a16:creationId xmlns:a16="http://schemas.microsoft.com/office/drawing/2014/main" id="{1C68658F-3F3F-442D-A1A8-E150AC4D6854}"/>
              </a:ext>
            </a:extLst>
          </p:cNvPr>
          <p:cNvSpPr>
            <a:spLocks xmlns:a="http://schemas.openxmlformats.org/drawingml/2006/main" noGrp="1"/>
          </p:cNvSpPr>
          <p:nvPr/>
        </p:nvSpPr>
        <p:spPr>
          <a:xfrm xmlns:a="http://schemas.openxmlformats.org/drawingml/2006/main">
            <a:off x="4572000" y="3695700"/>
            <a:ext cx="302895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DA59EAF-B503-4C43-B819-C0C5F662AEA5}"/>
              </a:ext>
            </a:extLst>
          </p:cNvPr>
          <p:cNvSpPr>
            <a:spLocks xmlns:a="http://schemas.openxmlformats.org/drawingml/2006/main" noGrp="1"/>
          </p:cNvSpPr>
          <p:nvPr/>
        </p:nvSpPr>
        <p:spPr>
          <a:xfrm xmlns:a="http://schemas.openxmlformats.org/drawingml/2006/main">
            <a:off x="4724400" y="382905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fidelity</a:t>
            </a:r>
          </a:p>
        </p:txBody>
      </p:sp>
      <p:sp>
        <p:nvSpPr>
          <p:cNvPr id="24" name="">
            <a:extLst xmlns:a="http://schemas.openxmlformats.org/drawingml/2006/main">
              <a:ext uri="{FF2B5EF4-FFF2-40B4-BE49-F238E27FC236}">
                <a16:creationId xmlns:a16="http://schemas.microsoft.com/office/drawing/2014/main" id="{0494C7B1-C84C-4AE9-8DEE-F13439A872A0}"/>
              </a:ext>
            </a:extLst>
          </p:cNvPr>
          <p:cNvSpPr>
            <a:spLocks xmlns:a="http://schemas.openxmlformats.org/drawingml/2006/main" noGrp="1"/>
          </p:cNvSpPr>
          <p:nvPr/>
        </p:nvSpPr>
        <p:spPr>
          <a:xfrm xmlns:a="http://schemas.openxmlformats.org/drawingml/2006/main">
            <a:off x="4724400" y="4248150"/>
            <a:ext cx="27241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organoid cell state의</a:t>
            </a:r>
          </a:p>
          <a:p xmlns:a="http://schemas.openxmlformats.org/drawingml/2006/main">
            <a:pPr algn="l">
              <a:defRPr sz="1200" b="0">
                <a:solidFill>
                  <a:srgbClr val="132024"/>
                </a:solidFill>
              </a:defRPr>
            </a:pPr>
            <a:r>
              <a:rPr sz="1200" b="0">
                <a:solidFill>
                  <a:srgbClr val="132024"/>
                </a:solidFill>
              </a:rPr>
              <a:t>primary fetal brain 근접성</a:t>
            </a:r>
          </a:p>
        </p:txBody>
      </p:sp>
      <p:sp>
        <p:nvSpPr>
          <p:cNvPr id="25" name="">
            <a:extLst xmlns:a="http://schemas.openxmlformats.org/drawingml/2006/main">
              <a:ext uri="{FF2B5EF4-FFF2-40B4-BE49-F238E27FC236}">
                <a16:creationId xmlns:a16="http://schemas.microsoft.com/office/drawing/2014/main" id="{FBB68ACD-5475-478D-94D4-CE1FA862E3E9}"/>
              </a:ext>
            </a:extLst>
          </p:cNvPr>
          <p:cNvSpPr>
            <a:spLocks xmlns:a="http://schemas.openxmlformats.org/drawingml/2006/main" noGrp="1"/>
          </p:cNvSpPr>
          <p:nvPr/>
        </p:nvSpPr>
        <p:spPr>
          <a:xfrm xmlns:a="http://schemas.openxmlformats.org/drawingml/2006/main">
            <a:off x="8229600" y="3638550"/>
            <a:ext cx="3143250" cy="1809750"/>
          </a:xfrm>
          <a:prstGeom xmlns:a="http://schemas.openxmlformats.org/drawingml/2006/main" prst="roundRect">
            <a:avLst>
              <a:gd name="adj" fmla="val 4211"/>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6" name="">
            <a:extLst xmlns:a="http://schemas.openxmlformats.org/drawingml/2006/main">
              <a:ext uri="{FF2B5EF4-FFF2-40B4-BE49-F238E27FC236}">
                <a16:creationId xmlns:a16="http://schemas.microsoft.com/office/drawing/2014/main" id="{3B9933ED-D251-4D13-B186-740A507BC872}"/>
              </a:ext>
            </a:extLst>
          </p:cNvPr>
          <p:cNvSpPr>
            <a:spLocks xmlns:a="http://schemas.openxmlformats.org/drawingml/2006/main" noGrp="1"/>
          </p:cNvSpPr>
          <p:nvPr/>
        </p:nvSpPr>
        <p:spPr>
          <a:xfrm xmlns:a="http://schemas.openxmlformats.org/drawingml/2006/main">
            <a:off x="8286750" y="3695700"/>
            <a:ext cx="302895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409CF011-D035-4696-9591-E85167CF555B}"/>
              </a:ext>
            </a:extLst>
          </p:cNvPr>
          <p:cNvSpPr>
            <a:spLocks xmlns:a="http://schemas.openxmlformats.org/drawingml/2006/main" noGrp="1"/>
          </p:cNvSpPr>
          <p:nvPr/>
        </p:nvSpPr>
        <p:spPr>
          <a:xfrm xmlns:a="http://schemas.openxmlformats.org/drawingml/2006/main">
            <a:off x="8439150" y="382905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temporal mapping</a:t>
            </a:r>
          </a:p>
        </p:txBody>
      </p:sp>
      <p:sp>
        <p:nvSpPr>
          <p:cNvPr id="28" name="">
            <a:extLst xmlns:a="http://schemas.openxmlformats.org/drawingml/2006/main">
              <a:ext uri="{FF2B5EF4-FFF2-40B4-BE49-F238E27FC236}">
                <a16:creationId xmlns:a16="http://schemas.microsoft.com/office/drawing/2014/main" id="{2E7CFA58-C30F-4019-AAD5-492BBC3B4F5B}"/>
              </a:ext>
            </a:extLst>
          </p:cNvPr>
          <p:cNvSpPr>
            <a:spLocks xmlns:a="http://schemas.openxmlformats.org/drawingml/2006/main" noGrp="1"/>
          </p:cNvSpPr>
          <p:nvPr/>
        </p:nvSpPr>
        <p:spPr>
          <a:xfrm xmlns:a="http://schemas.openxmlformats.org/drawingml/2006/main">
            <a:off x="8439150" y="4248150"/>
            <a:ext cx="27241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culture day와 human</a:t>
            </a:r>
          </a:p>
          <a:p xmlns:a="http://schemas.openxmlformats.org/drawingml/2006/main">
            <a:pPr algn="l">
              <a:defRPr sz="1200" b="0">
                <a:solidFill>
                  <a:srgbClr val="132024"/>
                </a:solidFill>
              </a:defRPr>
            </a:pPr>
            <a:r>
              <a:rPr sz="1200" b="0">
                <a:solidFill>
                  <a:srgbClr val="132024"/>
                </a:solidFill>
              </a:rPr>
              <a:t>developmental stage 간 대응 관계</a:t>
            </a:r>
          </a:p>
        </p:txBody>
      </p:sp>
      <p:sp>
        <p:nvSpPr>
          <p:cNvPr id="29" name="">
            <a:extLst xmlns:a="http://schemas.openxmlformats.org/drawingml/2006/main">
              <a:ext uri="{FF2B5EF4-FFF2-40B4-BE49-F238E27FC236}">
                <a16:creationId xmlns:a16="http://schemas.microsoft.com/office/drawing/2014/main" id="{8524A31F-40F6-4189-A9F6-E58085A22DD4}"/>
              </a:ext>
            </a:extLst>
          </p:cNvPr>
          <p:cNvSpPr>
            <a:spLocks xmlns:a="http://schemas.openxmlformats.org/drawingml/2006/main" noGrp="1"/>
          </p:cNvSpPr>
          <p:nvPr/>
        </p:nvSpPr>
        <p:spPr>
          <a:xfrm xmlns:a="http://schemas.openxmlformats.org/drawingml/2006/main">
            <a:off x="9810750" y="5543550"/>
            <a:ext cx="1200150" cy="2667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Q1 -&gt; Q2</a:t>
            </a:r>
          </a:p>
        </p:txBody>
      </p:sp>
      <p:sp>
        <p:nvSpPr>
          <p:cNvPr id="30" name="">
            <a:extLst xmlns:a="http://schemas.openxmlformats.org/drawingml/2006/main">
              <a:ext uri="{FF2B5EF4-FFF2-40B4-BE49-F238E27FC236}">
                <a16:creationId xmlns:a16="http://schemas.microsoft.com/office/drawing/2014/main" id="{E401399A-3380-4844-80BC-FEF7E19FCD19}"/>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region 중심 질문만으로는 모델의 신뢰도와 적합성을 충분히 설명하기 어려웠다.</a:t>
            </a:r>
          </a:p>
        </p:txBody>
      </p:sp>
    </p:spTree>
    <p:extLst>
      <p:ext uri="{BB962C8B-B14F-4D97-AF65-F5344CB8AC3E}">
        <p14:creationId xmlns:p14="http://schemas.microsoft.com/office/powerpoint/2010/main" val="1160152288"/>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1c42878740b485d"/>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9BDBA4-331C-495A-82C1-83DB98BAC4B9}"/>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817C6DC-2015-4FDE-9296-C0BFD6BC6708}"/>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43412B9-0004-4A37-9F60-B5E51D839C55}"/>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80757D08-9F2A-4E72-A57F-47273CE46459}"/>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4FF7608F-37D2-4BD5-A0AC-1595A74656C9}"/>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E9A4D2E1-B12E-45C6-B925-3C75839BD7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2AF1FA9-206D-4598-A15E-9C7E7245F38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QUESTION 2</a:t>
            </a:r>
          </a:p>
        </p:txBody>
      </p:sp>
      <p:sp>
        <p:nvSpPr>
          <p:cNvPr id="10" name="">
            <a:extLst xmlns:a="http://schemas.openxmlformats.org/drawingml/2006/main">
              <a:ext uri="{FF2B5EF4-FFF2-40B4-BE49-F238E27FC236}">
                <a16:creationId xmlns:a16="http://schemas.microsoft.com/office/drawing/2014/main" id="{89E31846-6872-4728-8E68-6CC96DD8A87E}"/>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08 / 13</a:t>
            </a:r>
          </a:p>
        </p:txBody>
      </p:sp>
      <p:sp>
        <p:nvSpPr>
          <p:cNvPr id="11" name="">
            <a:extLst xmlns:a="http://schemas.openxmlformats.org/drawingml/2006/main">
              <a:ext uri="{FF2B5EF4-FFF2-40B4-BE49-F238E27FC236}">
                <a16:creationId xmlns:a16="http://schemas.microsoft.com/office/drawing/2014/main" id="{86A8658F-8FD5-4F4A-A332-ADE27335C396}"/>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D14179B-A029-4D10-A676-7AF617EBEC68}"/>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023D5E00-74CB-4F3C-B411-982767AF03C3}"/>
              </a:ext>
            </a:extLst>
          </p:cNvPr>
          <p:cNvSpPr>
            <a:spLocks xmlns:a="http://schemas.openxmlformats.org/drawingml/2006/main" noGrp="1"/>
          </p:cNvSpPr>
          <p:nvPr/>
        </p:nvSpPr>
        <p:spPr>
          <a:xfrm xmlns:a="http://schemas.openxmlformats.org/drawingml/2006/main">
            <a:off x="609600" y="838200"/>
            <a:ext cx="6096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32024"/>
                </a:solidFill>
              </a:defRPr>
            </a:pPr>
            <a:r>
              <a:rPr sz="2700" b="1">
                <a:solidFill>
                  <a:srgbClr val="132024"/>
                </a:solidFill>
              </a:rPr>
              <a:t>2차 질문: region 외</a:t>
            </a:r>
          </a:p>
          <a:p xmlns:a="http://schemas.openxmlformats.org/drawingml/2006/main">
            <a:pPr algn="l">
              <a:defRPr sz="2700" b="1">
                <a:solidFill>
                  <a:srgbClr val="132024"/>
                </a:solidFill>
              </a:defRPr>
            </a:pPr>
            <a:r>
              <a:rPr sz="2700" b="1">
                <a:solidFill>
                  <a:srgbClr val="132024"/>
                </a:solidFill>
              </a:rPr>
              <a:t>benchmark 축의 분리</a:t>
            </a:r>
          </a:p>
        </p:txBody>
      </p:sp>
      <p:sp>
        <p:nvSpPr>
          <p:cNvPr id="14" name="">
            <a:extLst xmlns:a="http://schemas.openxmlformats.org/drawingml/2006/main">
              <a:ext uri="{FF2B5EF4-FFF2-40B4-BE49-F238E27FC236}">
                <a16:creationId xmlns:a16="http://schemas.microsoft.com/office/drawing/2014/main" id="{C11C66B9-38A6-4AB6-8C2F-88A28A8BDD3B}"/>
              </a:ext>
            </a:extLst>
          </p:cNvPr>
          <p:cNvSpPr>
            <a:spLocks xmlns:a="http://schemas.openxmlformats.org/drawingml/2006/main" noGrp="1"/>
          </p:cNvSpPr>
          <p:nvPr/>
        </p:nvSpPr>
        <p:spPr>
          <a:xfrm xmlns:a="http://schemas.openxmlformats.org/drawingml/2006/main">
            <a:off x="685800" y="2133600"/>
            <a:ext cx="3200400" cy="1333500"/>
          </a:xfrm>
          <a:prstGeom xmlns:a="http://schemas.openxmlformats.org/drawingml/2006/main" prst="roundRect">
            <a:avLst>
              <a:gd name="adj" fmla="val 5714"/>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CE30D0EB-BC01-4176-9C2A-C2B99C94EB6C}"/>
              </a:ext>
            </a:extLst>
          </p:cNvPr>
          <p:cNvSpPr>
            <a:spLocks xmlns:a="http://schemas.openxmlformats.org/drawingml/2006/main" noGrp="1"/>
          </p:cNvSpPr>
          <p:nvPr/>
        </p:nvSpPr>
        <p:spPr>
          <a:xfrm xmlns:a="http://schemas.openxmlformats.org/drawingml/2006/main">
            <a:off x="742950" y="2190750"/>
            <a:ext cx="30861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879A091-1359-47E6-8BB4-E2DC3A48E3F4}"/>
              </a:ext>
            </a:extLst>
          </p:cNvPr>
          <p:cNvSpPr>
            <a:spLocks xmlns:a="http://schemas.openxmlformats.org/drawingml/2006/main" noGrp="1"/>
          </p:cNvSpPr>
          <p:nvPr/>
        </p:nvSpPr>
        <p:spPr>
          <a:xfrm xmlns:a="http://schemas.openxmlformats.org/drawingml/2006/main">
            <a:off x="895350" y="232410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새로 붙은 질문</a:t>
            </a:r>
          </a:p>
        </p:txBody>
      </p:sp>
      <p:sp>
        <p:nvSpPr>
          <p:cNvPr id="17" name="">
            <a:extLst xmlns:a="http://schemas.openxmlformats.org/drawingml/2006/main">
              <a:ext uri="{FF2B5EF4-FFF2-40B4-BE49-F238E27FC236}">
                <a16:creationId xmlns:a16="http://schemas.microsoft.com/office/drawing/2014/main" id="{3B144212-A941-47DB-BD98-80B91E565A06}"/>
              </a:ext>
            </a:extLst>
          </p:cNvPr>
          <p:cNvSpPr>
            <a:spLocks xmlns:a="http://schemas.openxmlformats.org/drawingml/2006/main" noGrp="1"/>
          </p:cNvSpPr>
          <p:nvPr/>
        </p:nvSpPr>
        <p:spPr>
          <a:xfrm xmlns:a="http://schemas.openxmlformats.org/drawingml/2006/main">
            <a:off x="895350" y="2743200"/>
            <a:ext cx="278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동일 cortical branch에 대해서도</a:t>
            </a:r>
          </a:p>
          <a:p xmlns:a="http://schemas.openxmlformats.org/drawingml/2006/main">
            <a:pPr algn="l">
              <a:defRPr sz="1200" b="0">
                <a:solidFill>
                  <a:srgbClr val="132024"/>
                </a:solidFill>
              </a:defRPr>
            </a:pPr>
            <a:r>
              <a:rPr sz="1200" b="0">
                <a:solidFill>
                  <a:srgbClr val="132024"/>
                </a:solidFill>
              </a:rPr>
              <a:t>reproducibility, fidelity,</a:t>
            </a:r>
          </a:p>
          <a:p xmlns:a="http://schemas.openxmlformats.org/drawingml/2006/main">
            <a:pPr algn="l">
              <a:defRPr sz="1200" b="0">
                <a:solidFill>
                  <a:srgbClr val="132024"/>
                </a:solidFill>
              </a:defRPr>
            </a:pPr>
            <a:r>
              <a:rPr sz="1200" b="0">
                <a:solidFill>
                  <a:srgbClr val="132024"/>
                </a:solidFill>
              </a:rPr>
              <a:t>timing의 독립적 평가가 필요한가</a:t>
            </a:r>
          </a:p>
        </p:txBody>
      </p:sp>
      <p:sp>
        <p:nvSpPr>
          <p:cNvPr id="18" name="">
            <a:extLst xmlns:a="http://schemas.openxmlformats.org/drawingml/2006/main">
              <a:ext uri="{FF2B5EF4-FFF2-40B4-BE49-F238E27FC236}">
                <a16:creationId xmlns:a16="http://schemas.microsoft.com/office/drawing/2014/main" id="{F069123D-5B21-41FD-B07A-A9868CBBB5B4}"/>
              </a:ext>
            </a:extLst>
          </p:cNvPr>
          <p:cNvSpPr>
            <a:spLocks xmlns:a="http://schemas.openxmlformats.org/drawingml/2006/main" noGrp="1"/>
          </p:cNvSpPr>
          <p:nvPr/>
        </p:nvSpPr>
        <p:spPr>
          <a:xfrm xmlns:a="http://schemas.openxmlformats.org/drawingml/2006/main">
            <a:off x="685800" y="3638550"/>
            <a:ext cx="3200400" cy="1143000"/>
          </a:xfrm>
          <a:prstGeom xmlns:a="http://schemas.openxmlformats.org/drawingml/2006/main" prst="roundRect">
            <a:avLst>
              <a:gd name="adj" fmla="val 66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F4F45F39-FEE7-40C6-A68D-A7873700D865}"/>
              </a:ext>
            </a:extLst>
          </p:cNvPr>
          <p:cNvSpPr>
            <a:spLocks xmlns:a="http://schemas.openxmlformats.org/drawingml/2006/main" noGrp="1"/>
          </p:cNvSpPr>
          <p:nvPr/>
        </p:nvSpPr>
        <p:spPr>
          <a:xfrm xmlns:a="http://schemas.openxmlformats.org/drawingml/2006/main">
            <a:off x="742950" y="3695700"/>
            <a:ext cx="30861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23DE9C7-C755-4244-AE93-8D2E8CC8A92A}"/>
              </a:ext>
            </a:extLst>
          </p:cNvPr>
          <p:cNvSpPr>
            <a:spLocks xmlns:a="http://schemas.openxmlformats.org/drawingml/2006/main" noGrp="1"/>
          </p:cNvSpPr>
          <p:nvPr/>
        </p:nvSpPr>
        <p:spPr>
          <a:xfrm xmlns:a="http://schemas.openxmlformats.org/drawingml/2006/main">
            <a:off x="895350" y="38290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여기에 연결된 문헌</a:t>
            </a:r>
          </a:p>
        </p:txBody>
      </p:sp>
      <p:sp>
        <p:nvSpPr>
          <p:cNvPr id="21" name="">
            <a:extLst xmlns:a="http://schemas.openxmlformats.org/drawingml/2006/main">
              <a:ext uri="{FF2B5EF4-FFF2-40B4-BE49-F238E27FC236}">
                <a16:creationId xmlns:a16="http://schemas.microsoft.com/office/drawing/2014/main" id="{2D4DF2AB-970C-4F03-BFB1-4EB508914150}"/>
              </a:ext>
            </a:extLst>
          </p:cNvPr>
          <p:cNvSpPr>
            <a:spLocks xmlns:a="http://schemas.openxmlformats.org/drawingml/2006/main" noGrp="1"/>
          </p:cNvSpPr>
          <p:nvPr/>
        </p:nvSpPr>
        <p:spPr>
          <a:xfrm xmlns:a="http://schemas.openxmlformats.org/drawingml/2006/main">
            <a:off x="895350" y="4248150"/>
            <a:ext cx="2781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Velasco, Yoon, Bhaduri,</a:t>
            </a:r>
          </a:p>
          <a:p xmlns:a="http://schemas.openxmlformats.org/drawingml/2006/main">
            <a:pPr algn="l">
              <a:defRPr sz="1200" b="0">
                <a:solidFill>
                  <a:srgbClr val="132024"/>
                </a:solidFill>
              </a:defRPr>
            </a:pPr>
            <a:r>
              <a:rPr sz="1200" b="0">
                <a:solidFill>
                  <a:srgbClr val="132024"/>
                </a:solidFill>
              </a:rPr>
              <a:t>Kanton, He</a:t>
            </a:r>
          </a:p>
        </p:txBody>
      </p:sp>
      <p:sp>
        <p:nvSpPr>
          <p:cNvPr id="22" name="">
            <a:extLst xmlns:a="http://schemas.openxmlformats.org/drawingml/2006/main">
              <a:ext uri="{FF2B5EF4-FFF2-40B4-BE49-F238E27FC236}">
                <a16:creationId xmlns:a16="http://schemas.microsoft.com/office/drawing/2014/main" id="{2B073C2A-F582-4DC4-9BCF-12FFC5FC508A}"/>
              </a:ext>
            </a:extLst>
          </p:cNvPr>
          <p:cNvSpPr>
            <a:spLocks xmlns:a="http://schemas.openxmlformats.org/drawingml/2006/main" noGrp="1"/>
          </p:cNvSpPr>
          <p:nvPr/>
        </p:nvSpPr>
        <p:spPr>
          <a:xfrm xmlns:a="http://schemas.openxmlformats.org/drawingml/2006/main">
            <a:off x="685800" y="4972050"/>
            <a:ext cx="3200400" cy="1333500"/>
          </a:xfrm>
          <a:prstGeom xmlns:a="http://schemas.openxmlformats.org/drawingml/2006/main" prst="roundRect">
            <a:avLst>
              <a:gd name="adj" fmla="val 5714"/>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96EC740B-F4BE-44D3-ACE4-EDD493FB5ACC}"/>
              </a:ext>
            </a:extLst>
          </p:cNvPr>
          <p:cNvSpPr>
            <a:spLocks xmlns:a="http://schemas.openxmlformats.org/drawingml/2006/main" noGrp="1"/>
          </p:cNvSpPr>
          <p:nvPr/>
        </p:nvSpPr>
        <p:spPr>
          <a:xfrm xmlns:a="http://schemas.openxmlformats.org/drawingml/2006/main">
            <a:off x="742950" y="5029200"/>
            <a:ext cx="30861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1649C95-F954-4E8E-A9EF-B2083A628AF3}"/>
              </a:ext>
            </a:extLst>
          </p:cNvPr>
          <p:cNvSpPr>
            <a:spLocks xmlns:a="http://schemas.openxmlformats.org/drawingml/2006/main" noGrp="1"/>
          </p:cNvSpPr>
          <p:nvPr/>
        </p:nvSpPr>
        <p:spPr>
          <a:xfrm xmlns:a="http://schemas.openxmlformats.org/drawingml/2006/main">
            <a:off x="895350" y="51625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비교 프레임의 확장</a:t>
            </a:r>
          </a:p>
        </p:txBody>
      </p:sp>
      <p:sp>
        <p:nvSpPr>
          <p:cNvPr id="25" name="">
            <a:extLst xmlns:a="http://schemas.openxmlformats.org/drawingml/2006/main">
              <a:ext uri="{FF2B5EF4-FFF2-40B4-BE49-F238E27FC236}">
                <a16:creationId xmlns:a16="http://schemas.microsoft.com/office/drawing/2014/main" id="{0A0E95A9-75B0-4737-9E73-B29D894EBBD8}"/>
              </a:ext>
            </a:extLst>
          </p:cNvPr>
          <p:cNvSpPr>
            <a:spLocks xmlns:a="http://schemas.openxmlformats.org/drawingml/2006/main" noGrp="1"/>
          </p:cNvSpPr>
          <p:nvPr/>
        </p:nvSpPr>
        <p:spPr>
          <a:xfrm xmlns:a="http://schemas.openxmlformats.org/drawingml/2006/main">
            <a:off x="895350" y="5581650"/>
            <a:ext cx="278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subregion map 위에 benchmark</a:t>
            </a:r>
          </a:p>
          <a:p xmlns:a="http://schemas.openxmlformats.org/drawingml/2006/main">
            <a:pPr algn="l">
              <a:defRPr sz="1200" b="0">
                <a:solidFill>
                  <a:srgbClr val="132024"/>
                </a:solidFill>
              </a:defRPr>
            </a:pPr>
            <a:r>
              <a:rPr sz="1200" b="0">
                <a:solidFill>
                  <a:srgbClr val="132024"/>
                </a:solidFill>
              </a:rPr>
              <a:t>axis가 추가되면서 비교 기준이 다축 구조로</a:t>
            </a:r>
          </a:p>
          <a:p xmlns:a="http://schemas.openxmlformats.org/drawingml/2006/main">
            <a:pPr algn="l">
              <a:defRPr sz="1200" b="0">
                <a:solidFill>
                  <a:srgbClr val="132024"/>
                </a:solidFill>
              </a:defRPr>
            </a:pPr>
            <a:r>
              <a:rPr sz="1200" b="0">
                <a:solidFill>
                  <a:srgbClr val="132024"/>
                </a:solidFill>
              </a:rPr>
              <a:t>전환되었다.</a:t>
            </a:r>
          </a:p>
        </p:txBody>
      </p:sp>
      <p:sp>
        <p:nvSpPr>
          <p:cNvPr id="26" name="">
            <a:extLst xmlns:a="http://schemas.openxmlformats.org/drawingml/2006/main">
              <a:ext uri="{FF2B5EF4-FFF2-40B4-BE49-F238E27FC236}">
                <a16:creationId xmlns:a16="http://schemas.microsoft.com/office/drawing/2014/main" id="{6F531949-9789-4846-9BBA-A3B3A10474ED}"/>
              </a:ext>
            </a:extLst>
          </p:cNvPr>
          <p:cNvSpPr>
            <a:spLocks xmlns:a="http://schemas.openxmlformats.org/drawingml/2006/main" noGrp="1"/>
          </p:cNvSpPr>
          <p:nvPr/>
        </p:nvSpPr>
        <p:spPr>
          <a:xfrm xmlns:a="http://schemas.openxmlformats.org/drawingml/2006/main">
            <a:off x="4362450" y="1943100"/>
            <a:ext cx="7029450" cy="4076700"/>
          </a:xfrm>
          <a:prstGeom xmlns:a="http://schemas.openxmlformats.org/drawingml/2006/main" prst="roundRect">
            <a:avLst>
              <a:gd name="adj" fmla="val 1869"/>
            </a:avLst>
          </a:prstGeom>
          <a:solidFill xmlns:a="http://schemas.openxmlformats.org/drawingml/2006/main">
            <a:srgbClr val="FBF7EF"/>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94CE11A7-1B79-428E-B7B0-CEA2DBAFB60C}"/>
              </a:ext>
            </a:extLst>
          </p:cNvPr>
          <p:cNvSpPr>
            <a:spLocks xmlns:a="http://schemas.openxmlformats.org/drawingml/2006/main" noGrp="1"/>
          </p:cNvSpPr>
          <p:nvPr/>
        </p:nvSpPr>
        <p:spPr>
          <a:xfrm xmlns:a="http://schemas.openxmlformats.org/drawingml/2006/main">
            <a:off x="4419600" y="2000250"/>
            <a:ext cx="6915150" cy="57150"/>
          </a:xfrm>
          <a:prstGeom xmlns:a="http://schemas.openxmlformats.org/drawingml/2006/main" prst="rect">
            <a:avLst/>
          </a:prstGeom>
          <a:solidFill xmlns:a="http://schemas.openxmlformats.org/drawingml/2006/main">
            <a:srgbClr val="A9C9B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A77FBC5-2A09-457C-BD55-D36AE4CDB630}"/>
              </a:ext>
            </a:extLst>
          </p:cNvPr>
          <p:cNvSpPr>
            <a:spLocks xmlns:a="http://schemas.openxmlformats.org/drawingml/2006/main" noGrp="1"/>
          </p:cNvSpPr>
          <p:nvPr/>
        </p:nvSpPr>
        <p:spPr>
          <a:xfrm xmlns:a="http://schemas.openxmlformats.org/drawingml/2006/main">
            <a:off x="4629150" y="2266950"/>
            <a:ext cx="6496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32024"/>
                </a:solidFill>
              </a:defRPr>
            </a:pPr>
            <a:r>
              <a:rPr sz="1575" b="1">
                <a:solidFill>
                  <a:srgbClr val="132024"/>
                </a:solidFill>
              </a:rPr>
              <a:t>Obsidian Local Graph</a:t>
            </a:r>
          </a:p>
        </p:txBody>
      </p:sp>
      <p:sp>
        <p:nvSpPr>
          <p:cNvPr id="29" name="">
            <a:extLst xmlns:a="http://schemas.openxmlformats.org/drawingml/2006/main">
              <a:ext uri="{FF2B5EF4-FFF2-40B4-BE49-F238E27FC236}">
                <a16:creationId xmlns:a16="http://schemas.microsoft.com/office/drawing/2014/main" id="{9F94B0BF-53F4-44F1-A094-2B6E1631202F}"/>
              </a:ext>
            </a:extLst>
          </p:cNvPr>
          <p:cNvSpPr>
            <a:spLocks xmlns:a="http://schemas.openxmlformats.org/drawingml/2006/main" noGrp="1"/>
          </p:cNvSpPr>
          <p:nvPr/>
        </p:nvSpPr>
        <p:spPr>
          <a:xfrm xmlns:a="http://schemas.openxmlformats.org/drawingml/2006/main">
            <a:off x="4629150" y="2667000"/>
            <a:ext cx="649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344146"/>
                </a:solidFill>
              </a:defRPr>
            </a:pPr>
            <a:r>
              <a:rPr sz="900" b="0">
                <a:solidFill>
                  <a:srgbClr val="344146"/>
                </a:solidFill>
              </a:rPr>
              <a:t>Graph screenshot placeholder</a:t>
            </a:r>
          </a:p>
        </p:txBody>
      </p:sp>
      <p:sp>
        <p:nvSpPr>
          <p:cNvPr id="30" name="">
            <a:extLst xmlns:a="http://schemas.openxmlformats.org/drawingml/2006/main">
              <a:ext uri="{FF2B5EF4-FFF2-40B4-BE49-F238E27FC236}">
                <a16:creationId xmlns:a16="http://schemas.microsoft.com/office/drawing/2014/main" id="{9A3215B8-412D-469D-93F2-E57519B796E9}"/>
              </a:ext>
            </a:extLst>
          </p:cNvPr>
          <p:cNvSpPr>
            <a:spLocks xmlns:a="http://schemas.openxmlformats.org/drawingml/2006/main" noGrp="1"/>
          </p:cNvSpPr>
          <p:nvPr/>
        </p:nvSpPr>
        <p:spPr>
          <a:xfrm xmlns:a="http://schemas.openxmlformats.org/drawingml/2006/main">
            <a:off x="4667250" y="3067050"/>
            <a:ext cx="6419850" cy="2228850"/>
          </a:xfrm>
          <a:prstGeom xmlns:a="http://schemas.openxmlformats.org/drawingml/2006/main" prst="roundRect">
            <a:avLst>
              <a:gd name="adj" fmla="val 3419"/>
            </a:avLst>
          </a:prstGeom>
          <a:solidFill xmlns:a="http://schemas.openxmlformats.org/drawingml/2006/main">
            <a:srgbClr val="FFFDF8"/>
          </a:solidFill>
          <a:ln xmlns:a="http://schemas.openxmlformats.org/drawingml/2006/main" w="9525">
            <a:solidFill>
              <a:srgbClr val="B6C1C5"/>
            </a:solidFill>
            <a:prstDash val="solid"/>
          </a:ln>
        </p:spPr>
      </p:sp>
      <p:sp>
        <p:nvSpPr>
          <p:cNvPr id="31" name="">
            <a:extLst xmlns:a="http://schemas.openxmlformats.org/drawingml/2006/main">
              <a:ext uri="{FF2B5EF4-FFF2-40B4-BE49-F238E27FC236}">
                <a16:creationId xmlns:a16="http://schemas.microsoft.com/office/drawing/2014/main" id="{E045E785-FF6B-478C-B2DE-B446FAA069A7}"/>
              </a:ext>
            </a:extLst>
          </p:cNvPr>
          <p:cNvSpPr>
            <a:spLocks xmlns:a="http://schemas.openxmlformats.org/drawingml/2006/main" noGrp="1"/>
          </p:cNvSpPr>
          <p:nvPr/>
        </p:nvSpPr>
        <p:spPr>
          <a:xfrm xmlns:a="http://schemas.openxmlformats.org/drawingml/2006/main">
            <a:off x="4857750" y="5219700"/>
            <a:ext cx="603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0F5B3F"/>
                </a:solidFill>
              </a:defRPr>
            </a:pPr>
            <a:r>
              <a:rPr sz="825" b="0">
                <a:solidFill>
                  <a:srgbClr val="0F5B3F"/>
                </a:solidFill>
              </a:rPr>
              <a:t>collections/organoid/wiki/queries/20260409_brain-protocol-maturation-synchronization.md</a:t>
            </a:r>
          </a:p>
        </p:txBody>
      </p:sp>
      <p:sp>
        <p:nvSpPr>
          <p:cNvPr id="32" name="">
            <a:extLst xmlns:a="http://schemas.openxmlformats.org/drawingml/2006/main">
              <a:ext uri="{FF2B5EF4-FFF2-40B4-BE49-F238E27FC236}">
                <a16:creationId xmlns:a16="http://schemas.microsoft.com/office/drawing/2014/main" id="{89573A4F-F468-4C0A-9421-EB67B0234CAD}"/>
              </a:ext>
            </a:extLst>
          </p:cNvPr>
          <p:cNvSpPr>
            <a:spLocks xmlns:a="http://schemas.openxmlformats.org/drawingml/2006/main" noGrp="1"/>
          </p:cNvSpPr>
          <p:nvPr/>
        </p:nvSpPr>
        <p:spPr>
          <a:xfrm xmlns:a="http://schemas.openxmlformats.org/drawingml/2006/main">
            <a:off x="4667250" y="5619750"/>
            <a:ext cx="641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767C"/>
                </a:solidFill>
              </a:defRPr>
            </a:pPr>
            <a:r>
              <a:rPr sz="750" b="0">
                <a:solidFill>
                  <a:srgbClr val="6A767C"/>
                </a:solidFill>
              </a:rPr>
              <a:t>Q2 local graph</a:t>
            </a:r>
          </a:p>
        </p:txBody>
      </p:sp>
      <p:sp>
        <p:nvSpPr>
          <p:cNvPr id="33" name="">
            <a:extLst xmlns:a="http://schemas.openxmlformats.org/drawingml/2006/main">
              <a:ext uri="{FF2B5EF4-FFF2-40B4-BE49-F238E27FC236}">
                <a16:creationId xmlns:a16="http://schemas.microsoft.com/office/drawing/2014/main" id="{7E395E3C-AF24-4C2F-AAE8-3624A7500ED3}"/>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우측 패널: Q2 query note의 Obsidian local graph 삽입 위치</a:t>
            </a:r>
          </a:p>
        </p:txBody>
      </p:sp>
    </p:spTree>
    <p:extLst>
      <p:ext uri="{BB962C8B-B14F-4D97-AF65-F5344CB8AC3E}">
        <p14:creationId xmlns:p14="http://schemas.microsoft.com/office/powerpoint/2010/main" val="1266522795"/>
      </p:ext>
    </p:extLst>
  </p:cSld>
</p:sld>
</file>

<file path=ppt/slides/slide9.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0fe7168d604ba0"/>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162D5F0-D464-4CB8-BAE4-1E48F775125B}"/>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F9E5E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5122932-4980-4147-8F79-4793D24E03CF}"/>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00634D9-BF39-4790-9863-D8C9621FD79A}"/>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5B7D0934-7EA1-48E7-B976-378B7ACBC672}"/>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D48B3DDB-732E-4AE9-AFDD-FB19A077EFB5}"/>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706C34D9-F910-4B72-8CB6-CD16DEEB44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1569"/>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5B1BD8D-7C18-47BF-8FB0-5E3518B1AEE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KEY TENSION</a:t>
            </a:r>
          </a:p>
        </p:txBody>
      </p:sp>
      <p:sp>
        <p:nvSpPr>
          <p:cNvPr id="10" name="">
            <a:extLst xmlns:a="http://schemas.openxmlformats.org/drawingml/2006/main">
              <a:ext uri="{FF2B5EF4-FFF2-40B4-BE49-F238E27FC236}">
                <a16:creationId xmlns:a16="http://schemas.microsoft.com/office/drawing/2014/main" id="{35BB8E4E-FC39-4D85-A99F-94937CE77858}"/>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09 / 13</a:t>
            </a:r>
          </a:p>
        </p:txBody>
      </p:sp>
      <p:sp>
        <p:nvSpPr>
          <p:cNvPr id="11" name="">
            <a:extLst xmlns:a="http://schemas.openxmlformats.org/drawingml/2006/main">
              <a:ext uri="{FF2B5EF4-FFF2-40B4-BE49-F238E27FC236}">
                <a16:creationId xmlns:a16="http://schemas.microsoft.com/office/drawing/2014/main" id="{B53CF95F-9A3C-4F8C-8A3E-2B55F8C1E542}"/>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3A2EB0C-08AF-4603-BAF2-9FC7AD3C42E1}"/>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7E889CD7-DA3B-4BA4-9C79-796AD47835A9}"/>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핵심 구분:</a:t>
            </a:r>
          </a:p>
          <a:p xmlns:a="http://schemas.openxmlformats.org/drawingml/2006/main">
            <a:pPr algn="l">
              <a:defRPr sz="2850" b="1">
                <a:solidFill>
                  <a:srgbClr val="132024"/>
                </a:solidFill>
              </a:defRPr>
            </a:pPr>
            <a:r>
              <a:rPr sz="2850" b="1">
                <a:solidFill>
                  <a:srgbClr val="132024"/>
                </a:solidFill>
              </a:rPr>
              <a:t>reproducibility와 fidelity</a:t>
            </a:r>
          </a:p>
        </p:txBody>
      </p:sp>
      <p:sp>
        <p:nvSpPr>
          <p:cNvPr id="14" name="">
            <a:extLst xmlns:a="http://schemas.openxmlformats.org/drawingml/2006/main">
              <a:ext uri="{FF2B5EF4-FFF2-40B4-BE49-F238E27FC236}">
                <a16:creationId xmlns:a16="http://schemas.microsoft.com/office/drawing/2014/main" id="{22B98CD1-6993-4009-9CF5-64ED1EBA8F7A}"/>
              </a:ext>
            </a:extLst>
          </p:cNvPr>
          <p:cNvSpPr>
            <a:spLocks xmlns:a="http://schemas.openxmlformats.org/drawingml/2006/main" noGrp="1"/>
          </p:cNvSpPr>
          <p:nvPr/>
        </p:nvSpPr>
        <p:spPr>
          <a:xfrm xmlns:a="http://schemas.openxmlformats.org/drawingml/2006/main">
            <a:off x="742950" y="2000250"/>
            <a:ext cx="10706100" cy="819150"/>
          </a:xfrm>
          <a:prstGeom xmlns:a="http://schemas.openxmlformats.org/drawingml/2006/main" prst="roundRect">
            <a:avLst>
              <a:gd name="adj" fmla="val 9302"/>
            </a:avLst>
          </a:prstGeom>
          <a:solidFill xmlns:a="http://schemas.openxmlformats.org/drawingml/2006/main">
            <a:srgbClr val="F7DDD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26694E6B-433E-4BB2-9C96-D6C3E2DDAFDF}"/>
              </a:ext>
            </a:extLst>
          </p:cNvPr>
          <p:cNvSpPr>
            <a:spLocks xmlns:a="http://schemas.openxmlformats.org/drawingml/2006/main" noGrp="1"/>
          </p:cNvSpPr>
          <p:nvPr/>
        </p:nvSpPr>
        <p:spPr>
          <a:xfrm xmlns:a="http://schemas.openxmlformats.org/drawingml/2006/main">
            <a:off x="790575" y="2047875"/>
            <a:ext cx="57150" cy="7239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45C97A5-32DB-4AE9-A07C-F565E2D62B54}"/>
              </a:ext>
            </a:extLst>
          </p:cNvPr>
          <p:cNvSpPr>
            <a:spLocks xmlns:a="http://schemas.openxmlformats.org/drawingml/2006/main" noGrp="1"/>
          </p:cNvSpPr>
          <p:nvPr/>
        </p:nvSpPr>
        <p:spPr>
          <a:xfrm xmlns:a="http://schemas.openxmlformats.org/drawingml/2006/main">
            <a:off x="952500" y="2152650"/>
            <a:ext cx="103251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Velasco/Yoon은 반복 가능한 cortical branch를 제시하고, Bhaduri는 해당 branch의 primary brain 대비 이탈 양상을 제시한다.</a:t>
            </a:r>
          </a:p>
        </p:txBody>
      </p:sp>
      <p:sp>
        <p:nvSpPr>
          <p:cNvPr id="17" name="">
            <a:extLst xmlns:a="http://schemas.openxmlformats.org/drawingml/2006/main">
              <a:ext uri="{FF2B5EF4-FFF2-40B4-BE49-F238E27FC236}">
                <a16:creationId xmlns:a16="http://schemas.microsoft.com/office/drawing/2014/main" id="{69EBF1CC-8AF8-4D0F-BEFE-1CA9D7A5E511}"/>
              </a:ext>
            </a:extLst>
          </p:cNvPr>
          <p:cNvSpPr>
            <a:spLocks xmlns:a="http://schemas.openxmlformats.org/drawingml/2006/main" noGrp="1"/>
          </p:cNvSpPr>
          <p:nvPr/>
        </p:nvSpPr>
        <p:spPr>
          <a:xfrm xmlns:a="http://schemas.openxmlformats.org/drawingml/2006/main">
            <a:off x="876300" y="3276600"/>
            <a:ext cx="4629150" cy="2286000"/>
          </a:xfrm>
          <a:prstGeom xmlns:a="http://schemas.openxmlformats.org/drawingml/2006/main" prst="roundRect">
            <a:avLst>
              <a:gd name="adj" fmla="val 333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5BFE3185-4634-453F-8F2A-0C7923B5B37B}"/>
              </a:ext>
            </a:extLst>
          </p:cNvPr>
          <p:cNvSpPr>
            <a:spLocks xmlns:a="http://schemas.openxmlformats.org/drawingml/2006/main" noGrp="1"/>
          </p:cNvSpPr>
          <p:nvPr/>
        </p:nvSpPr>
        <p:spPr>
          <a:xfrm xmlns:a="http://schemas.openxmlformats.org/drawingml/2006/main">
            <a:off x="933450" y="3333750"/>
            <a:ext cx="451485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224A3F9E-117D-4C33-9181-1AFE61686F75}"/>
              </a:ext>
            </a:extLst>
          </p:cNvPr>
          <p:cNvSpPr>
            <a:spLocks xmlns:a="http://schemas.openxmlformats.org/drawingml/2006/main" noGrp="1"/>
          </p:cNvSpPr>
          <p:nvPr/>
        </p:nvSpPr>
        <p:spPr>
          <a:xfrm xmlns:a="http://schemas.openxmlformats.org/drawingml/2006/main">
            <a:off x="1085850" y="3467100"/>
            <a:ext cx="42100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reproducibility 관점</a:t>
            </a:r>
          </a:p>
        </p:txBody>
      </p:sp>
      <p:sp>
        <p:nvSpPr>
          <p:cNvPr id="20" name="">
            <a:extLst xmlns:a="http://schemas.openxmlformats.org/drawingml/2006/main">
              <a:ext uri="{FF2B5EF4-FFF2-40B4-BE49-F238E27FC236}">
                <a16:creationId xmlns:a16="http://schemas.microsoft.com/office/drawing/2014/main" id="{7235BDE3-486A-4335-8870-37431A16D14B}"/>
              </a:ext>
            </a:extLst>
          </p:cNvPr>
          <p:cNvSpPr>
            <a:spLocks xmlns:a="http://schemas.openxmlformats.org/drawingml/2006/main" noGrp="1"/>
          </p:cNvSpPr>
          <p:nvPr/>
        </p:nvSpPr>
        <p:spPr>
          <a:xfrm xmlns:a="http://schemas.openxmlformats.org/drawingml/2006/main">
            <a:off x="1085850" y="3886200"/>
            <a:ext cx="4210050" cy="1504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반복 배양 시 organoid-to-organoid variance의</a:t>
            </a:r>
          </a:p>
          <a:p xmlns:a="http://schemas.openxmlformats.org/drawingml/2006/main">
            <a:pPr algn="l">
              <a:defRPr sz="1200" b="0">
                <a:solidFill>
                  <a:srgbClr val="132024"/>
                </a:solidFill>
              </a:defRPr>
            </a:pPr>
            <a:r>
              <a:rPr sz="1200" b="0">
                <a:solidFill>
                  <a:srgbClr val="132024"/>
                </a:solidFill>
              </a:rPr>
              <a:t>수준 대표 anchor: Velasco 2019, Yoon 2019</a:t>
            </a:r>
          </a:p>
        </p:txBody>
      </p:sp>
      <p:sp>
        <p:nvSpPr>
          <p:cNvPr id="21" name="">
            <a:extLst xmlns:a="http://schemas.openxmlformats.org/drawingml/2006/main">
              <a:ext uri="{FF2B5EF4-FFF2-40B4-BE49-F238E27FC236}">
                <a16:creationId xmlns:a16="http://schemas.microsoft.com/office/drawing/2014/main" id="{CB8C8589-D6EE-4F50-BDAA-510B89792140}"/>
              </a:ext>
            </a:extLst>
          </p:cNvPr>
          <p:cNvSpPr>
            <a:spLocks xmlns:a="http://schemas.openxmlformats.org/drawingml/2006/main" noGrp="1"/>
          </p:cNvSpPr>
          <p:nvPr/>
        </p:nvSpPr>
        <p:spPr>
          <a:xfrm xmlns:a="http://schemas.openxmlformats.org/drawingml/2006/main">
            <a:off x="6667500" y="3276600"/>
            <a:ext cx="4629150" cy="2286000"/>
          </a:xfrm>
          <a:prstGeom xmlns:a="http://schemas.openxmlformats.org/drawingml/2006/main" prst="roundRect">
            <a:avLst>
              <a:gd name="adj" fmla="val 333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2" name="">
            <a:extLst xmlns:a="http://schemas.openxmlformats.org/drawingml/2006/main">
              <a:ext uri="{FF2B5EF4-FFF2-40B4-BE49-F238E27FC236}">
                <a16:creationId xmlns:a16="http://schemas.microsoft.com/office/drawing/2014/main" id="{805911A1-8BA0-4228-BE68-AD8BE05FA478}"/>
              </a:ext>
            </a:extLst>
          </p:cNvPr>
          <p:cNvSpPr>
            <a:spLocks xmlns:a="http://schemas.openxmlformats.org/drawingml/2006/main" noGrp="1"/>
          </p:cNvSpPr>
          <p:nvPr/>
        </p:nvSpPr>
        <p:spPr>
          <a:xfrm xmlns:a="http://schemas.openxmlformats.org/drawingml/2006/main">
            <a:off x="6724650" y="3333750"/>
            <a:ext cx="451485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015778F-3BB1-4CD2-AF7E-0960D2F42976}"/>
              </a:ext>
            </a:extLst>
          </p:cNvPr>
          <p:cNvSpPr>
            <a:spLocks xmlns:a="http://schemas.openxmlformats.org/drawingml/2006/main" noGrp="1"/>
          </p:cNvSpPr>
          <p:nvPr/>
        </p:nvSpPr>
        <p:spPr>
          <a:xfrm xmlns:a="http://schemas.openxmlformats.org/drawingml/2006/main">
            <a:off x="6877050" y="3467100"/>
            <a:ext cx="42100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fidelity 관점</a:t>
            </a:r>
          </a:p>
        </p:txBody>
      </p:sp>
      <p:sp>
        <p:nvSpPr>
          <p:cNvPr id="24" name="">
            <a:extLst xmlns:a="http://schemas.openxmlformats.org/drawingml/2006/main">
              <a:ext uri="{FF2B5EF4-FFF2-40B4-BE49-F238E27FC236}">
                <a16:creationId xmlns:a16="http://schemas.microsoft.com/office/drawing/2014/main" id="{99B5AE6E-0D64-4450-9BB7-4D7C7EA5089B}"/>
              </a:ext>
            </a:extLst>
          </p:cNvPr>
          <p:cNvSpPr>
            <a:spLocks xmlns:a="http://schemas.openxmlformats.org/drawingml/2006/main" noGrp="1"/>
          </p:cNvSpPr>
          <p:nvPr/>
        </p:nvSpPr>
        <p:spPr>
          <a:xfrm xmlns:a="http://schemas.openxmlformats.org/drawingml/2006/main">
            <a:off x="6877050" y="3886200"/>
            <a:ext cx="4210050" cy="1504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organoid cell state의 primary fetal</a:t>
            </a:r>
          </a:p>
          <a:p xmlns:a="http://schemas.openxmlformats.org/drawingml/2006/main">
            <a:pPr algn="l">
              <a:defRPr sz="1200" b="0">
                <a:solidFill>
                  <a:srgbClr val="132024"/>
                </a:solidFill>
              </a:defRPr>
            </a:pPr>
            <a:r>
              <a:rPr sz="1200" b="0">
                <a:solidFill>
                  <a:srgbClr val="132024"/>
                </a:solidFill>
              </a:rPr>
              <a:t>cortex 근접성과 stress-linked divergence 여부</a:t>
            </a:r>
          </a:p>
          <a:p xmlns:a="http://schemas.openxmlformats.org/drawingml/2006/main">
            <a:pPr algn="l">
              <a:defRPr sz="1200" b="0">
                <a:solidFill>
                  <a:srgbClr val="132024"/>
                </a:solidFill>
              </a:defRPr>
            </a:pPr>
            <a:r>
              <a:rPr sz="1200" b="0">
                <a:solidFill>
                  <a:srgbClr val="132024"/>
                </a:solidFill>
              </a:rPr>
              <a:t>대표 anchor: Bhaduri 2020, He 2024</a:t>
            </a:r>
          </a:p>
        </p:txBody>
      </p:sp>
      <p:sp>
        <p:nvSpPr>
          <p:cNvPr id="25" name="">
            <a:extLst xmlns:a="http://schemas.openxmlformats.org/drawingml/2006/main">
              <a:ext uri="{FF2B5EF4-FFF2-40B4-BE49-F238E27FC236}">
                <a16:creationId xmlns:a16="http://schemas.microsoft.com/office/drawing/2014/main" id="{30FE8B1F-2124-46DA-81DA-27F0E4BB145B}"/>
              </a:ext>
            </a:extLst>
          </p:cNvPr>
          <p:cNvSpPr>
            <a:spLocks xmlns:a="http://schemas.openxmlformats.org/drawingml/2006/main" noGrp="1"/>
          </p:cNvSpPr>
          <p:nvPr/>
        </p:nvSpPr>
        <p:spPr>
          <a:xfrm xmlns:a="http://schemas.openxmlformats.org/drawingml/2006/main">
            <a:off x="5581650" y="4343400"/>
            <a:ext cx="8572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26" name="">
            <a:extLst xmlns:a="http://schemas.openxmlformats.org/drawingml/2006/main">
              <a:ext uri="{FF2B5EF4-FFF2-40B4-BE49-F238E27FC236}">
                <a16:creationId xmlns:a16="http://schemas.microsoft.com/office/drawing/2014/main" id="{30915814-E2FB-4A9C-8E03-D815FF93C835}"/>
              </a:ext>
            </a:extLst>
          </p:cNvPr>
          <p:cNvSpPr>
            <a:spLocks xmlns:a="http://schemas.openxmlformats.org/drawingml/2006/main" noGrp="1"/>
          </p:cNvSpPr>
          <p:nvPr/>
        </p:nvSpPr>
        <p:spPr>
          <a:xfrm xmlns:a="http://schemas.openxmlformats.org/drawingml/2006/main">
            <a:off x="4457700" y="5753100"/>
            <a:ext cx="2552700" cy="2667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same region, different question</a:t>
            </a:r>
          </a:p>
        </p:txBody>
      </p:sp>
      <p:sp>
        <p:nvSpPr>
          <p:cNvPr id="27" name="">
            <a:extLst xmlns:a="http://schemas.openxmlformats.org/drawingml/2006/main">
              <a:ext uri="{FF2B5EF4-FFF2-40B4-BE49-F238E27FC236}">
                <a16:creationId xmlns:a16="http://schemas.microsoft.com/office/drawing/2014/main" id="{60952502-F625-4B42-B450-2497B426A63D}"/>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이 구분은 5축 프레임워크를 단순 taxonomy가 아닌 실제 비교 도구로 전환한다.</a:t>
            </a:r>
          </a:p>
        </p:txBody>
      </p:sp>
    </p:spTree>
    <p:extLst>
      <p:ext uri="{BB962C8B-B14F-4D97-AF65-F5344CB8AC3E}">
        <p14:creationId xmlns:p14="http://schemas.microsoft.com/office/powerpoint/2010/main" val="1173541526"/>
      </p:ext>
    </p:extLst>
  </p:cSld>
</p:sld>
</file>

<file path=ppt/slides/slide10.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d83ae1958854270"/>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DE5CD8-E889-454A-8C1B-B2176321AEAF}"/>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5581904-FD76-42C5-9B2C-8AD816B86568}"/>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AD5C0D5-4298-4A7C-99BC-07E59AFDAA5D}"/>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28BD9F64-DB4F-4FEC-8993-F7F3F3AFDFEA}"/>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3E1F2529-81E3-4F74-83B2-11DB43D07838}"/>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3AFD9F49-77F1-48BC-BFB3-26317B90AE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2353"/>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884F111-8BF3-47C2-8FE7-F2E597F82D2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FRAMEWORK</a:t>
            </a:r>
          </a:p>
        </p:txBody>
      </p:sp>
      <p:sp>
        <p:nvSpPr>
          <p:cNvPr id="10" name="">
            <a:extLst xmlns:a="http://schemas.openxmlformats.org/drawingml/2006/main">
              <a:ext uri="{FF2B5EF4-FFF2-40B4-BE49-F238E27FC236}">
                <a16:creationId xmlns:a16="http://schemas.microsoft.com/office/drawing/2014/main" id="{46C809DA-924B-46F8-876F-56391365F9E9}"/>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10 / 13</a:t>
            </a:r>
          </a:p>
        </p:txBody>
      </p:sp>
      <p:sp>
        <p:nvSpPr>
          <p:cNvPr id="11" name="">
            <a:extLst xmlns:a="http://schemas.openxmlformats.org/drawingml/2006/main">
              <a:ext uri="{FF2B5EF4-FFF2-40B4-BE49-F238E27FC236}">
                <a16:creationId xmlns:a16="http://schemas.microsoft.com/office/drawing/2014/main" id="{8FEE0121-43BD-4083-AEC1-20ED5C085838}"/>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E505462-CB71-4E4D-8B9A-8FB57D7D6CD3}"/>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3ACF54BD-10B2-4B39-A454-0723F76DE916}"/>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Protocol 비교의</a:t>
            </a:r>
          </a:p>
          <a:p xmlns:a="http://schemas.openxmlformats.org/drawingml/2006/main">
            <a:pPr algn="l">
              <a:defRPr sz="2850" b="1">
                <a:solidFill>
                  <a:srgbClr val="132024"/>
                </a:solidFill>
              </a:defRPr>
            </a:pPr>
            <a:r>
              <a:rPr sz="2850" b="1">
                <a:solidFill>
                  <a:srgbClr val="132024"/>
                </a:solidFill>
              </a:rPr>
              <a:t>5개 축</a:t>
            </a:r>
          </a:p>
        </p:txBody>
      </p:sp>
      <p:sp>
        <p:nvSpPr>
          <p:cNvPr id="14" name="">
            <a:extLst xmlns:a="http://schemas.openxmlformats.org/drawingml/2006/main">
              <a:ext uri="{FF2B5EF4-FFF2-40B4-BE49-F238E27FC236}">
                <a16:creationId xmlns:a16="http://schemas.microsoft.com/office/drawing/2014/main" id="{5F0F075C-1DFC-473C-B05D-50700AAA95B6}"/>
              </a:ext>
            </a:extLst>
          </p:cNvPr>
          <p:cNvSpPr>
            <a:spLocks xmlns:a="http://schemas.openxmlformats.org/drawingml/2006/main" noGrp="1"/>
          </p:cNvSpPr>
          <p:nvPr/>
        </p:nvSpPr>
        <p:spPr>
          <a:xfrm xmlns:a="http://schemas.openxmlformats.org/drawingml/2006/main">
            <a:off x="685800" y="2095500"/>
            <a:ext cx="3352800" cy="1390650"/>
          </a:xfrm>
          <a:prstGeom xmlns:a="http://schemas.openxmlformats.org/drawingml/2006/main" prst="roundRect">
            <a:avLst>
              <a:gd name="adj" fmla="val 547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034533C1-5D9A-4347-8DD5-A44572E284BE}"/>
              </a:ext>
            </a:extLst>
          </p:cNvPr>
          <p:cNvSpPr>
            <a:spLocks xmlns:a="http://schemas.openxmlformats.org/drawingml/2006/main" noGrp="1"/>
          </p:cNvSpPr>
          <p:nvPr/>
        </p:nvSpPr>
        <p:spPr>
          <a:xfrm xmlns:a="http://schemas.openxmlformats.org/drawingml/2006/main">
            <a:off x="742950" y="2152650"/>
            <a:ext cx="32385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DF475E0-E110-43DA-AE8C-DBC3D3E5B62B}"/>
              </a:ext>
            </a:extLst>
          </p:cNvPr>
          <p:cNvSpPr>
            <a:spLocks xmlns:a="http://schemas.openxmlformats.org/drawingml/2006/main" noGrp="1"/>
          </p:cNvSpPr>
          <p:nvPr/>
        </p:nvSpPr>
        <p:spPr>
          <a:xfrm xmlns:a="http://schemas.openxmlformats.org/drawingml/2006/main">
            <a:off x="895350" y="22860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1. region identity</a:t>
            </a:r>
          </a:p>
        </p:txBody>
      </p:sp>
      <p:sp>
        <p:nvSpPr>
          <p:cNvPr id="17" name="">
            <a:extLst xmlns:a="http://schemas.openxmlformats.org/drawingml/2006/main">
              <a:ext uri="{FF2B5EF4-FFF2-40B4-BE49-F238E27FC236}">
                <a16:creationId xmlns:a16="http://schemas.microsoft.com/office/drawing/2014/main" id="{31E97947-B1D4-45D6-9F1A-29024CBCE96F}"/>
              </a:ext>
            </a:extLst>
          </p:cNvPr>
          <p:cNvSpPr>
            <a:spLocks xmlns:a="http://schemas.openxmlformats.org/drawingml/2006/main" noGrp="1"/>
          </p:cNvSpPr>
          <p:nvPr/>
        </p:nvSpPr>
        <p:spPr>
          <a:xfrm xmlns:a="http://schemas.openxmlformats.org/drawingml/2006/main">
            <a:off x="895350" y="2705100"/>
            <a:ext cx="2933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생성되는 brain region 또는</a:t>
            </a:r>
          </a:p>
          <a:p xmlns:a="http://schemas.openxmlformats.org/drawingml/2006/main">
            <a:pPr algn="l">
              <a:defRPr sz="1200" b="0">
                <a:solidFill>
                  <a:srgbClr val="132024"/>
                </a:solidFill>
              </a:defRPr>
            </a:pPr>
            <a:r>
              <a:rPr sz="1200" b="0">
                <a:solidFill>
                  <a:srgbClr val="132024"/>
                </a:solidFill>
              </a:rPr>
              <a:t>subregion의 정체성 anchor: Q1,</a:t>
            </a:r>
          </a:p>
          <a:p xmlns:a="http://schemas.openxmlformats.org/drawingml/2006/main">
            <a:pPr algn="l">
              <a:defRPr sz="1200" b="0">
                <a:solidFill>
                  <a:srgbClr val="132024"/>
                </a:solidFill>
              </a:defRPr>
            </a:pPr>
            <a:r>
              <a:rPr sz="1200" b="0">
                <a:solidFill>
                  <a:srgbClr val="132024"/>
                </a:solidFill>
              </a:rPr>
              <a:t>Sloan, Atamian</a:t>
            </a:r>
          </a:p>
        </p:txBody>
      </p:sp>
      <p:sp>
        <p:nvSpPr>
          <p:cNvPr id="18" name="">
            <a:extLst xmlns:a="http://schemas.openxmlformats.org/drawingml/2006/main">
              <a:ext uri="{FF2B5EF4-FFF2-40B4-BE49-F238E27FC236}">
                <a16:creationId xmlns:a16="http://schemas.microsoft.com/office/drawing/2014/main" id="{ABB75908-0C02-43BC-8046-156A3E456D86}"/>
              </a:ext>
            </a:extLst>
          </p:cNvPr>
          <p:cNvSpPr>
            <a:spLocks xmlns:a="http://schemas.openxmlformats.org/drawingml/2006/main" noGrp="1"/>
          </p:cNvSpPr>
          <p:nvPr/>
        </p:nvSpPr>
        <p:spPr>
          <a:xfrm xmlns:a="http://schemas.openxmlformats.org/drawingml/2006/main">
            <a:off x="4419600" y="2095500"/>
            <a:ext cx="3352800" cy="1390650"/>
          </a:xfrm>
          <a:prstGeom xmlns:a="http://schemas.openxmlformats.org/drawingml/2006/main" prst="roundRect">
            <a:avLst>
              <a:gd name="adj" fmla="val 547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376EC645-AF4F-4A05-865F-AC773F18EFFE}"/>
              </a:ext>
            </a:extLst>
          </p:cNvPr>
          <p:cNvSpPr>
            <a:spLocks xmlns:a="http://schemas.openxmlformats.org/drawingml/2006/main" noGrp="1"/>
          </p:cNvSpPr>
          <p:nvPr/>
        </p:nvSpPr>
        <p:spPr>
          <a:xfrm xmlns:a="http://schemas.openxmlformats.org/drawingml/2006/main">
            <a:off x="4476750" y="2152650"/>
            <a:ext cx="32385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A0B2714-3403-4A06-A489-A0B16DD37467}"/>
              </a:ext>
            </a:extLst>
          </p:cNvPr>
          <p:cNvSpPr>
            <a:spLocks xmlns:a="http://schemas.openxmlformats.org/drawingml/2006/main" noGrp="1"/>
          </p:cNvSpPr>
          <p:nvPr/>
        </p:nvSpPr>
        <p:spPr>
          <a:xfrm xmlns:a="http://schemas.openxmlformats.org/drawingml/2006/main">
            <a:off x="4629150" y="22860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2. reproducibility</a:t>
            </a:r>
          </a:p>
        </p:txBody>
      </p:sp>
      <p:sp>
        <p:nvSpPr>
          <p:cNvPr id="21" name="">
            <a:extLst xmlns:a="http://schemas.openxmlformats.org/drawingml/2006/main">
              <a:ext uri="{FF2B5EF4-FFF2-40B4-BE49-F238E27FC236}">
                <a16:creationId xmlns:a16="http://schemas.microsoft.com/office/drawing/2014/main" id="{023CE000-70B3-44EC-A406-4C6607746614}"/>
              </a:ext>
            </a:extLst>
          </p:cNvPr>
          <p:cNvSpPr>
            <a:spLocks xmlns:a="http://schemas.openxmlformats.org/drawingml/2006/main" noGrp="1"/>
          </p:cNvSpPr>
          <p:nvPr/>
        </p:nvSpPr>
        <p:spPr>
          <a:xfrm xmlns:a="http://schemas.openxmlformats.org/drawingml/2006/main">
            <a:off x="4629150" y="2705100"/>
            <a:ext cx="2933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동일 protocol 내 cell</a:t>
            </a:r>
          </a:p>
          <a:p xmlns:a="http://schemas.openxmlformats.org/drawingml/2006/main">
            <a:pPr algn="l">
              <a:defRPr sz="1200" b="0">
                <a:solidFill>
                  <a:srgbClr val="132024"/>
                </a:solidFill>
              </a:defRPr>
            </a:pPr>
            <a:r>
              <a:rPr sz="1200" b="0">
                <a:solidFill>
                  <a:srgbClr val="132024"/>
                </a:solidFill>
              </a:rPr>
              <a:t>composition variance의 수준</a:t>
            </a:r>
          </a:p>
          <a:p xmlns:a="http://schemas.openxmlformats.org/drawingml/2006/main">
            <a:pPr algn="l">
              <a:defRPr sz="1200" b="0">
                <a:solidFill>
                  <a:srgbClr val="132024"/>
                </a:solidFill>
              </a:defRPr>
            </a:pPr>
            <a:r>
              <a:rPr sz="1200" b="0">
                <a:solidFill>
                  <a:srgbClr val="132024"/>
                </a:solidFill>
              </a:rPr>
              <a:t>anchor: Velasco, Yoon</a:t>
            </a:r>
          </a:p>
        </p:txBody>
      </p:sp>
      <p:sp>
        <p:nvSpPr>
          <p:cNvPr id="22" name="">
            <a:extLst xmlns:a="http://schemas.openxmlformats.org/drawingml/2006/main">
              <a:ext uri="{FF2B5EF4-FFF2-40B4-BE49-F238E27FC236}">
                <a16:creationId xmlns:a16="http://schemas.microsoft.com/office/drawing/2014/main" id="{0868BB02-FB2D-428A-BA56-4A4E42FAF988}"/>
              </a:ext>
            </a:extLst>
          </p:cNvPr>
          <p:cNvSpPr>
            <a:spLocks xmlns:a="http://schemas.openxmlformats.org/drawingml/2006/main" noGrp="1"/>
          </p:cNvSpPr>
          <p:nvPr/>
        </p:nvSpPr>
        <p:spPr>
          <a:xfrm xmlns:a="http://schemas.openxmlformats.org/drawingml/2006/main">
            <a:off x="8153400" y="2095500"/>
            <a:ext cx="3352800" cy="1390650"/>
          </a:xfrm>
          <a:prstGeom xmlns:a="http://schemas.openxmlformats.org/drawingml/2006/main" prst="roundRect">
            <a:avLst>
              <a:gd name="adj" fmla="val 547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353ABF01-7DB0-4510-959C-F142BFDA8F42}"/>
              </a:ext>
            </a:extLst>
          </p:cNvPr>
          <p:cNvSpPr>
            <a:spLocks xmlns:a="http://schemas.openxmlformats.org/drawingml/2006/main" noGrp="1"/>
          </p:cNvSpPr>
          <p:nvPr/>
        </p:nvSpPr>
        <p:spPr>
          <a:xfrm xmlns:a="http://schemas.openxmlformats.org/drawingml/2006/main">
            <a:off x="8210550" y="2152650"/>
            <a:ext cx="32385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E5FB126D-C91E-441F-913F-1B76AFF25945}"/>
              </a:ext>
            </a:extLst>
          </p:cNvPr>
          <p:cNvSpPr>
            <a:spLocks xmlns:a="http://schemas.openxmlformats.org/drawingml/2006/main" noGrp="1"/>
          </p:cNvSpPr>
          <p:nvPr/>
        </p:nvSpPr>
        <p:spPr>
          <a:xfrm xmlns:a="http://schemas.openxmlformats.org/drawingml/2006/main">
            <a:off x="8362950" y="22860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3. fidelity</a:t>
            </a:r>
          </a:p>
        </p:txBody>
      </p:sp>
      <p:sp>
        <p:nvSpPr>
          <p:cNvPr id="25" name="">
            <a:extLst xmlns:a="http://schemas.openxmlformats.org/drawingml/2006/main">
              <a:ext uri="{FF2B5EF4-FFF2-40B4-BE49-F238E27FC236}">
                <a16:creationId xmlns:a16="http://schemas.microsoft.com/office/drawing/2014/main" id="{1CFB6C9F-2CEA-4312-8203-4D50BF7F97C9}"/>
              </a:ext>
            </a:extLst>
          </p:cNvPr>
          <p:cNvSpPr>
            <a:spLocks xmlns:a="http://schemas.openxmlformats.org/drawingml/2006/main" noGrp="1"/>
          </p:cNvSpPr>
          <p:nvPr/>
        </p:nvSpPr>
        <p:spPr>
          <a:xfrm xmlns:a="http://schemas.openxmlformats.org/drawingml/2006/main">
            <a:off x="8362950" y="2705100"/>
            <a:ext cx="2933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primary fetal brain 대비 분자적</a:t>
            </a:r>
          </a:p>
          <a:p xmlns:a="http://schemas.openxmlformats.org/drawingml/2006/main">
            <a:pPr algn="l">
              <a:defRPr sz="1200" b="0">
                <a:solidFill>
                  <a:srgbClr val="132024"/>
                </a:solidFill>
              </a:defRPr>
            </a:pPr>
            <a:r>
              <a:rPr sz="1200" b="0">
                <a:solidFill>
                  <a:srgbClr val="132024"/>
                </a:solidFill>
              </a:rPr>
              <a:t>거리의 평가 anchor: Bhaduri, He</a:t>
            </a:r>
          </a:p>
        </p:txBody>
      </p:sp>
      <p:sp>
        <p:nvSpPr>
          <p:cNvPr id="26" name="">
            <a:extLst xmlns:a="http://schemas.openxmlformats.org/drawingml/2006/main">
              <a:ext uri="{FF2B5EF4-FFF2-40B4-BE49-F238E27FC236}">
                <a16:creationId xmlns:a16="http://schemas.microsoft.com/office/drawing/2014/main" id="{940F5124-829A-418F-9D33-3F53C1170F9B}"/>
              </a:ext>
            </a:extLst>
          </p:cNvPr>
          <p:cNvSpPr>
            <a:spLocks xmlns:a="http://schemas.openxmlformats.org/drawingml/2006/main" noGrp="1"/>
          </p:cNvSpPr>
          <p:nvPr/>
        </p:nvSpPr>
        <p:spPr>
          <a:xfrm xmlns:a="http://schemas.openxmlformats.org/drawingml/2006/main">
            <a:off x="1371600" y="3790950"/>
            <a:ext cx="4400550" cy="1428750"/>
          </a:xfrm>
          <a:prstGeom xmlns:a="http://schemas.openxmlformats.org/drawingml/2006/main" prst="roundRect">
            <a:avLst>
              <a:gd name="adj" fmla="val 533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F78B61C0-FBAE-49DC-9606-A92A17C64555}"/>
              </a:ext>
            </a:extLst>
          </p:cNvPr>
          <p:cNvSpPr>
            <a:spLocks xmlns:a="http://schemas.openxmlformats.org/drawingml/2006/main" noGrp="1"/>
          </p:cNvSpPr>
          <p:nvPr/>
        </p:nvSpPr>
        <p:spPr>
          <a:xfrm xmlns:a="http://schemas.openxmlformats.org/drawingml/2006/main">
            <a:off x="1428750" y="3848100"/>
            <a:ext cx="4286250" cy="57150"/>
          </a:xfrm>
          <a:prstGeom xmlns:a="http://schemas.openxmlformats.org/drawingml/2006/main" prst="rect">
            <a:avLst/>
          </a:prstGeom>
          <a:solidFill xmlns:a="http://schemas.openxmlformats.org/drawingml/2006/main">
            <a:srgbClr val="517C9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438CEBF-C3ED-457A-9038-A4EA07BB9C63}"/>
              </a:ext>
            </a:extLst>
          </p:cNvPr>
          <p:cNvSpPr>
            <a:spLocks xmlns:a="http://schemas.openxmlformats.org/drawingml/2006/main" noGrp="1"/>
          </p:cNvSpPr>
          <p:nvPr/>
        </p:nvSpPr>
        <p:spPr>
          <a:xfrm xmlns:a="http://schemas.openxmlformats.org/drawingml/2006/main">
            <a:off x="1581150" y="3981450"/>
            <a:ext cx="3981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4. temporal mapping</a:t>
            </a:r>
          </a:p>
        </p:txBody>
      </p:sp>
      <p:sp>
        <p:nvSpPr>
          <p:cNvPr id="29" name="">
            <a:extLst xmlns:a="http://schemas.openxmlformats.org/drawingml/2006/main">
              <a:ext uri="{FF2B5EF4-FFF2-40B4-BE49-F238E27FC236}">
                <a16:creationId xmlns:a16="http://schemas.microsoft.com/office/drawing/2014/main" id="{FDDD3C32-7B6B-4E40-8CF7-D185FF937C27}"/>
              </a:ext>
            </a:extLst>
          </p:cNvPr>
          <p:cNvSpPr>
            <a:spLocks xmlns:a="http://schemas.openxmlformats.org/drawingml/2006/main" noGrp="1"/>
          </p:cNvSpPr>
          <p:nvPr/>
        </p:nvSpPr>
        <p:spPr>
          <a:xfrm xmlns:a="http://schemas.openxmlformats.org/drawingml/2006/main">
            <a:off x="1581150" y="4400550"/>
            <a:ext cx="39814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culture day와 developmental stage 간 대응</a:t>
            </a:r>
          </a:p>
          <a:p xmlns:a="http://schemas.openxmlformats.org/drawingml/2006/main">
            <a:pPr algn="l">
              <a:defRPr sz="1200" b="0">
                <a:solidFill>
                  <a:srgbClr val="132024"/>
                </a:solidFill>
              </a:defRPr>
            </a:pPr>
            <a:r>
              <a:rPr sz="1200" b="0">
                <a:solidFill>
                  <a:srgbClr val="132024"/>
                </a:solidFill>
              </a:rPr>
              <a:t>관계 anchor: Kanton, Giandomenico</a:t>
            </a:r>
          </a:p>
        </p:txBody>
      </p:sp>
      <p:sp>
        <p:nvSpPr>
          <p:cNvPr id="30" name="">
            <a:extLst xmlns:a="http://schemas.openxmlformats.org/drawingml/2006/main">
              <a:ext uri="{FF2B5EF4-FFF2-40B4-BE49-F238E27FC236}">
                <a16:creationId xmlns:a16="http://schemas.microsoft.com/office/drawing/2014/main" id="{7607605B-C849-4D8A-8A9B-707F3928CBFF}"/>
              </a:ext>
            </a:extLst>
          </p:cNvPr>
          <p:cNvSpPr>
            <a:spLocks xmlns:a="http://schemas.openxmlformats.org/drawingml/2006/main" noGrp="1"/>
          </p:cNvSpPr>
          <p:nvPr/>
        </p:nvSpPr>
        <p:spPr>
          <a:xfrm xmlns:a="http://schemas.openxmlformats.org/drawingml/2006/main">
            <a:off x="6438900" y="3790950"/>
            <a:ext cx="4400550" cy="1428750"/>
          </a:xfrm>
          <a:prstGeom xmlns:a="http://schemas.openxmlformats.org/drawingml/2006/main" prst="roundRect">
            <a:avLst>
              <a:gd name="adj" fmla="val 533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31" name="">
            <a:extLst xmlns:a="http://schemas.openxmlformats.org/drawingml/2006/main">
              <a:ext uri="{FF2B5EF4-FFF2-40B4-BE49-F238E27FC236}">
                <a16:creationId xmlns:a16="http://schemas.microsoft.com/office/drawing/2014/main" id="{BCC8A50A-99FE-47AC-8073-1E8528B658C2}"/>
              </a:ext>
            </a:extLst>
          </p:cNvPr>
          <p:cNvSpPr>
            <a:spLocks xmlns:a="http://schemas.openxmlformats.org/drawingml/2006/main" noGrp="1"/>
          </p:cNvSpPr>
          <p:nvPr/>
        </p:nvSpPr>
        <p:spPr>
          <a:xfrm xmlns:a="http://schemas.openxmlformats.org/drawingml/2006/main">
            <a:off x="6496050" y="3848100"/>
            <a:ext cx="4286250" cy="5715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D306DA5C-783B-4E1A-9FA9-A057A903349D}"/>
              </a:ext>
            </a:extLst>
          </p:cNvPr>
          <p:cNvSpPr>
            <a:spLocks xmlns:a="http://schemas.openxmlformats.org/drawingml/2006/main" noGrp="1"/>
          </p:cNvSpPr>
          <p:nvPr/>
        </p:nvSpPr>
        <p:spPr>
          <a:xfrm xmlns:a="http://schemas.openxmlformats.org/drawingml/2006/main">
            <a:off x="6648450" y="3981450"/>
            <a:ext cx="3981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5. atlas alignment</a:t>
            </a:r>
          </a:p>
        </p:txBody>
      </p:sp>
      <p:sp>
        <p:nvSpPr>
          <p:cNvPr id="33" name="">
            <a:extLst xmlns:a="http://schemas.openxmlformats.org/drawingml/2006/main">
              <a:ext uri="{FF2B5EF4-FFF2-40B4-BE49-F238E27FC236}">
                <a16:creationId xmlns:a16="http://schemas.microsoft.com/office/drawing/2014/main" id="{A3A68205-871B-41B6-B295-C7FD766338BC}"/>
              </a:ext>
            </a:extLst>
          </p:cNvPr>
          <p:cNvSpPr>
            <a:spLocks xmlns:a="http://schemas.openxmlformats.org/drawingml/2006/main" noGrp="1"/>
          </p:cNvSpPr>
          <p:nvPr/>
        </p:nvSpPr>
        <p:spPr>
          <a:xfrm xmlns:a="http://schemas.openxmlformats.org/drawingml/2006/main">
            <a:off x="6648450" y="4400550"/>
            <a:ext cx="39814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reference atlas 좌표계에서의 cross-protocol</a:t>
            </a:r>
          </a:p>
          <a:p xmlns:a="http://schemas.openxmlformats.org/drawingml/2006/main">
            <a:pPr algn="l">
              <a:defRPr sz="1200" b="0">
                <a:solidFill>
                  <a:srgbClr val="132024"/>
                </a:solidFill>
              </a:defRPr>
            </a:pPr>
            <a:r>
              <a:rPr sz="1200" b="0">
                <a:solidFill>
                  <a:srgbClr val="132024"/>
                </a:solidFill>
              </a:rPr>
              <a:t>정렬 anchor: He 2024</a:t>
            </a:r>
          </a:p>
        </p:txBody>
      </p:sp>
      <p:sp>
        <p:nvSpPr>
          <p:cNvPr id="34" name="">
            <a:extLst xmlns:a="http://schemas.openxmlformats.org/drawingml/2006/main">
              <a:ext uri="{FF2B5EF4-FFF2-40B4-BE49-F238E27FC236}">
                <a16:creationId xmlns:a16="http://schemas.microsoft.com/office/drawing/2014/main" id="{360B1932-3FA1-4492-A06E-3CE0D851457B}"/>
              </a:ext>
            </a:extLst>
          </p:cNvPr>
          <p:cNvSpPr>
            <a:spLocks xmlns:a="http://schemas.openxmlformats.org/drawingml/2006/main" noGrp="1"/>
          </p:cNvSpPr>
          <p:nvPr/>
        </p:nvSpPr>
        <p:spPr>
          <a:xfrm xmlns:a="http://schemas.openxmlformats.org/drawingml/2006/main">
            <a:off x="2038350" y="5581650"/>
            <a:ext cx="8115300" cy="609600"/>
          </a:xfrm>
          <a:prstGeom xmlns:a="http://schemas.openxmlformats.org/drawingml/2006/main" prst="roundRect">
            <a:avLst>
              <a:gd name="adj" fmla="val 12500"/>
            </a:avLst>
          </a:prstGeom>
          <a:solidFill xmlns:a="http://schemas.openxmlformats.org/drawingml/2006/main">
            <a:srgbClr val="F7DDD8"/>
          </a:solidFill>
          <a:ln xmlns:a="http://schemas.openxmlformats.org/drawingml/2006/main" w="11430">
            <a:solidFill>
              <a:srgbClr val="132024"/>
            </a:solidFill>
            <a:prstDash val="solid"/>
          </a:ln>
        </p:spPr>
      </p:sp>
      <p:sp>
        <p:nvSpPr>
          <p:cNvPr id="35" name="">
            <a:extLst xmlns:a="http://schemas.openxmlformats.org/drawingml/2006/main">
              <a:ext uri="{FF2B5EF4-FFF2-40B4-BE49-F238E27FC236}">
                <a16:creationId xmlns:a16="http://schemas.microsoft.com/office/drawing/2014/main" id="{EE04611D-5F84-4EC5-9B49-AA6B5AB63E28}"/>
              </a:ext>
            </a:extLst>
          </p:cNvPr>
          <p:cNvSpPr>
            <a:spLocks xmlns:a="http://schemas.openxmlformats.org/drawingml/2006/main" noGrp="1"/>
          </p:cNvSpPr>
          <p:nvPr/>
        </p:nvSpPr>
        <p:spPr>
          <a:xfrm xmlns:a="http://schemas.openxmlformats.org/drawingml/2006/main">
            <a:off x="2085975" y="5629275"/>
            <a:ext cx="57150" cy="5143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74E33842-603B-47B4-98F3-901AFE395925}"/>
              </a:ext>
            </a:extLst>
          </p:cNvPr>
          <p:cNvSpPr>
            <a:spLocks xmlns:a="http://schemas.openxmlformats.org/drawingml/2006/main" noGrp="1"/>
          </p:cNvSpPr>
          <p:nvPr/>
        </p:nvSpPr>
        <p:spPr>
          <a:xfrm xmlns:a="http://schemas.openxmlformats.org/drawingml/2006/main">
            <a:off x="2247900" y="5734050"/>
            <a:ext cx="7734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핵심 메시지: reproducibility와 fidelity는 동일 지표가 아니다.</a:t>
            </a:r>
          </a:p>
        </p:txBody>
      </p:sp>
      <p:sp>
        <p:nvSpPr>
          <p:cNvPr id="37" name="">
            <a:extLst xmlns:a="http://schemas.openxmlformats.org/drawingml/2006/main">
              <a:ext uri="{FF2B5EF4-FFF2-40B4-BE49-F238E27FC236}">
                <a16:creationId xmlns:a16="http://schemas.microsoft.com/office/drawing/2014/main" id="{E24630F9-6797-4336-9C54-94C02FAEBF3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5축은 상호 독립적인 benchmark question이며, 한 축의 강점이 다른 축의 답을 대체하지 않는다.</a:t>
            </a:r>
          </a:p>
        </p:txBody>
      </p:sp>
    </p:spTree>
    <p:extLst>
      <p:ext uri="{BB962C8B-B14F-4D97-AF65-F5344CB8AC3E}">
        <p14:creationId xmlns:p14="http://schemas.microsoft.com/office/powerpoint/2010/main" val="494538535"/>
      </p:ext>
    </p:extLst>
  </p:cSld>
</p:sld>
</file>

<file path=ppt/slides/slide1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b2e90d100df4277"/>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28C9C6-D0B9-41F9-84E8-287138C79CC8}"/>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0005BFC-CC3F-4F25-8BA4-21A50ED7EC01}"/>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854C3FD-2D83-4D67-906C-10FAFAA1ABA6}"/>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7CD0BF7A-8C01-4736-AF58-F1F50EB149A3}"/>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B128DE85-07B4-49DA-8AED-D84A52FAE79D}"/>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A20C2888-F2EF-4E5A-8A4F-B8E4C2223F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B5B1852-6540-437C-B254-1D39532B93E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QUESTION 3</a:t>
            </a:r>
          </a:p>
        </p:txBody>
      </p:sp>
      <p:sp>
        <p:nvSpPr>
          <p:cNvPr id="10" name="">
            <a:extLst xmlns:a="http://schemas.openxmlformats.org/drawingml/2006/main">
              <a:ext uri="{FF2B5EF4-FFF2-40B4-BE49-F238E27FC236}">
                <a16:creationId xmlns:a16="http://schemas.microsoft.com/office/drawing/2014/main" id="{6E5C5371-D50C-40B6-8BCB-945BCD8229CE}"/>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11 / 13</a:t>
            </a:r>
          </a:p>
        </p:txBody>
      </p:sp>
      <p:sp>
        <p:nvSpPr>
          <p:cNvPr id="11" name="">
            <a:extLst xmlns:a="http://schemas.openxmlformats.org/drawingml/2006/main">
              <a:ext uri="{FF2B5EF4-FFF2-40B4-BE49-F238E27FC236}">
                <a16:creationId xmlns:a16="http://schemas.microsoft.com/office/drawing/2014/main" id="{C529D32C-DC59-4564-928F-FC1E525CA564}"/>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DD5F267-D144-4BE3-8329-01929BF221B4}"/>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62431588-BFD6-4D17-AEE4-9794188E3A02}"/>
              </a:ext>
            </a:extLst>
          </p:cNvPr>
          <p:cNvSpPr>
            <a:spLocks xmlns:a="http://schemas.openxmlformats.org/drawingml/2006/main" noGrp="1"/>
          </p:cNvSpPr>
          <p:nvPr/>
        </p:nvSpPr>
        <p:spPr>
          <a:xfrm xmlns:a="http://schemas.openxmlformats.org/drawingml/2006/main">
            <a:off x="609600" y="838200"/>
            <a:ext cx="6096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32024"/>
                </a:solidFill>
              </a:defRPr>
            </a:pPr>
            <a:r>
              <a:rPr sz="2700" b="1">
                <a:solidFill>
                  <a:srgbClr val="132024"/>
                </a:solidFill>
              </a:rPr>
              <a:t>3차 질문: readout 우선의</a:t>
            </a:r>
          </a:p>
          <a:p xmlns:a="http://schemas.openxmlformats.org/drawingml/2006/main">
            <a:pPr algn="l">
              <a:defRPr sz="2700" b="1">
                <a:solidFill>
                  <a:srgbClr val="132024"/>
                </a:solidFill>
              </a:defRPr>
            </a:pPr>
            <a:r>
              <a:rPr sz="2700" b="1">
                <a:solidFill>
                  <a:srgbClr val="132024"/>
                </a:solidFill>
              </a:rPr>
              <a:t>selection rule</a:t>
            </a:r>
          </a:p>
        </p:txBody>
      </p:sp>
      <p:sp>
        <p:nvSpPr>
          <p:cNvPr id="14" name="">
            <a:extLst xmlns:a="http://schemas.openxmlformats.org/drawingml/2006/main">
              <a:ext uri="{FF2B5EF4-FFF2-40B4-BE49-F238E27FC236}">
                <a16:creationId xmlns:a16="http://schemas.microsoft.com/office/drawing/2014/main" id="{0FC6B00E-49FC-48A2-8693-929A245813CC}"/>
              </a:ext>
            </a:extLst>
          </p:cNvPr>
          <p:cNvSpPr>
            <a:spLocks xmlns:a="http://schemas.openxmlformats.org/drawingml/2006/main" noGrp="1"/>
          </p:cNvSpPr>
          <p:nvPr/>
        </p:nvSpPr>
        <p:spPr>
          <a:xfrm xmlns:a="http://schemas.openxmlformats.org/drawingml/2006/main">
            <a:off x="685800" y="2133600"/>
            <a:ext cx="3200400" cy="1333500"/>
          </a:xfrm>
          <a:prstGeom xmlns:a="http://schemas.openxmlformats.org/drawingml/2006/main" prst="roundRect">
            <a:avLst>
              <a:gd name="adj" fmla="val 5714"/>
            </a:avLst>
          </a:prstGeom>
          <a:solidFill xmlns:a="http://schemas.openxmlformats.org/drawingml/2006/main">
            <a:srgbClr val="DDF4E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F6F9C0E4-6C61-4422-BD6F-09D46E11279E}"/>
              </a:ext>
            </a:extLst>
          </p:cNvPr>
          <p:cNvSpPr>
            <a:spLocks xmlns:a="http://schemas.openxmlformats.org/drawingml/2006/main" noGrp="1"/>
          </p:cNvSpPr>
          <p:nvPr/>
        </p:nvSpPr>
        <p:spPr>
          <a:xfrm xmlns:a="http://schemas.openxmlformats.org/drawingml/2006/main">
            <a:off x="742950" y="2190750"/>
            <a:ext cx="30861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738F2D6-4984-48FF-A0D5-64E07C011D72}"/>
              </a:ext>
            </a:extLst>
          </p:cNvPr>
          <p:cNvSpPr>
            <a:spLocks xmlns:a="http://schemas.openxmlformats.org/drawingml/2006/main" noGrp="1"/>
          </p:cNvSpPr>
          <p:nvPr/>
        </p:nvSpPr>
        <p:spPr>
          <a:xfrm xmlns:a="http://schemas.openxmlformats.org/drawingml/2006/main">
            <a:off x="895350" y="232410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최종 선택 규칙</a:t>
            </a:r>
          </a:p>
        </p:txBody>
      </p:sp>
      <p:sp>
        <p:nvSpPr>
          <p:cNvPr id="17" name="">
            <a:extLst xmlns:a="http://schemas.openxmlformats.org/drawingml/2006/main">
              <a:ext uri="{FF2B5EF4-FFF2-40B4-BE49-F238E27FC236}">
                <a16:creationId xmlns:a16="http://schemas.microsoft.com/office/drawing/2014/main" id="{9A25C6F5-C6FD-4A1E-9DE3-27F7DE31993A}"/>
              </a:ext>
            </a:extLst>
          </p:cNvPr>
          <p:cNvSpPr>
            <a:spLocks xmlns:a="http://schemas.openxmlformats.org/drawingml/2006/main" noGrp="1"/>
          </p:cNvSpPr>
          <p:nvPr/>
        </p:nvSpPr>
        <p:spPr>
          <a:xfrm xmlns:a="http://schemas.openxmlformats.org/drawingml/2006/main">
            <a:off x="895350" y="2743200"/>
            <a:ext cx="278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우선 핵심 readout을 명시하고, 해당</a:t>
            </a:r>
          </a:p>
          <a:p xmlns:a="http://schemas.openxmlformats.org/drawingml/2006/main">
            <a:pPr algn="l">
              <a:defRPr sz="1200" b="0">
                <a:solidFill>
                  <a:srgbClr val="132024"/>
                </a:solidFill>
              </a:defRPr>
            </a:pPr>
            <a:r>
              <a:rPr sz="1200" b="0">
                <a:solidFill>
                  <a:srgbClr val="132024"/>
                </a:solidFill>
              </a:rPr>
              <a:t>readout을 가장 직접적으로 뒷받침하는</a:t>
            </a:r>
          </a:p>
          <a:p xmlns:a="http://schemas.openxmlformats.org/drawingml/2006/main">
            <a:pPr algn="l">
              <a:defRPr sz="1200" b="0">
                <a:solidFill>
                  <a:srgbClr val="132024"/>
                </a:solidFill>
              </a:defRPr>
            </a:pPr>
            <a:r>
              <a:rPr sz="1200" b="0">
                <a:solidFill>
                  <a:srgbClr val="132024"/>
                </a:solidFill>
              </a:rPr>
              <a:t>branch를 선택한다.</a:t>
            </a:r>
          </a:p>
        </p:txBody>
      </p:sp>
      <p:sp>
        <p:nvSpPr>
          <p:cNvPr id="18" name="">
            <a:extLst xmlns:a="http://schemas.openxmlformats.org/drawingml/2006/main">
              <a:ext uri="{FF2B5EF4-FFF2-40B4-BE49-F238E27FC236}">
                <a16:creationId xmlns:a16="http://schemas.microsoft.com/office/drawing/2014/main" id="{BE1ACCB6-2A88-43D6-8403-814E5AAE6EB4}"/>
              </a:ext>
            </a:extLst>
          </p:cNvPr>
          <p:cNvSpPr>
            <a:spLocks xmlns:a="http://schemas.openxmlformats.org/drawingml/2006/main" noGrp="1"/>
          </p:cNvSpPr>
          <p:nvPr/>
        </p:nvSpPr>
        <p:spPr>
          <a:xfrm xmlns:a="http://schemas.openxmlformats.org/drawingml/2006/main">
            <a:off x="685800" y="3638550"/>
            <a:ext cx="3200400" cy="1143000"/>
          </a:xfrm>
          <a:prstGeom xmlns:a="http://schemas.openxmlformats.org/drawingml/2006/main" prst="roundRect">
            <a:avLst>
              <a:gd name="adj" fmla="val 666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D9FF6B94-7304-4D20-A16E-F354A4E5D7ED}"/>
              </a:ext>
            </a:extLst>
          </p:cNvPr>
          <p:cNvSpPr>
            <a:spLocks xmlns:a="http://schemas.openxmlformats.org/drawingml/2006/main" noGrp="1"/>
          </p:cNvSpPr>
          <p:nvPr/>
        </p:nvSpPr>
        <p:spPr>
          <a:xfrm xmlns:a="http://schemas.openxmlformats.org/drawingml/2006/main">
            <a:off x="742950" y="3695700"/>
            <a:ext cx="30861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0A32D21-28C5-4E70-A1EE-00C74889D87C}"/>
              </a:ext>
            </a:extLst>
          </p:cNvPr>
          <p:cNvSpPr>
            <a:spLocks xmlns:a="http://schemas.openxmlformats.org/drawingml/2006/main" noGrp="1"/>
          </p:cNvSpPr>
          <p:nvPr/>
        </p:nvSpPr>
        <p:spPr>
          <a:xfrm xmlns:a="http://schemas.openxmlformats.org/drawingml/2006/main">
            <a:off x="895350" y="38290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대표 readout 묶음</a:t>
            </a:r>
          </a:p>
        </p:txBody>
      </p:sp>
      <p:sp>
        <p:nvSpPr>
          <p:cNvPr id="21" name="">
            <a:extLst xmlns:a="http://schemas.openxmlformats.org/drawingml/2006/main">
              <a:ext uri="{FF2B5EF4-FFF2-40B4-BE49-F238E27FC236}">
                <a16:creationId xmlns:a16="http://schemas.microsoft.com/office/drawing/2014/main" id="{A66D0DF1-5FDA-4DC8-8967-6E1391F5D290}"/>
              </a:ext>
            </a:extLst>
          </p:cNvPr>
          <p:cNvSpPr>
            <a:spLocks xmlns:a="http://schemas.openxmlformats.org/drawingml/2006/main" noGrp="1"/>
          </p:cNvSpPr>
          <p:nvPr/>
        </p:nvSpPr>
        <p:spPr>
          <a:xfrm xmlns:a="http://schemas.openxmlformats.org/drawingml/2006/main">
            <a:off x="895350" y="4248150"/>
            <a:ext cx="27813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stability, fidelity/atlas,</a:t>
            </a:r>
          </a:p>
          <a:p xmlns:a="http://schemas.openxmlformats.org/drawingml/2006/main">
            <a:pPr algn="l">
              <a:defRPr sz="1200" b="0">
                <a:solidFill>
                  <a:srgbClr val="132024"/>
                </a:solidFill>
              </a:defRPr>
            </a:pPr>
            <a:r>
              <a:rPr sz="1200" b="0">
                <a:solidFill>
                  <a:srgbClr val="132024"/>
                </a:solidFill>
              </a:rPr>
              <a:t>function, host, screening</a:t>
            </a:r>
          </a:p>
        </p:txBody>
      </p:sp>
      <p:sp>
        <p:nvSpPr>
          <p:cNvPr id="22" name="">
            <a:extLst xmlns:a="http://schemas.openxmlformats.org/drawingml/2006/main">
              <a:ext uri="{FF2B5EF4-FFF2-40B4-BE49-F238E27FC236}">
                <a16:creationId xmlns:a16="http://schemas.microsoft.com/office/drawing/2014/main" id="{B9C87091-2C53-4479-8481-76073F09811C}"/>
              </a:ext>
            </a:extLst>
          </p:cNvPr>
          <p:cNvSpPr>
            <a:spLocks xmlns:a="http://schemas.openxmlformats.org/drawingml/2006/main" noGrp="1"/>
          </p:cNvSpPr>
          <p:nvPr/>
        </p:nvSpPr>
        <p:spPr>
          <a:xfrm xmlns:a="http://schemas.openxmlformats.org/drawingml/2006/main">
            <a:off x="685800" y="4972050"/>
            <a:ext cx="3200400" cy="1200150"/>
          </a:xfrm>
          <a:prstGeom xmlns:a="http://schemas.openxmlformats.org/drawingml/2006/main" prst="roundRect">
            <a:avLst>
              <a:gd name="adj" fmla="val 634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C56BF561-072C-4B24-B2E4-ED4442822F1F}"/>
              </a:ext>
            </a:extLst>
          </p:cNvPr>
          <p:cNvSpPr>
            <a:spLocks xmlns:a="http://schemas.openxmlformats.org/drawingml/2006/main" noGrp="1"/>
          </p:cNvSpPr>
          <p:nvPr/>
        </p:nvSpPr>
        <p:spPr>
          <a:xfrm xmlns:a="http://schemas.openxmlformats.org/drawingml/2006/main">
            <a:off x="742950" y="5029200"/>
            <a:ext cx="30861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9C89A51-DED4-43C7-8C30-5842647EA632}"/>
              </a:ext>
            </a:extLst>
          </p:cNvPr>
          <p:cNvSpPr>
            <a:spLocks xmlns:a="http://schemas.openxmlformats.org/drawingml/2006/main" noGrp="1"/>
          </p:cNvSpPr>
          <p:nvPr/>
        </p:nvSpPr>
        <p:spPr>
          <a:xfrm xmlns:a="http://schemas.openxmlformats.org/drawingml/2006/main">
            <a:off x="895350" y="5162550"/>
            <a:ext cx="2781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대표 anchor</a:t>
            </a:r>
          </a:p>
        </p:txBody>
      </p:sp>
      <p:sp>
        <p:nvSpPr>
          <p:cNvPr id="25" name="">
            <a:extLst xmlns:a="http://schemas.openxmlformats.org/drawingml/2006/main">
              <a:ext uri="{FF2B5EF4-FFF2-40B4-BE49-F238E27FC236}">
                <a16:creationId xmlns:a16="http://schemas.microsoft.com/office/drawing/2014/main" id="{E7DE6679-E7E6-42E2-9479-0C90A274F002}"/>
              </a:ext>
            </a:extLst>
          </p:cNvPr>
          <p:cNvSpPr>
            <a:spLocks xmlns:a="http://schemas.openxmlformats.org/drawingml/2006/main" noGrp="1"/>
          </p:cNvSpPr>
          <p:nvPr/>
        </p:nvSpPr>
        <p:spPr>
          <a:xfrm xmlns:a="http://schemas.openxmlformats.org/drawingml/2006/main">
            <a:off x="895350" y="5581650"/>
            <a:ext cx="2781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Velasco, Bhaduri, He,</a:t>
            </a:r>
          </a:p>
          <a:p xmlns:a="http://schemas.openxmlformats.org/drawingml/2006/main">
            <a:pPr algn="l">
              <a:defRPr sz="1200" b="0">
                <a:solidFill>
                  <a:srgbClr val="132024"/>
                </a:solidFill>
              </a:defRPr>
            </a:pPr>
            <a:r>
              <a:rPr sz="1200" b="0">
                <a:solidFill>
                  <a:srgbClr val="132024"/>
                </a:solidFill>
              </a:rPr>
              <a:t>Fitzgerald, Kelley, Chen</a:t>
            </a:r>
          </a:p>
        </p:txBody>
      </p:sp>
      <p:sp>
        <p:nvSpPr>
          <p:cNvPr id="26" name="">
            <a:extLst xmlns:a="http://schemas.openxmlformats.org/drawingml/2006/main">
              <a:ext uri="{FF2B5EF4-FFF2-40B4-BE49-F238E27FC236}">
                <a16:creationId xmlns:a16="http://schemas.microsoft.com/office/drawing/2014/main" id="{3556A19B-294B-4989-8D84-A449A6CC5562}"/>
              </a:ext>
            </a:extLst>
          </p:cNvPr>
          <p:cNvSpPr>
            <a:spLocks xmlns:a="http://schemas.openxmlformats.org/drawingml/2006/main" noGrp="1"/>
          </p:cNvSpPr>
          <p:nvPr/>
        </p:nvSpPr>
        <p:spPr>
          <a:xfrm xmlns:a="http://schemas.openxmlformats.org/drawingml/2006/main">
            <a:off x="4362450" y="1943100"/>
            <a:ext cx="7029450" cy="4076700"/>
          </a:xfrm>
          <a:prstGeom xmlns:a="http://schemas.openxmlformats.org/drawingml/2006/main" prst="roundRect">
            <a:avLst>
              <a:gd name="adj" fmla="val 1869"/>
            </a:avLst>
          </a:prstGeom>
          <a:solidFill xmlns:a="http://schemas.openxmlformats.org/drawingml/2006/main">
            <a:srgbClr val="FBF7EF"/>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03F62A30-D27D-47FE-AA34-2B5B995A99D3}"/>
              </a:ext>
            </a:extLst>
          </p:cNvPr>
          <p:cNvSpPr>
            <a:spLocks xmlns:a="http://schemas.openxmlformats.org/drawingml/2006/main" noGrp="1"/>
          </p:cNvSpPr>
          <p:nvPr/>
        </p:nvSpPr>
        <p:spPr>
          <a:xfrm xmlns:a="http://schemas.openxmlformats.org/drawingml/2006/main">
            <a:off x="4419600" y="2000250"/>
            <a:ext cx="6915150" cy="57150"/>
          </a:xfrm>
          <a:prstGeom xmlns:a="http://schemas.openxmlformats.org/drawingml/2006/main" prst="rect">
            <a:avLst/>
          </a:prstGeom>
          <a:solidFill xmlns:a="http://schemas.openxmlformats.org/drawingml/2006/main">
            <a:srgbClr val="A9C9B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B17B91E7-2D50-4A09-9344-5D8ED5533891}"/>
              </a:ext>
            </a:extLst>
          </p:cNvPr>
          <p:cNvSpPr>
            <a:spLocks xmlns:a="http://schemas.openxmlformats.org/drawingml/2006/main" noGrp="1"/>
          </p:cNvSpPr>
          <p:nvPr/>
        </p:nvSpPr>
        <p:spPr>
          <a:xfrm xmlns:a="http://schemas.openxmlformats.org/drawingml/2006/main">
            <a:off x="4629150" y="2266950"/>
            <a:ext cx="6496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32024"/>
                </a:solidFill>
              </a:defRPr>
            </a:pPr>
            <a:r>
              <a:rPr sz="1575" b="1">
                <a:solidFill>
                  <a:srgbClr val="132024"/>
                </a:solidFill>
              </a:rPr>
              <a:t>Obsidian Local Graph</a:t>
            </a:r>
          </a:p>
        </p:txBody>
      </p:sp>
      <p:sp>
        <p:nvSpPr>
          <p:cNvPr id="29" name="">
            <a:extLst xmlns:a="http://schemas.openxmlformats.org/drawingml/2006/main">
              <a:ext uri="{FF2B5EF4-FFF2-40B4-BE49-F238E27FC236}">
                <a16:creationId xmlns:a16="http://schemas.microsoft.com/office/drawing/2014/main" id="{8D729A8D-4278-4156-AB82-51474C0E86A8}"/>
              </a:ext>
            </a:extLst>
          </p:cNvPr>
          <p:cNvSpPr>
            <a:spLocks xmlns:a="http://schemas.openxmlformats.org/drawingml/2006/main" noGrp="1"/>
          </p:cNvSpPr>
          <p:nvPr/>
        </p:nvSpPr>
        <p:spPr>
          <a:xfrm xmlns:a="http://schemas.openxmlformats.org/drawingml/2006/main">
            <a:off x="4629150" y="2667000"/>
            <a:ext cx="649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344146"/>
                </a:solidFill>
              </a:defRPr>
            </a:pPr>
            <a:r>
              <a:rPr sz="900" b="0">
                <a:solidFill>
                  <a:srgbClr val="344146"/>
                </a:solidFill>
              </a:rPr>
              <a:t>Graph screenshot placeholder</a:t>
            </a:r>
          </a:p>
        </p:txBody>
      </p:sp>
      <p:sp>
        <p:nvSpPr>
          <p:cNvPr id="30" name="">
            <a:extLst xmlns:a="http://schemas.openxmlformats.org/drawingml/2006/main">
              <a:ext uri="{FF2B5EF4-FFF2-40B4-BE49-F238E27FC236}">
                <a16:creationId xmlns:a16="http://schemas.microsoft.com/office/drawing/2014/main" id="{B8A560E8-D231-43D4-8631-5D8BC593F904}"/>
              </a:ext>
            </a:extLst>
          </p:cNvPr>
          <p:cNvSpPr>
            <a:spLocks xmlns:a="http://schemas.openxmlformats.org/drawingml/2006/main" noGrp="1"/>
          </p:cNvSpPr>
          <p:nvPr/>
        </p:nvSpPr>
        <p:spPr>
          <a:xfrm xmlns:a="http://schemas.openxmlformats.org/drawingml/2006/main">
            <a:off x="4667250" y="3067050"/>
            <a:ext cx="6419850" cy="2228850"/>
          </a:xfrm>
          <a:prstGeom xmlns:a="http://schemas.openxmlformats.org/drawingml/2006/main" prst="roundRect">
            <a:avLst>
              <a:gd name="adj" fmla="val 3419"/>
            </a:avLst>
          </a:prstGeom>
          <a:solidFill xmlns:a="http://schemas.openxmlformats.org/drawingml/2006/main">
            <a:srgbClr val="FFFDF8"/>
          </a:solidFill>
          <a:ln xmlns:a="http://schemas.openxmlformats.org/drawingml/2006/main" w="9525">
            <a:solidFill>
              <a:srgbClr val="B6C1C5"/>
            </a:solidFill>
            <a:prstDash val="solid"/>
          </a:ln>
        </p:spPr>
      </p:sp>
      <p:sp>
        <p:nvSpPr>
          <p:cNvPr id="31" name="">
            <a:extLst xmlns:a="http://schemas.openxmlformats.org/drawingml/2006/main">
              <a:ext uri="{FF2B5EF4-FFF2-40B4-BE49-F238E27FC236}">
                <a16:creationId xmlns:a16="http://schemas.microsoft.com/office/drawing/2014/main" id="{C001129C-B529-4993-B239-854608B71517}"/>
              </a:ext>
            </a:extLst>
          </p:cNvPr>
          <p:cNvSpPr>
            <a:spLocks xmlns:a="http://schemas.openxmlformats.org/drawingml/2006/main" noGrp="1"/>
          </p:cNvSpPr>
          <p:nvPr/>
        </p:nvSpPr>
        <p:spPr>
          <a:xfrm xmlns:a="http://schemas.openxmlformats.org/drawingml/2006/main">
            <a:off x="4857750" y="5219700"/>
            <a:ext cx="603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0F5B3F"/>
                </a:solidFill>
              </a:defRPr>
            </a:pPr>
            <a:r>
              <a:rPr sz="825" b="0">
                <a:solidFill>
                  <a:srgbClr val="0F5B3F"/>
                </a:solidFill>
              </a:rPr>
              <a:t>collections/organoid/wiki/queries/20260420_172825_brain-functional-readout-selection.md</a:t>
            </a:r>
          </a:p>
        </p:txBody>
      </p:sp>
      <p:sp>
        <p:nvSpPr>
          <p:cNvPr id="32" name="">
            <a:extLst xmlns:a="http://schemas.openxmlformats.org/drawingml/2006/main">
              <a:ext uri="{FF2B5EF4-FFF2-40B4-BE49-F238E27FC236}">
                <a16:creationId xmlns:a16="http://schemas.microsoft.com/office/drawing/2014/main" id="{E96FBAB1-F74A-43A0-9291-8901BF114ADE}"/>
              </a:ext>
            </a:extLst>
          </p:cNvPr>
          <p:cNvSpPr>
            <a:spLocks xmlns:a="http://schemas.openxmlformats.org/drawingml/2006/main" noGrp="1"/>
          </p:cNvSpPr>
          <p:nvPr/>
        </p:nvSpPr>
        <p:spPr>
          <a:xfrm xmlns:a="http://schemas.openxmlformats.org/drawingml/2006/main">
            <a:off x="4667250" y="5619750"/>
            <a:ext cx="641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767C"/>
                </a:solidFill>
              </a:defRPr>
            </a:pPr>
            <a:r>
              <a:rPr sz="750" b="0">
                <a:solidFill>
                  <a:srgbClr val="6A767C"/>
                </a:solidFill>
              </a:rPr>
              <a:t>Q3 local graph</a:t>
            </a:r>
          </a:p>
        </p:txBody>
      </p:sp>
      <p:sp>
        <p:nvSpPr>
          <p:cNvPr id="33" name="">
            <a:extLst xmlns:a="http://schemas.openxmlformats.org/drawingml/2006/main">
              <a:ext uri="{FF2B5EF4-FFF2-40B4-BE49-F238E27FC236}">
                <a16:creationId xmlns:a16="http://schemas.microsoft.com/office/drawing/2014/main" id="{FEA08BCB-3E97-4866-B30F-7AFCE4CB2541}"/>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우측 패널: Q3 query note의 Obsidian local graph 삽입 위치</a:t>
            </a:r>
          </a:p>
        </p:txBody>
      </p:sp>
    </p:spTree>
    <p:extLst>
      <p:ext uri="{BB962C8B-B14F-4D97-AF65-F5344CB8AC3E}">
        <p14:creationId xmlns:p14="http://schemas.microsoft.com/office/powerpoint/2010/main" val="2002511710"/>
      </p:ext>
    </p:extLst>
  </p:cSld>
</p:sld>
</file>

<file path=ppt/slides/slide12.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84ee0d779004d36"/>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7143286-0D7E-45DF-96F0-23193FC2F558}"/>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AD0366C-46D8-46A2-AA5D-AAC4631E0DDC}"/>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68F1B16-058E-4861-99A7-B6266D98ABA3}"/>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C107DEDD-1A61-49EB-A847-AD6A6BA81F60}"/>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56B1AB3A-63DA-4FDC-BCAD-64969D99B6C8}"/>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A9E5174A-0229-498F-8BE5-73BAE6ED3F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0D4DD6D-2D09-44EC-A67F-E85021FAC91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REVIEW WRITING</a:t>
            </a:r>
          </a:p>
        </p:txBody>
      </p:sp>
      <p:sp>
        <p:nvSpPr>
          <p:cNvPr id="10" name="">
            <a:extLst xmlns:a="http://schemas.openxmlformats.org/drawingml/2006/main">
              <a:ext uri="{FF2B5EF4-FFF2-40B4-BE49-F238E27FC236}">
                <a16:creationId xmlns:a16="http://schemas.microsoft.com/office/drawing/2014/main" id="{4A0814D6-81CA-4D76-8EAB-FCA2C329491F}"/>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12 / 13</a:t>
            </a:r>
          </a:p>
        </p:txBody>
      </p:sp>
      <p:sp>
        <p:nvSpPr>
          <p:cNvPr id="11" name="">
            <a:extLst xmlns:a="http://schemas.openxmlformats.org/drawingml/2006/main">
              <a:ext uri="{FF2B5EF4-FFF2-40B4-BE49-F238E27FC236}">
                <a16:creationId xmlns:a16="http://schemas.microsoft.com/office/drawing/2014/main" id="{4D80D903-485F-4D45-962F-87EADB8E65AB}"/>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DE1871D-0D78-4E00-A5CB-3A6921AF09EC}"/>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2808FE27-6E1D-44D1-AD20-88F8C4CC8D71}"/>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리뷰논문 구조로의</a:t>
            </a:r>
          </a:p>
          <a:p xmlns:a="http://schemas.openxmlformats.org/drawingml/2006/main">
            <a:pPr algn="l">
              <a:defRPr sz="2850" b="1">
                <a:solidFill>
                  <a:srgbClr val="132024"/>
                </a:solidFill>
              </a:defRPr>
            </a:pPr>
            <a:r>
              <a:rPr sz="2850" b="1">
                <a:solidFill>
                  <a:srgbClr val="132024"/>
                </a:solidFill>
              </a:rPr>
              <a:t>전환</a:t>
            </a:r>
          </a:p>
        </p:txBody>
      </p:sp>
      <p:sp>
        <p:nvSpPr>
          <p:cNvPr id="14" name="">
            <a:extLst xmlns:a="http://schemas.openxmlformats.org/drawingml/2006/main">
              <a:ext uri="{FF2B5EF4-FFF2-40B4-BE49-F238E27FC236}">
                <a16:creationId xmlns:a16="http://schemas.microsoft.com/office/drawing/2014/main" id="{B085423C-93E9-4DDD-8FAB-68682955DFBC}"/>
              </a:ext>
            </a:extLst>
          </p:cNvPr>
          <p:cNvSpPr>
            <a:spLocks xmlns:a="http://schemas.openxmlformats.org/drawingml/2006/main" noGrp="1"/>
          </p:cNvSpPr>
          <p:nvPr/>
        </p:nvSpPr>
        <p:spPr>
          <a:xfrm xmlns:a="http://schemas.openxmlformats.org/drawingml/2006/main">
            <a:off x="704850" y="1733550"/>
            <a:ext cx="10763250" cy="723900"/>
          </a:xfrm>
          <a:prstGeom xmlns:a="http://schemas.openxmlformats.org/drawingml/2006/main" prst="roundRect">
            <a:avLst>
              <a:gd name="adj" fmla="val 10526"/>
            </a:avLst>
          </a:prstGeom>
          <a:solidFill xmlns:a="http://schemas.openxmlformats.org/drawingml/2006/main">
            <a:srgbClr val="F4E8C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4AF630D2-0354-482D-9BD5-28AE2B67016D}"/>
              </a:ext>
            </a:extLst>
          </p:cNvPr>
          <p:cNvSpPr>
            <a:spLocks xmlns:a="http://schemas.openxmlformats.org/drawingml/2006/main" noGrp="1"/>
          </p:cNvSpPr>
          <p:nvPr/>
        </p:nvSpPr>
        <p:spPr>
          <a:xfrm xmlns:a="http://schemas.openxmlformats.org/drawingml/2006/main">
            <a:off x="752475" y="1781175"/>
            <a:ext cx="57150" cy="6286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BB08D6C5-1B4A-4219-ABA4-974DC6156093}"/>
              </a:ext>
            </a:extLst>
          </p:cNvPr>
          <p:cNvSpPr>
            <a:spLocks xmlns:a="http://schemas.openxmlformats.org/drawingml/2006/main" noGrp="1"/>
          </p:cNvSpPr>
          <p:nvPr/>
        </p:nvSpPr>
        <p:spPr>
          <a:xfrm xmlns:a="http://schemas.openxmlformats.org/drawingml/2006/main">
            <a:off x="914400" y="1885950"/>
            <a:ext cx="10382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핵심은 개별 논문 나열이 아니라, 위키에서 확인된 질문 이동 순서에 따라 review의 장과 비교 기준을 구성하는 것이다.</a:t>
            </a:r>
          </a:p>
        </p:txBody>
      </p:sp>
      <p:sp>
        <p:nvSpPr>
          <p:cNvPr id="17" name="">
            <a:extLst xmlns:a="http://schemas.openxmlformats.org/drawingml/2006/main">
              <a:ext uri="{FF2B5EF4-FFF2-40B4-BE49-F238E27FC236}">
                <a16:creationId xmlns:a16="http://schemas.microsoft.com/office/drawing/2014/main" id="{C264EB58-5EE8-4DDE-9782-7FAAB76CD01D}"/>
              </a:ext>
            </a:extLst>
          </p:cNvPr>
          <p:cNvSpPr>
            <a:spLocks xmlns:a="http://schemas.openxmlformats.org/drawingml/2006/main" noGrp="1"/>
          </p:cNvSpPr>
          <p:nvPr/>
        </p:nvSpPr>
        <p:spPr>
          <a:xfrm xmlns:a="http://schemas.openxmlformats.org/drawingml/2006/main">
            <a:off x="704850" y="2857500"/>
            <a:ext cx="3048000" cy="2095500"/>
          </a:xfrm>
          <a:prstGeom xmlns:a="http://schemas.openxmlformats.org/drawingml/2006/main" prst="roundRect">
            <a:avLst>
              <a:gd name="adj" fmla="val 3636"/>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E5F6511F-D550-4E24-8079-E321152582B5}"/>
              </a:ext>
            </a:extLst>
          </p:cNvPr>
          <p:cNvSpPr>
            <a:spLocks xmlns:a="http://schemas.openxmlformats.org/drawingml/2006/main" noGrp="1"/>
          </p:cNvSpPr>
          <p:nvPr/>
        </p:nvSpPr>
        <p:spPr>
          <a:xfrm xmlns:a="http://schemas.openxmlformats.org/drawingml/2006/main">
            <a:off x="762000" y="2914650"/>
            <a:ext cx="293370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C249A1A-9618-417C-A3F1-D2A857DA1768}"/>
              </a:ext>
            </a:extLst>
          </p:cNvPr>
          <p:cNvSpPr>
            <a:spLocks xmlns:a="http://schemas.openxmlformats.org/drawingml/2006/main" noGrp="1"/>
          </p:cNvSpPr>
          <p:nvPr/>
        </p:nvSpPr>
        <p:spPr>
          <a:xfrm xmlns:a="http://schemas.openxmlformats.org/drawingml/2006/main">
            <a:off x="914400" y="3048000"/>
            <a:ext cx="2628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1장: protocol family</a:t>
            </a:r>
          </a:p>
        </p:txBody>
      </p:sp>
      <p:sp>
        <p:nvSpPr>
          <p:cNvPr id="20" name="">
            <a:extLst xmlns:a="http://schemas.openxmlformats.org/drawingml/2006/main">
              <a:ext uri="{FF2B5EF4-FFF2-40B4-BE49-F238E27FC236}">
                <a16:creationId xmlns:a16="http://schemas.microsoft.com/office/drawing/2014/main" id="{B4E76991-9443-4C84-9BC9-9BA674A6DC43}"/>
              </a:ext>
            </a:extLst>
          </p:cNvPr>
          <p:cNvSpPr>
            <a:spLocks xmlns:a="http://schemas.openxmlformats.org/drawingml/2006/main" noGrp="1"/>
          </p:cNvSpPr>
          <p:nvPr/>
        </p:nvSpPr>
        <p:spPr>
          <a:xfrm xmlns:a="http://schemas.openxmlformats.org/drawingml/2006/main">
            <a:off x="914400" y="3467100"/>
            <a:ext cx="262890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whole cerebral,</a:t>
            </a:r>
          </a:p>
          <a:p xmlns:a="http://schemas.openxmlformats.org/drawingml/2006/main">
            <a:pPr algn="l">
              <a:defRPr sz="1200" b="0">
                <a:solidFill>
                  <a:srgbClr val="132024"/>
                </a:solidFill>
              </a:defRPr>
            </a:pPr>
            <a:r>
              <a:rPr sz="1200" b="0">
                <a:solidFill>
                  <a:srgbClr val="132024"/>
                </a:solidFill>
              </a:rPr>
              <a:t>forebrain/cortical,</a:t>
            </a:r>
          </a:p>
          <a:p xmlns:a="http://schemas.openxmlformats.org/drawingml/2006/main">
            <a:pPr algn="l">
              <a:defRPr sz="1200" b="0">
                <a:solidFill>
                  <a:srgbClr val="132024"/>
                </a:solidFill>
              </a:defRPr>
            </a:pPr>
            <a:r>
              <a:rPr sz="1200" b="0">
                <a:solidFill>
                  <a:srgbClr val="132024"/>
                </a:solidFill>
              </a:rPr>
              <a:t>posterior/niche를 baseline</a:t>
            </a:r>
          </a:p>
          <a:p xmlns:a="http://schemas.openxmlformats.org/drawingml/2006/main">
            <a:pPr algn="l">
              <a:defRPr sz="1200" b="0">
                <a:solidFill>
                  <a:srgbClr val="132024"/>
                </a:solidFill>
              </a:defRPr>
            </a:pPr>
            <a:r>
              <a:rPr sz="1200" b="0">
                <a:solidFill>
                  <a:srgbClr val="132024"/>
                </a:solidFill>
              </a:rPr>
              <a:t>family로 정리한다.</a:t>
            </a:r>
          </a:p>
        </p:txBody>
      </p:sp>
      <p:sp>
        <p:nvSpPr>
          <p:cNvPr id="21" name="">
            <a:extLst xmlns:a="http://schemas.openxmlformats.org/drawingml/2006/main">
              <a:ext uri="{FF2B5EF4-FFF2-40B4-BE49-F238E27FC236}">
                <a16:creationId xmlns:a16="http://schemas.microsoft.com/office/drawing/2014/main" id="{7DEEAA51-19A0-4F62-863D-AE088FF5B160}"/>
              </a:ext>
            </a:extLst>
          </p:cNvPr>
          <p:cNvSpPr>
            <a:spLocks xmlns:a="http://schemas.openxmlformats.org/drawingml/2006/main" noGrp="1"/>
          </p:cNvSpPr>
          <p:nvPr/>
        </p:nvSpPr>
        <p:spPr>
          <a:xfrm xmlns:a="http://schemas.openxmlformats.org/drawingml/2006/main">
            <a:off x="3905250" y="3771900"/>
            <a:ext cx="7048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22" name="">
            <a:extLst xmlns:a="http://schemas.openxmlformats.org/drawingml/2006/main">
              <a:ext uri="{FF2B5EF4-FFF2-40B4-BE49-F238E27FC236}">
                <a16:creationId xmlns:a16="http://schemas.microsoft.com/office/drawing/2014/main" id="{0445D963-D883-44E8-A62E-CF73A96FD93E}"/>
              </a:ext>
            </a:extLst>
          </p:cNvPr>
          <p:cNvSpPr>
            <a:spLocks xmlns:a="http://schemas.openxmlformats.org/drawingml/2006/main" noGrp="1"/>
          </p:cNvSpPr>
          <p:nvPr/>
        </p:nvSpPr>
        <p:spPr>
          <a:xfrm xmlns:a="http://schemas.openxmlformats.org/drawingml/2006/main">
            <a:off x="4762500" y="2857500"/>
            <a:ext cx="3048000" cy="2095500"/>
          </a:xfrm>
          <a:prstGeom xmlns:a="http://schemas.openxmlformats.org/drawingml/2006/main" prst="roundRect">
            <a:avLst>
              <a:gd name="adj" fmla="val 3636"/>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603E2C10-44D2-4158-B759-72B8C8783A85}"/>
              </a:ext>
            </a:extLst>
          </p:cNvPr>
          <p:cNvSpPr>
            <a:spLocks xmlns:a="http://schemas.openxmlformats.org/drawingml/2006/main" noGrp="1"/>
          </p:cNvSpPr>
          <p:nvPr/>
        </p:nvSpPr>
        <p:spPr>
          <a:xfrm xmlns:a="http://schemas.openxmlformats.org/drawingml/2006/main">
            <a:off x="4819650" y="2914650"/>
            <a:ext cx="293370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3935500-1B62-4DAD-A514-FB41AE8F03FC}"/>
              </a:ext>
            </a:extLst>
          </p:cNvPr>
          <p:cNvSpPr>
            <a:spLocks xmlns:a="http://schemas.openxmlformats.org/drawingml/2006/main" noGrp="1"/>
          </p:cNvSpPr>
          <p:nvPr/>
        </p:nvSpPr>
        <p:spPr>
          <a:xfrm xmlns:a="http://schemas.openxmlformats.org/drawingml/2006/main">
            <a:off x="4972050" y="3048000"/>
            <a:ext cx="2628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2장: benchmark axes</a:t>
            </a:r>
          </a:p>
        </p:txBody>
      </p:sp>
      <p:sp>
        <p:nvSpPr>
          <p:cNvPr id="25" name="">
            <a:extLst xmlns:a="http://schemas.openxmlformats.org/drawingml/2006/main">
              <a:ext uri="{FF2B5EF4-FFF2-40B4-BE49-F238E27FC236}">
                <a16:creationId xmlns:a16="http://schemas.microsoft.com/office/drawing/2014/main" id="{A70E103A-65D5-4020-8316-D851C51D717E}"/>
              </a:ext>
            </a:extLst>
          </p:cNvPr>
          <p:cNvSpPr>
            <a:spLocks xmlns:a="http://schemas.openxmlformats.org/drawingml/2006/main" noGrp="1"/>
          </p:cNvSpPr>
          <p:nvPr/>
        </p:nvSpPr>
        <p:spPr>
          <a:xfrm xmlns:a="http://schemas.openxmlformats.org/drawingml/2006/main">
            <a:off x="4972050" y="3467100"/>
            <a:ext cx="262890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reproducibility, fidelity,</a:t>
            </a:r>
          </a:p>
          <a:p xmlns:a="http://schemas.openxmlformats.org/drawingml/2006/main">
            <a:pPr algn="l">
              <a:defRPr sz="1200" b="0">
                <a:solidFill>
                  <a:srgbClr val="132024"/>
                </a:solidFill>
              </a:defRPr>
            </a:pPr>
            <a:r>
              <a:rPr sz="1200" b="0">
                <a:solidFill>
                  <a:srgbClr val="132024"/>
                </a:solidFill>
              </a:rPr>
              <a:t>timing, atlas alignment를</a:t>
            </a:r>
          </a:p>
          <a:p xmlns:a="http://schemas.openxmlformats.org/drawingml/2006/main">
            <a:pPr algn="l">
              <a:defRPr sz="1200" b="0">
                <a:solidFill>
                  <a:srgbClr val="132024"/>
                </a:solidFill>
              </a:defRPr>
            </a:pPr>
            <a:r>
              <a:rPr sz="1200" b="0">
                <a:solidFill>
                  <a:srgbClr val="132024"/>
                </a:solidFill>
              </a:rPr>
              <a:t>비교 축으로 분리한다.</a:t>
            </a:r>
          </a:p>
        </p:txBody>
      </p:sp>
      <p:sp>
        <p:nvSpPr>
          <p:cNvPr id="26" name="">
            <a:extLst xmlns:a="http://schemas.openxmlformats.org/drawingml/2006/main">
              <a:ext uri="{FF2B5EF4-FFF2-40B4-BE49-F238E27FC236}">
                <a16:creationId xmlns:a16="http://schemas.microsoft.com/office/drawing/2014/main" id="{E32403C5-7424-45BF-88B5-B5B67608BA6A}"/>
              </a:ext>
            </a:extLst>
          </p:cNvPr>
          <p:cNvSpPr>
            <a:spLocks xmlns:a="http://schemas.openxmlformats.org/drawingml/2006/main" noGrp="1"/>
          </p:cNvSpPr>
          <p:nvPr/>
        </p:nvSpPr>
        <p:spPr>
          <a:xfrm xmlns:a="http://schemas.openxmlformats.org/drawingml/2006/main">
            <a:off x="7962900" y="3771900"/>
            <a:ext cx="70485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27" name="">
            <a:extLst xmlns:a="http://schemas.openxmlformats.org/drawingml/2006/main">
              <a:ext uri="{FF2B5EF4-FFF2-40B4-BE49-F238E27FC236}">
                <a16:creationId xmlns:a16="http://schemas.microsoft.com/office/drawing/2014/main" id="{EBEF5931-C8F3-4C2F-8C95-9419BC850BD2}"/>
              </a:ext>
            </a:extLst>
          </p:cNvPr>
          <p:cNvSpPr>
            <a:spLocks xmlns:a="http://schemas.openxmlformats.org/drawingml/2006/main" noGrp="1"/>
          </p:cNvSpPr>
          <p:nvPr/>
        </p:nvSpPr>
        <p:spPr>
          <a:xfrm xmlns:a="http://schemas.openxmlformats.org/drawingml/2006/main">
            <a:off x="8820150" y="2857500"/>
            <a:ext cx="2647950" cy="2095500"/>
          </a:xfrm>
          <a:prstGeom xmlns:a="http://schemas.openxmlformats.org/drawingml/2006/main" prst="roundRect">
            <a:avLst>
              <a:gd name="adj" fmla="val 3636"/>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8" name="">
            <a:extLst xmlns:a="http://schemas.openxmlformats.org/drawingml/2006/main">
              <a:ext uri="{FF2B5EF4-FFF2-40B4-BE49-F238E27FC236}">
                <a16:creationId xmlns:a16="http://schemas.microsoft.com/office/drawing/2014/main" id="{0DA8F2D7-079F-4FB4-82E7-1F4EB13AF571}"/>
              </a:ext>
            </a:extLst>
          </p:cNvPr>
          <p:cNvSpPr>
            <a:spLocks xmlns:a="http://schemas.openxmlformats.org/drawingml/2006/main" noGrp="1"/>
          </p:cNvSpPr>
          <p:nvPr/>
        </p:nvSpPr>
        <p:spPr>
          <a:xfrm xmlns:a="http://schemas.openxmlformats.org/drawingml/2006/main">
            <a:off x="8877300" y="2914650"/>
            <a:ext cx="253365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B0550019-535A-4C3C-81CA-49583F400C35}"/>
              </a:ext>
            </a:extLst>
          </p:cNvPr>
          <p:cNvSpPr>
            <a:spLocks xmlns:a="http://schemas.openxmlformats.org/drawingml/2006/main" noGrp="1"/>
          </p:cNvSpPr>
          <p:nvPr/>
        </p:nvSpPr>
        <p:spPr>
          <a:xfrm xmlns:a="http://schemas.openxmlformats.org/drawingml/2006/main">
            <a:off x="9029700" y="3048000"/>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3장: design rule</a:t>
            </a:r>
          </a:p>
        </p:txBody>
      </p:sp>
      <p:sp>
        <p:nvSpPr>
          <p:cNvPr id="30" name="">
            <a:extLst xmlns:a="http://schemas.openxmlformats.org/drawingml/2006/main">
              <a:ext uri="{FF2B5EF4-FFF2-40B4-BE49-F238E27FC236}">
                <a16:creationId xmlns:a16="http://schemas.microsoft.com/office/drawing/2014/main" id="{A4BB4E68-9756-4A97-A1EC-124A116C08E2}"/>
              </a:ext>
            </a:extLst>
          </p:cNvPr>
          <p:cNvSpPr>
            <a:spLocks xmlns:a="http://schemas.openxmlformats.org/drawingml/2006/main" noGrp="1"/>
          </p:cNvSpPr>
          <p:nvPr/>
        </p:nvSpPr>
        <p:spPr>
          <a:xfrm xmlns:a="http://schemas.openxmlformats.org/drawingml/2006/main">
            <a:off x="9029700" y="3467100"/>
            <a:ext cx="22288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마지막 단계에서 readout-first</a:t>
            </a:r>
          </a:p>
          <a:p xmlns:a="http://schemas.openxmlformats.org/drawingml/2006/main">
            <a:pPr algn="l">
              <a:defRPr sz="1200" b="0">
                <a:solidFill>
                  <a:srgbClr val="132024"/>
                </a:solidFill>
              </a:defRPr>
            </a:pPr>
            <a:r>
              <a:rPr sz="1200" b="0">
                <a:solidFill>
                  <a:srgbClr val="132024"/>
                </a:solidFill>
              </a:rPr>
              <a:t>selection rule로</a:t>
            </a:r>
          </a:p>
          <a:p xmlns:a="http://schemas.openxmlformats.org/drawingml/2006/main">
            <a:pPr algn="l">
              <a:defRPr sz="1200" b="0">
                <a:solidFill>
                  <a:srgbClr val="132024"/>
                </a:solidFill>
              </a:defRPr>
            </a:pPr>
            <a:r>
              <a:rPr sz="1200" b="0">
                <a:solidFill>
                  <a:srgbClr val="132024"/>
                </a:solidFill>
              </a:rPr>
              <a:t>protocol choice를 재구성한다.</a:t>
            </a:r>
          </a:p>
        </p:txBody>
      </p:sp>
      <p:sp>
        <p:nvSpPr>
          <p:cNvPr id="31" name="">
            <a:extLst xmlns:a="http://schemas.openxmlformats.org/drawingml/2006/main">
              <a:ext uri="{FF2B5EF4-FFF2-40B4-BE49-F238E27FC236}">
                <a16:creationId xmlns:a16="http://schemas.microsoft.com/office/drawing/2014/main" id="{D670229D-75D7-467A-876B-F44BE49EE7F4}"/>
              </a:ext>
            </a:extLst>
          </p:cNvPr>
          <p:cNvSpPr>
            <a:spLocks xmlns:a="http://schemas.openxmlformats.org/drawingml/2006/main" noGrp="1"/>
          </p:cNvSpPr>
          <p:nvPr/>
        </p:nvSpPr>
        <p:spPr>
          <a:xfrm xmlns:a="http://schemas.openxmlformats.org/drawingml/2006/main">
            <a:off x="704850" y="5353050"/>
            <a:ext cx="10763250" cy="781050"/>
          </a:xfrm>
          <a:prstGeom xmlns:a="http://schemas.openxmlformats.org/drawingml/2006/main" prst="roundRect">
            <a:avLst>
              <a:gd name="adj" fmla="val 9756"/>
            </a:avLst>
          </a:prstGeom>
          <a:solidFill xmlns:a="http://schemas.openxmlformats.org/drawingml/2006/main">
            <a:srgbClr val="DDF4E8"/>
          </a:solidFill>
          <a:ln xmlns:a="http://schemas.openxmlformats.org/drawingml/2006/main" w="11430">
            <a:solidFill>
              <a:srgbClr val="132024"/>
            </a:solidFill>
            <a:prstDash val="solid"/>
          </a:ln>
        </p:spPr>
      </p:sp>
      <p:sp>
        <p:nvSpPr>
          <p:cNvPr id="32" name="">
            <a:extLst xmlns:a="http://schemas.openxmlformats.org/drawingml/2006/main">
              <a:ext uri="{FF2B5EF4-FFF2-40B4-BE49-F238E27FC236}">
                <a16:creationId xmlns:a16="http://schemas.microsoft.com/office/drawing/2014/main" id="{22A2F465-5EE9-442F-BEED-41D40D56DA87}"/>
              </a:ext>
            </a:extLst>
          </p:cNvPr>
          <p:cNvSpPr>
            <a:spLocks xmlns:a="http://schemas.openxmlformats.org/drawingml/2006/main" noGrp="1"/>
          </p:cNvSpPr>
          <p:nvPr/>
        </p:nvSpPr>
        <p:spPr>
          <a:xfrm xmlns:a="http://schemas.openxmlformats.org/drawingml/2006/main">
            <a:off x="752475" y="5400675"/>
            <a:ext cx="57150" cy="6858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2A66DD07-DEA0-4E86-A5BA-22797EE35416}"/>
              </a:ext>
            </a:extLst>
          </p:cNvPr>
          <p:cNvSpPr>
            <a:spLocks xmlns:a="http://schemas.openxmlformats.org/drawingml/2006/main" noGrp="1"/>
          </p:cNvSpPr>
          <p:nvPr/>
        </p:nvSpPr>
        <p:spPr>
          <a:xfrm xmlns:a="http://schemas.openxmlformats.org/drawingml/2006/main">
            <a:off x="914400" y="5505450"/>
            <a:ext cx="10382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따라서 리뷰논문의 중심 주장도 '어느 protocol이 우월한가'가 아니라 '어떤 질문과 readout이 어떤 protocol selection rule을 요구하는가'로 정리된다.</a:t>
            </a:r>
          </a:p>
        </p:txBody>
      </p:sp>
      <p:sp>
        <p:nvSpPr>
          <p:cNvPr id="34" name="">
            <a:extLst xmlns:a="http://schemas.openxmlformats.org/drawingml/2006/main">
              <a:ext uri="{FF2B5EF4-FFF2-40B4-BE49-F238E27FC236}">
                <a16:creationId xmlns:a16="http://schemas.microsoft.com/office/drawing/2014/main" id="{B7077926-FDA2-4F1B-A210-020F7AF8D14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이 연결고리는 발표의 질문 체인을 리뷰논문의 장 구조와 주장 구조로 전환한다.</a:t>
            </a:r>
          </a:p>
        </p:txBody>
      </p:sp>
    </p:spTree>
    <p:extLst>
      <p:ext uri="{BB962C8B-B14F-4D97-AF65-F5344CB8AC3E}">
        <p14:creationId xmlns:p14="http://schemas.microsoft.com/office/powerpoint/2010/main" val="2066303521"/>
      </p:ext>
    </p:extLst>
  </p:cSld>
</p:sld>
</file>

<file path=ppt/slides/slide1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16B49F2-843A-4E0C-BBC2-0E3A47804521}"/>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44be0902a5f4499"/>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7471CA-EF77-4622-9139-488A242B2AF3}"/>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C0C9BB4-8474-47E5-8C79-2C4A3B562801}"/>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5068538-CD27-4D54-913A-B3784CC138BE}"/>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678AA7B7-2176-40B8-A0C6-BBBB2CE9D211}"/>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E90A5DE2-7987-4C4D-A7D9-64B86293C8EA}"/>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1D8B319E-FB5A-4E64-AB47-D7AA5C418D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C0320C1-1446-4A30-82F5-0F3578DF3D2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CLOSING</a:t>
            </a:r>
          </a:p>
        </p:txBody>
      </p:sp>
      <p:sp>
        <p:nvSpPr>
          <p:cNvPr id="10" name="">
            <a:extLst xmlns:a="http://schemas.openxmlformats.org/drawingml/2006/main">
              <a:ext uri="{FF2B5EF4-FFF2-40B4-BE49-F238E27FC236}">
                <a16:creationId xmlns:a16="http://schemas.microsoft.com/office/drawing/2014/main" id="{E4252F9F-43E6-4C0B-B460-D3577B9E1F2A}"/>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13 / 13</a:t>
            </a:r>
          </a:p>
        </p:txBody>
      </p:sp>
      <p:sp>
        <p:nvSpPr>
          <p:cNvPr id="11" name="">
            <a:extLst xmlns:a="http://schemas.openxmlformats.org/drawingml/2006/main">
              <a:ext uri="{FF2B5EF4-FFF2-40B4-BE49-F238E27FC236}">
                <a16:creationId xmlns:a16="http://schemas.microsoft.com/office/drawing/2014/main" id="{C8C0C203-C4BB-4C61-819C-4D18674CFA93}"/>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8D7CC36-4E1D-41DC-978A-5A1FED15D701}"/>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06E84247-F026-424D-BFF1-46E6240DBA90}"/>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정리</a:t>
            </a:r>
          </a:p>
        </p:txBody>
      </p:sp>
      <p:sp>
        <p:nvSpPr>
          <p:cNvPr id="14" name="">
            <a:extLst xmlns:a="http://schemas.openxmlformats.org/drawingml/2006/main">
              <a:ext uri="{FF2B5EF4-FFF2-40B4-BE49-F238E27FC236}">
                <a16:creationId xmlns:a16="http://schemas.microsoft.com/office/drawing/2014/main" id="{44EA7CE5-35CB-4A02-B4BD-0DBBABAB8D92}"/>
              </a:ext>
            </a:extLst>
          </p:cNvPr>
          <p:cNvSpPr>
            <a:spLocks xmlns:a="http://schemas.openxmlformats.org/drawingml/2006/main" noGrp="1"/>
          </p:cNvSpPr>
          <p:nvPr/>
        </p:nvSpPr>
        <p:spPr>
          <a:xfrm xmlns:a="http://schemas.openxmlformats.org/drawingml/2006/main">
            <a:off x="704850" y="2095500"/>
            <a:ext cx="3143250" cy="1676400"/>
          </a:xfrm>
          <a:prstGeom xmlns:a="http://schemas.openxmlformats.org/drawingml/2006/main" prst="roundRect">
            <a:avLst>
              <a:gd name="adj" fmla="val 4545"/>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A63D6DC5-E074-41FA-A1B4-AF105FF6A977}"/>
              </a:ext>
            </a:extLst>
          </p:cNvPr>
          <p:cNvSpPr>
            <a:spLocks xmlns:a="http://schemas.openxmlformats.org/drawingml/2006/main" noGrp="1"/>
          </p:cNvSpPr>
          <p:nvPr/>
        </p:nvSpPr>
        <p:spPr>
          <a:xfrm xmlns:a="http://schemas.openxmlformats.org/drawingml/2006/main">
            <a:off x="762000" y="2152650"/>
            <a:ext cx="3028950" cy="57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32D03E6-CE05-4BF7-BB21-19323FBF87C1}"/>
              </a:ext>
            </a:extLst>
          </p:cNvPr>
          <p:cNvSpPr>
            <a:spLocks xmlns:a="http://schemas.openxmlformats.org/drawingml/2006/main" noGrp="1"/>
          </p:cNvSpPr>
          <p:nvPr/>
        </p:nvSpPr>
        <p:spPr>
          <a:xfrm xmlns:a="http://schemas.openxmlformats.org/drawingml/2006/main">
            <a:off x="914400" y="228600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takeaway 1</a:t>
            </a:r>
          </a:p>
        </p:txBody>
      </p:sp>
      <p:sp>
        <p:nvSpPr>
          <p:cNvPr id="17" name="">
            <a:extLst xmlns:a="http://schemas.openxmlformats.org/drawingml/2006/main">
              <a:ext uri="{FF2B5EF4-FFF2-40B4-BE49-F238E27FC236}">
                <a16:creationId xmlns:a16="http://schemas.microsoft.com/office/drawing/2014/main" id="{BDCD8C40-5C5C-457C-B537-F6FFCF0FED48}"/>
              </a:ext>
            </a:extLst>
          </p:cNvPr>
          <p:cNvSpPr>
            <a:spLocks xmlns:a="http://schemas.openxmlformats.org/drawingml/2006/main" noGrp="1"/>
          </p:cNvSpPr>
          <p:nvPr/>
        </p:nvSpPr>
        <p:spPr>
          <a:xfrm xmlns:a="http://schemas.openxmlformats.org/drawingml/2006/main">
            <a:off x="914400" y="2705100"/>
            <a:ext cx="27241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collection 단위의 LLM-wiki 운영은</a:t>
            </a:r>
          </a:p>
          <a:p xmlns:a="http://schemas.openxmlformats.org/drawingml/2006/main">
            <a:pPr algn="l">
              <a:defRPr sz="1200" b="0">
                <a:solidFill>
                  <a:srgbClr val="132024"/>
                </a:solidFill>
              </a:defRPr>
            </a:pPr>
            <a:r>
              <a:rPr sz="1200" b="0">
                <a:solidFill>
                  <a:srgbClr val="132024"/>
                </a:solidFill>
              </a:rPr>
              <a:t>질문 범위를 제한하고 문헌 해석의 밀도를 높였다.</a:t>
            </a:r>
          </a:p>
        </p:txBody>
      </p:sp>
      <p:sp>
        <p:nvSpPr>
          <p:cNvPr id="18" name="">
            <a:extLst xmlns:a="http://schemas.openxmlformats.org/drawingml/2006/main">
              <a:ext uri="{FF2B5EF4-FFF2-40B4-BE49-F238E27FC236}">
                <a16:creationId xmlns:a16="http://schemas.microsoft.com/office/drawing/2014/main" id="{B212C2EC-C493-4110-88EE-94C276EF6CC6}"/>
              </a:ext>
            </a:extLst>
          </p:cNvPr>
          <p:cNvSpPr>
            <a:spLocks xmlns:a="http://schemas.openxmlformats.org/drawingml/2006/main" noGrp="1"/>
          </p:cNvSpPr>
          <p:nvPr/>
        </p:nvSpPr>
        <p:spPr>
          <a:xfrm xmlns:a="http://schemas.openxmlformats.org/drawingml/2006/main">
            <a:off x="4095750" y="2095500"/>
            <a:ext cx="3143250" cy="1676400"/>
          </a:xfrm>
          <a:prstGeom xmlns:a="http://schemas.openxmlformats.org/drawingml/2006/main" prst="roundRect">
            <a:avLst>
              <a:gd name="adj" fmla="val 4545"/>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F72B93F8-6471-4193-86A2-B753B7691EB4}"/>
              </a:ext>
            </a:extLst>
          </p:cNvPr>
          <p:cNvSpPr>
            <a:spLocks xmlns:a="http://schemas.openxmlformats.org/drawingml/2006/main" noGrp="1"/>
          </p:cNvSpPr>
          <p:nvPr/>
        </p:nvSpPr>
        <p:spPr>
          <a:xfrm xmlns:a="http://schemas.openxmlformats.org/drawingml/2006/main">
            <a:off x="4152900" y="2152650"/>
            <a:ext cx="3028950" cy="571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3C6FB03-0E0A-4747-A8ED-C11BFBAA0F0B}"/>
              </a:ext>
            </a:extLst>
          </p:cNvPr>
          <p:cNvSpPr>
            <a:spLocks xmlns:a="http://schemas.openxmlformats.org/drawingml/2006/main" noGrp="1"/>
          </p:cNvSpPr>
          <p:nvPr/>
        </p:nvSpPr>
        <p:spPr>
          <a:xfrm xmlns:a="http://schemas.openxmlformats.org/drawingml/2006/main">
            <a:off x="4305300" y="228600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takeaway 2</a:t>
            </a:r>
          </a:p>
        </p:txBody>
      </p:sp>
      <p:sp>
        <p:nvSpPr>
          <p:cNvPr id="21" name="">
            <a:extLst xmlns:a="http://schemas.openxmlformats.org/drawingml/2006/main">
              <a:ext uri="{FF2B5EF4-FFF2-40B4-BE49-F238E27FC236}">
                <a16:creationId xmlns:a16="http://schemas.microsoft.com/office/drawing/2014/main" id="{908A8305-7B3F-4B24-96C1-6D8EC38278BA}"/>
              </a:ext>
            </a:extLst>
          </p:cNvPr>
          <p:cNvSpPr>
            <a:spLocks xmlns:a="http://schemas.openxmlformats.org/drawingml/2006/main" noGrp="1"/>
          </p:cNvSpPr>
          <p:nvPr/>
        </p:nvSpPr>
        <p:spPr>
          <a:xfrm xmlns:a="http://schemas.openxmlformats.org/drawingml/2006/main">
            <a:off x="4305300" y="2705100"/>
            <a:ext cx="27241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brain branch에서는 질문이</a:t>
            </a:r>
          </a:p>
          <a:p xmlns:a="http://schemas.openxmlformats.org/drawingml/2006/main">
            <a:pPr algn="l">
              <a:defRPr sz="1200" b="0">
                <a:solidFill>
                  <a:srgbClr val="132024"/>
                </a:solidFill>
              </a:defRPr>
            </a:pPr>
            <a:r>
              <a:rPr sz="1200" b="0">
                <a:solidFill>
                  <a:srgbClr val="132024"/>
                </a:solidFill>
              </a:rPr>
              <a:t>subregion selection에서</a:t>
            </a:r>
          </a:p>
          <a:p xmlns:a="http://schemas.openxmlformats.org/drawingml/2006/main">
            <a:pPr algn="l">
              <a:defRPr sz="1200" b="0">
                <a:solidFill>
                  <a:srgbClr val="132024"/>
                </a:solidFill>
              </a:defRPr>
            </a:pPr>
            <a:r>
              <a:rPr sz="1200" b="0">
                <a:solidFill>
                  <a:srgbClr val="132024"/>
                </a:solidFill>
              </a:rPr>
              <a:t>benchmark question으로 확장되었다.</a:t>
            </a:r>
          </a:p>
        </p:txBody>
      </p:sp>
      <p:sp>
        <p:nvSpPr>
          <p:cNvPr id="22" name="">
            <a:extLst xmlns:a="http://schemas.openxmlformats.org/drawingml/2006/main">
              <a:ext uri="{FF2B5EF4-FFF2-40B4-BE49-F238E27FC236}">
                <a16:creationId xmlns:a16="http://schemas.microsoft.com/office/drawing/2014/main" id="{415C051E-47EA-47AF-82D2-D7CCE6E6CFC2}"/>
              </a:ext>
            </a:extLst>
          </p:cNvPr>
          <p:cNvSpPr>
            <a:spLocks xmlns:a="http://schemas.openxmlformats.org/drawingml/2006/main" noGrp="1"/>
          </p:cNvSpPr>
          <p:nvPr/>
        </p:nvSpPr>
        <p:spPr>
          <a:xfrm xmlns:a="http://schemas.openxmlformats.org/drawingml/2006/main">
            <a:off x="7486650" y="2095500"/>
            <a:ext cx="4000500" cy="1676400"/>
          </a:xfrm>
          <a:prstGeom xmlns:a="http://schemas.openxmlformats.org/drawingml/2006/main" prst="roundRect">
            <a:avLst>
              <a:gd name="adj" fmla="val 4545"/>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568DE227-BF6B-4150-AE6A-84F12D6107A4}"/>
              </a:ext>
            </a:extLst>
          </p:cNvPr>
          <p:cNvSpPr>
            <a:spLocks xmlns:a="http://schemas.openxmlformats.org/drawingml/2006/main" noGrp="1"/>
          </p:cNvSpPr>
          <p:nvPr/>
        </p:nvSpPr>
        <p:spPr>
          <a:xfrm xmlns:a="http://schemas.openxmlformats.org/drawingml/2006/main">
            <a:off x="7543800" y="2152650"/>
            <a:ext cx="3886200" cy="571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C3D6DC8-4037-427E-8C03-A6A297A1A860}"/>
              </a:ext>
            </a:extLst>
          </p:cNvPr>
          <p:cNvSpPr>
            <a:spLocks xmlns:a="http://schemas.openxmlformats.org/drawingml/2006/main" noGrp="1"/>
          </p:cNvSpPr>
          <p:nvPr/>
        </p:nvSpPr>
        <p:spPr>
          <a:xfrm xmlns:a="http://schemas.openxmlformats.org/drawingml/2006/main">
            <a:off x="7696200" y="2286000"/>
            <a:ext cx="3581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takeaway 3</a:t>
            </a:r>
          </a:p>
        </p:txBody>
      </p:sp>
      <p:sp>
        <p:nvSpPr>
          <p:cNvPr id="25" name="">
            <a:extLst xmlns:a="http://schemas.openxmlformats.org/drawingml/2006/main">
              <a:ext uri="{FF2B5EF4-FFF2-40B4-BE49-F238E27FC236}">
                <a16:creationId xmlns:a16="http://schemas.microsoft.com/office/drawing/2014/main" id="{CD617BE0-810E-4730-997F-CF95BB73D1EB}"/>
              </a:ext>
            </a:extLst>
          </p:cNvPr>
          <p:cNvSpPr>
            <a:spLocks xmlns:a="http://schemas.openxmlformats.org/drawingml/2006/main" noGrp="1"/>
          </p:cNvSpPr>
          <p:nvPr/>
        </p:nvSpPr>
        <p:spPr>
          <a:xfrm xmlns:a="http://schemas.openxmlformats.org/drawingml/2006/main">
            <a:off x="7696200" y="2705100"/>
            <a:ext cx="35814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최종적으로 protocol choice는 region</a:t>
            </a:r>
          </a:p>
          <a:p xmlns:a="http://schemas.openxmlformats.org/drawingml/2006/main">
            <a:pPr algn="l">
              <a:defRPr sz="1200" b="0">
                <a:solidFill>
                  <a:srgbClr val="132024"/>
                </a:solidFill>
              </a:defRPr>
            </a:pPr>
            <a:r>
              <a:rPr sz="1200" b="0">
                <a:solidFill>
                  <a:srgbClr val="132024"/>
                </a:solidFill>
              </a:rPr>
              <a:t>choice를 넘어 readout-first selection</a:t>
            </a:r>
          </a:p>
          <a:p xmlns:a="http://schemas.openxmlformats.org/drawingml/2006/main">
            <a:pPr algn="l">
              <a:defRPr sz="1200" b="0">
                <a:solidFill>
                  <a:srgbClr val="132024"/>
                </a:solidFill>
              </a:defRPr>
            </a:pPr>
            <a:r>
              <a:rPr sz="1200" b="0">
                <a:solidFill>
                  <a:srgbClr val="132024"/>
                </a:solidFill>
              </a:rPr>
              <a:t>rule로 이동하였다.</a:t>
            </a:r>
          </a:p>
        </p:txBody>
      </p:sp>
      <p:sp>
        <p:nvSpPr>
          <p:cNvPr id="26" name="">
            <a:extLst xmlns:a="http://schemas.openxmlformats.org/drawingml/2006/main">
              <a:ext uri="{FF2B5EF4-FFF2-40B4-BE49-F238E27FC236}">
                <a16:creationId xmlns:a16="http://schemas.microsoft.com/office/drawing/2014/main" id="{F0E5F874-81BC-45E1-A87F-C69492190512}"/>
              </a:ext>
            </a:extLst>
          </p:cNvPr>
          <p:cNvSpPr>
            <a:spLocks xmlns:a="http://schemas.openxmlformats.org/drawingml/2006/main" noGrp="1"/>
          </p:cNvSpPr>
          <p:nvPr/>
        </p:nvSpPr>
        <p:spPr>
          <a:xfrm xmlns:a="http://schemas.openxmlformats.org/drawingml/2006/main">
            <a:off x="704850" y="4095750"/>
            <a:ext cx="10782300" cy="819150"/>
          </a:xfrm>
          <a:prstGeom xmlns:a="http://schemas.openxmlformats.org/drawingml/2006/main" prst="roundRect">
            <a:avLst>
              <a:gd name="adj" fmla="val 9302"/>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069209DF-DE8C-4EC5-9A35-AE28790C445C}"/>
              </a:ext>
            </a:extLst>
          </p:cNvPr>
          <p:cNvSpPr>
            <a:spLocks xmlns:a="http://schemas.openxmlformats.org/drawingml/2006/main" noGrp="1"/>
          </p:cNvSpPr>
          <p:nvPr/>
        </p:nvSpPr>
        <p:spPr>
          <a:xfrm xmlns:a="http://schemas.openxmlformats.org/drawingml/2006/main">
            <a:off x="752475" y="4143375"/>
            <a:ext cx="57150" cy="7239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B7731E1-EBBE-401D-B6B9-7BFE92FAA090}"/>
              </a:ext>
            </a:extLst>
          </p:cNvPr>
          <p:cNvSpPr>
            <a:spLocks xmlns:a="http://schemas.openxmlformats.org/drawingml/2006/main" noGrp="1"/>
          </p:cNvSpPr>
          <p:nvPr/>
        </p:nvSpPr>
        <p:spPr>
          <a:xfrm xmlns:a="http://schemas.openxmlformats.org/drawingml/2006/main">
            <a:off x="914400" y="4248150"/>
            <a:ext cx="1040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Q&amp;A 주요 쟁점: reproducibility와 fidelity의 분리, readout 우선순위, host validation 적용 시점</a:t>
            </a:r>
          </a:p>
        </p:txBody>
      </p:sp>
      <p:sp>
        <p:nvSpPr>
          <p:cNvPr id="29" name="">
            <a:extLst xmlns:a="http://schemas.openxmlformats.org/drawingml/2006/main">
              <a:ext uri="{FF2B5EF4-FFF2-40B4-BE49-F238E27FC236}">
                <a16:creationId xmlns:a16="http://schemas.microsoft.com/office/drawing/2014/main" id="{4C60E2FC-107F-48BF-BD46-583EB0D9E221}"/>
              </a:ext>
            </a:extLst>
          </p:cNvPr>
          <p:cNvSpPr>
            <a:spLocks xmlns:a="http://schemas.openxmlformats.org/drawingml/2006/main" noGrp="1"/>
          </p:cNvSpPr>
          <p:nvPr/>
        </p:nvSpPr>
        <p:spPr>
          <a:xfrm xmlns:a="http://schemas.openxmlformats.org/drawingml/2006/main">
            <a:off x="704850" y="5257800"/>
            <a:ext cx="10782300" cy="781050"/>
          </a:xfrm>
          <a:prstGeom xmlns:a="http://schemas.openxmlformats.org/drawingml/2006/main" prst="roundRect">
            <a:avLst>
              <a:gd name="adj" fmla="val 9756"/>
            </a:avLst>
          </a:prstGeom>
          <a:solidFill xmlns:a="http://schemas.openxmlformats.org/drawingml/2006/main">
            <a:srgbClr val="F4E8C8"/>
          </a:solidFill>
          <a:ln xmlns:a="http://schemas.openxmlformats.org/drawingml/2006/main" w="11430">
            <a:solidFill>
              <a:srgbClr val="132024"/>
            </a:solidFill>
            <a:prstDash val="solid"/>
          </a:ln>
        </p:spPr>
      </p:sp>
      <p:sp>
        <p:nvSpPr>
          <p:cNvPr id="30" name="">
            <a:extLst xmlns:a="http://schemas.openxmlformats.org/drawingml/2006/main">
              <a:ext uri="{FF2B5EF4-FFF2-40B4-BE49-F238E27FC236}">
                <a16:creationId xmlns:a16="http://schemas.microsoft.com/office/drawing/2014/main" id="{A35D8FC8-DD46-4536-8274-FA92A3A35230}"/>
              </a:ext>
            </a:extLst>
          </p:cNvPr>
          <p:cNvSpPr>
            <a:spLocks xmlns:a="http://schemas.openxmlformats.org/drawingml/2006/main" noGrp="1"/>
          </p:cNvSpPr>
          <p:nvPr/>
        </p:nvSpPr>
        <p:spPr>
          <a:xfrm xmlns:a="http://schemas.openxmlformats.org/drawingml/2006/main">
            <a:off x="752475" y="5305425"/>
            <a:ext cx="57150" cy="6858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CE129A26-63FD-4862-B931-BC038A08F2C7}"/>
              </a:ext>
            </a:extLst>
          </p:cNvPr>
          <p:cNvSpPr>
            <a:spLocks xmlns:a="http://schemas.openxmlformats.org/drawingml/2006/main" noGrp="1"/>
          </p:cNvSpPr>
          <p:nvPr/>
        </p:nvSpPr>
        <p:spPr>
          <a:xfrm xmlns:a="http://schemas.openxmlformats.org/drawingml/2006/main">
            <a:off x="914400" y="5410200"/>
            <a:ext cx="10401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정리: 유의미한 질문은 문헌의 단순 축적이 아니라, 위키 기반 비교 기준의 재구성 과정에서 형성되었다.</a:t>
            </a:r>
          </a:p>
        </p:txBody>
      </p:sp>
      <p:sp>
        <p:nvSpPr>
          <p:cNvPr id="32" name="">
            <a:extLst xmlns:a="http://schemas.openxmlformats.org/drawingml/2006/main">
              <a:ext uri="{FF2B5EF4-FFF2-40B4-BE49-F238E27FC236}">
                <a16:creationId xmlns:a16="http://schemas.microsoft.com/office/drawing/2014/main" id="{9102C42B-C637-492B-93E0-85E05B0E3AD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LLM-wiki 운영 구조는 질문의 정교화와 발표의 구조 형성에 동시에 기여하였다.</a:t>
            </a:r>
          </a:p>
        </p:txBody>
      </p:sp>
    </p:spTree>
    <p:extLst>
      <p:ext uri="{BB962C8B-B14F-4D97-AF65-F5344CB8AC3E}">
        <p14:creationId xmlns:p14="http://schemas.microsoft.com/office/powerpoint/2010/main" val="1005983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Malgun Gothic"/>
        <a:cs typeface="Arial"/>
      </a:majorFont>
      <a:minorFont>
        <a:latin typeface="Arial"/>
        <a:ea typeface="Malgun Gothic"/>
        <a:cs typeface="Arial"/>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2026-04-27T08:37:59.8030000Z</dcterms:created>
  <dcterms:modified xsi:type="dcterms:W3CDTF">2026-04-27T08:37:59.8030000Z</dcterms:modified>
</coreProperties>
</file>